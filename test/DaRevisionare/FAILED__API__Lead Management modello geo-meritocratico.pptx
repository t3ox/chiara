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7" r:id="rId2"/>
    <p:sldId id="2147482923" r:id="rId3"/>
    <p:sldId id="2147483638" r:id="rId4"/>
    <p:sldId id="2147483633" r:id="rId5"/>
    <p:sldId id="308" r:id="rId6"/>
    <p:sldId id="2147483642" r:id="rId7"/>
    <p:sldId id="303" r:id="rId8"/>
    <p:sldId id="304" r:id="rId9"/>
    <p:sldId id="2147483639" r:id="rId10"/>
    <p:sldId id="309" r:id="rId11"/>
    <p:sldId id="310" r:id="rId12"/>
    <p:sldId id="2147483640" r:id="rId13"/>
    <p:sldId id="256" r:id="rId14"/>
    <p:sldId id="2147483643" r:id="rId15"/>
    <p:sldId id="2147483641" r:id="rId16"/>
    <p:sldId id="2147483644" r:id="rId17"/>
    <p:sldId id="2147483637" r:id="rId18"/>
    <p:sldId id="30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9B1E09F-4D63-1431-5E72-17265F4C70F0}" name="Nicola Gazzilli" initials="NG" userId="S::n.gazzilli@reply.it::28fe976b-5b08-45fb-a0be-f0fac44d7b1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000"/>
    <a:srgbClr val="444444"/>
    <a:srgbClr val="FFFFFF"/>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B6AC78-56BE-495B-BB59-9DF97D9038E5}" v="5" dt="2026-03-19T15:38:42.0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210" autoAdjust="0"/>
    <p:restoredTop sz="96825" autoAdjust="0"/>
  </p:normalViewPr>
  <p:slideViewPr>
    <p:cSldViewPr snapToGrid="0">
      <p:cViewPr varScale="1">
        <p:scale>
          <a:sx n="111" d="100"/>
          <a:sy n="111" d="100"/>
        </p:scale>
        <p:origin x="121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ve Caterina" userId="b4632d5b-72f1-49e0-b130-2d7cca53c218" providerId="ADAL" clId="{63C4970A-5F74-4C87-89D7-3ECD9F20E269}"/>
    <pc:docChg chg="custSel addSld modSld">
      <pc:chgData name="Bove Caterina" userId="b4632d5b-72f1-49e0-b130-2d7cca53c218" providerId="ADAL" clId="{63C4970A-5F74-4C87-89D7-3ECD9F20E269}" dt="2026-03-19T15:39:06.527" v="66" actId="207"/>
      <pc:docMkLst>
        <pc:docMk/>
      </pc:docMkLst>
      <pc:sldChg chg="addSp delSp modSp add mod">
        <pc:chgData name="Bove Caterina" userId="b4632d5b-72f1-49e0-b130-2d7cca53c218" providerId="ADAL" clId="{63C4970A-5F74-4C87-89D7-3ECD9F20E269}" dt="2026-03-19T15:39:06.527" v="66" actId="207"/>
        <pc:sldMkLst>
          <pc:docMk/>
          <pc:sldMk cId="611303319" sldId="2147483633"/>
        </pc:sldMkLst>
        <pc:spChg chg="add del mod modVis">
          <ac:chgData name="Bove Caterina" userId="b4632d5b-72f1-49e0-b130-2d7cca53c218" providerId="ADAL" clId="{63C4970A-5F74-4C87-89D7-3ECD9F20E269}" dt="2026-03-19T15:38:42.097" v="34"/>
          <ac:spMkLst>
            <pc:docMk/>
            <pc:sldMk cId="611303319" sldId="2147483633"/>
            <ac:spMk id="3" creationId="{D81F5456-7FB8-024A-CFC1-0E63C27B0951}"/>
          </ac:spMkLst>
        </pc:spChg>
        <pc:spChg chg="mod">
          <ac:chgData name="Bove Caterina" userId="b4632d5b-72f1-49e0-b130-2d7cca53c218" providerId="ADAL" clId="{63C4970A-5F74-4C87-89D7-3ECD9F20E269}" dt="2026-03-19T15:38:42.009" v="12" actId="948"/>
          <ac:spMkLst>
            <pc:docMk/>
            <pc:sldMk cId="611303319" sldId="2147483633"/>
            <ac:spMk id="5" creationId="{73A1FFEF-E09A-F63E-67EE-20CFB616809A}"/>
          </ac:spMkLst>
        </pc:spChg>
        <pc:spChg chg="add mod">
          <ac:chgData name="Bove Caterina" userId="b4632d5b-72f1-49e0-b130-2d7cca53c218" providerId="ADAL" clId="{63C4970A-5F74-4C87-89D7-3ECD9F20E269}" dt="2026-03-19T15:39:06.527" v="66" actId="207"/>
          <ac:spMkLst>
            <pc:docMk/>
            <pc:sldMk cId="611303319" sldId="2147483633"/>
            <ac:spMk id="12" creationId="{8ADB9460-30F7-99CC-7306-0F0AA960ABBB}"/>
          </ac:spMkLst>
        </pc:spChg>
        <pc:graphicFrameChg chg="mod">
          <ac:chgData name="Bove Caterina" userId="b4632d5b-72f1-49e0-b130-2d7cca53c218" providerId="ADAL" clId="{63C4970A-5F74-4C87-89D7-3ECD9F20E269}" dt="2026-03-19T15:38:42.098" v="36"/>
          <ac:graphicFrameMkLst>
            <pc:docMk/>
            <pc:sldMk cId="611303319" sldId="2147483633"/>
            <ac:graphicFrameMk id="6" creationId="{AE16A121-C2EF-05D4-031A-9E0F40165297}"/>
          </ac:graphicFrameMkLst>
        </pc:graphicFrameChg>
      </pc:sldChg>
      <pc:sldChg chg="modSp mod">
        <pc:chgData name="Bove Caterina" userId="b4632d5b-72f1-49e0-b130-2d7cca53c218" providerId="ADAL" clId="{63C4970A-5F74-4C87-89D7-3ECD9F20E269}" dt="2026-03-19T15:12:25.461" v="10" actId="12789"/>
        <pc:sldMkLst>
          <pc:docMk/>
          <pc:sldMk cId="2649258611" sldId="2147483644"/>
        </pc:sldMkLst>
        <pc:spChg chg="mod">
          <ac:chgData name="Bove Caterina" userId="b4632d5b-72f1-49e0-b130-2d7cca53c218" providerId="ADAL" clId="{63C4970A-5F74-4C87-89D7-3ECD9F20E269}" dt="2026-03-19T15:12:14.814" v="8" actId="12789"/>
          <ac:spMkLst>
            <pc:docMk/>
            <pc:sldMk cId="2649258611" sldId="2147483644"/>
            <ac:spMk id="16" creationId="{9959CB4E-B890-7981-59E6-6F33371B23D3}"/>
          </ac:spMkLst>
        </pc:spChg>
        <pc:spChg chg="mod">
          <ac:chgData name="Bove Caterina" userId="b4632d5b-72f1-49e0-b130-2d7cca53c218" providerId="ADAL" clId="{63C4970A-5F74-4C87-89D7-3ECD9F20E269}" dt="2026-03-19T15:12:25.461" v="10" actId="12789"/>
          <ac:spMkLst>
            <pc:docMk/>
            <pc:sldMk cId="2649258611" sldId="2147483644"/>
            <ac:spMk id="43" creationId="{62AA4093-5CC6-E669-FBAA-C547AE0B4A49}"/>
          </ac:spMkLst>
        </pc:spChg>
        <pc:spChg chg="mod">
          <ac:chgData name="Bove Caterina" userId="b4632d5b-72f1-49e0-b130-2d7cca53c218" providerId="ADAL" clId="{63C4970A-5F74-4C87-89D7-3ECD9F20E269}" dt="2026-03-19T15:12:20.014" v="9" actId="12789"/>
          <ac:spMkLst>
            <pc:docMk/>
            <pc:sldMk cId="2649258611" sldId="2147483644"/>
            <ac:spMk id="63" creationId="{EB482F46-ADF5-7A34-3F11-41367C55EA64}"/>
          </ac:spMkLst>
        </pc:spChg>
        <pc:spChg chg="mod">
          <ac:chgData name="Bove Caterina" userId="b4632d5b-72f1-49e0-b130-2d7cca53c218" providerId="ADAL" clId="{63C4970A-5F74-4C87-89D7-3ECD9F20E269}" dt="2026-03-19T15:12:20.014" v="9" actId="12789"/>
          <ac:spMkLst>
            <pc:docMk/>
            <pc:sldMk cId="2649258611" sldId="2147483644"/>
            <ac:spMk id="71" creationId="{1E224B91-3D17-7B7A-04EB-686C2231F43D}"/>
          </ac:spMkLst>
        </pc:spChg>
        <pc:grpChg chg="mod">
          <ac:chgData name="Bove Caterina" userId="b4632d5b-72f1-49e0-b130-2d7cca53c218" providerId="ADAL" clId="{63C4970A-5F74-4C87-89D7-3ECD9F20E269}" dt="2026-03-19T15:12:14.814" v="8" actId="12789"/>
          <ac:grpSpMkLst>
            <pc:docMk/>
            <pc:sldMk cId="2649258611" sldId="2147483644"/>
            <ac:grpSpMk id="18" creationId="{5686D108-8789-5AB0-E1E0-46BA75664E73}"/>
          </ac:grpSpMkLst>
        </pc:grpChg>
        <pc:grpChg chg="mod">
          <ac:chgData name="Bove Caterina" userId="b4632d5b-72f1-49e0-b130-2d7cca53c218" providerId="ADAL" clId="{63C4970A-5F74-4C87-89D7-3ECD9F20E269}" dt="2026-03-19T15:12:25.461" v="10" actId="12789"/>
          <ac:grpSpMkLst>
            <pc:docMk/>
            <pc:sldMk cId="2649258611" sldId="2147483644"/>
            <ac:grpSpMk id="49" creationId="{1CC40002-A7B2-7C74-C24D-D3455C3C5E72}"/>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8A6D0C-5FC3-4762-8122-BB4990D24E8D}" type="datetimeFigureOut">
              <a:rPr lang="en-GB" smtClean="0"/>
              <a:t>19/03/2026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BE991-C5D6-41E5-9D3F-9744315C787F}" type="slidenum">
              <a:rPr lang="en-GB" smtClean="0"/>
              <a:t>‹N›</a:t>
            </a:fld>
            <a:endParaRPr lang="en-GB"/>
          </a:p>
        </p:txBody>
      </p:sp>
    </p:spTree>
    <p:extLst>
      <p:ext uri="{BB962C8B-B14F-4D97-AF65-F5344CB8AC3E}">
        <p14:creationId xmlns:p14="http://schemas.microsoft.com/office/powerpoint/2010/main" val="24877090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a:p>
        </p:txBody>
      </p:sp>
      <p:sp>
        <p:nvSpPr>
          <p:cNvPr id="4" name="Segnaposto numero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3E66357-C92E-485E-B7C3-82CCC873D00A}"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77552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3E66357-C92E-485E-B7C3-82CCC873D00A}"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62870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B7ED-E18A-1148-7CEF-C602046355D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60C0CB4-0E1C-7F69-010E-5CFA93DE92F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210129C0-21E8-0F79-BC45-429B9F9BBE8D}"/>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F3907192-D061-D1C3-FE4D-E72FC0B3CEF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6E88C1-4F76-4F22-9739-D3AD3AD49DE6}"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94388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5</a:t>
            </a:fld>
            <a:endParaRPr lang="en-GB"/>
          </a:p>
        </p:txBody>
      </p:sp>
    </p:spTree>
    <p:extLst>
      <p:ext uri="{BB962C8B-B14F-4D97-AF65-F5344CB8AC3E}">
        <p14:creationId xmlns:p14="http://schemas.microsoft.com/office/powerpoint/2010/main" val="16352794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6</a:t>
            </a:fld>
            <a:endParaRPr lang="en-GB"/>
          </a:p>
        </p:txBody>
      </p:sp>
    </p:spTree>
    <p:extLst>
      <p:ext uri="{BB962C8B-B14F-4D97-AF65-F5344CB8AC3E}">
        <p14:creationId xmlns:p14="http://schemas.microsoft.com/office/powerpoint/2010/main" val="3872855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err="1">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7</a:t>
            </a:fld>
            <a:endParaRPr lang="en-GB"/>
          </a:p>
        </p:txBody>
      </p:sp>
    </p:spTree>
    <p:extLst>
      <p:ext uri="{BB962C8B-B14F-4D97-AF65-F5344CB8AC3E}">
        <p14:creationId xmlns:p14="http://schemas.microsoft.com/office/powerpoint/2010/main" val="1147648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err="1">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8</a:t>
            </a:fld>
            <a:endParaRPr lang="en-GB"/>
          </a:p>
        </p:txBody>
      </p:sp>
    </p:spTree>
    <p:extLst>
      <p:ext uri="{BB962C8B-B14F-4D97-AF65-F5344CB8AC3E}">
        <p14:creationId xmlns:p14="http://schemas.microsoft.com/office/powerpoint/2010/main" val="3388525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err="1">
                <a:latin typeface="Calibri"/>
                <a:ea typeface="Calibri"/>
                <a:cs typeface="Calibri"/>
              </a:rPr>
              <a:t>POSSIBILITà</a:t>
            </a:r>
            <a:r>
              <a:rPr lang="en-US">
                <a:latin typeface="Calibri"/>
                <a:ea typeface="Calibri"/>
                <a:cs typeface="Calibri"/>
              </a:rPr>
              <a:t>: </a:t>
            </a:r>
            <a:r>
              <a:rPr lang="en-US" b="1"/>
              <a:t>Report </a:t>
            </a:r>
            <a:r>
              <a:rPr lang="en-US" b="1" err="1"/>
              <a:t>Trattative</a:t>
            </a:r>
            <a:r>
              <a:rPr lang="en-US" b="1"/>
              <a:t> </a:t>
            </a:r>
            <a:r>
              <a:rPr lang="en-US" b="1" err="1"/>
              <a:t>lavorate</a:t>
            </a:r>
            <a:r>
              <a:rPr lang="en-US"/>
              <a:t>: </a:t>
            </a:r>
            <a:r>
              <a:rPr lang="en-US" err="1"/>
              <a:t>riepilogo</a:t>
            </a:r>
            <a:r>
              <a:rPr lang="en-US"/>
              <a:t> delle </a:t>
            </a:r>
            <a:r>
              <a:rPr lang="en-US" err="1"/>
              <a:t>trattative</a:t>
            </a:r>
            <a:r>
              <a:rPr lang="en-US"/>
              <a:t> </a:t>
            </a:r>
            <a:r>
              <a:rPr lang="en-US" err="1"/>
              <a:t>già</a:t>
            </a:r>
            <a:r>
              <a:rPr lang="en-US"/>
              <a:t> </a:t>
            </a:r>
            <a:r>
              <a:rPr lang="en-US" err="1"/>
              <a:t>assegnate</a:t>
            </a:r>
            <a:r>
              <a:rPr lang="en-US"/>
              <a:t> </a:t>
            </a:r>
            <a:r>
              <a:rPr lang="en-US" err="1"/>
              <a:t>elavorate</a:t>
            </a:r>
            <a:r>
              <a:rPr lang="en-US"/>
              <a:t> per ogni punto </a:t>
            </a:r>
            <a:r>
              <a:rPr lang="en-US" err="1"/>
              <a:t>vendita</a:t>
            </a:r>
            <a:r>
              <a:rPr lang="en-US"/>
              <a:t>, con </a:t>
            </a:r>
            <a:r>
              <a:rPr lang="en-US" err="1"/>
              <a:t>possibilità</a:t>
            </a:r>
            <a:r>
              <a:rPr lang="en-US"/>
              <a:t> di </a:t>
            </a:r>
            <a:r>
              <a:rPr lang="en-US" err="1"/>
              <a:t>filtraggio</a:t>
            </a:r>
            <a:r>
              <a:rPr lang="en-US"/>
              <a:t> per </a:t>
            </a:r>
            <a:r>
              <a:rPr lang="en-US" err="1"/>
              <a:t>periodoe</a:t>
            </a:r>
            <a:r>
              <a:rPr lang="en-US"/>
              <a:t> </a:t>
            </a:r>
            <a:r>
              <a:rPr lang="en-US" err="1"/>
              <a:t>prodotto</a:t>
            </a:r>
            <a:endParaRPr lang="en-US" err="1">
              <a:latin typeface="Calibri"/>
              <a:ea typeface="Calibri"/>
              <a:cs typeface="Calibri"/>
            </a:endParaRPr>
          </a:p>
          <a:p>
            <a:r>
              <a:rPr lang="en-US" err="1">
                <a:latin typeface="Aptos"/>
                <a:ea typeface="Calibri"/>
                <a:cs typeface="Calibri"/>
              </a:rPr>
              <a:t>Aggiungere</a:t>
            </a:r>
            <a:r>
              <a:rPr lang="en-US">
                <a:latin typeface="Aptos"/>
                <a:ea typeface="Calibri"/>
                <a:cs typeface="Calibri"/>
              </a:rPr>
              <a:t> open point sui </a:t>
            </a:r>
            <a:r>
              <a:rPr lang="en-US" err="1">
                <a:latin typeface="Aptos"/>
                <a:ea typeface="Calibri"/>
                <a:cs typeface="Calibri"/>
              </a:rPr>
              <a:t>profili</a:t>
            </a:r>
            <a:r>
              <a:rPr lang="en-US">
                <a:latin typeface="Aptos"/>
                <a:ea typeface="Calibri"/>
                <a:cs typeface="Calibri"/>
              </a:rPr>
              <a:t> di </a:t>
            </a:r>
            <a:r>
              <a:rPr lang="en-US" err="1">
                <a:latin typeface="Aptos"/>
                <a:ea typeface="Calibri"/>
                <a:cs typeface="Calibri"/>
              </a:rPr>
              <a:t>direzione</a:t>
            </a:r>
            <a:r>
              <a:rPr lang="en-US">
                <a:latin typeface="Aptos"/>
                <a:ea typeface="Calibri"/>
                <a:cs typeface="Calibri"/>
              </a:rPr>
              <a:t> </a:t>
            </a:r>
            <a:r>
              <a:rPr lang="en-US" err="1">
                <a:latin typeface="Aptos"/>
                <a:ea typeface="Calibri"/>
                <a:cs typeface="Calibri"/>
              </a:rPr>
              <a:t>che</a:t>
            </a:r>
            <a:r>
              <a:rPr lang="en-US">
                <a:latin typeface="Aptos"/>
                <a:ea typeface="Calibri"/>
                <a:cs typeface="Calibri"/>
              </a:rPr>
              <a:t> </a:t>
            </a:r>
            <a:r>
              <a:rPr lang="en-US" err="1">
                <a:latin typeface="Aptos"/>
                <a:ea typeface="Calibri"/>
                <a:cs typeface="Calibri"/>
              </a:rPr>
              <a:t>devono</a:t>
            </a:r>
            <a:r>
              <a:rPr lang="en-US">
                <a:latin typeface="Aptos"/>
                <a:ea typeface="Calibri"/>
                <a:cs typeface="Calibri"/>
              </a:rPr>
              <a:t> </a:t>
            </a:r>
            <a:r>
              <a:rPr lang="en-US" err="1">
                <a:latin typeface="Aptos"/>
                <a:ea typeface="Calibri"/>
                <a:cs typeface="Calibri"/>
              </a:rPr>
              <a:t>avere</a:t>
            </a:r>
            <a:r>
              <a:rPr lang="en-US">
                <a:latin typeface="Aptos"/>
                <a:ea typeface="Calibri"/>
                <a:cs typeface="Calibri"/>
              </a:rPr>
              <a:t> accesso alla funzionalità</a:t>
            </a:r>
          </a:p>
        </p:txBody>
      </p:sp>
      <p:sp>
        <p:nvSpPr>
          <p:cNvPr id="4" name="Segnaposto numero diapositiva 3"/>
          <p:cNvSpPr>
            <a:spLocks noGrp="1"/>
          </p:cNvSpPr>
          <p:nvPr>
            <p:ph type="sldNum" sz="quarter" idx="5"/>
          </p:nvPr>
        </p:nvSpPr>
        <p:spPr/>
        <p:txBody>
          <a:bodyPr/>
          <a:lstStyle/>
          <a:p>
            <a:fld id="{737BE991-C5D6-41E5-9D3F-9744315C787F}" type="slidenum">
              <a:rPr lang="en-GB" smtClean="0"/>
              <a:t>10</a:t>
            </a:fld>
            <a:endParaRPr lang="en-GB"/>
          </a:p>
        </p:txBody>
      </p:sp>
    </p:spTree>
    <p:extLst>
      <p:ext uri="{BB962C8B-B14F-4D97-AF65-F5344CB8AC3E}">
        <p14:creationId xmlns:p14="http://schemas.microsoft.com/office/powerpoint/2010/main" val="317967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11</a:t>
            </a:fld>
            <a:endParaRPr lang="en-GB"/>
          </a:p>
        </p:txBody>
      </p:sp>
    </p:spTree>
    <p:extLst>
      <p:ext uri="{BB962C8B-B14F-4D97-AF65-F5344CB8AC3E}">
        <p14:creationId xmlns:p14="http://schemas.microsoft.com/office/powerpoint/2010/main" val="1052289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2F722-3348-BC7C-D928-2BDFDEE50D1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1493C76-6EE2-EE3E-C82B-9CC85431175C}"/>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702EDEA7-B370-DD9B-52E8-594817F17EFC}"/>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99C8C508-BCCF-186E-CFC6-05E6C4D4690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6E88C1-4F76-4F22-9739-D3AD3AD49DE6}"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44888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4CC16-D43E-1526-B1EE-6A49550FE5F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0D9370C-8C5F-C91E-3567-4D26AC81AE74}"/>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3BFB1591-ACA2-B68B-4AC6-CDF86435DC7A}"/>
              </a:ext>
            </a:extLst>
          </p:cNvPr>
          <p:cNvSpPr>
            <a:spLocks noGrp="1"/>
          </p:cNvSpPr>
          <p:nvPr>
            <p:ph type="body" idx="1"/>
          </p:nvPr>
        </p:nvSpPr>
        <p:spPr/>
        <p:txBody>
          <a:bodyPr/>
          <a:lstStyle/>
          <a:p>
            <a:endParaRPr lang="it-IT"/>
          </a:p>
        </p:txBody>
      </p:sp>
      <p:sp>
        <p:nvSpPr>
          <p:cNvPr id="4" name="Segnaposto numero diapositiva 3">
            <a:extLst>
              <a:ext uri="{FF2B5EF4-FFF2-40B4-BE49-F238E27FC236}">
                <a16:creationId xmlns:a16="http://schemas.microsoft.com/office/drawing/2014/main" id="{ADCC9685-F68C-1859-2F54-0112400215B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F6E88C1-4F76-4F22-9739-D3AD3AD49DE6}" type="slidenum">
              <a:rPr kumimoji="0" lang="it-IT"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it-IT"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44134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2609-04BC-EB98-B123-E110DD90837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CC84CC2-2212-AA26-DE24-5C310C803D67}"/>
              </a:ext>
            </a:extLst>
          </p:cNvPr>
          <p:cNvSpPr>
            <a:spLocks noGrp="1" noRot="1" noChangeAspect="1"/>
          </p:cNvSpPr>
          <p:nvPr>
            <p:ph type="sldImg"/>
          </p:nvPr>
        </p:nvSpPr>
        <p:spPr/>
      </p:sp>
      <p:sp>
        <p:nvSpPr>
          <p:cNvPr id="3" name="Segnaposto note 2">
            <a:extLst>
              <a:ext uri="{FF2B5EF4-FFF2-40B4-BE49-F238E27FC236}">
                <a16:creationId xmlns:a16="http://schemas.microsoft.com/office/drawing/2014/main" id="{8985CC81-90CC-76A5-7C83-7AB143358F22}"/>
              </a:ext>
            </a:extLst>
          </p:cNvPr>
          <p:cNvSpPr>
            <a:spLocks noGrp="1"/>
          </p:cNvSpPr>
          <p:nvPr>
            <p:ph type="body" idx="1"/>
          </p:nvPr>
        </p:nvSpPr>
        <p:spPr/>
        <p:txBody>
          <a:bodyPr/>
          <a:lstStyle/>
          <a:p>
            <a:r>
              <a:rPr lang="en-US" err="1">
                <a:latin typeface="Calibri"/>
                <a:ea typeface="Calibri"/>
                <a:cs typeface="Calibri"/>
              </a:rPr>
              <a:t>Adeguamento</a:t>
            </a:r>
            <a:r>
              <a:rPr lang="en-US">
                <a:latin typeface="Calibri"/>
                <a:ea typeface="Calibri"/>
                <a:cs typeface="Calibri"/>
              </a:rPr>
              <a:t> </a:t>
            </a:r>
            <a:r>
              <a:rPr lang="en-US" err="1">
                <a:latin typeface="Calibri"/>
                <a:ea typeface="Calibri"/>
                <a:cs typeface="Calibri"/>
              </a:rPr>
              <a:t>previdenza</a:t>
            </a:r>
            <a:r>
              <a:rPr lang="en-US">
                <a:latin typeface="Calibri"/>
                <a:ea typeface="Calibri"/>
                <a:cs typeface="Calibri"/>
              </a:rPr>
              <a:t> a nuovo </a:t>
            </a:r>
            <a:r>
              <a:rPr lang="en-US" err="1">
                <a:latin typeface="Calibri"/>
                <a:ea typeface="Calibri"/>
                <a:cs typeface="Calibri"/>
              </a:rPr>
              <a:t>modello</a:t>
            </a:r>
            <a:r>
              <a:rPr lang="en-US">
                <a:latin typeface="Calibri"/>
                <a:ea typeface="Calibri"/>
                <a:cs typeface="Calibri"/>
              </a:rPr>
              <a:t> </a:t>
            </a:r>
          </a:p>
        </p:txBody>
      </p:sp>
      <p:sp>
        <p:nvSpPr>
          <p:cNvPr id="4" name="Segnaposto numero diapositiva 3">
            <a:extLst>
              <a:ext uri="{FF2B5EF4-FFF2-40B4-BE49-F238E27FC236}">
                <a16:creationId xmlns:a16="http://schemas.microsoft.com/office/drawing/2014/main" id="{B11D2214-2C53-8166-7F07-753254D5F26F}"/>
              </a:ext>
            </a:extLst>
          </p:cNvPr>
          <p:cNvSpPr>
            <a:spLocks noGrp="1"/>
          </p:cNvSpPr>
          <p:nvPr>
            <p:ph type="sldNum" sz="quarter" idx="5"/>
          </p:nvPr>
        </p:nvSpPr>
        <p:spPr/>
        <p:txBody>
          <a:bodyPr/>
          <a:lstStyle/>
          <a:p>
            <a:fld id="{737BE991-C5D6-41E5-9D3F-9744315C787F}" type="slidenum">
              <a:rPr lang="en-GB" smtClean="0"/>
              <a:t>16</a:t>
            </a:fld>
            <a:endParaRPr lang="en-GB"/>
          </a:p>
        </p:txBody>
      </p:sp>
    </p:spTree>
    <p:extLst>
      <p:ext uri="{BB962C8B-B14F-4D97-AF65-F5344CB8AC3E}">
        <p14:creationId xmlns:p14="http://schemas.microsoft.com/office/powerpoint/2010/main" val="1394965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US">
              <a:latin typeface="Calibri"/>
              <a:ea typeface="Calibri"/>
              <a:cs typeface="Calibri"/>
            </a:endParaRPr>
          </a:p>
        </p:txBody>
      </p:sp>
      <p:sp>
        <p:nvSpPr>
          <p:cNvPr id="4" name="Segnaposto numero diapositiva 3"/>
          <p:cNvSpPr>
            <a:spLocks noGrp="1"/>
          </p:cNvSpPr>
          <p:nvPr>
            <p:ph type="sldNum" sz="quarter" idx="5"/>
          </p:nvPr>
        </p:nvSpPr>
        <p:spPr/>
        <p:txBody>
          <a:bodyPr/>
          <a:lstStyle/>
          <a:p>
            <a:fld id="{737BE991-C5D6-41E5-9D3F-9744315C787F}" type="slidenum">
              <a:rPr lang="en-GB" smtClean="0"/>
              <a:t>18</a:t>
            </a:fld>
            <a:endParaRPr lang="en-GB"/>
          </a:p>
        </p:txBody>
      </p:sp>
    </p:spTree>
    <p:extLst>
      <p:ext uri="{BB962C8B-B14F-4D97-AF65-F5344CB8AC3E}">
        <p14:creationId xmlns:p14="http://schemas.microsoft.com/office/powerpoint/2010/main" val="2093582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olo presentazion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123440" y="1244172"/>
            <a:ext cx="9144000" cy="433801"/>
          </a:xfrm>
          <a:prstGeom prst="rect">
            <a:avLst/>
          </a:prstGeom>
        </p:spPr>
        <p:txBody>
          <a:bodyPr anchor="ctr">
            <a:noAutofit/>
          </a:bodyPr>
          <a:lstStyle>
            <a:lvl1pPr algn="r">
              <a:defRPr sz="2398" b="1">
                <a:solidFill>
                  <a:srgbClr val="0F3250"/>
                </a:solidFill>
                <a:latin typeface="+mn-lt"/>
              </a:defRPr>
            </a:lvl1pPr>
          </a:lstStyle>
          <a:p>
            <a:r>
              <a:rPr lang="it-IT"/>
              <a:t>FARE CLIC PER MODIFICARE LO STILE DEL TITOLO DELLO SCHEMA</a:t>
            </a:r>
            <a:endParaRPr lang="en-US"/>
          </a:p>
        </p:txBody>
      </p:sp>
      <p:sp>
        <p:nvSpPr>
          <p:cNvPr id="3" name="Subtitle 2"/>
          <p:cNvSpPr>
            <a:spLocks noGrp="1"/>
          </p:cNvSpPr>
          <p:nvPr>
            <p:ph type="subTitle" idx="1"/>
          </p:nvPr>
        </p:nvSpPr>
        <p:spPr>
          <a:xfrm>
            <a:off x="2123440" y="1677974"/>
            <a:ext cx="9144000" cy="433801"/>
          </a:xfrm>
          <a:prstGeom prst="rect">
            <a:avLst/>
          </a:prstGeom>
        </p:spPr>
        <p:txBody>
          <a:bodyPr anchor="ctr">
            <a:noAutofit/>
          </a:bodyPr>
          <a:lstStyle>
            <a:lvl1pPr marL="0" indent="0" algn="r">
              <a:buNone/>
              <a:defRPr sz="2131">
                <a:solidFill>
                  <a:srgbClr val="0F3250"/>
                </a:solidFill>
              </a:defRPr>
            </a:lvl1pPr>
            <a:lvl2pPr marL="456777" indent="0" algn="ctr">
              <a:buNone/>
              <a:defRPr sz="1998"/>
            </a:lvl2pPr>
            <a:lvl3pPr marL="913554" indent="0" algn="ctr">
              <a:buNone/>
              <a:defRPr sz="1798"/>
            </a:lvl3pPr>
            <a:lvl4pPr marL="1370331" indent="0" algn="ctr">
              <a:buNone/>
              <a:defRPr sz="1599"/>
            </a:lvl4pPr>
            <a:lvl5pPr marL="1827108" indent="0" algn="ctr">
              <a:buNone/>
              <a:defRPr sz="1599"/>
            </a:lvl5pPr>
            <a:lvl6pPr marL="2283885" indent="0" algn="ctr">
              <a:buNone/>
              <a:defRPr sz="1599"/>
            </a:lvl6pPr>
            <a:lvl7pPr marL="2740663" indent="0" algn="ctr">
              <a:buNone/>
              <a:defRPr sz="1599"/>
            </a:lvl7pPr>
            <a:lvl8pPr marL="3197440" indent="0" algn="ctr">
              <a:buNone/>
              <a:defRPr sz="1599"/>
            </a:lvl8pPr>
            <a:lvl9pPr marL="3654217" indent="0" algn="ctr">
              <a:buNone/>
              <a:defRPr sz="1599"/>
            </a:lvl9pPr>
          </a:lstStyle>
          <a:p>
            <a:r>
              <a:rPr lang="en-US"/>
              <a:t>Click to edit Master subtitle style</a:t>
            </a:r>
          </a:p>
        </p:txBody>
      </p:sp>
      <p:sp>
        <p:nvSpPr>
          <p:cNvPr id="10" name="Segnaposto testo 9">
            <a:extLst>
              <a:ext uri="{FF2B5EF4-FFF2-40B4-BE49-F238E27FC236}">
                <a16:creationId xmlns:a16="http://schemas.microsoft.com/office/drawing/2014/main" id="{7F738A74-27ED-4AD4-8EC0-C89BD70E0D62}"/>
              </a:ext>
            </a:extLst>
          </p:cNvPr>
          <p:cNvSpPr>
            <a:spLocks noGrp="1"/>
          </p:cNvSpPr>
          <p:nvPr>
            <p:ph type="body" sz="quarter" idx="13" hasCustomPrompt="1"/>
          </p:nvPr>
        </p:nvSpPr>
        <p:spPr>
          <a:xfrm>
            <a:off x="6096001" y="4710303"/>
            <a:ext cx="5141807" cy="433515"/>
          </a:xfrm>
          <a:prstGeom prst="rect">
            <a:avLst/>
          </a:prstGeom>
        </p:spPr>
        <p:txBody>
          <a:bodyPr anchor="ctr">
            <a:noAutofit/>
          </a:bodyPr>
          <a:lstStyle>
            <a:lvl1pPr marL="0" indent="0" algn="r">
              <a:buFontTx/>
              <a:buNone/>
              <a:defRPr sz="1332">
                <a:solidFill>
                  <a:srgbClr val="0F3250"/>
                </a:solidFill>
                <a:latin typeface="+mn-lt"/>
              </a:defRPr>
            </a:lvl1pPr>
            <a:lvl2pPr>
              <a:defRPr sz="1332">
                <a:latin typeface="+mn-lt"/>
              </a:defRPr>
            </a:lvl2pPr>
            <a:lvl3pPr>
              <a:defRPr sz="1332">
                <a:latin typeface="+mn-lt"/>
              </a:defRPr>
            </a:lvl3pPr>
            <a:lvl4pPr>
              <a:defRPr sz="1332">
                <a:latin typeface="+mn-lt"/>
              </a:defRPr>
            </a:lvl4pPr>
            <a:lvl5pPr>
              <a:defRPr sz="1332">
                <a:latin typeface="+mn-lt"/>
              </a:defRPr>
            </a:lvl5pPr>
          </a:lstStyle>
          <a:p>
            <a:pPr lvl="0"/>
            <a:r>
              <a:rPr lang="it-IT"/>
              <a:t>Luogo, Giorno, Mese, Anno</a:t>
            </a:r>
          </a:p>
        </p:txBody>
      </p:sp>
    </p:spTree>
    <p:extLst>
      <p:ext uri="{BB962C8B-B14F-4D97-AF65-F5344CB8AC3E}">
        <p14:creationId xmlns:p14="http://schemas.microsoft.com/office/powerpoint/2010/main" val="658444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ice e contenuto">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6727BFB4-4582-B112-DCC6-FA5320800C4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3172"/>
            <a:ext cx="12197647" cy="6854828"/>
          </a:xfrm>
          <a:prstGeom prst="rect">
            <a:avLst/>
          </a:prstGeom>
        </p:spPr>
      </p:pic>
      <p:sp>
        <p:nvSpPr>
          <p:cNvPr id="2" name="Title 1"/>
          <p:cNvSpPr>
            <a:spLocks noGrp="1"/>
          </p:cNvSpPr>
          <p:nvPr>
            <p:ph type="title" hasCustomPrompt="1"/>
          </p:nvPr>
        </p:nvSpPr>
        <p:spPr>
          <a:xfrm>
            <a:off x="2616199" y="1573707"/>
            <a:ext cx="9218851" cy="566222"/>
          </a:xfrm>
          <a:prstGeom prst="rect">
            <a:avLst/>
          </a:prstGeom>
        </p:spPr>
        <p:txBody>
          <a:bodyPr anchor="ctr">
            <a:noAutofit/>
          </a:bodyPr>
          <a:lstStyle>
            <a:lvl1pPr>
              <a:defRPr sz="2664" b="1">
                <a:solidFill>
                  <a:srgbClr val="0F3250"/>
                </a:solidFill>
              </a:defRPr>
            </a:lvl1pPr>
          </a:lstStyle>
          <a:p>
            <a:r>
              <a:rPr lang="it-IT"/>
              <a:t>FARE CLIC PER MODIFICARE LO STILE DEL TITOLO DELLO SCHEMA</a:t>
            </a:r>
            <a:endParaRPr lang="en-US"/>
          </a:p>
        </p:txBody>
      </p:sp>
      <p:sp>
        <p:nvSpPr>
          <p:cNvPr id="11" name="Segnaposto testo 10">
            <a:extLst>
              <a:ext uri="{FF2B5EF4-FFF2-40B4-BE49-F238E27FC236}">
                <a16:creationId xmlns:a16="http://schemas.microsoft.com/office/drawing/2014/main" id="{11E6B4A2-9A21-4261-B346-5479C602FCEC}"/>
              </a:ext>
            </a:extLst>
          </p:cNvPr>
          <p:cNvSpPr>
            <a:spLocks noGrp="1"/>
          </p:cNvSpPr>
          <p:nvPr>
            <p:ph type="body" sz="quarter" idx="13"/>
          </p:nvPr>
        </p:nvSpPr>
        <p:spPr>
          <a:xfrm>
            <a:off x="2904393" y="2569742"/>
            <a:ext cx="8930657" cy="2973728"/>
          </a:xfrm>
          <a:prstGeom prst="rect">
            <a:avLst/>
          </a:prstGeom>
        </p:spPr>
        <p:txBody>
          <a:bodyPr anchor="t">
            <a:noAutofit/>
          </a:bodyPr>
          <a:lstStyle>
            <a:lvl1pPr marL="0" marR="0" indent="0" algn="l" defTabSz="913554" rtl="0" eaLnBrk="1" fontAlgn="auto" latinLnBrk="0" hangingPunct="1">
              <a:lnSpc>
                <a:spcPct val="100000"/>
              </a:lnSpc>
              <a:spcBef>
                <a:spcPts val="999"/>
              </a:spcBef>
              <a:spcAft>
                <a:spcPts val="0"/>
              </a:spcAft>
              <a:buClr>
                <a:srgbClr val="0F3250"/>
              </a:buClr>
              <a:buSzPct val="120000"/>
              <a:buFont typeface="Arial" panose="020B0604020202020204" pitchFamily="34" charset="0"/>
              <a:buNone/>
              <a:tabLst/>
              <a:defRPr sz="1399" i="1">
                <a:solidFill>
                  <a:srgbClr val="0F3250"/>
                </a:solidFill>
              </a:defRPr>
            </a:lvl1pPr>
          </a:lstStyle>
          <a:p>
            <a:pPr marL="143867" marR="0" lvl="0" indent="-143867" algn="l" defTabSz="913554" rtl="0" eaLnBrk="1" fontAlgn="auto" latinLnBrk="0" hangingPunct="1">
              <a:lnSpc>
                <a:spcPct val="90000"/>
              </a:lnSpc>
              <a:spcBef>
                <a:spcPts val="999"/>
              </a:spcBef>
              <a:spcAft>
                <a:spcPts val="0"/>
              </a:spcAft>
              <a:buClr>
                <a:srgbClr val="0F3250"/>
              </a:buClr>
              <a:buSzPct val="120000"/>
              <a:buFont typeface="Arial" panose="020B0604020202020204" pitchFamily="34" charset="0"/>
              <a:buChar char="•"/>
              <a:tabLst/>
              <a:defRPr/>
            </a:pPr>
            <a:r>
              <a:rPr lang="en-US"/>
              <a:t>Edit Master text styles</a:t>
            </a:r>
          </a:p>
          <a:p>
            <a:pPr marL="143867" marR="0" lvl="1" indent="-143867" algn="l" defTabSz="913554" rtl="0" eaLnBrk="1" fontAlgn="auto" latinLnBrk="0" hangingPunct="1">
              <a:lnSpc>
                <a:spcPct val="90000"/>
              </a:lnSpc>
              <a:spcBef>
                <a:spcPts val="999"/>
              </a:spcBef>
              <a:spcAft>
                <a:spcPts val="0"/>
              </a:spcAft>
              <a:buClr>
                <a:srgbClr val="0F3250"/>
              </a:buClr>
              <a:buSzPct val="120000"/>
              <a:buFont typeface="Arial" panose="020B0604020202020204" pitchFamily="34" charset="0"/>
              <a:buChar char="•"/>
              <a:tabLst/>
              <a:defRPr/>
            </a:pPr>
            <a:r>
              <a:rPr lang="en-US"/>
              <a:t>Second level</a:t>
            </a:r>
          </a:p>
          <a:p>
            <a:pPr marL="143867" marR="0" lvl="2" indent="-143867" algn="l" defTabSz="913554" rtl="0" eaLnBrk="1" fontAlgn="auto" latinLnBrk="0" hangingPunct="1">
              <a:lnSpc>
                <a:spcPct val="90000"/>
              </a:lnSpc>
              <a:spcBef>
                <a:spcPts val="999"/>
              </a:spcBef>
              <a:spcAft>
                <a:spcPts val="0"/>
              </a:spcAft>
              <a:buClr>
                <a:srgbClr val="0F3250"/>
              </a:buClr>
              <a:buSzPct val="120000"/>
              <a:buFont typeface="Arial" panose="020B0604020202020204" pitchFamily="34" charset="0"/>
              <a:buChar char="•"/>
              <a:tabLst/>
              <a:defRPr/>
            </a:pPr>
            <a:r>
              <a:rPr lang="en-US"/>
              <a:t>Third level</a:t>
            </a:r>
          </a:p>
          <a:p>
            <a:pPr marL="143867" marR="0" lvl="3" indent="-143867" algn="l" defTabSz="913554" rtl="0" eaLnBrk="1" fontAlgn="auto" latinLnBrk="0" hangingPunct="1">
              <a:lnSpc>
                <a:spcPct val="90000"/>
              </a:lnSpc>
              <a:spcBef>
                <a:spcPts val="999"/>
              </a:spcBef>
              <a:spcAft>
                <a:spcPts val="0"/>
              </a:spcAft>
              <a:buClr>
                <a:srgbClr val="0F3250"/>
              </a:buClr>
              <a:buSzPct val="120000"/>
              <a:buFont typeface="Arial" panose="020B0604020202020204" pitchFamily="34" charset="0"/>
              <a:buChar char="•"/>
              <a:tabLst/>
              <a:defRPr/>
            </a:pPr>
            <a:r>
              <a:rPr lang="en-US"/>
              <a:t>Fourth level</a:t>
            </a:r>
          </a:p>
          <a:p>
            <a:pPr marL="143867" marR="0" lvl="4" indent="-143867" algn="l" defTabSz="913554" rtl="0" eaLnBrk="1" fontAlgn="auto" latinLnBrk="0" hangingPunct="1">
              <a:lnSpc>
                <a:spcPct val="90000"/>
              </a:lnSpc>
              <a:spcBef>
                <a:spcPts val="999"/>
              </a:spcBef>
              <a:spcAft>
                <a:spcPts val="0"/>
              </a:spcAft>
              <a:buClr>
                <a:srgbClr val="0F3250"/>
              </a:buClr>
              <a:buSzPct val="120000"/>
              <a:buFont typeface="Arial" panose="020B0604020202020204" pitchFamily="34" charset="0"/>
              <a:buChar char="•"/>
              <a:tabLst/>
              <a:defRPr/>
            </a:pPr>
            <a:r>
              <a:rPr lang="en-US"/>
              <a:t>Fifth level</a:t>
            </a:r>
            <a:endParaRPr lang="it-IT"/>
          </a:p>
        </p:txBody>
      </p:sp>
      <p:sp>
        <p:nvSpPr>
          <p:cNvPr id="13" name="Segnaposto testo 12">
            <a:extLst>
              <a:ext uri="{FF2B5EF4-FFF2-40B4-BE49-F238E27FC236}">
                <a16:creationId xmlns:a16="http://schemas.microsoft.com/office/drawing/2014/main" id="{40C1A1A2-0B04-4A5C-99E7-5874469B3668}"/>
              </a:ext>
            </a:extLst>
          </p:cNvPr>
          <p:cNvSpPr>
            <a:spLocks noGrp="1"/>
          </p:cNvSpPr>
          <p:nvPr>
            <p:ph type="body" sz="quarter" idx="14"/>
          </p:nvPr>
        </p:nvSpPr>
        <p:spPr>
          <a:xfrm>
            <a:off x="2616201" y="2160387"/>
            <a:ext cx="9218084" cy="407716"/>
          </a:xfrm>
          <a:prstGeom prst="rect">
            <a:avLst/>
          </a:prstGeom>
        </p:spPr>
        <p:txBody>
          <a:bodyPr anchor="ctr">
            <a:noAutofit/>
          </a:bodyPr>
          <a:lstStyle>
            <a:lvl1pPr marL="239778" indent="-239778">
              <a:buClr>
                <a:srgbClr val="0F3250"/>
              </a:buClr>
              <a:buFont typeface="+mj-lt"/>
              <a:buAutoNum type="arabicPeriod"/>
              <a:defRPr sz="1732">
                <a:solidFill>
                  <a:srgbClr val="0F3250"/>
                </a:solidFill>
              </a:defRPr>
            </a:lvl1pPr>
          </a:lstStyle>
          <a:p>
            <a:pPr lvl="0"/>
            <a:r>
              <a:rPr lang="en-US"/>
              <a:t>Edit Master text styles</a:t>
            </a:r>
          </a:p>
        </p:txBody>
      </p:sp>
    </p:spTree>
    <p:extLst>
      <p:ext uri="{BB962C8B-B14F-4D97-AF65-F5344CB8AC3E}">
        <p14:creationId xmlns:p14="http://schemas.microsoft.com/office/powerpoint/2010/main" val="1679669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uto di testo">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54C2E04-660E-F40A-313D-A6E3C714CD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1"/>
            <a:ext cx="12203291" cy="6858000"/>
          </a:xfrm>
          <a:prstGeom prst="rect">
            <a:avLst/>
          </a:prstGeom>
        </p:spPr>
      </p:pic>
      <p:sp>
        <p:nvSpPr>
          <p:cNvPr id="2" name="Title 1"/>
          <p:cNvSpPr>
            <a:spLocks noGrp="1"/>
          </p:cNvSpPr>
          <p:nvPr>
            <p:ph type="title"/>
          </p:nvPr>
        </p:nvSpPr>
        <p:spPr>
          <a:xfrm>
            <a:off x="917646" y="195805"/>
            <a:ext cx="10302057" cy="471783"/>
          </a:xfrm>
          <a:prstGeom prst="rect">
            <a:avLst/>
          </a:prstGeom>
        </p:spPr>
        <p:txBody>
          <a:bodyPr anchor="ctr">
            <a:noAutofit/>
          </a:bodyPr>
          <a:lstStyle>
            <a:lvl1pPr>
              <a:defRPr sz="1865" b="1">
                <a:solidFill>
                  <a:schemeClr val="bg1"/>
                </a:solidFill>
                <a:latin typeface="+mn-lt"/>
              </a:defRPr>
            </a:lvl1pPr>
          </a:lstStyle>
          <a:p>
            <a:r>
              <a:rPr lang="en-US"/>
              <a:t>Click to edit Master title style</a:t>
            </a:r>
          </a:p>
        </p:txBody>
      </p:sp>
      <p:sp>
        <p:nvSpPr>
          <p:cNvPr id="3" name="Text Placeholder 2"/>
          <p:cNvSpPr>
            <a:spLocks noGrp="1"/>
          </p:cNvSpPr>
          <p:nvPr>
            <p:ph type="body" idx="1"/>
          </p:nvPr>
        </p:nvSpPr>
        <p:spPr>
          <a:xfrm>
            <a:off x="933451" y="1224850"/>
            <a:ext cx="10515600" cy="365125"/>
          </a:xfrm>
          <a:prstGeom prst="rect">
            <a:avLst/>
          </a:prstGeom>
        </p:spPr>
        <p:txBody>
          <a:bodyPr anchor="ctr">
            <a:noAutofit/>
          </a:bodyPr>
          <a:lstStyle>
            <a:lvl1pPr marL="0" indent="0">
              <a:buNone/>
              <a:defRPr sz="1599">
                <a:solidFill>
                  <a:srgbClr val="969696"/>
                </a:solidFill>
                <a:latin typeface="+mn-lt"/>
              </a:defRPr>
            </a:lvl1pPr>
            <a:lvl2pPr marL="456777" indent="0">
              <a:buNone/>
              <a:defRPr sz="1998">
                <a:solidFill>
                  <a:schemeClr val="tx1">
                    <a:tint val="75000"/>
                  </a:schemeClr>
                </a:solidFill>
              </a:defRPr>
            </a:lvl2pPr>
            <a:lvl3pPr marL="913554" indent="0">
              <a:buNone/>
              <a:defRPr sz="1798">
                <a:solidFill>
                  <a:schemeClr val="tx1">
                    <a:tint val="75000"/>
                  </a:schemeClr>
                </a:solidFill>
              </a:defRPr>
            </a:lvl3pPr>
            <a:lvl4pPr marL="1370331" indent="0">
              <a:buNone/>
              <a:defRPr sz="1599">
                <a:solidFill>
                  <a:schemeClr val="tx1">
                    <a:tint val="75000"/>
                  </a:schemeClr>
                </a:solidFill>
              </a:defRPr>
            </a:lvl4pPr>
            <a:lvl5pPr marL="1827108" indent="0">
              <a:buNone/>
              <a:defRPr sz="1599">
                <a:solidFill>
                  <a:schemeClr val="tx1">
                    <a:tint val="75000"/>
                  </a:schemeClr>
                </a:solidFill>
              </a:defRPr>
            </a:lvl5pPr>
            <a:lvl6pPr marL="2283885" indent="0">
              <a:buNone/>
              <a:defRPr sz="1599">
                <a:solidFill>
                  <a:schemeClr val="tx1">
                    <a:tint val="75000"/>
                  </a:schemeClr>
                </a:solidFill>
              </a:defRPr>
            </a:lvl6pPr>
            <a:lvl7pPr marL="2740663" indent="0">
              <a:buNone/>
              <a:defRPr sz="1599">
                <a:solidFill>
                  <a:schemeClr val="tx1">
                    <a:tint val="75000"/>
                  </a:schemeClr>
                </a:solidFill>
              </a:defRPr>
            </a:lvl7pPr>
            <a:lvl8pPr marL="3197440" indent="0">
              <a:buNone/>
              <a:defRPr sz="1599">
                <a:solidFill>
                  <a:schemeClr val="tx1">
                    <a:tint val="75000"/>
                  </a:schemeClr>
                </a:solidFill>
              </a:defRPr>
            </a:lvl8pPr>
            <a:lvl9pPr marL="3654217" indent="0">
              <a:buNone/>
              <a:defRPr sz="1599">
                <a:solidFill>
                  <a:schemeClr val="tx1">
                    <a:tint val="75000"/>
                  </a:schemeClr>
                </a:solidFill>
              </a:defRPr>
            </a:lvl9pPr>
          </a:lstStyle>
          <a:p>
            <a:pPr lvl="0"/>
            <a:r>
              <a:rPr lang="en-US"/>
              <a:t>Edit Master text styles</a:t>
            </a:r>
          </a:p>
        </p:txBody>
      </p:sp>
      <p:sp>
        <p:nvSpPr>
          <p:cNvPr id="9" name="Segnaposto testo 8">
            <a:extLst>
              <a:ext uri="{FF2B5EF4-FFF2-40B4-BE49-F238E27FC236}">
                <a16:creationId xmlns:a16="http://schemas.microsoft.com/office/drawing/2014/main" id="{952BF5E0-0A08-4EC0-82B8-F757F04A3142}"/>
              </a:ext>
            </a:extLst>
          </p:cNvPr>
          <p:cNvSpPr>
            <a:spLocks noGrp="1"/>
          </p:cNvSpPr>
          <p:nvPr>
            <p:ph type="body" sz="quarter" idx="13"/>
          </p:nvPr>
        </p:nvSpPr>
        <p:spPr>
          <a:xfrm>
            <a:off x="933451" y="1705301"/>
            <a:ext cx="10515600" cy="4537318"/>
          </a:xfrm>
          <a:prstGeom prst="rect">
            <a:avLst/>
          </a:prstGeom>
        </p:spPr>
        <p:txBody>
          <a:bodyPr anchor="t">
            <a:noAutofit/>
          </a:bodyPr>
          <a:lstStyle>
            <a:lvl1pPr marL="0" indent="0">
              <a:lnSpc>
                <a:spcPct val="100000"/>
              </a:lnSpc>
              <a:buFontTx/>
              <a:buNone/>
              <a:defRPr sz="1599">
                <a:solidFill>
                  <a:srgbClr val="0F3250"/>
                </a:solidFill>
                <a:latin typeface="+mn-lt"/>
              </a:defRPr>
            </a:lvl1pPr>
            <a:lvl2pPr marL="456777" indent="0">
              <a:buFontTx/>
              <a:buNone/>
              <a:defRPr/>
            </a:lvl2pPr>
            <a:lvl3pPr marL="913554" indent="0">
              <a:buFontTx/>
              <a:buNone/>
              <a:defRPr/>
            </a:lvl3pPr>
            <a:lvl4pPr marL="1370331" indent="0">
              <a:buFontTx/>
              <a:buNone/>
              <a:defRPr/>
            </a:lvl4pPr>
            <a:lvl5pPr marL="1827108" indent="0">
              <a:buFontTx/>
              <a:buNone/>
              <a:defRPr/>
            </a:lvl5pPr>
          </a:lstStyle>
          <a:p>
            <a:pPr lvl="0"/>
            <a:r>
              <a:rPr lang="en-US"/>
              <a:t>Edit Master text styles</a:t>
            </a:r>
          </a:p>
        </p:txBody>
      </p:sp>
      <p:sp>
        <p:nvSpPr>
          <p:cNvPr id="17" name="Slide Number Placeholder 6">
            <a:extLst>
              <a:ext uri="{FF2B5EF4-FFF2-40B4-BE49-F238E27FC236}">
                <a16:creationId xmlns:a16="http://schemas.microsoft.com/office/drawing/2014/main" id="{5EB157B1-6F16-4A97-99F7-D1F5FB853FD0}"/>
              </a:ext>
            </a:extLst>
          </p:cNvPr>
          <p:cNvSpPr>
            <a:spLocks noGrp="1"/>
          </p:cNvSpPr>
          <p:nvPr>
            <p:ph type="sldNum" sz="quarter" idx="12"/>
          </p:nvPr>
        </p:nvSpPr>
        <p:spPr>
          <a:xfrm>
            <a:off x="11299189" y="302463"/>
            <a:ext cx="603251" cy="365125"/>
          </a:xfrm>
          <a:prstGeom prst="rect">
            <a:avLst/>
          </a:prstGeom>
        </p:spPr>
        <p:txBody>
          <a:bodyPr anchor="ctr"/>
          <a:lstStyle>
            <a:lvl1pPr algn="r">
              <a:defRPr sz="1066">
                <a:solidFill>
                  <a:schemeClr val="bg1"/>
                </a:solidFill>
                <a:latin typeface="+mn-lt"/>
              </a:defRPr>
            </a:lvl1pPr>
          </a:lstStyle>
          <a:p>
            <a:fld id="{7998DEE5-5424-45CB-8336-3215AFBD0173}" type="slidenum">
              <a:rPr lang="it-IT" smtClean="0"/>
              <a:pPr/>
              <a:t>‹N›</a:t>
            </a:fld>
            <a:endParaRPr lang="it-IT"/>
          </a:p>
        </p:txBody>
      </p:sp>
      <p:sp>
        <p:nvSpPr>
          <p:cNvPr id="8" name="Segnaposto piè di pagina 7">
            <a:extLst>
              <a:ext uri="{FF2B5EF4-FFF2-40B4-BE49-F238E27FC236}">
                <a16:creationId xmlns:a16="http://schemas.microsoft.com/office/drawing/2014/main" id="{77C6DC3C-E3D0-4FE1-A5A0-EDF189162901}"/>
              </a:ext>
            </a:extLst>
          </p:cNvPr>
          <p:cNvSpPr>
            <a:spLocks noGrp="1"/>
          </p:cNvSpPr>
          <p:nvPr>
            <p:ph type="ftr" sz="quarter" idx="16"/>
          </p:nvPr>
        </p:nvSpPr>
        <p:spPr>
          <a:xfrm>
            <a:off x="958709" y="6493773"/>
            <a:ext cx="4811316" cy="318530"/>
          </a:xfrm>
          <a:prstGeom prst="rect">
            <a:avLst/>
          </a:prstGeom>
        </p:spPr>
        <p:txBody>
          <a:bodyPr/>
          <a:lstStyle>
            <a:lvl1pPr algn="l">
              <a:defRPr sz="932">
                <a:solidFill>
                  <a:schemeClr val="bg1"/>
                </a:solidFill>
              </a:defRPr>
            </a:lvl1pPr>
          </a:lstStyle>
          <a:p>
            <a:r>
              <a:rPr lang="en-US" err="1"/>
              <a:t>Titolo</a:t>
            </a:r>
            <a:r>
              <a:rPr lang="en-US"/>
              <a:t> </a:t>
            </a:r>
            <a:r>
              <a:rPr lang="en-US" err="1"/>
              <a:t>Presentazione</a:t>
            </a:r>
            <a:endParaRPr lang="en-US"/>
          </a:p>
        </p:txBody>
      </p:sp>
    </p:spTree>
    <p:extLst>
      <p:ext uri="{BB962C8B-B14F-4D97-AF65-F5344CB8AC3E}">
        <p14:creationId xmlns:p14="http://schemas.microsoft.com/office/powerpoint/2010/main" val="2038976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uto e grafico">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E2B752D3-4A88-44E0-D1C6-D33A79372A1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1"/>
            <a:ext cx="12203291" cy="6858000"/>
          </a:xfrm>
          <a:prstGeom prst="rect">
            <a:avLst/>
          </a:prstGeom>
        </p:spPr>
      </p:pic>
      <p:sp>
        <p:nvSpPr>
          <p:cNvPr id="2" name="Title 1"/>
          <p:cNvSpPr>
            <a:spLocks noGrp="1"/>
          </p:cNvSpPr>
          <p:nvPr>
            <p:ph type="title"/>
          </p:nvPr>
        </p:nvSpPr>
        <p:spPr>
          <a:xfrm>
            <a:off x="921600" y="196618"/>
            <a:ext cx="10300800" cy="469965"/>
          </a:xfrm>
          <a:prstGeom prst="rect">
            <a:avLst/>
          </a:prstGeom>
        </p:spPr>
        <p:txBody>
          <a:bodyPr anchor="ctr">
            <a:noAutofit/>
          </a:bodyPr>
          <a:lstStyle>
            <a:lvl1pPr>
              <a:defRPr sz="1865" b="1">
                <a:solidFill>
                  <a:schemeClr val="bg1"/>
                </a:solidFill>
                <a:latin typeface="+mn-lt"/>
              </a:defRPr>
            </a:lvl1pPr>
          </a:lstStyle>
          <a:p>
            <a:r>
              <a:rPr lang="en-US"/>
              <a:t>Click to edit Master title style</a:t>
            </a:r>
          </a:p>
        </p:txBody>
      </p:sp>
      <p:sp>
        <p:nvSpPr>
          <p:cNvPr id="4" name="Content Placeholder 3"/>
          <p:cNvSpPr>
            <a:spLocks noGrp="1"/>
          </p:cNvSpPr>
          <p:nvPr>
            <p:ph sz="half" idx="2" hasCustomPrompt="1"/>
          </p:nvPr>
        </p:nvSpPr>
        <p:spPr>
          <a:xfrm>
            <a:off x="7621269" y="1749173"/>
            <a:ext cx="4032252" cy="3947469"/>
          </a:xfrm>
          <a:prstGeom prst="rect">
            <a:avLst/>
          </a:prstGeom>
        </p:spPr>
        <p:txBody>
          <a:bodyPr anchor="ctr">
            <a:normAutofit/>
          </a:bodyPr>
          <a:lstStyle>
            <a:lvl1pPr marL="0" indent="0" algn="ctr">
              <a:buFontTx/>
              <a:buNone/>
              <a:defRPr sz="2131">
                <a:solidFill>
                  <a:srgbClr val="C00000"/>
                </a:solidFill>
              </a:defRPr>
            </a:lvl1pPr>
          </a:lstStyle>
          <a:p>
            <a:pPr lvl="0"/>
            <a:r>
              <a:rPr lang="en-US" err="1"/>
              <a:t>Inserisci</a:t>
            </a:r>
            <a:r>
              <a:rPr lang="en-US"/>
              <a:t> qui </a:t>
            </a:r>
            <a:r>
              <a:rPr lang="en-US" err="1"/>
              <a:t>il</a:t>
            </a:r>
            <a:r>
              <a:rPr lang="en-US"/>
              <a:t> </a:t>
            </a:r>
            <a:r>
              <a:rPr lang="en-US" err="1"/>
              <a:t>grafico</a:t>
            </a:r>
            <a:endParaRPr lang="en-US"/>
          </a:p>
        </p:txBody>
      </p:sp>
      <p:sp>
        <p:nvSpPr>
          <p:cNvPr id="11" name="Text Placeholder 2">
            <a:extLst>
              <a:ext uri="{FF2B5EF4-FFF2-40B4-BE49-F238E27FC236}">
                <a16:creationId xmlns:a16="http://schemas.microsoft.com/office/drawing/2014/main" id="{477CD518-EF0F-4B5F-9D5C-FF7A0A28103E}"/>
              </a:ext>
            </a:extLst>
          </p:cNvPr>
          <p:cNvSpPr>
            <a:spLocks noGrp="1"/>
          </p:cNvSpPr>
          <p:nvPr>
            <p:ph type="body" idx="1"/>
          </p:nvPr>
        </p:nvSpPr>
        <p:spPr>
          <a:xfrm>
            <a:off x="933451" y="1224850"/>
            <a:ext cx="6198213" cy="365125"/>
          </a:xfrm>
          <a:prstGeom prst="rect">
            <a:avLst/>
          </a:prstGeom>
        </p:spPr>
        <p:txBody>
          <a:bodyPr anchor="ctr">
            <a:noAutofit/>
          </a:bodyPr>
          <a:lstStyle>
            <a:lvl1pPr marL="0" indent="0" algn="l">
              <a:buNone/>
              <a:defRPr sz="1599">
                <a:solidFill>
                  <a:srgbClr val="969696"/>
                </a:solidFill>
                <a:latin typeface="+mn-lt"/>
              </a:defRPr>
            </a:lvl1pPr>
            <a:lvl2pPr marL="456777" indent="0">
              <a:buNone/>
              <a:defRPr sz="1998">
                <a:solidFill>
                  <a:schemeClr val="tx1">
                    <a:tint val="75000"/>
                  </a:schemeClr>
                </a:solidFill>
              </a:defRPr>
            </a:lvl2pPr>
            <a:lvl3pPr marL="913554" indent="0">
              <a:buNone/>
              <a:defRPr sz="1798">
                <a:solidFill>
                  <a:schemeClr val="tx1">
                    <a:tint val="75000"/>
                  </a:schemeClr>
                </a:solidFill>
              </a:defRPr>
            </a:lvl3pPr>
            <a:lvl4pPr marL="1370331" indent="0">
              <a:buNone/>
              <a:defRPr sz="1599">
                <a:solidFill>
                  <a:schemeClr val="tx1">
                    <a:tint val="75000"/>
                  </a:schemeClr>
                </a:solidFill>
              </a:defRPr>
            </a:lvl4pPr>
            <a:lvl5pPr marL="1827108" indent="0">
              <a:buNone/>
              <a:defRPr sz="1599">
                <a:solidFill>
                  <a:schemeClr val="tx1">
                    <a:tint val="75000"/>
                  </a:schemeClr>
                </a:solidFill>
              </a:defRPr>
            </a:lvl5pPr>
            <a:lvl6pPr marL="2283885" indent="0">
              <a:buNone/>
              <a:defRPr sz="1599">
                <a:solidFill>
                  <a:schemeClr val="tx1">
                    <a:tint val="75000"/>
                  </a:schemeClr>
                </a:solidFill>
              </a:defRPr>
            </a:lvl6pPr>
            <a:lvl7pPr marL="2740663" indent="0">
              <a:buNone/>
              <a:defRPr sz="1599">
                <a:solidFill>
                  <a:schemeClr val="tx1">
                    <a:tint val="75000"/>
                  </a:schemeClr>
                </a:solidFill>
              </a:defRPr>
            </a:lvl7pPr>
            <a:lvl8pPr marL="3197440" indent="0">
              <a:buNone/>
              <a:defRPr sz="1599">
                <a:solidFill>
                  <a:schemeClr val="tx1">
                    <a:tint val="75000"/>
                  </a:schemeClr>
                </a:solidFill>
              </a:defRPr>
            </a:lvl8pPr>
            <a:lvl9pPr marL="3654217" indent="0">
              <a:buNone/>
              <a:defRPr sz="1599">
                <a:solidFill>
                  <a:schemeClr val="tx1">
                    <a:tint val="75000"/>
                  </a:schemeClr>
                </a:solidFill>
              </a:defRPr>
            </a:lvl9pPr>
          </a:lstStyle>
          <a:p>
            <a:pPr lvl="0"/>
            <a:r>
              <a:rPr lang="en-US"/>
              <a:t>Edit Master text styles</a:t>
            </a:r>
          </a:p>
        </p:txBody>
      </p:sp>
      <p:sp>
        <p:nvSpPr>
          <p:cNvPr id="12" name="Segnaposto testo 8">
            <a:extLst>
              <a:ext uri="{FF2B5EF4-FFF2-40B4-BE49-F238E27FC236}">
                <a16:creationId xmlns:a16="http://schemas.microsoft.com/office/drawing/2014/main" id="{C23A30CD-5A95-4485-BE1D-AA8BEF1A4E2D}"/>
              </a:ext>
            </a:extLst>
          </p:cNvPr>
          <p:cNvSpPr>
            <a:spLocks noGrp="1"/>
          </p:cNvSpPr>
          <p:nvPr>
            <p:ph type="body" sz="quarter" idx="13"/>
          </p:nvPr>
        </p:nvSpPr>
        <p:spPr>
          <a:xfrm>
            <a:off x="933451" y="1705301"/>
            <a:ext cx="6198213" cy="4537318"/>
          </a:xfrm>
          <a:prstGeom prst="rect">
            <a:avLst/>
          </a:prstGeom>
        </p:spPr>
        <p:txBody>
          <a:bodyPr anchor="t">
            <a:noAutofit/>
          </a:bodyPr>
          <a:lstStyle>
            <a:lvl1pPr marL="0" indent="0">
              <a:lnSpc>
                <a:spcPct val="100000"/>
              </a:lnSpc>
              <a:buFontTx/>
              <a:buNone/>
              <a:defRPr sz="1599">
                <a:solidFill>
                  <a:srgbClr val="0F3250"/>
                </a:solidFill>
                <a:latin typeface="+mn-lt"/>
              </a:defRPr>
            </a:lvl1pPr>
            <a:lvl2pPr marL="456777" indent="0">
              <a:buFontTx/>
              <a:buNone/>
              <a:defRPr/>
            </a:lvl2pPr>
            <a:lvl3pPr marL="913554" indent="0">
              <a:buFontTx/>
              <a:buNone/>
              <a:defRPr/>
            </a:lvl3pPr>
            <a:lvl4pPr marL="1370331" indent="0">
              <a:buFontTx/>
              <a:buNone/>
              <a:defRPr/>
            </a:lvl4pPr>
            <a:lvl5pPr marL="1827108" indent="0">
              <a:buFontTx/>
              <a:buNone/>
              <a:defRPr/>
            </a:lvl5pPr>
          </a:lstStyle>
          <a:p>
            <a:pPr lvl="0"/>
            <a:r>
              <a:rPr lang="en-US"/>
              <a:t>Edit Master text styles</a:t>
            </a:r>
          </a:p>
        </p:txBody>
      </p:sp>
      <p:sp>
        <p:nvSpPr>
          <p:cNvPr id="18" name="Segnaposto testo 17">
            <a:extLst>
              <a:ext uri="{FF2B5EF4-FFF2-40B4-BE49-F238E27FC236}">
                <a16:creationId xmlns:a16="http://schemas.microsoft.com/office/drawing/2014/main" id="{5C413CFE-B928-45F4-B41D-8D42139BA30F}"/>
              </a:ext>
            </a:extLst>
          </p:cNvPr>
          <p:cNvSpPr>
            <a:spLocks noGrp="1"/>
          </p:cNvSpPr>
          <p:nvPr>
            <p:ph type="body" sz="quarter" idx="15"/>
          </p:nvPr>
        </p:nvSpPr>
        <p:spPr>
          <a:xfrm>
            <a:off x="7621270" y="1254869"/>
            <a:ext cx="3961129" cy="321302"/>
          </a:xfrm>
          <a:prstGeom prst="rect">
            <a:avLst/>
          </a:prstGeom>
        </p:spPr>
        <p:txBody>
          <a:bodyPr anchor="t">
            <a:noAutofit/>
          </a:bodyPr>
          <a:lstStyle>
            <a:lvl1pPr marL="0" indent="0">
              <a:buFontTx/>
              <a:buNone/>
              <a:defRPr sz="1599"/>
            </a:lvl1pPr>
          </a:lstStyle>
          <a:p>
            <a:pPr lvl="0"/>
            <a:r>
              <a:rPr lang="en-US"/>
              <a:t>Edit Master text styles</a:t>
            </a:r>
          </a:p>
        </p:txBody>
      </p:sp>
      <p:sp>
        <p:nvSpPr>
          <p:cNvPr id="21" name="Slide Number Placeholder 6">
            <a:extLst>
              <a:ext uri="{FF2B5EF4-FFF2-40B4-BE49-F238E27FC236}">
                <a16:creationId xmlns:a16="http://schemas.microsoft.com/office/drawing/2014/main" id="{F74AF1BB-F47A-4202-A0A8-4B6C1BE568A9}"/>
              </a:ext>
            </a:extLst>
          </p:cNvPr>
          <p:cNvSpPr>
            <a:spLocks noGrp="1"/>
          </p:cNvSpPr>
          <p:nvPr>
            <p:ph type="sldNum" sz="quarter" idx="12"/>
          </p:nvPr>
        </p:nvSpPr>
        <p:spPr>
          <a:xfrm>
            <a:off x="11299189" y="302463"/>
            <a:ext cx="603251" cy="365125"/>
          </a:xfrm>
          <a:prstGeom prst="rect">
            <a:avLst/>
          </a:prstGeom>
        </p:spPr>
        <p:txBody>
          <a:bodyPr anchor="ctr"/>
          <a:lstStyle>
            <a:lvl1pPr algn="r">
              <a:defRPr sz="1066">
                <a:solidFill>
                  <a:schemeClr val="bg1"/>
                </a:solidFill>
                <a:latin typeface="+mn-lt"/>
              </a:defRPr>
            </a:lvl1pPr>
          </a:lstStyle>
          <a:p>
            <a:fld id="{7998DEE5-5424-45CB-8336-3215AFBD0173}" type="slidenum">
              <a:rPr lang="it-IT" smtClean="0"/>
              <a:pPr/>
              <a:t>‹N›</a:t>
            </a:fld>
            <a:endParaRPr lang="it-IT"/>
          </a:p>
        </p:txBody>
      </p:sp>
      <p:sp>
        <p:nvSpPr>
          <p:cNvPr id="10" name="Segnaposto piè di pagina 7">
            <a:extLst>
              <a:ext uri="{FF2B5EF4-FFF2-40B4-BE49-F238E27FC236}">
                <a16:creationId xmlns:a16="http://schemas.microsoft.com/office/drawing/2014/main" id="{4214B999-2BC8-4CE4-B9B7-84E70337219E}"/>
              </a:ext>
            </a:extLst>
          </p:cNvPr>
          <p:cNvSpPr>
            <a:spLocks noGrp="1"/>
          </p:cNvSpPr>
          <p:nvPr>
            <p:ph type="ftr" sz="quarter" idx="16"/>
          </p:nvPr>
        </p:nvSpPr>
        <p:spPr>
          <a:xfrm>
            <a:off x="964354" y="6493773"/>
            <a:ext cx="4811316" cy="318530"/>
          </a:xfrm>
          <a:prstGeom prst="rect">
            <a:avLst/>
          </a:prstGeom>
        </p:spPr>
        <p:txBody>
          <a:bodyPr/>
          <a:lstStyle>
            <a:lvl1pPr algn="l">
              <a:defRPr sz="932">
                <a:solidFill>
                  <a:schemeClr val="bg1"/>
                </a:solidFill>
              </a:defRPr>
            </a:lvl1pPr>
          </a:lstStyle>
          <a:p>
            <a:r>
              <a:rPr lang="en-US"/>
              <a:t>Titolo Presentazione</a:t>
            </a:r>
          </a:p>
        </p:txBody>
      </p:sp>
    </p:spTree>
    <p:extLst>
      <p:ext uri="{BB962C8B-B14F-4D97-AF65-F5344CB8AC3E}">
        <p14:creationId xmlns:p14="http://schemas.microsoft.com/office/powerpoint/2010/main" val="2679997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uto e immagine">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07658883-0AE9-E616-516D-F7C4A9EC60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43" y="1"/>
            <a:ext cx="12203289" cy="6858000"/>
          </a:xfrm>
          <a:prstGeom prst="rect">
            <a:avLst/>
          </a:prstGeom>
        </p:spPr>
      </p:pic>
      <p:sp>
        <p:nvSpPr>
          <p:cNvPr id="2" name="Title 1"/>
          <p:cNvSpPr>
            <a:spLocks noGrp="1"/>
          </p:cNvSpPr>
          <p:nvPr>
            <p:ph type="title"/>
          </p:nvPr>
        </p:nvSpPr>
        <p:spPr>
          <a:xfrm>
            <a:off x="921600" y="196618"/>
            <a:ext cx="10300800" cy="469965"/>
          </a:xfrm>
          <a:prstGeom prst="rect">
            <a:avLst/>
          </a:prstGeom>
        </p:spPr>
        <p:txBody>
          <a:bodyPr anchor="ctr">
            <a:noAutofit/>
          </a:bodyPr>
          <a:lstStyle>
            <a:lvl1pPr>
              <a:defRPr sz="1865" b="1">
                <a:solidFill>
                  <a:schemeClr val="bg1"/>
                </a:solidFill>
                <a:latin typeface="+mn-lt"/>
              </a:defRPr>
            </a:lvl1pPr>
          </a:lstStyle>
          <a:p>
            <a:r>
              <a:rPr lang="en-US"/>
              <a:t>Click to edit Master title style</a:t>
            </a:r>
          </a:p>
        </p:txBody>
      </p:sp>
      <p:sp>
        <p:nvSpPr>
          <p:cNvPr id="11" name="Text Placeholder 2">
            <a:extLst>
              <a:ext uri="{FF2B5EF4-FFF2-40B4-BE49-F238E27FC236}">
                <a16:creationId xmlns:a16="http://schemas.microsoft.com/office/drawing/2014/main" id="{477CD518-EF0F-4B5F-9D5C-FF7A0A28103E}"/>
              </a:ext>
            </a:extLst>
          </p:cNvPr>
          <p:cNvSpPr>
            <a:spLocks noGrp="1"/>
          </p:cNvSpPr>
          <p:nvPr>
            <p:ph type="body" idx="1"/>
          </p:nvPr>
        </p:nvSpPr>
        <p:spPr>
          <a:xfrm>
            <a:off x="933451" y="1224850"/>
            <a:ext cx="6198213" cy="365125"/>
          </a:xfrm>
          <a:prstGeom prst="rect">
            <a:avLst/>
          </a:prstGeom>
        </p:spPr>
        <p:txBody>
          <a:bodyPr anchor="ctr">
            <a:noAutofit/>
          </a:bodyPr>
          <a:lstStyle>
            <a:lvl1pPr marL="0" indent="0" algn="l">
              <a:buNone/>
              <a:defRPr sz="1599">
                <a:solidFill>
                  <a:srgbClr val="969696"/>
                </a:solidFill>
                <a:latin typeface="+mn-lt"/>
              </a:defRPr>
            </a:lvl1pPr>
            <a:lvl2pPr marL="456777" indent="0">
              <a:buNone/>
              <a:defRPr sz="1998">
                <a:solidFill>
                  <a:schemeClr val="tx1">
                    <a:tint val="75000"/>
                  </a:schemeClr>
                </a:solidFill>
              </a:defRPr>
            </a:lvl2pPr>
            <a:lvl3pPr marL="913554" indent="0">
              <a:buNone/>
              <a:defRPr sz="1798">
                <a:solidFill>
                  <a:schemeClr val="tx1">
                    <a:tint val="75000"/>
                  </a:schemeClr>
                </a:solidFill>
              </a:defRPr>
            </a:lvl3pPr>
            <a:lvl4pPr marL="1370331" indent="0">
              <a:buNone/>
              <a:defRPr sz="1599">
                <a:solidFill>
                  <a:schemeClr val="tx1">
                    <a:tint val="75000"/>
                  </a:schemeClr>
                </a:solidFill>
              </a:defRPr>
            </a:lvl4pPr>
            <a:lvl5pPr marL="1827108" indent="0">
              <a:buNone/>
              <a:defRPr sz="1599">
                <a:solidFill>
                  <a:schemeClr val="tx1">
                    <a:tint val="75000"/>
                  </a:schemeClr>
                </a:solidFill>
              </a:defRPr>
            </a:lvl5pPr>
            <a:lvl6pPr marL="2283885" indent="0">
              <a:buNone/>
              <a:defRPr sz="1599">
                <a:solidFill>
                  <a:schemeClr val="tx1">
                    <a:tint val="75000"/>
                  </a:schemeClr>
                </a:solidFill>
              </a:defRPr>
            </a:lvl6pPr>
            <a:lvl7pPr marL="2740663" indent="0">
              <a:buNone/>
              <a:defRPr sz="1599">
                <a:solidFill>
                  <a:schemeClr val="tx1">
                    <a:tint val="75000"/>
                  </a:schemeClr>
                </a:solidFill>
              </a:defRPr>
            </a:lvl7pPr>
            <a:lvl8pPr marL="3197440" indent="0">
              <a:buNone/>
              <a:defRPr sz="1599">
                <a:solidFill>
                  <a:schemeClr val="tx1">
                    <a:tint val="75000"/>
                  </a:schemeClr>
                </a:solidFill>
              </a:defRPr>
            </a:lvl8pPr>
            <a:lvl9pPr marL="3654217" indent="0">
              <a:buNone/>
              <a:defRPr sz="1599">
                <a:solidFill>
                  <a:schemeClr val="tx1">
                    <a:tint val="75000"/>
                  </a:schemeClr>
                </a:solidFill>
              </a:defRPr>
            </a:lvl9pPr>
          </a:lstStyle>
          <a:p>
            <a:pPr lvl="0"/>
            <a:r>
              <a:rPr lang="en-US"/>
              <a:t>Edit Master text styles</a:t>
            </a:r>
          </a:p>
        </p:txBody>
      </p:sp>
      <p:sp>
        <p:nvSpPr>
          <p:cNvPr id="12" name="Segnaposto testo 8">
            <a:extLst>
              <a:ext uri="{FF2B5EF4-FFF2-40B4-BE49-F238E27FC236}">
                <a16:creationId xmlns:a16="http://schemas.microsoft.com/office/drawing/2014/main" id="{C23A30CD-5A95-4485-BE1D-AA8BEF1A4E2D}"/>
              </a:ext>
            </a:extLst>
          </p:cNvPr>
          <p:cNvSpPr>
            <a:spLocks noGrp="1"/>
          </p:cNvSpPr>
          <p:nvPr>
            <p:ph type="body" sz="quarter" idx="13"/>
          </p:nvPr>
        </p:nvSpPr>
        <p:spPr>
          <a:xfrm>
            <a:off x="933451" y="1705301"/>
            <a:ext cx="6198213" cy="4537318"/>
          </a:xfrm>
          <a:prstGeom prst="rect">
            <a:avLst/>
          </a:prstGeom>
        </p:spPr>
        <p:txBody>
          <a:bodyPr anchor="t">
            <a:noAutofit/>
          </a:bodyPr>
          <a:lstStyle>
            <a:lvl1pPr marL="0" indent="0">
              <a:lnSpc>
                <a:spcPct val="100000"/>
              </a:lnSpc>
              <a:buFontTx/>
              <a:buNone/>
              <a:defRPr sz="1599">
                <a:solidFill>
                  <a:srgbClr val="0F3250"/>
                </a:solidFill>
                <a:latin typeface="+mn-lt"/>
              </a:defRPr>
            </a:lvl1pPr>
            <a:lvl2pPr marL="456777" indent="0">
              <a:buFontTx/>
              <a:buNone/>
              <a:defRPr/>
            </a:lvl2pPr>
            <a:lvl3pPr marL="913554" indent="0">
              <a:buFontTx/>
              <a:buNone/>
              <a:defRPr/>
            </a:lvl3pPr>
            <a:lvl4pPr marL="1370331" indent="0">
              <a:buFontTx/>
              <a:buNone/>
              <a:defRPr/>
            </a:lvl4pPr>
            <a:lvl5pPr marL="1827108" indent="0">
              <a:buFontTx/>
              <a:buNone/>
              <a:defRPr/>
            </a:lvl5pPr>
          </a:lstStyle>
          <a:p>
            <a:pPr lvl="0"/>
            <a:r>
              <a:rPr lang="en-US"/>
              <a:t>Edit Master text styles</a:t>
            </a:r>
          </a:p>
        </p:txBody>
      </p:sp>
      <p:sp>
        <p:nvSpPr>
          <p:cNvPr id="21" name="Slide Number Placeholder 6">
            <a:extLst>
              <a:ext uri="{FF2B5EF4-FFF2-40B4-BE49-F238E27FC236}">
                <a16:creationId xmlns:a16="http://schemas.microsoft.com/office/drawing/2014/main" id="{F74AF1BB-F47A-4202-A0A8-4B6C1BE568A9}"/>
              </a:ext>
            </a:extLst>
          </p:cNvPr>
          <p:cNvSpPr>
            <a:spLocks noGrp="1"/>
          </p:cNvSpPr>
          <p:nvPr>
            <p:ph type="sldNum" sz="quarter" idx="12"/>
          </p:nvPr>
        </p:nvSpPr>
        <p:spPr>
          <a:xfrm>
            <a:off x="11299189" y="302463"/>
            <a:ext cx="603251" cy="365125"/>
          </a:xfrm>
          <a:prstGeom prst="rect">
            <a:avLst/>
          </a:prstGeom>
        </p:spPr>
        <p:txBody>
          <a:bodyPr anchor="ctr"/>
          <a:lstStyle>
            <a:lvl1pPr algn="r">
              <a:defRPr sz="1066">
                <a:solidFill>
                  <a:schemeClr val="bg1"/>
                </a:solidFill>
                <a:latin typeface="+mn-lt"/>
              </a:defRPr>
            </a:lvl1pPr>
          </a:lstStyle>
          <a:p>
            <a:fld id="{7998DEE5-5424-45CB-8336-3215AFBD0173}" type="slidenum">
              <a:rPr lang="it-IT" smtClean="0"/>
              <a:pPr/>
              <a:t>‹N›</a:t>
            </a:fld>
            <a:endParaRPr lang="it-IT"/>
          </a:p>
        </p:txBody>
      </p:sp>
      <p:sp>
        <p:nvSpPr>
          <p:cNvPr id="19" name="Segnaposto immagine 18">
            <a:extLst>
              <a:ext uri="{FF2B5EF4-FFF2-40B4-BE49-F238E27FC236}">
                <a16:creationId xmlns:a16="http://schemas.microsoft.com/office/drawing/2014/main" id="{69D0CFCB-A22C-488D-967A-11DA5F79B241}"/>
              </a:ext>
            </a:extLst>
          </p:cNvPr>
          <p:cNvSpPr>
            <a:spLocks noGrp="1"/>
          </p:cNvSpPr>
          <p:nvPr>
            <p:ph type="pic" sz="quarter" idx="15"/>
          </p:nvPr>
        </p:nvSpPr>
        <p:spPr>
          <a:xfrm>
            <a:off x="9131301" y="615382"/>
            <a:ext cx="3060700" cy="5699899"/>
          </a:xfrm>
          <a:prstGeom prst="rect">
            <a:avLst/>
          </a:prstGeom>
          <a:noFill/>
        </p:spPr>
        <p:txBody>
          <a:bodyPr/>
          <a:lstStyle>
            <a:lvl1pPr marL="0" indent="0">
              <a:buFontTx/>
              <a:buNone/>
              <a:defRPr sz="1465"/>
            </a:lvl1pPr>
          </a:lstStyle>
          <a:p>
            <a:r>
              <a:rPr lang="en-US"/>
              <a:t>Click icon to add picture</a:t>
            </a:r>
            <a:endParaRPr lang="it-IT"/>
          </a:p>
        </p:txBody>
      </p:sp>
      <p:sp>
        <p:nvSpPr>
          <p:cNvPr id="10" name="Segnaposto piè di pagina 7">
            <a:extLst>
              <a:ext uri="{FF2B5EF4-FFF2-40B4-BE49-F238E27FC236}">
                <a16:creationId xmlns:a16="http://schemas.microsoft.com/office/drawing/2014/main" id="{0D6E770D-BA99-4D8F-8D7F-F6E1B65C62E4}"/>
              </a:ext>
            </a:extLst>
          </p:cNvPr>
          <p:cNvSpPr>
            <a:spLocks noGrp="1"/>
          </p:cNvSpPr>
          <p:nvPr>
            <p:ph type="ftr" sz="quarter" idx="16"/>
          </p:nvPr>
        </p:nvSpPr>
        <p:spPr>
          <a:xfrm>
            <a:off x="964354" y="6493773"/>
            <a:ext cx="4811316" cy="318530"/>
          </a:xfrm>
          <a:prstGeom prst="rect">
            <a:avLst/>
          </a:prstGeom>
        </p:spPr>
        <p:txBody>
          <a:bodyPr/>
          <a:lstStyle>
            <a:lvl1pPr algn="l">
              <a:defRPr sz="932">
                <a:solidFill>
                  <a:schemeClr val="bg1"/>
                </a:solidFill>
              </a:defRPr>
            </a:lvl1pPr>
          </a:lstStyle>
          <a:p>
            <a:r>
              <a:rPr lang="en-US"/>
              <a:t>Titolo Presentazione</a:t>
            </a:r>
          </a:p>
        </p:txBody>
      </p:sp>
    </p:spTree>
    <p:extLst>
      <p:ext uri="{BB962C8B-B14F-4D97-AF65-F5344CB8AC3E}">
        <p14:creationId xmlns:p14="http://schemas.microsoft.com/office/powerpoint/2010/main" val="4136804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uto e immagine">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73005DAB-912B-3F46-FB84-AD73311AB08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46" y="-1"/>
            <a:ext cx="12203292" cy="6858001"/>
          </a:xfrm>
          <a:prstGeom prst="rect">
            <a:avLst/>
          </a:prstGeom>
        </p:spPr>
      </p:pic>
      <p:sp>
        <p:nvSpPr>
          <p:cNvPr id="2" name="Title 1"/>
          <p:cNvSpPr>
            <a:spLocks noGrp="1"/>
          </p:cNvSpPr>
          <p:nvPr>
            <p:ph type="title"/>
          </p:nvPr>
        </p:nvSpPr>
        <p:spPr>
          <a:xfrm>
            <a:off x="921600" y="196618"/>
            <a:ext cx="10300800" cy="469965"/>
          </a:xfrm>
          <a:prstGeom prst="rect">
            <a:avLst/>
          </a:prstGeom>
        </p:spPr>
        <p:txBody>
          <a:bodyPr anchor="ctr">
            <a:noAutofit/>
          </a:bodyPr>
          <a:lstStyle>
            <a:lvl1pPr>
              <a:defRPr sz="1865" b="1">
                <a:solidFill>
                  <a:schemeClr val="bg1"/>
                </a:solidFill>
                <a:latin typeface="+mn-lt"/>
              </a:defRPr>
            </a:lvl1pPr>
          </a:lstStyle>
          <a:p>
            <a:r>
              <a:rPr lang="en-US"/>
              <a:t>Click to edit Master title style</a:t>
            </a:r>
          </a:p>
        </p:txBody>
      </p:sp>
      <p:sp>
        <p:nvSpPr>
          <p:cNvPr id="21" name="Slide Number Placeholder 6">
            <a:extLst>
              <a:ext uri="{FF2B5EF4-FFF2-40B4-BE49-F238E27FC236}">
                <a16:creationId xmlns:a16="http://schemas.microsoft.com/office/drawing/2014/main" id="{F74AF1BB-F47A-4202-A0A8-4B6C1BE568A9}"/>
              </a:ext>
            </a:extLst>
          </p:cNvPr>
          <p:cNvSpPr>
            <a:spLocks noGrp="1"/>
          </p:cNvSpPr>
          <p:nvPr>
            <p:ph type="sldNum" sz="quarter" idx="12"/>
          </p:nvPr>
        </p:nvSpPr>
        <p:spPr>
          <a:xfrm>
            <a:off x="11299189" y="302463"/>
            <a:ext cx="603251" cy="365125"/>
          </a:xfrm>
          <a:prstGeom prst="rect">
            <a:avLst/>
          </a:prstGeom>
        </p:spPr>
        <p:txBody>
          <a:bodyPr anchor="ctr"/>
          <a:lstStyle>
            <a:lvl1pPr algn="r">
              <a:defRPr sz="1066">
                <a:solidFill>
                  <a:schemeClr val="bg1"/>
                </a:solidFill>
                <a:latin typeface="+mn-lt"/>
              </a:defRPr>
            </a:lvl1pPr>
          </a:lstStyle>
          <a:p>
            <a:fld id="{7998DEE5-5424-45CB-8336-3215AFBD0173}" type="slidenum">
              <a:rPr lang="it-IT" smtClean="0"/>
              <a:pPr/>
              <a:t>‹N›</a:t>
            </a:fld>
            <a:endParaRPr lang="it-IT"/>
          </a:p>
        </p:txBody>
      </p:sp>
      <p:sp>
        <p:nvSpPr>
          <p:cNvPr id="19" name="Segnaposto immagine 18">
            <a:extLst>
              <a:ext uri="{FF2B5EF4-FFF2-40B4-BE49-F238E27FC236}">
                <a16:creationId xmlns:a16="http://schemas.microsoft.com/office/drawing/2014/main" id="{69D0CFCB-A22C-488D-967A-11DA5F79B241}"/>
              </a:ext>
            </a:extLst>
          </p:cNvPr>
          <p:cNvSpPr>
            <a:spLocks noGrp="1"/>
          </p:cNvSpPr>
          <p:nvPr>
            <p:ph type="pic" sz="quarter" idx="15"/>
          </p:nvPr>
        </p:nvSpPr>
        <p:spPr>
          <a:xfrm flipH="1">
            <a:off x="-5647" y="615381"/>
            <a:ext cx="12197645" cy="5736714"/>
          </a:xfrm>
          <a:prstGeom prst="round2DiagRect">
            <a:avLst>
              <a:gd name="adj1" fmla="val 19504"/>
              <a:gd name="adj2" fmla="val 0"/>
            </a:avLst>
          </a:prstGeom>
          <a:noFill/>
        </p:spPr>
        <p:txBody>
          <a:bodyPr/>
          <a:lstStyle>
            <a:lvl1pPr marL="0" indent="0">
              <a:buFontTx/>
              <a:buNone/>
              <a:defRPr sz="1465"/>
            </a:lvl1pPr>
          </a:lstStyle>
          <a:p>
            <a:r>
              <a:rPr lang="en-US"/>
              <a:t>Click icon to add picture</a:t>
            </a:r>
            <a:endParaRPr lang="it-IT"/>
          </a:p>
        </p:txBody>
      </p:sp>
      <p:sp>
        <p:nvSpPr>
          <p:cNvPr id="10" name="Segnaposto piè di pagina 7">
            <a:extLst>
              <a:ext uri="{FF2B5EF4-FFF2-40B4-BE49-F238E27FC236}">
                <a16:creationId xmlns:a16="http://schemas.microsoft.com/office/drawing/2014/main" id="{0D6E770D-BA99-4D8F-8D7F-F6E1B65C62E4}"/>
              </a:ext>
            </a:extLst>
          </p:cNvPr>
          <p:cNvSpPr>
            <a:spLocks noGrp="1"/>
          </p:cNvSpPr>
          <p:nvPr>
            <p:ph type="ftr" sz="quarter" idx="16"/>
          </p:nvPr>
        </p:nvSpPr>
        <p:spPr>
          <a:xfrm>
            <a:off x="964354" y="6493773"/>
            <a:ext cx="4811316" cy="318530"/>
          </a:xfrm>
          <a:prstGeom prst="rect">
            <a:avLst/>
          </a:prstGeom>
        </p:spPr>
        <p:txBody>
          <a:bodyPr/>
          <a:lstStyle>
            <a:lvl1pPr algn="l">
              <a:defRPr sz="932">
                <a:solidFill>
                  <a:schemeClr val="bg1"/>
                </a:solidFill>
              </a:defRPr>
            </a:lvl1pPr>
          </a:lstStyle>
          <a:p>
            <a:r>
              <a:rPr lang="en-US"/>
              <a:t>Titolo Presentazione</a:t>
            </a:r>
          </a:p>
        </p:txBody>
      </p:sp>
    </p:spTree>
    <p:extLst>
      <p:ext uri="{BB962C8B-B14F-4D97-AF65-F5344CB8AC3E}">
        <p14:creationId xmlns:p14="http://schemas.microsoft.com/office/powerpoint/2010/main" val="1198252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lori">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D88B3727-896B-392E-2242-988671D31C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43" y="1"/>
            <a:ext cx="12197644" cy="6854827"/>
          </a:xfrm>
          <a:prstGeom prst="rect">
            <a:avLst/>
          </a:prstGeom>
        </p:spPr>
      </p:pic>
      <p:sp>
        <p:nvSpPr>
          <p:cNvPr id="2" name="Title 1"/>
          <p:cNvSpPr>
            <a:spLocks noGrp="1"/>
          </p:cNvSpPr>
          <p:nvPr>
            <p:ph type="title"/>
          </p:nvPr>
        </p:nvSpPr>
        <p:spPr>
          <a:xfrm>
            <a:off x="921600" y="196618"/>
            <a:ext cx="10300800" cy="469965"/>
          </a:xfrm>
          <a:prstGeom prst="rect">
            <a:avLst/>
          </a:prstGeom>
        </p:spPr>
        <p:txBody>
          <a:bodyPr anchor="ctr">
            <a:noAutofit/>
          </a:bodyPr>
          <a:lstStyle>
            <a:lvl1pPr>
              <a:defRPr sz="1865" b="1">
                <a:solidFill>
                  <a:schemeClr val="bg1"/>
                </a:solidFill>
                <a:latin typeface="+mn-lt"/>
              </a:defRPr>
            </a:lvl1pPr>
          </a:lstStyle>
          <a:p>
            <a:r>
              <a:rPr lang="en-US"/>
              <a:t>Click to edit Master title style</a:t>
            </a:r>
          </a:p>
        </p:txBody>
      </p:sp>
      <p:sp>
        <p:nvSpPr>
          <p:cNvPr id="10" name="Slide Number Placeholder 6">
            <a:extLst>
              <a:ext uri="{FF2B5EF4-FFF2-40B4-BE49-F238E27FC236}">
                <a16:creationId xmlns:a16="http://schemas.microsoft.com/office/drawing/2014/main" id="{2ECF0A86-51DC-4ECB-BF32-33280A28669B}"/>
              </a:ext>
            </a:extLst>
          </p:cNvPr>
          <p:cNvSpPr>
            <a:spLocks noGrp="1"/>
          </p:cNvSpPr>
          <p:nvPr>
            <p:ph type="sldNum" sz="quarter" idx="12"/>
          </p:nvPr>
        </p:nvSpPr>
        <p:spPr>
          <a:xfrm>
            <a:off x="11299189" y="302463"/>
            <a:ext cx="603251" cy="365125"/>
          </a:xfrm>
          <a:prstGeom prst="rect">
            <a:avLst/>
          </a:prstGeom>
        </p:spPr>
        <p:txBody>
          <a:bodyPr anchor="ctr"/>
          <a:lstStyle>
            <a:lvl1pPr algn="r">
              <a:defRPr sz="1066">
                <a:solidFill>
                  <a:schemeClr val="bg1"/>
                </a:solidFill>
                <a:latin typeface="+mn-lt"/>
              </a:defRPr>
            </a:lvl1pPr>
          </a:lstStyle>
          <a:p>
            <a:fld id="{7998DEE5-5424-45CB-8336-3215AFBD0173}" type="slidenum">
              <a:rPr lang="it-IT" smtClean="0"/>
              <a:pPr/>
              <a:t>‹N›</a:t>
            </a:fld>
            <a:endParaRPr lang="it-IT"/>
          </a:p>
        </p:txBody>
      </p:sp>
      <p:sp>
        <p:nvSpPr>
          <p:cNvPr id="6" name="Segnaposto piè di pagina 7">
            <a:extLst>
              <a:ext uri="{FF2B5EF4-FFF2-40B4-BE49-F238E27FC236}">
                <a16:creationId xmlns:a16="http://schemas.microsoft.com/office/drawing/2014/main" id="{1F2A62E3-081E-4015-9FC1-C560599BE265}"/>
              </a:ext>
            </a:extLst>
          </p:cNvPr>
          <p:cNvSpPr>
            <a:spLocks noGrp="1"/>
          </p:cNvSpPr>
          <p:nvPr>
            <p:ph type="ftr" sz="quarter" idx="16"/>
          </p:nvPr>
        </p:nvSpPr>
        <p:spPr>
          <a:xfrm>
            <a:off x="964354" y="6493773"/>
            <a:ext cx="4811316" cy="318530"/>
          </a:xfrm>
          <a:prstGeom prst="rect">
            <a:avLst/>
          </a:prstGeom>
        </p:spPr>
        <p:txBody>
          <a:bodyPr/>
          <a:lstStyle>
            <a:lvl1pPr algn="l">
              <a:defRPr sz="932">
                <a:solidFill>
                  <a:schemeClr val="bg1"/>
                </a:solidFill>
              </a:defRPr>
            </a:lvl1pPr>
          </a:lstStyle>
          <a:p>
            <a:r>
              <a:rPr lang="en-US"/>
              <a:t>Titolo Presentazione</a:t>
            </a:r>
          </a:p>
        </p:txBody>
      </p:sp>
    </p:spTree>
    <p:extLst>
      <p:ext uri="{BB962C8B-B14F-4D97-AF65-F5344CB8AC3E}">
        <p14:creationId xmlns:p14="http://schemas.microsoft.com/office/powerpoint/2010/main" val="296039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66D02CF-8048-2F27-FD7E-D9438C295E18}"/>
              </a:ext>
            </a:extLst>
          </p:cNvPr>
          <p:cNvGraphicFramePr>
            <a:graphicFrameLocks noChangeAspect="1"/>
          </p:cNvGraphicFramePr>
          <p:nvPr userDrawn="1">
            <p:custDataLst>
              <p:tags r:id="rId9"/>
            </p:custDataLst>
            <p:extLst>
              <p:ext uri="{D42A27DB-BD31-4B8C-83A1-F6EECF244321}">
                <p14:modId xmlns:p14="http://schemas.microsoft.com/office/powerpoint/2010/main" val="20102160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10" imgW="395" imgH="394" progId="TCLayout.ActiveDocument.1">
                  <p:embed/>
                </p:oleObj>
              </mc:Choice>
              <mc:Fallback>
                <p:oleObj name="Diapositiva think-cell" r:id="rId10" imgW="395" imgH="394" progId="TCLayout.ActiveDocument.1">
                  <p:embed/>
                  <p:pic>
                    <p:nvPicPr>
                      <p:cNvPr id="3" name="think-cell data - do not delete" hidden="1">
                        <a:extLst>
                          <a:ext uri="{FF2B5EF4-FFF2-40B4-BE49-F238E27FC236}">
                            <a16:creationId xmlns:a16="http://schemas.microsoft.com/office/drawing/2014/main" id="{066D02CF-8048-2F27-FD7E-D9438C295E18}"/>
                          </a:ext>
                        </a:extLst>
                      </p:cNvPr>
                      <p:cNvPicPr/>
                      <p:nvPr/>
                    </p:nvPicPr>
                    <p:blipFill>
                      <a:blip r:embed="rId11"/>
                      <a:stretch>
                        <a:fillRect/>
                      </a:stretch>
                    </p:blipFill>
                    <p:spPr>
                      <a:xfrm>
                        <a:off x="1588" y="1588"/>
                        <a:ext cx="1588" cy="1588"/>
                      </a:xfrm>
                      <a:prstGeom prst="rect">
                        <a:avLst/>
                      </a:prstGeom>
                    </p:spPr>
                  </p:pic>
                </p:oleObj>
              </mc:Fallback>
            </mc:AlternateContent>
          </a:graphicData>
        </a:graphic>
      </p:graphicFrame>
      <p:pic>
        <p:nvPicPr>
          <p:cNvPr id="2" name="Immagine 1">
            <a:extLst>
              <a:ext uri="{FF2B5EF4-FFF2-40B4-BE49-F238E27FC236}">
                <a16:creationId xmlns:a16="http://schemas.microsoft.com/office/drawing/2014/main" id="{277484AA-4109-60C9-8117-9F40CE49B28F}"/>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1"/>
            <a:ext cx="12203291" cy="6858000"/>
          </a:xfrm>
          <a:prstGeom prst="rect">
            <a:avLst/>
          </a:prstGeom>
        </p:spPr>
      </p:pic>
    </p:spTree>
    <p:extLst>
      <p:ext uri="{BB962C8B-B14F-4D97-AF65-F5344CB8AC3E}">
        <p14:creationId xmlns:p14="http://schemas.microsoft.com/office/powerpoint/2010/main" val="12318741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3554" rtl="0" eaLnBrk="1" latinLnBrk="0" hangingPunct="1">
        <a:lnSpc>
          <a:spcPct val="90000"/>
        </a:lnSpc>
        <a:spcBef>
          <a:spcPct val="0"/>
        </a:spcBef>
        <a:buNone/>
        <a:defRPr sz="4396" kern="1200">
          <a:solidFill>
            <a:schemeClr val="tx1"/>
          </a:solidFill>
          <a:latin typeface="+mj-lt"/>
          <a:ea typeface="+mj-ea"/>
          <a:cs typeface="+mj-cs"/>
        </a:defRPr>
      </a:lvl1pPr>
    </p:titleStyle>
    <p:bodyStyle>
      <a:lvl1pPr marL="228389" indent="-228389" algn="l" defTabSz="913554" rtl="0" eaLnBrk="1" latinLnBrk="0" hangingPunct="1">
        <a:lnSpc>
          <a:spcPct val="90000"/>
        </a:lnSpc>
        <a:spcBef>
          <a:spcPts val="999"/>
        </a:spcBef>
        <a:buFont typeface="Arial" panose="020B0604020202020204" pitchFamily="34" charset="0"/>
        <a:buChar char="•"/>
        <a:defRPr sz="2797" kern="1200">
          <a:solidFill>
            <a:schemeClr val="tx1"/>
          </a:solidFill>
          <a:latin typeface="+mn-lt"/>
          <a:ea typeface="+mn-ea"/>
          <a:cs typeface="+mn-cs"/>
        </a:defRPr>
      </a:lvl1pPr>
      <a:lvl2pPr marL="685166" indent="-228389" algn="l" defTabSz="913554" rtl="0" eaLnBrk="1" latinLnBrk="0" hangingPunct="1">
        <a:lnSpc>
          <a:spcPct val="90000"/>
        </a:lnSpc>
        <a:spcBef>
          <a:spcPts val="500"/>
        </a:spcBef>
        <a:buFont typeface="Arial" panose="020B0604020202020204" pitchFamily="34" charset="0"/>
        <a:buChar char="•"/>
        <a:defRPr sz="2398" kern="1200">
          <a:solidFill>
            <a:schemeClr val="tx1"/>
          </a:solidFill>
          <a:latin typeface="+mn-lt"/>
          <a:ea typeface="+mn-ea"/>
          <a:cs typeface="+mn-cs"/>
        </a:defRPr>
      </a:lvl2pPr>
      <a:lvl3pPr marL="1141943" indent="-228389" algn="l" defTabSz="913554" rtl="0" eaLnBrk="1" latinLnBrk="0" hangingPunct="1">
        <a:lnSpc>
          <a:spcPct val="90000"/>
        </a:lnSpc>
        <a:spcBef>
          <a:spcPts val="500"/>
        </a:spcBef>
        <a:buFont typeface="Arial" panose="020B0604020202020204" pitchFamily="34" charset="0"/>
        <a:buChar char="•"/>
        <a:defRPr sz="1998" kern="1200">
          <a:solidFill>
            <a:schemeClr val="tx1"/>
          </a:solidFill>
          <a:latin typeface="+mn-lt"/>
          <a:ea typeface="+mn-ea"/>
          <a:cs typeface="+mn-cs"/>
        </a:defRPr>
      </a:lvl3pPr>
      <a:lvl4pPr marL="1598720"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4pPr>
      <a:lvl5pPr marL="2055497"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5pPr>
      <a:lvl6pPr marL="2512274"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6pPr>
      <a:lvl7pPr marL="2969051"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7pPr>
      <a:lvl8pPr marL="3425828"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8pPr>
      <a:lvl9pPr marL="3882605" indent="-228389" algn="l" defTabSz="913554" rtl="0" eaLnBrk="1" latinLnBrk="0" hangingPunct="1">
        <a:lnSpc>
          <a:spcPct val="90000"/>
        </a:lnSpc>
        <a:spcBef>
          <a:spcPts val="500"/>
        </a:spcBef>
        <a:buFont typeface="Arial" panose="020B0604020202020204" pitchFamily="34" charset="0"/>
        <a:buChar char="•"/>
        <a:defRPr sz="1798" kern="1200">
          <a:solidFill>
            <a:schemeClr val="tx1"/>
          </a:solidFill>
          <a:latin typeface="+mn-lt"/>
          <a:ea typeface="+mn-ea"/>
          <a:cs typeface="+mn-cs"/>
        </a:defRPr>
      </a:lvl9pPr>
    </p:bodyStyle>
    <p:otherStyle>
      <a:defPPr>
        <a:defRPr lang="en-US"/>
      </a:defPPr>
      <a:lvl1pPr marL="0" algn="l" defTabSz="913554" rtl="0" eaLnBrk="1" latinLnBrk="0" hangingPunct="1">
        <a:defRPr sz="1798" kern="1200">
          <a:solidFill>
            <a:schemeClr val="tx1"/>
          </a:solidFill>
          <a:latin typeface="+mn-lt"/>
          <a:ea typeface="+mn-ea"/>
          <a:cs typeface="+mn-cs"/>
        </a:defRPr>
      </a:lvl1pPr>
      <a:lvl2pPr marL="456777" algn="l" defTabSz="913554" rtl="0" eaLnBrk="1" latinLnBrk="0" hangingPunct="1">
        <a:defRPr sz="1798" kern="1200">
          <a:solidFill>
            <a:schemeClr val="tx1"/>
          </a:solidFill>
          <a:latin typeface="+mn-lt"/>
          <a:ea typeface="+mn-ea"/>
          <a:cs typeface="+mn-cs"/>
        </a:defRPr>
      </a:lvl2pPr>
      <a:lvl3pPr marL="913554" algn="l" defTabSz="913554" rtl="0" eaLnBrk="1" latinLnBrk="0" hangingPunct="1">
        <a:defRPr sz="1798" kern="1200">
          <a:solidFill>
            <a:schemeClr val="tx1"/>
          </a:solidFill>
          <a:latin typeface="+mn-lt"/>
          <a:ea typeface="+mn-ea"/>
          <a:cs typeface="+mn-cs"/>
        </a:defRPr>
      </a:lvl3pPr>
      <a:lvl4pPr marL="1370331" algn="l" defTabSz="913554" rtl="0" eaLnBrk="1" latinLnBrk="0" hangingPunct="1">
        <a:defRPr sz="1798" kern="1200">
          <a:solidFill>
            <a:schemeClr val="tx1"/>
          </a:solidFill>
          <a:latin typeface="+mn-lt"/>
          <a:ea typeface="+mn-ea"/>
          <a:cs typeface="+mn-cs"/>
        </a:defRPr>
      </a:lvl4pPr>
      <a:lvl5pPr marL="1827108" algn="l" defTabSz="913554" rtl="0" eaLnBrk="1" latinLnBrk="0" hangingPunct="1">
        <a:defRPr sz="1798" kern="1200">
          <a:solidFill>
            <a:schemeClr val="tx1"/>
          </a:solidFill>
          <a:latin typeface="+mn-lt"/>
          <a:ea typeface="+mn-ea"/>
          <a:cs typeface="+mn-cs"/>
        </a:defRPr>
      </a:lvl5pPr>
      <a:lvl6pPr marL="2283885" algn="l" defTabSz="913554" rtl="0" eaLnBrk="1" latinLnBrk="0" hangingPunct="1">
        <a:defRPr sz="1798" kern="1200">
          <a:solidFill>
            <a:schemeClr val="tx1"/>
          </a:solidFill>
          <a:latin typeface="+mn-lt"/>
          <a:ea typeface="+mn-ea"/>
          <a:cs typeface="+mn-cs"/>
        </a:defRPr>
      </a:lvl6pPr>
      <a:lvl7pPr marL="2740663" algn="l" defTabSz="913554" rtl="0" eaLnBrk="1" latinLnBrk="0" hangingPunct="1">
        <a:defRPr sz="1798" kern="1200">
          <a:solidFill>
            <a:schemeClr val="tx1"/>
          </a:solidFill>
          <a:latin typeface="+mn-lt"/>
          <a:ea typeface="+mn-ea"/>
          <a:cs typeface="+mn-cs"/>
        </a:defRPr>
      </a:lvl7pPr>
      <a:lvl8pPr marL="3197440" algn="l" defTabSz="913554" rtl="0" eaLnBrk="1" latinLnBrk="0" hangingPunct="1">
        <a:defRPr sz="1798" kern="1200">
          <a:solidFill>
            <a:schemeClr val="tx1"/>
          </a:solidFill>
          <a:latin typeface="+mn-lt"/>
          <a:ea typeface="+mn-ea"/>
          <a:cs typeface="+mn-cs"/>
        </a:defRPr>
      </a:lvl8pPr>
      <a:lvl9pPr marL="3654217" algn="l" defTabSz="913554"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20.png"/><Relationship Id="rId3" Type="http://schemas.openxmlformats.org/officeDocument/2006/relationships/notesSlide" Target="../notesSlides/notesSlide3.xml"/><Relationship Id="rId7" Type="http://schemas.openxmlformats.org/officeDocument/2006/relationships/image" Target="../media/image10.svg"/><Relationship Id="rId12" Type="http://schemas.openxmlformats.org/officeDocument/2006/relationships/image" Target="../media/image15.png"/><Relationship Id="rId17" Type="http://schemas.microsoft.com/office/2007/relationships/hdphoto" Target="../media/hdphoto1.wdp"/><Relationship Id="rId2" Type="http://schemas.openxmlformats.org/officeDocument/2006/relationships/slideLayout" Target="../slideLayouts/slideLayout3.xml"/><Relationship Id="rId16" Type="http://schemas.openxmlformats.org/officeDocument/2006/relationships/image" Target="../media/image19.png"/><Relationship Id="rId1" Type="http://schemas.openxmlformats.org/officeDocument/2006/relationships/tags" Target="../tags/tag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image" Target="../media/image8.emf"/><Relationship Id="rId15" Type="http://schemas.openxmlformats.org/officeDocument/2006/relationships/image" Target="../media/image18.png"/><Relationship Id="rId10" Type="http://schemas.openxmlformats.org/officeDocument/2006/relationships/image" Target="../media/image13.png"/><Relationship Id="rId4" Type="http://schemas.openxmlformats.org/officeDocument/2006/relationships/oleObject" Target="../embeddings/oleObject2.bin"/><Relationship Id="rId9" Type="http://schemas.openxmlformats.org/officeDocument/2006/relationships/image" Target="../media/image12.sv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3.xml"/><Relationship Id="rId6" Type="http://schemas.openxmlformats.org/officeDocument/2006/relationships/image" Target="../media/image21.png"/><Relationship Id="rId5" Type="http://schemas.openxmlformats.org/officeDocument/2006/relationships/image" Target="../media/image1.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4.xml"/><Relationship Id="rId6" Type="http://schemas.openxmlformats.org/officeDocument/2006/relationships/image" Target="../media/image22.png"/><Relationship Id="rId5" Type="http://schemas.openxmlformats.org/officeDocument/2006/relationships/image" Target="../media/image1.emf"/><Relationship Id="rId4"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5.xml"/><Relationship Id="rId6" Type="http://schemas.openxmlformats.org/officeDocument/2006/relationships/image" Target="../media/image23.png"/><Relationship Id="rId5" Type="http://schemas.openxmlformats.org/officeDocument/2006/relationships/image" Target="../media/image1.e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6.xml"/><Relationship Id="rId6" Type="http://schemas.openxmlformats.org/officeDocument/2006/relationships/image" Target="../media/image24.png"/><Relationship Id="rId5" Type="http://schemas.openxmlformats.org/officeDocument/2006/relationships/image" Target="../media/image1.e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7.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8.xml"/><Relationship Id="rId6" Type="http://schemas.openxmlformats.org/officeDocument/2006/relationships/image" Target="../media/image25.png"/><Relationship Id="rId5" Type="http://schemas.openxmlformats.org/officeDocument/2006/relationships/image" Target="../media/image1.emf"/><Relationship Id="rId4" Type="http://schemas.openxmlformats.org/officeDocument/2006/relationships/oleObject" Target="../embeddings/oleObject8.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9.xml"/><Relationship Id="rId6" Type="http://schemas.openxmlformats.org/officeDocument/2006/relationships/image" Target="../media/image27.png"/><Relationship Id="rId5" Type="http://schemas.openxmlformats.org/officeDocument/2006/relationships/image" Target="../media/image8.emf"/><Relationship Id="rId4" Type="http://schemas.openxmlformats.org/officeDocument/2006/relationships/oleObject" Target="../embeddings/oleObject9.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0.xml"/><Relationship Id="rId5" Type="http://schemas.openxmlformats.org/officeDocument/2006/relationships/image" Target="../media/image8.emf"/><Relationship Id="rId4"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2.xml"/><Relationship Id="rId5" Type="http://schemas.openxmlformats.org/officeDocument/2006/relationships/image" Target="../media/image1.emf"/><Relationship Id="rId4" Type="http://schemas.openxmlformats.org/officeDocument/2006/relationships/oleObject" Target="../embeddings/oleObject1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9.png"/><Relationship Id="rId7"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FE4071DA-449C-4B1B-9C3C-EFA8CF4041C4}"/>
              </a:ext>
            </a:extLst>
          </p:cNvPr>
          <p:cNvSpPr>
            <a:spLocks noGrp="1"/>
          </p:cNvSpPr>
          <p:nvPr>
            <p:ph type="ctrTitle"/>
          </p:nvPr>
        </p:nvSpPr>
        <p:spPr>
          <a:xfrm>
            <a:off x="2306502" y="2286230"/>
            <a:ext cx="9406962" cy="433801"/>
          </a:xfrm>
        </p:spPr>
        <p:txBody>
          <a:bodyPr lIns="121807" tIns="60904" rIns="121807" bIns="60904" anchor="ctr">
            <a:noAutofit/>
          </a:bodyPr>
          <a:lstStyle/>
          <a:p>
            <a:r>
              <a:rPr lang="it-IT" sz="3600">
                <a:ea typeface="Calibri"/>
                <a:cs typeface="Calibri"/>
              </a:rPr>
              <a:t>Lead Management – modello geo-meritocratico</a:t>
            </a:r>
          </a:p>
        </p:txBody>
      </p:sp>
      <p:sp>
        <p:nvSpPr>
          <p:cNvPr id="5" name="Sottotitolo 4">
            <a:extLst>
              <a:ext uri="{FF2B5EF4-FFF2-40B4-BE49-F238E27FC236}">
                <a16:creationId xmlns:a16="http://schemas.microsoft.com/office/drawing/2014/main" id="{8FFFAF6B-7943-487E-B1C7-0DB472AA898D}"/>
              </a:ext>
            </a:extLst>
          </p:cNvPr>
          <p:cNvSpPr>
            <a:spLocks noGrp="1"/>
          </p:cNvSpPr>
          <p:nvPr>
            <p:ph type="subTitle" idx="1"/>
          </p:nvPr>
        </p:nvSpPr>
        <p:spPr>
          <a:xfrm>
            <a:off x="2127115" y="2804253"/>
            <a:ext cx="9586349" cy="1051195"/>
          </a:xfrm>
        </p:spPr>
        <p:txBody>
          <a:bodyPr lIns="121807" tIns="60904" rIns="121807" bIns="60904" anchor="ctr">
            <a:noAutofit/>
          </a:bodyPr>
          <a:lstStyle/>
          <a:p>
            <a:r>
              <a:rPr lang="it-IT" sz="3600"/>
              <a:t>Soluzione Pega-</a:t>
            </a:r>
            <a:r>
              <a:rPr lang="it-IT" sz="3600" err="1"/>
              <a:t>Salesforce</a:t>
            </a:r>
            <a:endParaRPr lang="it-IT" sz="3600"/>
          </a:p>
        </p:txBody>
      </p:sp>
      <p:sp>
        <p:nvSpPr>
          <p:cNvPr id="3" name="Sottotitolo 4">
            <a:extLst>
              <a:ext uri="{FF2B5EF4-FFF2-40B4-BE49-F238E27FC236}">
                <a16:creationId xmlns:a16="http://schemas.microsoft.com/office/drawing/2014/main" id="{617F70E0-56CC-F095-7C84-52F1BC0BD0FB}"/>
              </a:ext>
            </a:extLst>
          </p:cNvPr>
          <p:cNvSpPr txBox="1">
            <a:spLocks/>
          </p:cNvSpPr>
          <p:nvPr/>
        </p:nvSpPr>
        <p:spPr>
          <a:xfrm>
            <a:off x="2127115" y="2976422"/>
            <a:ext cx="9135541" cy="1385266"/>
          </a:xfrm>
          <a:prstGeom prst="rect">
            <a:avLst/>
          </a:prstGeom>
        </p:spPr>
        <p:txBody>
          <a:bodyPr lIns="121807" tIns="60904" rIns="121807" bIns="60904" anchor="t">
            <a:noAutofit/>
          </a:bodyPr>
          <a:lstStyle>
            <a:lvl1pPr marL="0" indent="0" algn="r" defTabSz="913554" rtl="0" eaLnBrk="1" latinLnBrk="0" hangingPunct="1">
              <a:lnSpc>
                <a:spcPct val="90000"/>
              </a:lnSpc>
              <a:spcBef>
                <a:spcPts val="999"/>
              </a:spcBef>
              <a:buFont typeface="Arial" panose="020B0604020202020204" pitchFamily="34" charset="0"/>
              <a:buNone/>
              <a:defRPr sz="2131" kern="1200">
                <a:solidFill>
                  <a:srgbClr val="0F3250"/>
                </a:solidFill>
                <a:latin typeface="+mn-lt"/>
                <a:ea typeface="+mn-ea"/>
                <a:cs typeface="+mn-cs"/>
              </a:defRPr>
            </a:lvl1pPr>
            <a:lvl2pPr marL="456777" indent="0" algn="ctr" defTabSz="913554" rtl="0" eaLnBrk="1" latinLnBrk="0" hangingPunct="1">
              <a:lnSpc>
                <a:spcPct val="90000"/>
              </a:lnSpc>
              <a:spcBef>
                <a:spcPts val="500"/>
              </a:spcBef>
              <a:buFont typeface="Arial" panose="020B0604020202020204" pitchFamily="34" charset="0"/>
              <a:buNone/>
              <a:defRPr sz="1998" kern="1200">
                <a:solidFill>
                  <a:schemeClr val="tx1"/>
                </a:solidFill>
                <a:latin typeface="+mn-lt"/>
                <a:ea typeface="+mn-ea"/>
                <a:cs typeface="+mn-cs"/>
              </a:defRPr>
            </a:lvl2pPr>
            <a:lvl3pPr marL="913554" indent="0" algn="ctr" defTabSz="913554" rtl="0" eaLnBrk="1" latinLnBrk="0" hangingPunct="1">
              <a:lnSpc>
                <a:spcPct val="90000"/>
              </a:lnSpc>
              <a:spcBef>
                <a:spcPts val="500"/>
              </a:spcBef>
              <a:buFont typeface="Arial" panose="020B0604020202020204" pitchFamily="34" charset="0"/>
              <a:buNone/>
              <a:defRPr sz="1798" kern="1200">
                <a:solidFill>
                  <a:schemeClr val="tx1"/>
                </a:solidFill>
                <a:latin typeface="+mn-lt"/>
                <a:ea typeface="+mn-ea"/>
                <a:cs typeface="+mn-cs"/>
              </a:defRPr>
            </a:lvl3pPr>
            <a:lvl4pPr marL="1370331"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4pPr>
            <a:lvl5pPr marL="1827108"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5pPr>
            <a:lvl6pPr marL="2283885"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6pPr>
            <a:lvl7pPr marL="2740663"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7pPr>
            <a:lvl8pPr marL="3197440"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8pPr>
            <a:lvl9pPr marL="3654217" indent="0" algn="ctr" defTabSz="913554" rtl="0" eaLnBrk="1" latinLnBrk="0" hangingPunct="1">
              <a:lnSpc>
                <a:spcPct val="90000"/>
              </a:lnSpc>
              <a:spcBef>
                <a:spcPts val="500"/>
              </a:spcBef>
              <a:buFont typeface="Arial" panose="020B0604020202020204" pitchFamily="34" charset="0"/>
              <a:buNone/>
              <a:defRPr sz="1599" kern="1200">
                <a:solidFill>
                  <a:schemeClr val="tx1"/>
                </a:solidFill>
                <a:latin typeface="+mn-lt"/>
                <a:ea typeface="+mn-ea"/>
                <a:cs typeface="+mn-cs"/>
              </a:defRPr>
            </a:lvl9pPr>
          </a:lstStyle>
          <a:p>
            <a:pPr marL="457200" marR="0" lvl="0" indent="-457200" algn="l" defTabSz="913554" rtl="0" eaLnBrk="1" fontAlgn="auto" latinLnBrk="0" hangingPunct="1">
              <a:lnSpc>
                <a:spcPct val="90000"/>
              </a:lnSpc>
              <a:spcBef>
                <a:spcPts val="999"/>
              </a:spcBef>
              <a:spcAft>
                <a:spcPts val="0"/>
              </a:spcAft>
              <a:buClrTx/>
              <a:buSzTx/>
              <a:buFont typeface="Arial" panose="020B0604020202020204" pitchFamily="34" charset="0"/>
              <a:buAutoNum type="arabicPeriod"/>
              <a:tabLst/>
              <a:defRPr/>
            </a:pPr>
            <a:endParaRPr kumimoji="0" lang="it-IT" sz="3200" b="0" i="0" u="none" strike="noStrike" kern="1200" cap="none" spc="0" normalizeH="0" baseline="0" noProof="0">
              <a:ln>
                <a:noFill/>
              </a:ln>
              <a:solidFill>
                <a:srgbClr val="0F3250"/>
              </a:solidFill>
              <a:effectLst/>
              <a:uLnTx/>
              <a:uFillTx/>
              <a:latin typeface="Calibri"/>
              <a:ea typeface="+mn-ea"/>
              <a:cs typeface="+mn-cs"/>
            </a:endParaRPr>
          </a:p>
        </p:txBody>
      </p:sp>
    </p:spTree>
    <p:extLst>
      <p:ext uri="{BB962C8B-B14F-4D97-AF65-F5344CB8AC3E}">
        <p14:creationId xmlns:p14="http://schemas.microsoft.com/office/powerpoint/2010/main" val="1551409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sosceles Triangle 20">
            <a:extLst>
              <a:ext uri="{FF2B5EF4-FFF2-40B4-BE49-F238E27FC236}">
                <a16:creationId xmlns:a16="http://schemas.microsoft.com/office/drawing/2014/main" id="{9EEC1418-34EF-5669-A791-5B4D32D57140}"/>
              </a:ext>
            </a:extLst>
          </p:cNvPr>
          <p:cNvSpPr/>
          <p:nvPr/>
        </p:nvSpPr>
        <p:spPr>
          <a:xfrm rot="16200000" flipH="1">
            <a:off x="1740655" y="2872822"/>
            <a:ext cx="4104000" cy="1116000"/>
          </a:xfrm>
          <a:prstGeom prst="triangle">
            <a:avLst>
              <a:gd name="adj" fmla="val 5022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999" b="1" i="0" u="none" strike="noStrike" kern="1200" cap="none" spc="0" normalizeH="0" baseline="0" noProof="0">
              <a:ln>
                <a:noFill/>
              </a:ln>
              <a:solidFill>
                <a:prstClr val="white"/>
              </a:solidFill>
              <a:effectLst/>
              <a:uLnTx/>
              <a:uFillTx/>
              <a:latin typeface="Aptos Display" panose="02110004020202020204"/>
              <a:ea typeface="+mn-ea"/>
              <a:cs typeface="+mn-cs"/>
            </a:endParaRPr>
          </a:p>
        </p:txBody>
      </p:sp>
      <p:cxnSp>
        <p:nvCxnSpPr>
          <p:cNvPr id="5" name="Straight Connector 26">
            <a:extLst>
              <a:ext uri="{FF2B5EF4-FFF2-40B4-BE49-F238E27FC236}">
                <a16:creationId xmlns:a16="http://schemas.microsoft.com/office/drawing/2014/main" id="{8974E0D7-BA3C-F584-AC0F-AEAB5F89FE81}"/>
              </a:ext>
            </a:extLst>
          </p:cNvPr>
          <p:cNvCxnSpPr>
            <a:cxnSpLocks/>
          </p:cNvCxnSpPr>
          <p:nvPr/>
        </p:nvCxnSpPr>
        <p:spPr>
          <a:xfrm>
            <a:off x="4378710" y="598437"/>
            <a:ext cx="6876000" cy="0"/>
          </a:xfrm>
          <a:prstGeom prst="line">
            <a:avLst/>
          </a:prstGeom>
          <a:ln w="3175">
            <a:solidFill>
              <a:srgbClr val="002060"/>
            </a:solidFill>
          </a:ln>
          <a:effectLst/>
        </p:spPr>
        <p:style>
          <a:lnRef idx="2">
            <a:schemeClr val="accent1"/>
          </a:lnRef>
          <a:fillRef idx="0">
            <a:schemeClr val="accent1"/>
          </a:fillRef>
          <a:effectRef idx="1">
            <a:schemeClr val="accent1"/>
          </a:effectRef>
          <a:fontRef idx="minor">
            <a:schemeClr val="tx1"/>
          </a:fontRef>
        </p:style>
      </p:cxnSp>
      <p:grpSp>
        <p:nvGrpSpPr>
          <p:cNvPr id="39" name="Gruppo 38">
            <a:extLst>
              <a:ext uri="{FF2B5EF4-FFF2-40B4-BE49-F238E27FC236}">
                <a16:creationId xmlns:a16="http://schemas.microsoft.com/office/drawing/2014/main" id="{145B957C-7F8A-C46C-FE11-A59F1C58DE24}"/>
              </a:ext>
            </a:extLst>
          </p:cNvPr>
          <p:cNvGrpSpPr/>
          <p:nvPr/>
        </p:nvGrpSpPr>
        <p:grpSpPr>
          <a:xfrm>
            <a:off x="60971" y="1784276"/>
            <a:ext cx="4084001" cy="3697398"/>
            <a:chOff x="60971" y="1746176"/>
            <a:chExt cx="4084001" cy="3697398"/>
          </a:xfrm>
        </p:grpSpPr>
        <p:sp>
          <p:nvSpPr>
            <p:cNvPr id="3" name="Oval 21">
              <a:extLst>
                <a:ext uri="{FF2B5EF4-FFF2-40B4-BE49-F238E27FC236}">
                  <a16:creationId xmlns:a16="http://schemas.microsoft.com/office/drawing/2014/main" id="{F8CB7A35-A868-D9FE-5BC5-7C947BBB6D9F}"/>
                </a:ext>
              </a:extLst>
            </p:cNvPr>
            <p:cNvSpPr>
              <a:spLocks noChangeArrowheads="1"/>
            </p:cNvSpPr>
            <p:nvPr/>
          </p:nvSpPr>
          <p:spPr bwMode="auto">
            <a:xfrm rot="10800000" flipH="1">
              <a:off x="2209514" y="1964950"/>
              <a:ext cx="1935458" cy="3259852"/>
            </a:xfrm>
            <a:prstGeom prst="ellipse">
              <a:avLst/>
            </a:prstGeom>
            <a:solidFill>
              <a:schemeClr val="accent3">
                <a:lumMod val="20000"/>
                <a:lumOff val="80000"/>
                <a:alpha val="74902"/>
              </a:schemeClr>
            </a:solidFill>
            <a:ln w="76200">
              <a:solidFill>
                <a:schemeClr val="bg1"/>
              </a:solidFill>
            </a:ln>
          </p:spPr>
          <p:txBody>
            <a:bodyPr wrap="none" lIns="35986" tIns="35986" rIns="35986" bIns="3598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altLang="it-IT" sz="1400"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4" name="Oval 23">
              <a:extLst>
                <a:ext uri="{FF2B5EF4-FFF2-40B4-BE49-F238E27FC236}">
                  <a16:creationId xmlns:a16="http://schemas.microsoft.com/office/drawing/2014/main" id="{6456052F-F45D-0DF7-DCC0-42C190DC54CA}"/>
                </a:ext>
              </a:extLst>
            </p:cNvPr>
            <p:cNvSpPr>
              <a:spLocks noChangeArrowheads="1"/>
            </p:cNvSpPr>
            <p:nvPr/>
          </p:nvSpPr>
          <p:spPr bwMode="auto">
            <a:xfrm rot="10800000" flipH="1">
              <a:off x="2117522" y="1964950"/>
              <a:ext cx="1744974" cy="3259852"/>
            </a:xfrm>
            <a:prstGeom prst="ellipse">
              <a:avLst/>
            </a:prstGeom>
            <a:solidFill>
              <a:schemeClr val="bg1">
                <a:alpha val="74902"/>
              </a:schemeClr>
            </a:solidFill>
            <a:ln w="76200">
              <a:solidFill>
                <a:schemeClr val="bg1"/>
              </a:solidFill>
            </a:ln>
          </p:spPr>
          <p:txBody>
            <a:bodyPr wrap="none" lIns="35986" tIns="35986" rIns="35986" bIns="3598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altLang="it-IT" sz="1400" b="0" i="0" u="none" strike="noStrike" kern="1200" cap="none" spc="0" normalizeH="0" baseline="0" noProof="0">
                <a:ln>
                  <a:noFill/>
                </a:ln>
                <a:solidFill>
                  <a:prstClr val="black"/>
                </a:solidFill>
                <a:effectLst/>
                <a:uLnTx/>
                <a:uFillTx/>
                <a:latin typeface="Aptos Display" panose="02110004020202020204"/>
                <a:ea typeface="+mn-ea"/>
                <a:cs typeface="+mn-cs"/>
              </a:endParaRPr>
            </a:p>
          </p:txBody>
        </p:sp>
        <p:sp>
          <p:nvSpPr>
            <p:cNvPr id="8" name="Flowchart: Connector 52">
              <a:extLst>
                <a:ext uri="{FF2B5EF4-FFF2-40B4-BE49-F238E27FC236}">
                  <a16:creationId xmlns:a16="http://schemas.microsoft.com/office/drawing/2014/main" id="{9CC4875B-4130-5FB4-85AF-6E68F35C71AA}"/>
                </a:ext>
              </a:extLst>
            </p:cNvPr>
            <p:cNvSpPr/>
            <p:nvPr/>
          </p:nvSpPr>
          <p:spPr>
            <a:xfrm>
              <a:off x="60971" y="1746176"/>
              <a:ext cx="3697398" cy="3697398"/>
            </a:xfrm>
            <a:prstGeom prst="flowChartConnector">
              <a:avLst/>
            </a:prstGeom>
            <a:solidFill>
              <a:srgbClr val="002060">
                <a:alpha val="9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184" tIns="71353" rIns="56184" bIns="7135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39" b="0" i="0" u="none" strike="noStrike" kern="1200" cap="none" spc="0" normalizeH="0" baseline="0" noProof="0">
                <a:ln>
                  <a:noFill/>
                </a:ln>
                <a:solidFill>
                  <a:srgbClr val="0E2841"/>
                </a:solidFill>
                <a:effectLst/>
                <a:uLnTx/>
                <a:uFillTx/>
                <a:latin typeface="Aptos" panose="02110004020202020204"/>
                <a:ea typeface="+mn-ea"/>
                <a:cs typeface="+mn-cs"/>
              </a:endParaRPr>
            </a:p>
          </p:txBody>
        </p:sp>
        <p:sp>
          <p:nvSpPr>
            <p:cNvPr id="9" name="Flowchart: Connector 57">
              <a:extLst>
                <a:ext uri="{FF2B5EF4-FFF2-40B4-BE49-F238E27FC236}">
                  <a16:creationId xmlns:a16="http://schemas.microsoft.com/office/drawing/2014/main" id="{012B9DF5-50C8-AA74-22B7-5401370C73E9}"/>
                </a:ext>
              </a:extLst>
            </p:cNvPr>
            <p:cNvSpPr>
              <a:spLocks noChangeAspect="1"/>
            </p:cNvSpPr>
            <p:nvPr/>
          </p:nvSpPr>
          <p:spPr>
            <a:xfrm>
              <a:off x="547404" y="2067023"/>
              <a:ext cx="3055700" cy="3055700"/>
            </a:xfrm>
            <a:prstGeom prst="flowChartConnector">
              <a:avLst/>
            </a:prstGeom>
            <a:solidFill>
              <a:schemeClr val="bg1">
                <a:lumMod val="6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184" tIns="71353" rIns="56184" bIns="7135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39" b="0" i="0" u="none" strike="noStrike" kern="1200" cap="none" spc="0" normalizeH="0" baseline="0" noProof="0">
                <a:ln>
                  <a:noFill/>
                </a:ln>
                <a:solidFill>
                  <a:srgbClr val="0E2841"/>
                </a:solidFill>
                <a:effectLst/>
                <a:uLnTx/>
                <a:uFillTx/>
                <a:latin typeface="Aptos" panose="02110004020202020204"/>
                <a:ea typeface="+mn-ea"/>
                <a:cs typeface="+mn-cs"/>
              </a:endParaRPr>
            </a:p>
          </p:txBody>
        </p:sp>
        <p:sp>
          <p:nvSpPr>
            <p:cNvPr id="10" name="Flowchart: Connector 58">
              <a:extLst>
                <a:ext uri="{FF2B5EF4-FFF2-40B4-BE49-F238E27FC236}">
                  <a16:creationId xmlns:a16="http://schemas.microsoft.com/office/drawing/2014/main" id="{BBB89673-90D1-D6B2-15A8-FB86E5BFC0F8}"/>
                </a:ext>
              </a:extLst>
            </p:cNvPr>
            <p:cNvSpPr>
              <a:spLocks noChangeAspect="1"/>
            </p:cNvSpPr>
            <p:nvPr/>
          </p:nvSpPr>
          <p:spPr>
            <a:xfrm>
              <a:off x="936467" y="2293927"/>
              <a:ext cx="2601892" cy="2601892"/>
            </a:xfrm>
            <a:prstGeom prst="flowChartConnector">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184" tIns="71353" rIns="56184" bIns="7135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39" b="0" i="0" u="none" strike="noStrike" kern="1200" cap="none" spc="0" normalizeH="0" baseline="0" noProof="0">
                <a:ln>
                  <a:noFill/>
                </a:ln>
                <a:solidFill>
                  <a:srgbClr val="0E2841"/>
                </a:solidFill>
                <a:effectLst/>
                <a:uLnTx/>
                <a:uFillTx/>
                <a:latin typeface="Aptos" panose="02110004020202020204"/>
                <a:ea typeface="+mn-ea"/>
                <a:cs typeface="+mn-cs"/>
              </a:endParaRPr>
            </a:p>
          </p:txBody>
        </p:sp>
        <p:sp>
          <p:nvSpPr>
            <p:cNvPr id="11" name="Rectangle 59">
              <a:extLst>
                <a:ext uri="{FF2B5EF4-FFF2-40B4-BE49-F238E27FC236}">
                  <a16:creationId xmlns:a16="http://schemas.microsoft.com/office/drawing/2014/main" id="{1EEE6B72-B91B-CA1C-45C8-50FB23D26529}"/>
                </a:ext>
              </a:extLst>
            </p:cNvPr>
            <p:cNvSpPr/>
            <p:nvPr/>
          </p:nvSpPr>
          <p:spPr>
            <a:xfrm>
              <a:off x="1210844" y="2829664"/>
              <a:ext cx="2075732" cy="147447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6184" tIns="71353" rIns="56184" bIns="71353"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Aptos" panose="02110004020202020204"/>
                  <a:ea typeface="+mn-ea"/>
                  <a:cs typeface="+mn-cs"/>
                </a:rPr>
                <a:t>AGENDA</a:t>
              </a:r>
            </a:p>
          </p:txBody>
        </p:sp>
      </p:grpSp>
      <p:grpSp>
        <p:nvGrpSpPr>
          <p:cNvPr id="31" name="Group 30">
            <a:extLst>
              <a:ext uri="{FF2B5EF4-FFF2-40B4-BE49-F238E27FC236}">
                <a16:creationId xmlns:a16="http://schemas.microsoft.com/office/drawing/2014/main" id="{8749CBB5-D785-A612-05ED-A71A57BBE563}"/>
              </a:ext>
            </a:extLst>
          </p:cNvPr>
          <p:cNvGrpSpPr/>
          <p:nvPr/>
        </p:nvGrpSpPr>
        <p:grpSpPr>
          <a:xfrm>
            <a:off x="4625013" y="1355141"/>
            <a:ext cx="6442704" cy="684000"/>
            <a:chOff x="4647014" y="1773441"/>
            <a:chExt cx="6442704" cy="684000"/>
          </a:xfrm>
        </p:grpSpPr>
        <p:sp>
          <p:nvSpPr>
            <p:cNvPr id="17" name="Rectangle 28">
              <a:extLst>
                <a:ext uri="{FF2B5EF4-FFF2-40B4-BE49-F238E27FC236}">
                  <a16:creationId xmlns:a16="http://schemas.microsoft.com/office/drawing/2014/main" id="{CE23F864-E7B5-C840-DD0D-4B05ACB9C6C9}"/>
                </a:ext>
              </a:extLst>
            </p:cNvPr>
            <p:cNvSpPr/>
            <p:nvPr/>
          </p:nvSpPr>
          <p:spPr bwMode="gray">
            <a:xfrm>
              <a:off x="5107705" y="1773441"/>
              <a:ext cx="5982013" cy="684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a:defRPr/>
              </a:pPr>
              <a:r>
                <a:rPr lang="it-IT" sz="1600" dirty="0">
                  <a:solidFill>
                    <a:srgbClr val="000000"/>
                  </a:solidFill>
                  <a:latin typeface="Aptos"/>
                  <a:ea typeface="Calibri"/>
                  <a:cs typeface="Calibri"/>
                </a:rPr>
                <a:t>Algoritmo di assegnazione</a:t>
              </a:r>
            </a:p>
          </p:txBody>
        </p:sp>
        <p:sp>
          <p:nvSpPr>
            <p:cNvPr id="18" name="Rectangle 29">
              <a:extLst>
                <a:ext uri="{FF2B5EF4-FFF2-40B4-BE49-F238E27FC236}">
                  <a16:creationId xmlns:a16="http://schemas.microsoft.com/office/drawing/2014/main" id="{23C838FE-3CE9-172F-1788-676AEB7DABC0}"/>
                </a:ext>
              </a:extLst>
            </p:cNvPr>
            <p:cNvSpPr/>
            <p:nvPr/>
          </p:nvSpPr>
          <p:spPr bwMode="gray">
            <a:xfrm>
              <a:off x="4647014" y="1773441"/>
              <a:ext cx="374354" cy="684000"/>
            </a:xfrm>
            <a:prstGeom prst="rect">
              <a:avLst/>
            </a:prstGeom>
            <a:solidFill>
              <a:srgbClr val="002060"/>
            </a:solidFill>
            <a:ln w="9525" algn="ctr">
              <a:solidFill>
                <a:srgbClr val="002060"/>
              </a:solidFill>
              <a:miter lim="800000"/>
              <a:headEnd/>
              <a:tailEnd/>
            </a:ln>
          </p:spPr>
          <p:txBody>
            <a:bodyPr wrap="square" lIns="71973" tIns="88865" rIns="71973" bIns="8886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it-IT" sz="1400" b="1">
                  <a:solidFill>
                    <a:prstClr val="white"/>
                  </a:solidFill>
                  <a:latin typeface="Aptos" panose="020B0004020202020204" pitchFamily="34" charset="0"/>
                </a:rPr>
                <a:t>1</a:t>
              </a:r>
              <a:endParaRPr kumimoji="0" lang="it-IT" sz="1400" b="1" i="0" u="none" strike="noStrike" kern="1200" cap="none" spc="0" normalizeH="0" baseline="0" noProof="0">
                <a:ln>
                  <a:noFill/>
                </a:ln>
                <a:solidFill>
                  <a:prstClr val="white"/>
                </a:solidFill>
                <a:effectLst/>
                <a:uLnTx/>
                <a:uFillTx/>
                <a:latin typeface="Aptos" panose="020B0004020202020204" pitchFamily="34" charset="0"/>
                <a:ea typeface="+mn-ea"/>
                <a:cs typeface="+mn-cs"/>
              </a:endParaRPr>
            </a:p>
          </p:txBody>
        </p:sp>
      </p:grpSp>
      <p:sp>
        <p:nvSpPr>
          <p:cNvPr id="27" name="Title 1">
            <a:extLst>
              <a:ext uri="{FF2B5EF4-FFF2-40B4-BE49-F238E27FC236}">
                <a16:creationId xmlns:a16="http://schemas.microsoft.com/office/drawing/2014/main" id="{89B54F3A-9778-435D-827B-68F824D6A79D}"/>
              </a:ext>
            </a:extLst>
          </p:cNvPr>
          <p:cNvSpPr txBox="1">
            <a:spLocks/>
          </p:cNvSpPr>
          <p:nvPr/>
        </p:nvSpPr>
        <p:spPr>
          <a:xfrm>
            <a:off x="199209" y="171519"/>
            <a:ext cx="10417261" cy="27938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1443" b="1" kern="1200">
                <a:solidFill>
                  <a:schemeClr val="bg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it-IT" sz="1600" b="1" i="0" u="none" strike="noStrike" kern="1200" cap="none" spc="0" normalizeH="0" baseline="0" noProof="0">
                <a:ln>
                  <a:noFill/>
                </a:ln>
                <a:solidFill>
                  <a:sysClr val="window" lastClr="FFFFFF"/>
                </a:solidFill>
                <a:effectLst/>
                <a:uLnTx/>
                <a:uFillTx/>
                <a:latin typeface="Aptos" panose="02110004020202020204"/>
                <a:ea typeface="+mj-ea"/>
                <a:cs typeface="+mj-cs"/>
              </a:rPr>
              <a:t>AGENDA</a:t>
            </a:r>
            <a:endParaRPr kumimoji="0" lang="en-US" sz="1600" b="1" i="0" u="none" strike="noStrike" kern="1200" cap="none" spc="0" normalizeH="0" baseline="0" noProof="0">
              <a:ln>
                <a:noFill/>
              </a:ln>
              <a:solidFill>
                <a:sysClr val="window" lastClr="FFFFFF"/>
              </a:solidFill>
              <a:effectLst/>
              <a:uLnTx/>
              <a:uFillTx/>
              <a:latin typeface="Aptos" panose="02110004020202020204"/>
              <a:ea typeface="+mj-ea"/>
              <a:cs typeface="+mj-cs"/>
            </a:endParaRPr>
          </a:p>
        </p:txBody>
      </p:sp>
      <p:grpSp>
        <p:nvGrpSpPr>
          <p:cNvPr id="34" name="Group 6">
            <a:extLst>
              <a:ext uri="{FF2B5EF4-FFF2-40B4-BE49-F238E27FC236}">
                <a16:creationId xmlns:a16="http://schemas.microsoft.com/office/drawing/2014/main" id="{25BF7F9E-9AFC-4893-3B05-7F1E79CB42E7}"/>
              </a:ext>
            </a:extLst>
          </p:cNvPr>
          <p:cNvGrpSpPr/>
          <p:nvPr/>
        </p:nvGrpSpPr>
        <p:grpSpPr>
          <a:xfrm>
            <a:off x="4625013" y="3650929"/>
            <a:ext cx="6442703" cy="684000"/>
            <a:chOff x="4625013" y="4119836"/>
            <a:chExt cx="6442703" cy="684000"/>
          </a:xfrm>
        </p:grpSpPr>
        <p:grpSp>
          <p:nvGrpSpPr>
            <p:cNvPr id="35" name="Group 11">
              <a:extLst>
                <a:ext uri="{FF2B5EF4-FFF2-40B4-BE49-F238E27FC236}">
                  <a16:creationId xmlns:a16="http://schemas.microsoft.com/office/drawing/2014/main" id="{CE0100A5-7E39-2F09-0693-327D146E1DEF}"/>
                </a:ext>
              </a:extLst>
            </p:cNvPr>
            <p:cNvGrpSpPr/>
            <p:nvPr/>
          </p:nvGrpSpPr>
          <p:grpSpPr>
            <a:xfrm>
              <a:off x="4625013" y="4119836"/>
              <a:ext cx="6442703" cy="684000"/>
              <a:chOff x="4639923" y="4860995"/>
              <a:chExt cx="6442703" cy="684000"/>
            </a:xfrm>
          </p:grpSpPr>
          <p:sp>
            <p:nvSpPr>
              <p:cNvPr id="37" name="Rectangle 41">
                <a:extLst>
                  <a:ext uri="{FF2B5EF4-FFF2-40B4-BE49-F238E27FC236}">
                    <a16:creationId xmlns:a16="http://schemas.microsoft.com/office/drawing/2014/main" id="{E66BF3DC-5C98-69D9-B3CD-BA1D78493842}"/>
                  </a:ext>
                </a:extLst>
              </p:cNvPr>
              <p:cNvSpPr/>
              <p:nvPr/>
            </p:nvSpPr>
            <p:spPr bwMode="gray">
              <a:xfrm>
                <a:off x="4639923" y="4860995"/>
                <a:ext cx="374354" cy="684000"/>
              </a:xfrm>
              <a:prstGeom prst="rect">
                <a:avLst/>
              </a:prstGeom>
              <a:solidFill>
                <a:srgbClr val="002060"/>
              </a:solidFill>
              <a:ln w="9525" algn="ctr">
                <a:solidFill>
                  <a:srgbClr val="002060"/>
                </a:solidFill>
                <a:miter lim="800000"/>
                <a:headEnd/>
                <a:tailEnd/>
              </a:ln>
            </p:spPr>
            <p:txBody>
              <a:bodyPr wrap="square" lIns="71973" tIns="88865" rIns="71973" bIns="8886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it-IT" sz="1400" b="1" i="0" u="none" strike="noStrike" kern="1200" cap="none" spc="0" normalizeH="0" baseline="0" noProof="0">
                    <a:ln>
                      <a:noFill/>
                    </a:ln>
                    <a:solidFill>
                      <a:prstClr val="white"/>
                    </a:solidFill>
                    <a:effectLst/>
                    <a:uLnTx/>
                    <a:uFillTx/>
                    <a:latin typeface="Aptos" panose="020B0004020202020204" pitchFamily="34" charset="0"/>
                    <a:ea typeface="+mn-ea"/>
                    <a:cs typeface="+mn-cs"/>
                  </a:rPr>
                  <a:t>3</a:t>
                </a:r>
              </a:p>
            </p:txBody>
          </p:sp>
          <p:sp>
            <p:nvSpPr>
              <p:cNvPr id="38" name="Rectangle 39">
                <a:extLst>
                  <a:ext uri="{FF2B5EF4-FFF2-40B4-BE49-F238E27FC236}">
                    <a16:creationId xmlns:a16="http://schemas.microsoft.com/office/drawing/2014/main" id="{A39C9D3C-0A1B-3B15-BEF4-2ECBBBEB57DC}"/>
                  </a:ext>
                </a:extLst>
              </p:cNvPr>
              <p:cNvSpPr/>
              <p:nvPr/>
            </p:nvSpPr>
            <p:spPr bwMode="gray">
              <a:xfrm>
                <a:off x="5100613" y="4860995"/>
                <a:ext cx="5982013" cy="432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a:ln>
                      <a:noFill/>
                    </a:ln>
                    <a:solidFill>
                      <a:prstClr val="black"/>
                    </a:solidFill>
                    <a:effectLst/>
                    <a:uLnTx/>
                    <a:uFillTx/>
                    <a:latin typeface="Aptos" panose="020B0004020202020204" pitchFamily="34" charset="0"/>
                    <a:ea typeface="+mn-ea"/>
                    <a:cs typeface="Calibri"/>
                  </a:rPr>
                  <a:t>Integrazioni – Numeriche e dettaglio flussi</a:t>
                </a:r>
              </a:p>
            </p:txBody>
          </p:sp>
        </p:grpSp>
        <p:sp>
          <p:nvSpPr>
            <p:cNvPr id="36" name="Rectangle 39">
              <a:extLst>
                <a:ext uri="{FF2B5EF4-FFF2-40B4-BE49-F238E27FC236}">
                  <a16:creationId xmlns:a16="http://schemas.microsoft.com/office/drawing/2014/main" id="{B2E5F505-2E30-7A93-121D-3B8F202F27F5}"/>
                </a:ext>
              </a:extLst>
            </p:cNvPr>
            <p:cNvSpPr/>
            <p:nvPr/>
          </p:nvSpPr>
          <p:spPr bwMode="gray">
            <a:xfrm>
              <a:off x="5085703" y="4119836"/>
              <a:ext cx="5982013" cy="684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a:defRPr/>
              </a:pPr>
              <a:r>
                <a:rPr lang="it-IT" sz="1600" dirty="0">
                  <a:solidFill>
                    <a:prstClr val="black"/>
                  </a:solidFill>
                  <a:latin typeface="Aptos"/>
                  <a:ea typeface="Calibri"/>
                  <a:cs typeface="Calibri"/>
                </a:rPr>
                <a:t>Open Point</a:t>
              </a:r>
              <a:endParaRPr lang="it-IT" sz="1600" dirty="0">
                <a:solidFill>
                  <a:prstClr val="black"/>
                </a:solidFill>
                <a:latin typeface="Aptos"/>
              </a:endParaRPr>
            </a:p>
          </p:txBody>
        </p:sp>
      </p:grpSp>
      <p:grpSp>
        <p:nvGrpSpPr>
          <p:cNvPr id="7" name="Group 30">
            <a:extLst>
              <a:ext uri="{FF2B5EF4-FFF2-40B4-BE49-F238E27FC236}">
                <a16:creationId xmlns:a16="http://schemas.microsoft.com/office/drawing/2014/main" id="{2B4B1902-6F66-54DF-9DCB-60899E8356E0}"/>
              </a:ext>
            </a:extLst>
          </p:cNvPr>
          <p:cNvGrpSpPr/>
          <p:nvPr/>
        </p:nvGrpSpPr>
        <p:grpSpPr>
          <a:xfrm>
            <a:off x="4625013" y="2503035"/>
            <a:ext cx="6442704" cy="684000"/>
            <a:chOff x="4647014" y="1773441"/>
            <a:chExt cx="6442704" cy="684000"/>
          </a:xfrm>
        </p:grpSpPr>
        <p:sp>
          <p:nvSpPr>
            <p:cNvPr id="12" name="Rectangle 28">
              <a:extLst>
                <a:ext uri="{FF2B5EF4-FFF2-40B4-BE49-F238E27FC236}">
                  <a16:creationId xmlns:a16="http://schemas.microsoft.com/office/drawing/2014/main" id="{C457B51B-41B1-9455-57D0-AE3D60A37733}"/>
                </a:ext>
              </a:extLst>
            </p:cNvPr>
            <p:cNvSpPr/>
            <p:nvPr/>
          </p:nvSpPr>
          <p:spPr bwMode="gray">
            <a:xfrm>
              <a:off x="5107705" y="1773441"/>
              <a:ext cx="5982013" cy="684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a:defRPr/>
              </a:pPr>
              <a:r>
                <a:rPr lang="it-IT" sz="1600" dirty="0">
                  <a:solidFill>
                    <a:prstClr val="black"/>
                  </a:solidFill>
                  <a:latin typeface="Aptos"/>
                  <a:ea typeface="Calibri"/>
                  <a:cs typeface="Calibri"/>
                </a:rPr>
                <a:t>Dashboard di Direzione Salesforce</a:t>
              </a:r>
              <a:endParaRPr lang="it-IT" sz="1600" dirty="0">
                <a:solidFill>
                  <a:prstClr val="black"/>
                </a:solidFill>
                <a:latin typeface="Aptos"/>
              </a:endParaRPr>
            </a:p>
          </p:txBody>
        </p:sp>
        <p:sp>
          <p:nvSpPr>
            <p:cNvPr id="13" name="Rectangle 29">
              <a:extLst>
                <a:ext uri="{FF2B5EF4-FFF2-40B4-BE49-F238E27FC236}">
                  <a16:creationId xmlns:a16="http://schemas.microsoft.com/office/drawing/2014/main" id="{844F5977-6B57-3764-B10B-430A181E5399}"/>
                </a:ext>
              </a:extLst>
            </p:cNvPr>
            <p:cNvSpPr/>
            <p:nvPr/>
          </p:nvSpPr>
          <p:spPr bwMode="gray">
            <a:xfrm>
              <a:off x="4647014" y="1773441"/>
              <a:ext cx="374354" cy="684000"/>
            </a:xfrm>
            <a:prstGeom prst="rect">
              <a:avLst/>
            </a:prstGeom>
            <a:solidFill>
              <a:srgbClr val="002060"/>
            </a:solidFill>
            <a:ln w="9525" algn="ctr">
              <a:solidFill>
                <a:srgbClr val="002060"/>
              </a:solidFill>
              <a:miter lim="800000"/>
              <a:headEnd/>
              <a:tailEnd/>
            </a:ln>
          </p:spPr>
          <p:txBody>
            <a:bodyPr wrap="square" lIns="71973" tIns="88865" rIns="71973" bIns="8886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it-IT" sz="1400" b="1" i="0" u="none" strike="noStrike" kern="1200" cap="none" spc="0" normalizeH="0" baseline="0" noProof="0">
                  <a:ln>
                    <a:noFill/>
                  </a:ln>
                  <a:solidFill>
                    <a:prstClr val="white"/>
                  </a:solidFill>
                  <a:effectLst/>
                  <a:uLnTx/>
                  <a:uFillTx/>
                  <a:latin typeface="Aptos" panose="020B0004020202020204" pitchFamily="34" charset="0"/>
                  <a:ea typeface="+mn-ea"/>
                  <a:cs typeface="+mn-cs"/>
                </a:rPr>
                <a:t>2</a:t>
              </a:r>
            </a:p>
          </p:txBody>
        </p:sp>
      </p:grpSp>
      <p:grpSp>
        <p:nvGrpSpPr>
          <p:cNvPr id="6" name="Group 6">
            <a:extLst>
              <a:ext uri="{FF2B5EF4-FFF2-40B4-BE49-F238E27FC236}">
                <a16:creationId xmlns:a16="http://schemas.microsoft.com/office/drawing/2014/main" id="{7A090FB8-37BA-6568-785D-4E372CB71F45}"/>
              </a:ext>
            </a:extLst>
          </p:cNvPr>
          <p:cNvGrpSpPr/>
          <p:nvPr/>
        </p:nvGrpSpPr>
        <p:grpSpPr>
          <a:xfrm>
            <a:off x="4625013" y="4798822"/>
            <a:ext cx="6442703" cy="684000"/>
            <a:chOff x="4625013" y="4119836"/>
            <a:chExt cx="6442703" cy="684000"/>
          </a:xfrm>
        </p:grpSpPr>
        <p:grpSp>
          <p:nvGrpSpPr>
            <p:cNvPr id="14" name="Group 11">
              <a:extLst>
                <a:ext uri="{FF2B5EF4-FFF2-40B4-BE49-F238E27FC236}">
                  <a16:creationId xmlns:a16="http://schemas.microsoft.com/office/drawing/2014/main" id="{21F9469D-AF2F-1969-E89F-5A2C30556A8E}"/>
                </a:ext>
              </a:extLst>
            </p:cNvPr>
            <p:cNvGrpSpPr/>
            <p:nvPr/>
          </p:nvGrpSpPr>
          <p:grpSpPr>
            <a:xfrm>
              <a:off x="4625013" y="4119836"/>
              <a:ext cx="6442703" cy="684000"/>
              <a:chOff x="4639923" y="4860995"/>
              <a:chExt cx="6442703" cy="684000"/>
            </a:xfrm>
          </p:grpSpPr>
          <p:sp>
            <p:nvSpPr>
              <p:cNvPr id="16" name="Rectangle 41">
                <a:extLst>
                  <a:ext uri="{FF2B5EF4-FFF2-40B4-BE49-F238E27FC236}">
                    <a16:creationId xmlns:a16="http://schemas.microsoft.com/office/drawing/2014/main" id="{0CBF5D77-AEA2-EA7E-72E7-E87B075076A7}"/>
                  </a:ext>
                </a:extLst>
              </p:cNvPr>
              <p:cNvSpPr/>
              <p:nvPr/>
            </p:nvSpPr>
            <p:spPr bwMode="gray">
              <a:xfrm>
                <a:off x="4639923" y="4860995"/>
                <a:ext cx="374354" cy="684000"/>
              </a:xfrm>
              <a:prstGeom prst="rect">
                <a:avLst/>
              </a:prstGeom>
              <a:solidFill>
                <a:srgbClr val="002060"/>
              </a:solidFill>
              <a:ln w="9525" algn="ctr">
                <a:solidFill>
                  <a:srgbClr val="002060"/>
                </a:solidFill>
                <a:miter lim="800000"/>
                <a:headEnd/>
                <a:tailEnd/>
              </a:ln>
            </p:spPr>
            <p:txBody>
              <a:bodyPr wrap="square" lIns="71973" tIns="88865" rIns="71973" bIns="88865"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it-IT" sz="1400" b="1" dirty="0">
                    <a:solidFill>
                      <a:prstClr val="white"/>
                    </a:solidFill>
                    <a:latin typeface="Aptos" panose="020B0004020202020204" pitchFamily="34" charset="0"/>
                  </a:rPr>
                  <a:t>4</a:t>
                </a:r>
                <a:endParaRPr kumimoji="0" lang="it-IT" sz="1400" b="1" i="0" u="none" strike="noStrike" kern="1200" cap="none" spc="0" normalizeH="0" baseline="0" noProof="0" dirty="0">
                  <a:ln>
                    <a:noFill/>
                  </a:ln>
                  <a:solidFill>
                    <a:prstClr val="white"/>
                  </a:solidFill>
                  <a:effectLst/>
                  <a:uLnTx/>
                  <a:uFillTx/>
                  <a:latin typeface="Aptos" panose="020B0004020202020204" pitchFamily="34" charset="0"/>
                  <a:ea typeface="+mn-ea"/>
                  <a:cs typeface="+mn-cs"/>
                </a:endParaRPr>
              </a:p>
            </p:txBody>
          </p:sp>
          <p:sp>
            <p:nvSpPr>
              <p:cNvPr id="19" name="Rectangle 39">
                <a:extLst>
                  <a:ext uri="{FF2B5EF4-FFF2-40B4-BE49-F238E27FC236}">
                    <a16:creationId xmlns:a16="http://schemas.microsoft.com/office/drawing/2014/main" id="{DD6BBA66-3191-C60B-E3BF-FE8F0B7D8C66}"/>
                  </a:ext>
                </a:extLst>
              </p:cNvPr>
              <p:cNvSpPr/>
              <p:nvPr/>
            </p:nvSpPr>
            <p:spPr bwMode="gray">
              <a:xfrm>
                <a:off x="5100613" y="4860995"/>
                <a:ext cx="5982013" cy="432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600" b="0" i="0" u="none" strike="noStrike" kern="1200" cap="none" spc="0" normalizeH="0" baseline="0" noProof="0">
                    <a:ln>
                      <a:noFill/>
                    </a:ln>
                    <a:solidFill>
                      <a:prstClr val="black"/>
                    </a:solidFill>
                    <a:effectLst/>
                    <a:uLnTx/>
                    <a:uFillTx/>
                    <a:latin typeface="Aptos" panose="020B0004020202020204" pitchFamily="34" charset="0"/>
                    <a:ea typeface="+mn-ea"/>
                    <a:cs typeface="Calibri"/>
                  </a:rPr>
                  <a:t>Integrazioni – Numeriche e dettaglio flussi</a:t>
                </a:r>
              </a:p>
            </p:txBody>
          </p:sp>
        </p:grpSp>
        <p:sp>
          <p:nvSpPr>
            <p:cNvPr id="15" name="Rectangle 39">
              <a:extLst>
                <a:ext uri="{FF2B5EF4-FFF2-40B4-BE49-F238E27FC236}">
                  <a16:creationId xmlns:a16="http://schemas.microsoft.com/office/drawing/2014/main" id="{469B9551-15AF-2541-9009-65F5830DE84D}"/>
                </a:ext>
              </a:extLst>
            </p:cNvPr>
            <p:cNvSpPr/>
            <p:nvPr/>
          </p:nvSpPr>
          <p:spPr bwMode="gray">
            <a:xfrm>
              <a:off x="5085703" y="4119836"/>
              <a:ext cx="5982013" cy="684000"/>
            </a:xfrm>
            <a:prstGeom prst="rect">
              <a:avLst/>
            </a:prstGeom>
            <a:solidFill>
              <a:schemeClr val="bg1"/>
            </a:solidFill>
            <a:ln w="9525" algn="ctr">
              <a:solidFill>
                <a:srgbClr val="002060"/>
              </a:solidFill>
              <a:miter lim="800000"/>
              <a:headEnd/>
              <a:tailEnd/>
            </a:ln>
          </p:spPr>
          <p:txBody>
            <a:bodyPr wrap="square" lIns="251903" tIns="88865" rIns="88865" bIns="88865" rtlCol="0" anchor="ctr"/>
            <a:lstStyle/>
            <a:p>
              <a:pPr>
                <a:defRPr/>
              </a:pPr>
              <a:r>
                <a:rPr lang="it-IT" sz="1600" dirty="0">
                  <a:solidFill>
                    <a:prstClr val="black"/>
                  </a:solidFill>
                  <a:latin typeface="Aptos"/>
                  <a:ea typeface="Calibri"/>
                  <a:cs typeface="Calibri"/>
                </a:rPr>
                <a:t>Proposta macro-pianificazione DSI</a:t>
              </a:r>
              <a:endParaRPr lang="it-IT" sz="1600" dirty="0">
                <a:solidFill>
                  <a:prstClr val="black"/>
                </a:solidFill>
                <a:latin typeface="Aptos"/>
              </a:endParaRPr>
            </a:p>
          </p:txBody>
        </p:sp>
      </p:grpSp>
    </p:spTree>
    <p:extLst>
      <p:ext uri="{BB962C8B-B14F-4D97-AF65-F5344CB8AC3E}">
        <p14:creationId xmlns:p14="http://schemas.microsoft.com/office/powerpoint/2010/main" val="12428930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D51FD1-B137-46BA-ADD4-508F484F4FF8}"/>
              </a:ext>
            </a:extLst>
          </p:cNvPr>
          <p:cNvSpPr>
            <a:spLocks noGrp="1"/>
          </p:cNvSpPr>
          <p:nvPr>
            <p:ph type="title"/>
          </p:nvPr>
        </p:nvSpPr>
        <p:spPr>
          <a:xfrm>
            <a:off x="2616199" y="2741247"/>
            <a:ext cx="9218851" cy="566222"/>
          </a:xfrm>
        </p:spPr>
        <p:txBody>
          <a:bodyPr/>
          <a:lstStyle/>
          <a:p>
            <a:pPr algn="r"/>
            <a:r>
              <a:rPr lang="it-IT" sz="3200">
                <a:latin typeface="+mn-lt"/>
              </a:rPr>
              <a:t>Algoritmo assegnazione</a:t>
            </a:r>
          </a:p>
        </p:txBody>
      </p:sp>
    </p:spTree>
    <p:extLst>
      <p:ext uri="{BB962C8B-B14F-4D97-AF65-F5344CB8AC3E}">
        <p14:creationId xmlns:p14="http://schemas.microsoft.com/office/powerpoint/2010/main" val="4021600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57E4E-F273-C36E-8B72-3D6D0EC84B2F}"/>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E16A121-C2EF-05D4-031A-9E0F40165297}"/>
              </a:ext>
            </a:extLst>
          </p:cNvPr>
          <p:cNvGraphicFramePr>
            <a:graphicFrameLocks noChangeAspect="1"/>
          </p:cNvGraphicFramePr>
          <p:nvPr>
            <p:custDataLst>
              <p:tags r:id="rId1"/>
            </p:custDataLst>
            <p:extLst>
              <p:ext uri="{D42A27DB-BD31-4B8C-83A1-F6EECF244321}">
                <p14:modId xmlns:p14="http://schemas.microsoft.com/office/powerpoint/2010/main" val="362415547"/>
              </p:ext>
            </p:extLst>
          </p:nvPr>
        </p:nvGraphicFramePr>
        <p:xfrm>
          <a:off x="13019" y="8018"/>
          <a:ext cx="1585" cy="1585"/>
        </p:xfrm>
        <a:graphic>
          <a:graphicData uri="http://schemas.openxmlformats.org/presentationml/2006/ole">
            <mc:AlternateContent xmlns:mc="http://schemas.openxmlformats.org/markup-compatibility/2006">
              <mc:Choice xmlns:v="urn:schemas-microsoft-com:vml" Requires="v">
                <p:oleObj name="Diapositiva think-cell" r:id="rId4" imgW="424" imgH="425" progId="TCLayout.ActiveDocument.1">
                  <p:embed/>
                </p:oleObj>
              </mc:Choice>
              <mc:Fallback>
                <p:oleObj name="Diapositiva think-cell" r:id="rId4" imgW="424" imgH="425" progId="TCLayout.ActiveDocument.1">
                  <p:embed/>
                  <p:pic>
                    <p:nvPicPr>
                      <p:cNvPr id="6" name="think-cell data - do not delete" hidden="1">
                        <a:extLst>
                          <a:ext uri="{FF2B5EF4-FFF2-40B4-BE49-F238E27FC236}">
                            <a16:creationId xmlns:a16="http://schemas.microsoft.com/office/drawing/2014/main" id="{AE16A121-C2EF-05D4-031A-9E0F40165297}"/>
                          </a:ext>
                        </a:extLst>
                      </p:cNvPr>
                      <p:cNvPicPr/>
                      <p:nvPr/>
                    </p:nvPicPr>
                    <p:blipFill>
                      <a:blip r:embed="rId5"/>
                      <a:stretch>
                        <a:fillRect/>
                      </a:stretch>
                    </p:blipFill>
                    <p:spPr>
                      <a:xfrm>
                        <a:off x="13019" y="8018"/>
                        <a:ext cx="1585" cy="1585"/>
                      </a:xfrm>
                      <a:prstGeom prst="rect">
                        <a:avLst/>
                      </a:prstGeom>
                    </p:spPr>
                  </p:pic>
                </p:oleObj>
              </mc:Fallback>
            </mc:AlternateContent>
          </a:graphicData>
        </a:graphic>
      </p:graphicFrame>
      <p:sp>
        <p:nvSpPr>
          <p:cNvPr id="5" name="Titolo 4">
            <a:extLst>
              <a:ext uri="{FF2B5EF4-FFF2-40B4-BE49-F238E27FC236}">
                <a16:creationId xmlns:a16="http://schemas.microsoft.com/office/drawing/2014/main" id="{73A1FFEF-E09A-F63E-67EE-20CFB616809A}"/>
              </a:ext>
            </a:extLst>
          </p:cNvPr>
          <p:cNvSpPr>
            <a:spLocks noGrp="1"/>
          </p:cNvSpPr>
          <p:nvPr>
            <p:ph type="title"/>
          </p:nvPr>
        </p:nvSpPr>
        <p:spPr>
          <a:xfrm>
            <a:off x="59354" y="79380"/>
            <a:ext cx="10292257" cy="471771"/>
          </a:xfrm>
        </p:spPr>
        <p:txBody>
          <a:bodyPr vert="horz"/>
          <a:lstStyle/>
          <a:p>
            <a:r>
              <a:rPr lang="it-IT" sz="2540"/>
              <a:t>ASSEGNAZIONE LEAD DIGITALI | Perimetro di applicazione del modello</a:t>
            </a:r>
          </a:p>
        </p:txBody>
      </p:sp>
      <p:sp>
        <p:nvSpPr>
          <p:cNvPr id="2" name="Rettangolo 1">
            <a:extLst>
              <a:ext uri="{FF2B5EF4-FFF2-40B4-BE49-F238E27FC236}">
                <a16:creationId xmlns:a16="http://schemas.microsoft.com/office/drawing/2014/main" id="{EB7706D2-D3FA-2F8B-791A-18B6D856B859}"/>
              </a:ext>
            </a:extLst>
          </p:cNvPr>
          <p:cNvSpPr/>
          <p:nvPr/>
        </p:nvSpPr>
        <p:spPr>
          <a:xfrm>
            <a:off x="257890" y="974196"/>
            <a:ext cx="3770748" cy="5168434"/>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195946" rIns="0" bIns="2220723" rtlCol="0" anchor="ctr"/>
          <a:lstStyle/>
          <a:p>
            <a:pPr algn="ctr" defTabSz="912732">
              <a:defRPr/>
            </a:pPr>
            <a:r>
              <a:rPr lang="it-IT" sz="1814" b="1">
                <a:solidFill>
                  <a:srgbClr val="FFFFFF"/>
                </a:solidFill>
                <a:latin typeface="Calibri"/>
              </a:rPr>
              <a:t>OPPORTUNITÀ DI VENDITA </a:t>
            </a:r>
            <a:br>
              <a:rPr lang="it-IT" sz="1814" b="1">
                <a:solidFill>
                  <a:srgbClr val="FFFFFF"/>
                </a:solidFill>
                <a:latin typeface="Calibri"/>
              </a:rPr>
            </a:br>
            <a:r>
              <a:rPr lang="it-IT" sz="1814" b="1" u="sng">
                <a:solidFill>
                  <a:srgbClr val="FFFFFF"/>
                </a:solidFill>
                <a:latin typeface="Calibri"/>
              </a:rPr>
              <a:t>DA CANALI DIGITALI</a:t>
            </a:r>
          </a:p>
          <a:p>
            <a:pPr algn="ctr" defTabSz="912732">
              <a:defRPr/>
            </a:pPr>
            <a:endParaRPr lang="it-IT" sz="1814" b="1" u="sng">
              <a:solidFill>
                <a:srgbClr val="FFFFFF"/>
              </a:solidFill>
              <a:latin typeface="Calibri"/>
            </a:endParaRPr>
          </a:p>
          <a:p>
            <a:pPr algn="ctr" defTabSz="912732">
              <a:defRPr/>
            </a:pPr>
            <a:endParaRPr lang="it-IT" sz="2177" b="1" u="sng">
              <a:solidFill>
                <a:srgbClr val="FFFFFF"/>
              </a:solidFill>
              <a:latin typeface="Calibri"/>
            </a:endParaRPr>
          </a:p>
          <a:p>
            <a:pPr algn="ctr" defTabSz="912732">
              <a:defRPr/>
            </a:pPr>
            <a:endParaRPr lang="it-IT" sz="2177" b="1" u="sng">
              <a:solidFill>
                <a:srgbClr val="FFFFFF"/>
              </a:solidFill>
              <a:latin typeface="Calibri"/>
            </a:endParaRPr>
          </a:p>
          <a:p>
            <a:pPr algn="ctr" defTabSz="912732">
              <a:defRPr/>
            </a:pPr>
            <a:endParaRPr lang="it-IT" sz="2177" b="1" u="sng">
              <a:solidFill>
                <a:srgbClr val="FFFFFF"/>
              </a:solidFill>
              <a:latin typeface="Calibri"/>
            </a:endParaRPr>
          </a:p>
          <a:p>
            <a:pPr algn="ctr" defTabSz="912732">
              <a:defRPr/>
            </a:pPr>
            <a:endParaRPr lang="it-IT" sz="2177" b="1" u="sng">
              <a:solidFill>
                <a:srgbClr val="FFFFFF"/>
              </a:solidFill>
              <a:latin typeface="Calibri"/>
            </a:endParaRPr>
          </a:p>
          <a:p>
            <a:pPr algn="ctr" defTabSz="912732">
              <a:defRPr/>
            </a:pPr>
            <a:endParaRPr lang="it-IT" sz="2177" b="1" u="sng">
              <a:solidFill>
                <a:srgbClr val="FFFFFF"/>
              </a:solidFill>
              <a:latin typeface="Calibri"/>
            </a:endParaRPr>
          </a:p>
          <a:p>
            <a:pPr algn="ctr" defTabSz="912732">
              <a:defRPr/>
            </a:pPr>
            <a:endParaRPr lang="it-IT" sz="2177" b="1" u="sng">
              <a:solidFill>
                <a:srgbClr val="FFFFFF"/>
              </a:solidFill>
              <a:latin typeface="Calibri"/>
            </a:endParaRPr>
          </a:p>
        </p:txBody>
      </p:sp>
      <p:sp>
        <p:nvSpPr>
          <p:cNvPr id="27" name="Rettangolo 26">
            <a:extLst>
              <a:ext uri="{FF2B5EF4-FFF2-40B4-BE49-F238E27FC236}">
                <a16:creationId xmlns:a16="http://schemas.microsoft.com/office/drawing/2014/main" id="{F9C4523F-2B08-A516-6C73-49518F71BD4B}"/>
              </a:ext>
            </a:extLst>
          </p:cNvPr>
          <p:cNvSpPr/>
          <p:nvPr/>
        </p:nvSpPr>
        <p:spPr>
          <a:xfrm>
            <a:off x="4379236" y="974196"/>
            <a:ext cx="5371637" cy="5168434"/>
          </a:xfrm>
          <a:prstGeom prst="rect">
            <a:avLst/>
          </a:prstGeom>
          <a:solidFill>
            <a:srgbClr val="F0F6FC"/>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32597" tIns="163288" rIns="32597" rtlCol="0" anchor="t"/>
          <a:lstStyle/>
          <a:p>
            <a:pPr algn="ctr" defTabSz="608487">
              <a:defRPr/>
            </a:pPr>
            <a:r>
              <a:rPr lang="it-IT" sz="1996" b="1" u="sng">
                <a:solidFill>
                  <a:srgbClr val="0F3250"/>
                </a:solidFill>
                <a:latin typeface="Calibri"/>
              </a:rPr>
              <a:t>MODELLO DI ASSOCIAZIONE LEAD ALLE AGENZIE</a:t>
            </a:r>
          </a:p>
        </p:txBody>
      </p:sp>
      <p:grpSp>
        <p:nvGrpSpPr>
          <p:cNvPr id="10" name="Gruppo 203">
            <a:extLst>
              <a:ext uri="{FF2B5EF4-FFF2-40B4-BE49-F238E27FC236}">
                <a16:creationId xmlns:a16="http://schemas.microsoft.com/office/drawing/2014/main" id="{84E2641D-9665-E1E9-8175-D2F197A9F530}"/>
              </a:ext>
            </a:extLst>
          </p:cNvPr>
          <p:cNvGrpSpPr/>
          <p:nvPr/>
        </p:nvGrpSpPr>
        <p:grpSpPr>
          <a:xfrm>
            <a:off x="6527235" y="1619000"/>
            <a:ext cx="3084129" cy="342944"/>
            <a:chOff x="1643063" y="1504137"/>
            <a:chExt cx="2462213" cy="364028"/>
          </a:xfrm>
          <a:noFill/>
        </p:grpSpPr>
        <p:sp>
          <p:nvSpPr>
            <p:cNvPr id="15" name="Rettangolo 204">
              <a:extLst>
                <a:ext uri="{FF2B5EF4-FFF2-40B4-BE49-F238E27FC236}">
                  <a16:creationId xmlns:a16="http://schemas.microsoft.com/office/drawing/2014/main" id="{4F4013CE-8C65-48DB-8FE0-A7535A208DA0}"/>
                </a:ext>
              </a:extLst>
            </p:cNvPr>
            <p:cNvSpPr/>
            <p:nvPr/>
          </p:nvSpPr>
          <p:spPr>
            <a:xfrm>
              <a:off x="1643066" y="1504137"/>
              <a:ext cx="2462210" cy="32894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414772">
                <a:defRPr/>
              </a:pPr>
              <a:r>
                <a:rPr lang="it-IT" sz="1691" b="1">
                  <a:solidFill>
                    <a:srgbClr val="0F3250"/>
                  </a:solidFill>
                  <a:latin typeface="Calibri"/>
                </a:rPr>
                <a:t>Logica proposizione Punto Vendita</a:t>
              </a:r>
            </a:p>
          </p:txBody>
        </p:sp>
        <p:cxnSp>
          <p:nvCxnSpPr>
            <p:cNvPr id="25" name="Connettore 1 12">
              <a:extLst>
                <a:ext uri="{FF2B5EF4-FFF2-40B4-BE49-F238E27FC236}">
                  <a16:creationId xmlns:a16="http://schemas.microsoft.com/office/drawing/2014/main" id="{0E098037-BB53-B2A7-450F-D33D8BE9607E}"/>
                </a:ext>
              </a:extLst>
            </p:cNvPr>
            <p:cNvCxnSpPr>
              <a:cxnSpLocks/>
            </p:cNvCxnSpPr>
            <p:nvPr/>
          </p:nvCxnSpPr>
          <p:spPr>
            <a:xfrm flipH="1">
              <a:off x="1643063" y="1868165"/>
              <a:ext cx="2462213" cy="0"/>
            </a:xfrm>
            <a:prstGeom prst="line">
              <a:avLst/>
            </a:prstGeom>
            <a:grpFill/>
            <a:ln w="12700">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grpSp>
        <p:nvGrpSpPr>
          <p:cNvPr id="28" name="Gruppo 203">
            <a:extLst>
              <a:ext uri="{FF2B5EF4-FFF2-40B4-BE49-F238E27FC236}">
                <a16:creationId xmlns:a16="http://schemas.microsoft.com/office/drawing/2014/main" id="{1940EDD3-3A4D-232B-4364-73448D491313}"/>
              </a:ext>
            </a:extLst>
          </p:cNvPr>
          <p:cNvGrpSpPr/>
          <p:nvPr/>
        </p:nvGrpSpPr>
        <p:grpSpPr>
          <a:xfrm>
            <a:off x="4665891" y="1619000"/>
            <a:ext cx="1705239" cy="342944"/>
            <a:chOff x="1643063" y="1504137"/>
            <a:chExt cx="2462213" cy="364028"/>
          </a:xfrm>
          <a:noFill/>
        </p:grpSpPr>
        <p:sp>
          <p:nvSpPr>
            <p:cNvPr id="35" name="Rettangolo 204">
              <a:extLst>
                <a:ext uri="{FF2B5EF4-FFF2-40B4-BE49-F238E27FC236}">
                  <a16:creationId xmlns:a16="http://schemas.microsoft.com/office/drawing/2014/main" id="{168AE933-F270-7045-0402-FF209954B927}"/>
                </a:ext>
              </a:extLst>
            </p:cNvPr>
            <p:cNvSpPr/>
            <p:nvPr/>
          </p:nvSpPr>
          <p:spPr>
            <a:xfrm>
              <a:off x="1643066" y="1504137"/>
              <a:ext cx="2462210" cy="32894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algn="ctr" defTabSz="414772">
                <a:defRPr/>
              </a:pPr>
              <a:r>
                <a:rPr lang="it-IT" sz="1691" b="1">
                  <a:solidFill>
                    <a:srgbClr val="0F3250"/>
                  </a:solidFill>
                  <a:latin typeface="Calibri"/>
                </a:rPr>
                <a:t>Tipologia Soggetto</a:t>
              </a:r>
            </a:p>
          </p:txBody>
        </p:sp>
        <p:cxnSp>
          <p:nvCxnSpPr>
            <p:cNvPr id="36" name="Connettore 1 12">
              <a:extLst>
                <a:ext uri="{FF2B5EF4-FFF2-40B4-BE49-F238E27FC236}">
                  <a16:creationId xmlns:a16="http://schemas.microsoft.com/office/drawing/2014/main" id="{B92ACFD7-E78A-E9D1-78F1-29D4E067E0F1}"/>
                </a:ext>
              </a:extLst>
            </p:cNvPr>
            <p:cNvCxnSpPr>
              <a:cxnSpLocks/>
            </p:cNvCxnSpPr>
            <p:nvPr/>
          </p:nvCxnSpPr>
          <p:spPr>
            <a:xfrm flipH="1">
              <a:off x="1643063" y="1868165"/>
              <a:ext cx="2462213" cy="0"/>
            </a:xfrm>
            <a:prstGeom prst="line">
              <a:avLst/>
            </a:prstGeom>
            <a:grpFill/>
            <a:ln w="12700">
              <a:solidFill>
                <a:schemeClr val="tx1"/>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grpSp>
      <p:sp>
        <p:nvSpPr>
          <p:cNvPr id="11" name="Rettangolo 10">
            <a:extLst>
              <a:ext uri="{FF2B5EF4-FFF2-40B4-BE49-F238E27FC236}">
                <a16:creationId xmlns:a16="http://schemas.microsoft.com/office/drawing/2014/main" id="{78A7D31D-F190-DDC8-56C0-B3A3767F3560}"/>
              </a:ext>
            </a:extLst>
          </p:cNvPr>
          <p:cNvSpPr/>
          <p:nvPr/>
        </p:nvSpPr>
        <p:spPr>
          <a:xfrm>
            <a:off x="6895402" y="4949044"/>
            <a:ext cx="2337915" cy="33038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tIns="32658" bIns="32658" rtlCol="0" anchor="ctr"/>
          <a:lstStyle/>
          <a:p>
            <a:pPr algn="ctr" defTabSz="608487">
              <a:defRPr/>
            </a:pPr>
            <a:r>
              <a:rPr lang="it-IT" sz="1452" i="1">
                <a:solidFill>
                  <a:srgbClr val="C3C3C3">
                    <a:lumMod val="50000"/>
                  </a:srgbClr>
                </a:solidFill>
                <a:latin typeface="Calibri"/>
              </a:rPr>
              <a:t>Punto Vendita già associato</a:t>
            </a:r>
          </a:p>
        </p:txBody>
      </p:sp>
      <p:sp>
        <p:nvSpPr>
          <p:cNvPr id="61" name="Freccia a destra 60">
            <a:extLst>
              <a:ext uri="{FF2B5EF4-FFF2-40B4-BE49-F238E27FC236}">
                <a16:creationId xmlns:a16="http://schemas.microsoft.com/office/drawing/2014/main" id="{78BC12E0-4485-D4D9-4757-7FB89193E444}"/>
              </a:ext>
            </a:extLst>
          </p:cNvPr>
          <p:cNvSpPr/>
          <p:nvPr/>
        </p:nvSpPr>
        <p:spPr>
          <a:xfrm>
            <a:off x="6572746" y="5218761"/>
            <a:ext cx="3629359" cy="436908"/>
          </a:xfrm>
          <a:prstGeom prst="rightArrow">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pic>
        <p:nvPicPr>
          <p:cNvPr id="44" name="Elemento grafico 43" descr="Profilo maschile con riempimento a tinta unita">
            <a:extLst>
              <a:ext uri="{FF2B5EF4-FFF2-40B4-BE49-F238E27FC236}">
                <a16:creationId xmlns:a16="http://schemas.microsoft.com/office/drawing/2014/main" id="{17D40ADA-C642-2567-BD93-954D7A1094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78602" y="4716939"/>
            <a:ext cx="679817" cy="679817"/>
          </a:xfrm>
          <a:prstGeom prst="rect">
            <a:avLst/>
          </a:prstGeom>
        </p:spPr>
      </p:pic>
      <p:sp>
        <p:nvSpPr>
          <p:cNvPr id="18" name="Rettangolo 17">
            <a:extLst>
              <a:ext uri="{FF2B5EF4-FFF2-40B4-BE49-F238E27FC236}">
                <a16:creationId xmlns:a16="http://schemas.microsoft.com/office/drawing/2014/main" id="{953ED6C3-A0BA-2193-9E1E-D773429B4298}"/>
              </a:ext>
            </a:extLst>
          </p:cNvPr>
          <p:cNvSpPr/>
          <p:nvPr/>
        </p:nvSpPr>
        <p:spPr>
          <a:xfrm>
            <a:off x="4849367" y="5360244"/>
            <a:ext cx="1338289" cy="635971"/>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defTabSz="912732">
              <a:defRPr/>
            </a:pPr>
            <a:r>
              <a:rPr lang="it-IT" sz="1633" i="1">
                <a:solidFill>
                  <a:srgbClr val="FFFFFF">
                    <a:lumMod val="50000"/>
                  </a:srgbClr>
                </a:solidFill>
                <a:latin typeface="Calibri"/>
              </a:rPr>
              <a:t>Soggetto</a:t>
            </a:r>
            <a:br>
              <a:rPr lang="it-IT" sz="1633" i="1">
                <a:solidFill>
                  <a:srgbClr val="FFFFFF">
                    <a:lumMod val="50000"/>
                  </a:srgbClr>
                </a:solidFill>
                <a:latin typeface="Calibri"/>
              </a:rPr>
            </a:br>
            <a:r>
              <a:rPr lang="it-IT" sz="1633" i="1">
                <a:solidFill>
                  <a:srgbClr val="FFFFFF">
                    <a:lumMod val="50000"/>
                  </a:srgbClr>
                </a:solidFill>
                <a:latin typeface="Calibri"/>
              </a:rPr>
              <a:t>CON titolarità assegnata</a:t>
            </a:r>
            <a:r>
              <a:rPr lang="it-IT" sz="1633" i="1" baseline="30000">
                <a:solidFill>
                  <a:srgbClr val="FFFFFF">
                    <a:lumMod val="50000"/>
                  </a:srgbClr>
                </a:solidFill>
                <a:latin typeface="Calibri"/>
              </a:rPr>
              <a:t>1</a:t>
            </a:r>
          </a:p>
        </p:txBody>
      </p:sp>
      <p:grpSp>
        <p:nvGrpSpPr>
          <p:cNvPr id="1035" name="Gruppo 1034">
            <a:extLst>
              <a:ext uri="{FF2B5EF4-FFF2-40B4-BE49-F238E27FC236}">
                <a16:creationId xmlns:a16="http://schemas.microsoft.com/office/drawing/2014/main" id="{528811C4-29D3-6A06-EE58-7BA07C8C356B}"/>
              </a:ext>
            </a:extLst>
          </p:cNvPr>
          <p:cNvGrpSpPr/>
          <p:nvPr/>
        </p:nvGrpSpPr>
        <p:grpSpPr>
          <a:xfrm>
            <a:off x="10424858" y="4828406"/>
            <a:ext cx="1188218" cy="983523"/>
            <a:chOff x="11202792" y="4549469"/>
            <a:chExt cx="1271303" cy="1052295"/>
          </a:xfrm>
        </p:grpSpPr>
        <p:pic>
          <p:nvPicPr>
            <p:cNvPr id="1032" name="Elemento grafico 1031" descr="Lavora da casa con riempimento a tinta unita">
              <a:extLst>
                <a:ext uri="{FF2B5EF4-FFF2-40B4-BE49-F238E27FC236}">
                  <a16:creationId xmlns:a16="http://schemas.microsoft.com/office/drawing/2014/main" id="{E154031A-8E0F-64DA-D714-1CCCCBA4F2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414666" y="4549469"/>
              <a:ext cx="847556" cy="847557"/>
            </a:xfrm>
            <a:prstGeom prst="rect">
              <a:avLst/>
            </a:prstGeom>
          </p:spPr>
        </p:pic>
        <p:sp>
          <p:nvSpPr>
            <p:cNvPr id="1033" name="Rettangolo 1032">
              <a:extLst>
                <a:ext uri="{FF2B5EF4-FFF2-40B4-BE49-F238E27FC236}">
                  <a16:creationId xmlns:a16="http://schemas.microsoft.com/office/drawing/2014/main" id="{AB176F76-4C00-35E6-C285-0C8D94FC236F}"/>
                </a:ext>
              </a:extLst>
            </p:cNvPr>
            <p:cNvSpPr/>
            <p:nvPr/>
          </p:nvSpPr>
          <p:spPr>
            <a:xfrm>
              <a:off x="11202792" y="5328328"/>
              <a:ext cx="1271303" cy="273436"/>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lIns="65193" rIns="65193" rtlCol="0" anchor="ctr"/>
            <a:lstStyle/>
            <a:p>
              <a:pPr algn="ctr" defTabSz="912732">
                <a:defRPr/>
              </a:pPr>
              <a:r>
                <a:rPr lang="it-IT" sz="1452" i="1">
                  <a:solidFill>
                    <a:srgbClr val="C3C3C3">
                      <a:lumMod val="50000"/>
                    </a:srgbClr>
                  </a:solidFill>
                  <a:latin typeface="Calibri"/>
                </a:rPr>
                <a:t>Punto Vendita</a:t>
              </a:r>
              <a:endParaRPr lang="it-IT" sz="907" i="1">
                <a:solidFill>
                  <a:srgbClr val="C3C3C3">
                    <a:lumMod val="50000"/>
                  </a:srgbClr>
                </a:solidFill>
                <a:latin typeface="Calibri"/>
              </a:endParaRPr>
            </a:p>
          </p:txBody>
        </p:sp>
      </p:grpSp>
      <p:sp>
        <p:nvSpPr>
          <p:cNvPr id="1043" name="Fumetto: rettangolo con angoli arrotondati 1042">
            <a:extLst>
              <a:ext uri="{FF2B5EF4-FFF2-40B4-BE49-F238E27FC236}">
                <a16:creationId xmlns:a16="http://schemas.microsoft.com/office/drawing/2014/main" id="{88A4A577-CDA3-59C6-6CC2-E3E9C8063A8B}"/>
              </a:ext>
            </a:extLst>
          </p:cNvPr>
          <p:cNvSpPr/>
          <p:nvPr/>
        </p:nvSpPr>
        <p:spPr>
          <a:xfrm>
            <a:off x="9852475" y="982796"/>
            <a:ext cx="2162972" cy="994536"/>
          </a:xfrm>
          <a:prstGeom prst="wedgeRoundRectCallout">
            <a:avLst>
              <a:gd name="adj1" fmla="val -57827"/>
              <a:gd name="adj2" fmla="val -19660"/>
              <a:gd name="adj3" fmla="val 16667"/>
            </a:avLst>
          </a:prstGeom>
          <a:solidFill>
            <a:srgbClr val="FFF6D9"/>
          </a:solidFill>
          <a:ln w="95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759026">
              <a:defRPr/>
            </a:pPr>
            <a:r>
              <a:rPr lang="it-IT" sz="1270" i="1">
                <a:solidFill>
                  <a:srgbClr val="0F3250"/>
                </a:solidFill>
                <a:latin typeface="Calibri"/>
              </a:rPr>
              <a:t>Logiche di abbinamento del lead funzionali a </a:t>
            </a:r>
            <a:r>
              <a:rPr lang="it-IT" sz="1270" b="1" i="1">
                <a:solidFill>
                  <a:srgbClr val="0F3250"/>
                </a:solidFill>
                <a:latin typeface="Calibri"/>
              </a:rPr>
              <a:t>garantire sempre al soggetto un riferimento unico in termini di Punto Vendita</a:t>
            </a:r>
          </a:p>
        </p:txBody>
      </p:sp>
      <p:sp>
        <p:nvSpPr>
          <p:cNvPr id="1046" name="Rettangolo 1045">
            <a:extLst>
              <a:ext uri="{FF2B5EF4-FFF2-40B4-BE49-F238E27FC236}">
                <a16:creationId xmlns:a16="http://schemas.microsoft.com/office/drawing/2014/main" id="{8A10798E-581F-DA0A-3641-89BD220F2412}"/>
              </a:ext>
            </a:extLst>
          </p:cNvPr>
          <p:cNvSpPr/>
          <p:nvPr/>
        </p:nvSpPr>
        <p:spPr>
          <a:xfrm>
            <a:off x="4028638" y="2255753"/>
            <a:ext cx="7952361" cy="2189412"/>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sp>
        <p:nvSpPr>
          <p:cNvPr id="40" name="Freccia a gallone 39">
            <a:extLst>
              <a:ext uri="{FF2B5EF4-FFF2-40B4-BE49-F238E27FC236}">
                <a16:creationId xmlns:a16="http://schemas.microsoft.com/office/drawing/2014/main" id="{52EF3648-7291-6A55-8976-144A43697015}"/>
              </a:ext>
            </a:extLst>
          </p:cNvPr>
          <p:cNvSpPr/>
          <p:nvPr/>
        </p:nvSpPr>
        <p:spPr>
          <a:xfrm>
            <a:off x="4139568" y="5082837"/>
            <a:ext cx="162072" cy="539491"/>
          </a:xfrm>
          <a:prstGeom prst="chevron">
            <a:avLst>
              <a:gd name="adj" fmla="val 76973"/>
            </a:avLst>
          </a:prstGeom>
          <a:solidFill>
            <a:schemeClr val="bg1">
              <a:lumMod val="50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08487">
              <a:defRPr/>
            </a:pPr>
            <a:endParaRPr lang="it-IT" sz="1397">
              <a:solidFill>
                <a:srgbClr val="0F3250"/>
              </a:solidFill>
              <a:latin typeface="Calibri"/>
            </a:endParaRPr>
          </a:p>
        </p:txBody>
      </p:sp>
      <p:cxnSp>
        <p:nvCxnSpPr>
          <p:cNvPr id="52" name="Connettore diritto 51">
            <a:extLst>
              <a:ext uri="{FF2B5EF4-FFF2-40B4-BE49-F238E27FC236}">
                <a16:creationId xmlns:a16="http://schemas.microsoft.com/office/drawing/2014/main" id="{77A0575B-1DE0-137B-F417-AAAA0CE4886E}"/>
              </a:ext>
            </a:extLst>
          </p:cNvPr>
          <p:cNvCxnSpPr>
            <a:cxnSpLocks/>
          </p:cNvCxnSpPr>
          <p:nvPr/>
        </p:nvCxnSpPr>
        <p:spPr>
          <a:xfrm flipH="1">
            <a:off x="4018357" y="2281987"/>
            <a:ext cx="4520" cy="2136947"/>
          </a:xfrm>
          <a:prstGeom prst="line">
            <a:avLst/>
          </a:prstGeom>
          <a:ln w="762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4" name="Rettangolo 53">
            <a:extLst>
              <a:ext uri="{FF2B5EF4-FFF2-40B4-BE49-F238E27FC236}">
                <a16:creationId xmlns:a16="http://schemas.microsoft.com/office/drawing/2014/main" id="{2A22E613-C5DB-E878-AF48-8732E9AD2635}"/>
              </a:ext>
            </a:extLst>
          </p:cNvPr>
          <p:cNvSpPr/>
          <p:nvPr/>
        </p:nvSpPr>
        <p:spPr>
          <a:xfrm>
            <a:off x="8134724" y="4215865"/>
            <a:ext cx="2188302" cy="407778"/>
          </a:xfrm>
          <a:prstGeom prst="rect">
            <a:avLst/>
          </a:prstGeom>
          <a:solidFill>
            <a:schemeClr val="bg1"/>
          </a:solidFill>
          <a:ln w="28575">
            <a:solidFill>
              <a:srgbClr val="FFC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051">
              <a:defRPr/>
            </a:pPr>
            <a:r>
              <a:rPr lang="it-IT" sz="1814" i="1" u="sng">
                <a:solidFill>
                  <a:srgbClr val="0F3250"/>
                </a:solidFill>
                <a:latin typeface="Calibri"/>
              </a:rPr>
              <a:t>FOCUS MODELLO</a:t>
            </a:r>
          </a:p>
        </p:txBody>
      </p:sp>
      <p:sp>
        <p:nvSpPr>
          <p:cNvPr id="34" name="Freccia a gallone 33">
            <a:extLst>
              <a:ext uri="{FF2B5EF4-FFF2-40B4-BE49-F238E27FC236}">
                <a16:creationId xmlns:a16="http://schemas.microsoft.com/office/drawing/2014/main" id="{414A1C83-B607-D606-1C4E-EF549B55B476}"/>
              </a:ext>
            </a:extLst>
          </p:cNvPr>
          <p:cNvSpPr/>
          <p:nvPr/>
        </p:nvSpPr>
        <p:spPr>
          <a:xfrm>
            <a:off x="4139567" y="3143632"/>
            <a:ext cx="162072" cy="539491"/>
          </a:xfrm>
          <a:prstGeom prst="chevron">
            <a:avLst>
              <a:gd name="adj" fmla="val 76973"/>
            </a:avLst>
          </a:prstGeom>
          <a:solidFill>
            <a:schemeClr val="tx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08487">
              <a:defRPr/>
            </a:pPr>
            <a:endParaRPr lang="it-IT" sz="1397">
              <a:solidFill>
                <a:srgbClr val="0F3250"/>
              </a:solidFill>
              <a:latin typeface="Calibri"/>
            </a:endParaRPr>
          </a:p>
        </p:txBody>
      </p:sp>
      <p:sp>
        <p:nvSpPr>
          <p:cNvPr id="33" name="Rettangolo 32">
            <a:extLst>
              <a:ext uri="{FF2B5EF4-FFF2-40B4-BE49-F238E27FC236}">
                <a16:creationId xmlns:a16="http://schemas.microsoft.com/office/drawing/2014/main" id="{C0B346D7-0B03-3249-BF80-1FCA91A9B4A6}"/>
              </a:ext>
            </a:extLst>
          </p:cNvPr>
          <p:cNvSpPr/>
          <p:nvPr/>
        </p:nvSpPr>
        <p:spPr>
          <a:xfrm>
            <a:off x="6382766" y="2661210"/>
            <a:ext cx="3373066" cy="593843"/>
          </a:xfrm>
          <a:prstGeom prst="rect">
            <a:avLst/>
          </a:prstGeom>
          <a:noFill/>
          <a:ln>
            <a:noFill/>
          </a:ln>
        </p:spPr>
        <p:style>
          <a:lnRef idx="2">
            <a:schemeClr val="accent3"/>
          </a:lnRef>
          <a:fillRef idx="1">
            <a:schemeClr val="lt1"/>
          </a:fillRef>
          <a:effectRef idx="0">
            <a:schemeClr val="accent3"/>
          </a:effectRef>
          <a:fontRef idx="minor">
            <a:schemeClr val="dk1"/>
          </a:fontRef>
        </p:style>
        <p:txBody>
          <a:bodyPr tIns="32658" bIns="32658" rtlCol="0" anchor="ctr"/>
          <a:lstStyle/>
          <a:p>
            <a:pPr algn="ctr" defTabSz="608487">
              <a:defRPr/>
            </a:pPr>
            <a:r>
              <a:rPr lang="it-IT" sz="1814" b="1">
                <a:solidFill>
                  <a:srgbClr val="0F3250"/>
                </a:solidFill>
                <a:latin typeface="Calibri"/>
              </a:rPr>
              <a:t>Punto Vendita definito da logiche </a:t>
            </a:r>
            <a:r>
              <a:rPr lang="it-IT" sz="1814" b="1" u="sng">
                <a:solidFill>
                  <a:srgbClr val="0F3250"/>
                </a:solidFill>
                <a:latin typeface="Calibri"/>
              </a:rPr>
              <a:t>modello Geo-meritocratico</a:t>
            </a:r>
            <a:r>
              <a:rPr lang="it-IT" sz="1814" b="1">
                <a:solidFill>
                  <a:srgbClr val="0F3250"/>
                </a:solidFill>
                <a:latin typeface="Calibri"/>
              </a:rPr>
              <a:t>, con possibilità di modifica da locator</a:t>
            </a:r>
          </a:p>
        </p:txBody>
      </p:sp>
      <p:sp>
        <p:nvSpPr>
          <p:cNvPr id="53" name="Freccia a destra 52">
            <a:extLst>
              <a:ext uri="{FF2B5EF4-FFF2-40B4-BE49-F238E27FC236}">
                <a16:creationId xmlns:a16="http://schemas.microsoft.com/office/drawing/2014/main" id="{3986D2C9-0219-5B47-1B7B-084140C19C04}"/>
              </a:ext>
            </a:extLst>
          </p:cNvPr>
          <p:cNvSpPr/>
          <p:nvPr/>
        </p:nvSpPr>
        <p:spPr>
          <a:xfrm>
            <a:off x="6572587" y="3482957"/>
            <a:ext cx="3629514" cy="491050"/>
          </a:xfrm>
          <a:prstGeom prst="rightArrow">
            <a:avLst>
              <a:gd name="adj1" fmla="val 50000"/>
              <a:gd name="adj2" fmla="val 38834"/>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pic>
        <p:nvPicPr>
          <p:cNvPr id="41" name="Elemento grafico 40" descr="Profilo maschile con riempimento a tinta unita">
            <a:extLst>
              <a:ext uri="{FF2B5EF4-FFF2-40B4-BE49-F238E27FC236}">
                <a16:creationId xmlns:a16="http://schemas.microsoft.com/office/drawing/2014/main" id="{01B15612-C497-F1C4-1B3E-6178B59F2BE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043759" y="2396674"/>
            <a:ext cx="949505" cy="957917"/>
          </a:xfrm>
          <a:prstGeom prst="rect">
            <a:avLst/>
          </a:prstGeom>
        </p:spPr>
      </p:pic>
      <p:sp>
        <p:nvSpPr>
          <p:cNvPr id="32" name="Rettangolo 31">
            <a:extLst>
              <a:ext uri="{FF2B5EF4-FFF2-40B4-BE49-F238E27FC236}">
                <a16:creationId xmlns:a16="http://schemas.microsoft.com/office/drawing/2014/main" id="{FF2FD1AF-DD52-01F6-B1BF-D88B728CE18E}"/>
              </a:ext>
            </a:extLst>
          </p:cNvPr>
          <p:cNvSpPr/>
          <p:nvPr/>
        </p:nvSpPr>
        <p:spPr>
          <a:xfrm>
            <a:off x="4545508" y="3390164"/>
            <a:ext cx="1946005" cy="763258"/>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lIns="65193" rIns="65193" rtlCol="0" anchor="ctr"/>
          <a:lstStyle/>
          <a:p>
            <a:pPr algn="ctr" defTabSz="912732">
              <a:defRPr/>
            </a:pPr>
            <a:r>
              <a:rPr lang="it-IT" sz="2177" b="1">
                <a:solidFill>
                  <a:srgbClr val="00B0F0"/>
                </a:solidFill>
                <a:latin typeface="Calibri"/>
              </a:rPr>
              <a:t>Soggetto SENZA titolarità assegnata</a:t>
            </a:r>
            <a:endParaRPr lang="it-IT" sz="1089">
              <a:solidFill>
                <a:srgbClr val="00B0F0"/>
              </a:solidFill>
              <a:latin typeface="Calibri"/>
            </a:endParaRPr>
          </a:p>
        </p:txBody>
      </p:sp>
      <p:grpSp>
        <p:nvGrpSpPr>
          <p:cNvPr id="1030" name="Gruppo 1029">
            <a:extLst>
              <a:ext uri="{FF2B5EF4-FFF2-40B4-BE49-F238E27FC236}">
                <a16:creationId xmlns:a16="http://schemas.microsoft.com/office/drawing/2014/main" id="{E27AFF87-41C5-1D79-80BF-3699E1A9699C}"/>
              </a:ext>
            </a:extLst>
          </p:cNvPr>
          <p:cNvGrpSpPr/>
          <p:nvPr/>
        </p:nvGrpSpPr>
        <p:grpSpPr>
          <a:xfrm>
            <a:off x="10202101" y="2674316"/>
            <a:ext cx="1633730" cy="1352284"/>
            <a:chOff x="10937984" y="2579187"/>
            <a:chExt cx="1800932" cy="1490682"/>
          </a:xfrm>
        </p:grpSpPr>
        <p:pic>
          <p:nvPicPr>
            <p:cNvPr id="1028" name="Elemento grafico 1027" descr="Lavora da casa con riempimento a tinta unita">
              <a:extLst>
                <a:ext uri="{FF2B5EF4-FFF2-40B4-BE49-F238E27FC236}">
                  <a16:creationId xmlns:a16="http://schemas.microsoft.com/office/drawing/2014/main" id="{8BA12F09-E903-EA3F-3F98-D2A9DA5D23D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238125" y="2579187"/>
              <a:ext cx="1200650" cy="1200650"/>
            </a:xfrm>
            <a:prstGeom prst="rect">
              <a:avLst/>
            </a:prstGeom>
          </p:spPr>
        </p:pic>
        <p:sp>
          <p:nvSpPr>
            <p:cNvPr id="1029" name="Rettangolo 1028">
              <a:extLst>
                <a:ext uri="{FF2B5EF4-FFF2-40B4-BE49-F238E27FC236}">
                  <a16:creationId xmlns:a16="http://schemas.microsoft.com/office/drawing/2014/main" id="{9EA744D6-37CA-EE7D-96A5-239A423DB4E5}"/>
                </a:ext>
              </a:extLst>
            </p:cNvPr>
            <p:cNvSpPr/>
            <p:nvPr/>
          </p:nvSpPr>
          <p:spPr>
            <a:xfrm>
              <a:off x="10937984" y="3682519"/>
              <a:ext cx="1800932" cy="387350"/>
            </a:xfrm>
            <a:prstGeom prst="rect">
              <a:avLst/>
            </a:prstGeom>
            <a:noFill/>
            <a:ln>
              <a:noFill/>
            </a:ln>
          </p:spPr>
          <p:style>
            <a:lnRef idx="2">
              <a:schemeClr val="accent4">
                <a:shade val="15000"/>
              </a:schemeClr>
            </a:lnRef>
            <a:fillRef idx="1">
              <a:schemeClr val="accent4"/>
            </a:fillRef>
            <a:effectRef idx="0">
              <a:schemeClr val="accent4"/>
            </a:effectRef>
            <a:fontRef idx="minor">
              <a:schemeClr val="lt1"/>
            </a:fontRef>
          </p:style>
          <p:txBody>
            <a:bodyPr lIns="65193" rIns="65193" rtlCol="0" anchor="ctr"/>
            <a:lstStyle/>
            <a:p>
              <a:pPr algn="ctr" defTabSz="912732">
                <a:defRPr/>
              </a:pPr>
              <a:r>
                <a:rPr lang="it-IT" sz="1996" b="1">
                  <a:solidFill>
                    <a:srgbClr val="00B0F0"/>
                  </a:solidFill>
                  <a:latin typeface="Calibri"/>
                </a:rPr>
                <a:t>Punto Vendita</a:t>
              </a:r>
              <a:endParaRPr lang="it-IT" sz="1996" i="1">
                <a:solidFill>
                  <a:srgbClr val="00B0F0"/>
                </a:solidFill>
                <a:latin typeface="Calibri"/>
              </a:endParaRPr>
            </a:p>
          </p:txBody>
        </p:sp>
      </p:grpSp>
      <p:grpSp>
        <p:nvGrpSpPr>
          <p:cNvPr id="1037" name="Gruppo 1036">
            <a:extLst>
              <a:ext uri="{FF2B5EF4-FFF2-40B4-BE49-F238E27FC236}">
                <a16:creationId xmlns:a16="http://schemas.microsoft.com/office/drawing/2014/main" id="{2D360769-A21F-BF3E-2AEF-60BD86779CB9}"/>
              </a:ext>
            </a:extLst>
          </p:cNvPr>
          <p:cNvGrpSpPr/>
          <p:nvPr/>
        </p:nvGrpSpPr>
        <p:grpSpPr>
          <a:xfrm>
            <a:off x="7768121" y="3423638"/>
            <a:ext cx="602359" cy="602359"/>
            <a:chOff x="8559766" y="3773926"/>
            <a:chExt cx="664007" cy="664007"/>
          </a:xfrm>
        </p:grpSpPr>
        <p:sp>
          <p:nvSpPr>
            <p:cNvPr id="51" name="Ovale 50">
              <a:extLst>
                <a:ext uri="{FF2B5EF4-FFF2-40B4-BE49-F238E27FC236}">
                  <a16:creationId xmlns:a16="http://schemas.microsoft.com/office/drawing/2014/main" id="{88F2679A-EC7E-61B7-7CA9-D5B41C6673A7}"/>
                </a:ext>
              </a:extLst>
            </p:cNvPr>
            <p:cNvSpPr/>
            <p:nvPr/>
          </p:nvSpPr>
          <p:spPr>
            <a:xfrm>
              <a:off x="8559766" y="3773926"/>
              <a:ext cx="664007" cy="664007"/>
            </a:xfrm>
            <a:prstGeom prst="ellipse">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pic>
          <p:nvPicPr>
            <p:cNvPr id="5122" name="Picture 2">
              <a:extLst>
                <a:ext uri="{FF2B5EF4-FFF2-40B4-BE49-F238E27FC236}">
                  <a16:creationId xmlns:a16="http://schemas.microsoft.com/office/drawing/2014/main" id="{005E1E00-FE10-024C-8EBF-FC8DBCF4B83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99227" y="3810175"/>
              <a:ext cx="593164" cy="593164"/>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21" name="Rettangolo 20">
            <a:extLst>
              <a:ext uri="{FF2B5EF4-FFF2-40B4-BE49-F238E27FC236}">
                <a16:creationId xmlns:a16="http://schemas.microsoft.com/office/drawing/2014/main" id="{6A49B1E3-48AC-74E5-F628-01E103C4389B}"/>
              </a:ext>
            </a:extLst>
          </p:cNvPr>
          <p:cNvSpPr/>
          <p:nvPr/>
        </p:nvSpPr>
        <p:spPr>
          <a:xfrm>
            <a:off x="494710" y="1816595"/>
            <a:ext cx="3297107" cy="273017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7973" tIns="97973" rIns="97973" bIns="457208" rtlCol="0" anchor="ctr"/>
          <a:lstStyle/>
          <a:p>
            <a:pPr algn="ctr" defTabSz="414772">
              <a:defRPr/>
            </a:pPr>
            <a:endParaRPr lang="it-IT" sz="1633">
              <a:solidFill>
                <a:srgbClr val="0F3250"/>
              </a:solidFill>
              <a:latin typeface="Calibri"/>
            </a:endParaRPr>
          </a:p>
          <a:p>
            <a:pPr algn="ctr" defTabSz="414772">
              <a:defRPr/>
            </a:pPr>
            <a:endParaRPr lang="it-IT" sz="726">
              <a:solidFill>
                <a:srgbClr val="0F3250"/>
              </a:solidFill>
              <a:latin typeface="Calibri"/>
            </a:endParaRPr>
          </a:p>
          <a:p>
            <a:pPr algn="ctr" defTabSz="414772">
              <a:defRPr/>
            </a:pPr>
            <a:r>
              <a:rPr lang="it-IT" sz="1633">
                <a:solidFill>
                  <a:srgbClr val="0F3250"/>
                </a:solidFill>
                <a:latin typeface="Calibri"/>
              </a:rPr>
              <a:t>Previsti da modello i seguenti </a:t>
            </a:r>
            <a:r>
              <a:rPr lang="it-IT" sz="1633" b="1">
                <a:solidFill>
                  <a:srgbClr val="0F3250"/>
                </a:solidFill>
                <a:latin typeface="Calibri"/>
              </a:rPr>
              <a:t>momenti di generazione del lead </a:t>
            </a:r>
            <a:r>
              <a:rPr lang="it-IT" sz="1633" i="1">
                <a:solidFill>
                  <a:srgbClr val="0F3250"/>
                </a:solidFill>
                <a:latin typeface="Calibri"/>
              </a:rPr>
              <a:t>(con specifico calore)</a:t>
            </a:r>
            <a:r>
              <a:rPr lang="it-IT" sz="1633">
                <a:solidFill>
                  <a:srgbClr val="0F3250"/>
                </a:solidFill>
                <a:latin typeface="Calibri"/>
              </a:rPr>
              <a:t>:</a:t>
            </a:r>
          </a:p>
          <a:p>
            <a:pPr algn="ctr" defTabSz="414772">
              <a:defRPr/>
            </a:pPr>
            <a:endParaRPr lang="it-IT" sz="1633">
              <a:solidFill>
                <a:srgbClr val="0F3250"/>
              </a:solidFill>
              <a:latin typeface="Calibri"/>
            </a:endParaRPr>
          </a:p>
          <a:p>
            <a:pPr algn="ctr" defTabSz="414772">
              <a:defRPr/>
            </a:pPr>
            <a:endParaRPr lang="it-IT" sz="1633">
              <a:solidFill>
                <a:srgbClr val="0F3250"/>
              </a:solidFill>
              <a:latin typeface="Calibri"/>
            </a:endParaRPr>
          </a:p>
          <a:p>
            <a:pPr algn="ctr" defTabSz="414772">
              <a:defRPr/>
            </a:pPr>
            <a:endParaRPr lang="it-IT" sz="1633">
              <a:solidFill>
                <a:srgbClr val="0F3250"/>
              </a:solidFill>
              <a:latin typeface="Calibri"/>
            </a:endParaRPr>
          </a:p>
          <a:p>
            <a:pPr algn="ctr" defTabSz="414772">
              <a:defRPr/>
            </a:pPr>
            <a:endParaRPr lang="it-IT" sz="1633">
              <a:solidFill>
                <a:srgbClr val="0F3250"/>
              </a:solidFill>
              <a:latin typeface="Calibri"/>
            </a:endParaRPr>
          </a:p>
        </p:txBody>
      </p:sp>
      <p:grpSp>
        <p:nvGrpSpPr>
          <p:cNvPr id="7" name="Gruppo 6">
            <a:extLst>
              <a:ext uri="{FF2B5EF4-FFF2-40B4-BE49-F238E27FC236}">
                <a16:creationId xmlns:a16="http://schemas.microsoft.com/office/drawing/2014/main" id="{5238A6A1-BA19-8081-E32C-C81367804F16}"/>
              </a:ext>
            </a:extLst>
          </p:cNvPr>
          <p:cNvGrpSpPr/>
          <p:nvPr/>
        </p:nvGrpSpPr>
        <p:grpSpPr>
          <a:xfrm>
            <a:off x="1408232" y="1876545"/>
            <a:ext cx="1470062" cy="499319"/>
            <a:chOff x="8709702" y="4334650"/>
            <a:chExt cx="999369" cy="340845"/>
          </a:xfrm>
        </p:grpSpPr>
        <p:sp>
          <p:nvSpPr>
            <p:cNvPr id="8" name="Rettangolo 7">
              <a:extLst>
                <a:ext uri="{FF2B5EF4-FFF2-40B4-BE49-F238E27FC236}">
                  <a16:creationId xmlns:a16="http://schemas.microsoft.com/office/drawing/2014/main" id="{3BF16877-ABF2-4280-9FA9-00659AC32421}"/>
                </a:ext>
              </a:extLst>
            </p:cNvPr>
            <p:cNvSpPr/>
            <p:nvPr/>
          </p:nvSpPr>
          <p:spPr>
            <a:xfrm>
              <a:off x="8709702" y="4334650"/>
              <a:ext cx="999369" cy="340845"/>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2658" tIns="0" rIns="32658" bIns="0" rtlCol="0" anchor="ctr"/>
            <a:lstStyle/>
            <a:p>
              <a:pPr defTabSz="414772">
                <a:defRPr/>
              </a:pPr>
              <a:endParaRPr lang="it-IT" sz="1270" b="1">
                <a:solidFill>
                  <a:srgbClr val="0F3250"/>
                </a:solidFill>
                <a:latin typeface="Calibri"/>
              </a:endParaRPr>
            </a:p>
          </p:txBody>
        </p:sp>
        <p:pic>
          <p:nvPicPr>
            <p:cNvPr id="9" name="Immagine 8" descr="Schermata 2023-11-11 alle 07.29.07.png">
              <a:extLst>
                <a:ext uri="{FF2B5EF4-FFF2-40B4-BE49-F238E27FC236}">
                  <a16:creationId xmlns:a16="http://schemas.microsoft.com/office/drawing/2014/main" id="{F12EE8D4-D82E-3E7E-EEE7-25151071DCEE}"/>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819346" y="4358798"/>
              <a:ext cx="793731" cy="307306"/>
            </a:xfrm>
            <a:prstGeom prst="roundRect">
              <a:avLst>
                <a:gd name="adj" fmla="val 0"/>
              </a:avLst>
            </a:prstGeom>
            <a:ln>
              <a:noFill/>
            </a:ln>
          </p:spPr>
        </p:pic>
      </p:grpSp>
      <p:sp>
        <p:nvSpPr>
          <p:cNvPr id="4" name="Rettangolo 3">
            <a:extLst>
              <a:ext uri="{FF2B5EF4-FFF2-40B4-BE49-F238E27FC236}">
                <a16:creationId xmlns:a16="http://schemas.microsoft.com/office/drawing/2014/main" id="{B2E63314-EA50-009D-8627-2AC6D776FACA}"/>
              </a:ext>
            </a:extLst>
          </p:cNvPr>
          <p:cNvSpPr/>
          <p:nvPr/>
        </p:nvSpPr>
        <p:spPr>
          <a:xfrm>
            <a:off x="659989" y="3148467"/>
            <a:ext cx="2966547" cy="267878"/>
          </a:xfrm>
          <a:prstGeom prst="rect">
            <a:avLst/>
          </a:prstGeom>
          <a:solidFill>
            <a:srgbClr val="DCEBF8"/>
          </a:solidFill>
          <a:ln>
            <a:noFill/>
          </a:ln>
        </p:spPr>
        <p:style>
          <a:lnRef idx="2">
            <a:schemeClr val="accent1">
              <a:shade val="15000"/>
            </a:schemeClr>
          </a:lnRef>
          <a:fillRef idx="1">
            <a:schemeClr val="accent1"/>
          </a:fillRef>
          <a:effectRef idx="0">
            <a:schemeClr val="accent1"/>
          </a:effectRef>
          <a:fontRef idx="minor">
            <a:schemeClr val="lt1"/>
          </a:fontRef>
        </p:style>
        <p:txBody>
          <a:bodyPr lIns="261262" rtlCol="0" anchor="ctr"/>
          <a:lstStyle/>
          <a:p>
            <a:pPr algn="ctr" defTabSz="414772">
              <a:defRPr/>
            </a:pPr>
            <a:r>
              <a:rPr lang="it-IT" sz="1361" i="1">
                <a:solidFill>
                  <a:srgbClr val="0F3250"/>
                </a:solidFill>
                <a:latin typeface="Calibri"/>
              </a:rPr>
              <a:t>SHOW PRICE (solo qualificati)</a:t>
            </a:r>
          </a:p>
        </p:txBody>
      </p:sp>
      <p:sp>
        <p:nvSpPr>
          <p:cNvPr id="37" name="Rettangolo 36">
            <a:extLst>
              <a:ext uri="{FF2B5EF4-FFF2-40B4-BE49-F238E27FC236}">
                <a16:creationId xmlns:a16="http://schemas.microsoft.com/office/drawing/2014/main" id="{D28E776D-65E7-147E-50E5-E327098775CD}"/>
              </a:ext>
            </a:extLst>
          </p:cNvPr>
          <p:cNvSpPr/>
          <p:nvPr/>
        </p:nvSpPr>
        <p:spPr>
          <a:xfrm>
            <a:off x="659989" y="3491394"/>
            <a:ext cx="2966547" cy="267878"/>
          </a:xfrm>
          <a:prstGeom prst="rect">
            <a:avLst/>
          </a:prstGeom>
          <a:solidFill>
            <a:srgbClr val="DCEBF8"/>
          </a:solidFill>
          <a:ln>
            <a:noFill/>
          </a:ln>
        </p:spPr>
        <p:style>
          <a:lnRef idx="2">
            <a:schemeClr val="accent1">
              <a:shade val="15000"/>
            </a:schemeClr>
          </a:lnRef>
          <a:fillRef idx="1">
            <a:schemeClr val="accent1"/>
          </a:fillRef>
          <a:effectRef idx="0">
            <a:schemeClr val="accent1"/>
          </a:effectRef>
          <a:fontRef idx="minor">
            <a:schemeClr val="lt1"/>
          </a:fontRef>
        </p:style>
        <p:txBody>
          <a:bodyPr lIns="261262" rtlCol="0" anchor="ctr"/>
          <a:lstStyle/>
          <a:p>
            <a:pPr algn="ctr" defTabSz="414772">
              <a:defRPr/>
            </a:pPr>
            <a:r>
              <a:rPr lang="it-IT" sz="1361" i="1">
                <a:solidFill>
                  <a:srgbClr val="0F3250"/>
                </a:solidFill>
                <a:latin typeface="Calibri"/>
              </a:rPr>
              <a:t>SALVATAGGIO PREVENTIVO</a:t>
            </a:r>
          </a:p>
        </p:txBody>
      </p:sp>
      <p:sp>
        <p:nvSpPr>
          <p:cNvPr id="38" name="Rettangolo 37">
            <a:extLst>
              <a:ext uri="{FF2B5EF4-FFF2-40B4-BE49-F238E27FC236}">
                <a16:creationId xmlns:a16="http://schemas.microsoft.com/office/drawing/2014/main" id="{A0350A84-CE2E-A2AB-49A2-5C9DE6E881F9}"/>
              </a:ext>
            </a:extLst>
          </p:cNvPr>
          <p:cNvSpPr/>
          <p:nvPr/>
        </p:nvSpPr>
        <p:spPr>
          <a:xfrm>
            <a:off x="659989" y="3824648"/>
            <a:ext cx="2966547" cy="267878"/>
          </a:xfrm>
          <a:prstGeom prst="rect">
            <a:avLst/>
          </a:prstGeom>
          <a:solidFill>
            <a:srgbClr val="DCEBF8"/>
          </a:solidFill>
          <a:ln>
            <a:noFill/>
          </a:ln>
        </p:spPr>
        <p:style>
          <a:lnRef idx="2">
            <a:schemeClr val="accent1">
              <a:shade val="15000"/>
            </a:schemeClr>
          </a:lnRef>
          <a:fillRef idx="1">
            <a:schemeClr val="accent1"/>
          </a:fillRef>
          <a:effectRef idx="0">
            <a:schemeClr val="accent1"/>
          </a:effectRef>
          <a:fontRef idx="minor">
            <a:schemeClr val="lt1"/>
          </a:fontRef>
        </p:style>
        <p:txBody>
          <a:bodyPr lIns="261262" rtlCol="0" anchor="ctr"/>
          <a:lstStyle/>
          <a:p>
            <a:pPr algn="ctr" defTabSz="414772">
              <a:defRPr/>
            </a:pPr>
            <a:r>
              <a:rPr lang="it-IT" sz="1361" i="1">
                <a:solidFill>
                  <a:srgbClr val="0F3250"/>
                </a:solidFill>
                <a:latin typeface="Calibri"/>
              </a:rPr>
              <a:t>ABBANDONO CARRELLO</a:t>
            </a:r>
          </a:p>
        </p:txBody>
      </p:sp>
      <p:sp>
        <p:nvSpPr>
          <p:cNvPr id="39" name="Rettangolo 38">
            <a:extLst>
              <a:ext uri="{FF2B5EF4-FFF2-40B4-BE49-F238E27FC236}">
                <a16:creationId xmlns:a16="http://schemas.microsoft.com/office/drawing/2014/main" id="{BC4FF20B-545A-1B63-B931-D5A0E4D2A104}"/>
              </a:ext>
            </a:extLst>
          </p:cNvPr>
          <p:cNvSpPr/>
          <p:nvPr/>
        </p:nvSpPr>
        <p:spPr>
          <a:xfrm>
            <a:off x="659989" y="4159298"/>
            <a:ext cx="2966547" cy="267878"/>
          </a:xfrm>
          <a:prstGeom prst="rect">
            <a:avLst/>
          </a:prstGeom>
          <a:solidFill>
            <a:srgbClr val="DCEBF8"/>
          </a:solidFill>
          <a:ln>
            <a:noFill/>
          </a:ln>
        </p:spPr>
        <p:style>
          <a:lnRef idx="2">
            <a:schemeClr val="accent1">
              <a:shade val="15000"/>
            </a:schemeClr>
          </a:lnRef>
          <a:fillRef idx="1">
            <a:schemeClr val="accent1"/>
          </a:fillRef>
          <a:effectRef idx="0">
            <a:schemeClr val="accent1"/>
          </a:effectRef>
          <a:fontRef idx="minor">
            <a:schemeClr val="lt1"/>
          </a:fontRef>
        </p:style>
        <p:txBody>
          <a:bodyPr lIns="261262" rtlCol="0" anchor="ctr"/>
          <a:lstStyle/>
          <a:p>
            <a:pPr algn="ctr" defTabSz="414772">
              <a:defRPr/>
            </a:pPr>
            <a:r>
              <a:rPr lang="it-IT" sz="1361" i="1">
                <a:solidFill>
                  <a:srgbClr val="0F3250"/>
                </a:solidFill>
                <a:latin typeface="Calibri"/>
              </a:rPr>
              <a:t>CALL ME BACK</a:t>
            </a:r>
          </a:p>
        </p:txBody>
      </p:sp>
      <p:sp>
        <p:nvSpPr>
          <p:cNvPr id="13" name="Ovale 12">
            <a:extLst>
              <a:ext uri="{FF2B5EF4-FFF2-40B4-BE49-F238E27FC236}">
                <a16:creationId xmlns:a16="http://schemas.microsoft.com/office/drawing/2014/main" id="{95DA1FAB-7264-044A-FBC2-7ABA891EE23F}"/>
              </a:ext>
            </a:extLst>
          </p:cNvPr>
          <p:cNvSpPr/>
          <p:nvPr/>
        </p:nvSpPr>
        <p:spPr>
          <a:xfrm>
            <a:off x="774412" y="3173209"/>
            <a:ext cx="228604" cy="228604"/>
          </a:xfrm>
          <a:prstGeom prst="ellipse">
            <a:avLst/>
          </a:prstGeom>
          <a:solidFill>
            <a:srgbClr val="FFE28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sp>
        <p:nvSpPr>
          <p:cNvPr id="16" name="Ovale 15">
            <a:extLst>
              <a:ext uri="{FF2B5EF4-FFF2-40B4-BE49-F238E27FC236}">
                <a16:creationId xmlns:a16="http://schemas.microsoft.com/office/drawing/2014/main" id="{19B3130A-74FF-1D13-201B-831CA297B777}"/>
              </a:ext>
            </a:extLst>
          </p:cNvPr>
          <p:cNvSpPr/>
          <p:nvPr/>
        </p:nvSpPr>
        <p:spPr>
          <a:xfrm>
            <a:off x="774783" y="3517631"/>
            <a:ext cx="228978" cy="228978"/>
          </a:xfrm>
          <a:prstGeom prst="ellipse">
            <a:avLst/>
          </a:prstGeom>
          <a:solidFill>
            <a:srgbClr val="FFC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sp>
        <p:nvSpPr>
          <p:cNvPr id="47" name="Ovale 46">
            <a:extLst>
              <a:ext uri="{FF2B5EF4-FFF2-40B4-BE49-F238E27FC236}">
                <a16:creationId xmlns:a16="http://schemas.microsoft.com/office/drawing/2014/main" id="{8B246A04-D41C-F995-7D93-6E2CE3A02AF6}"/>
              </a:ext>
            </a:extLst>
          </p:cNvPr>
          <p:cNvSpPr/>
          <p:nvPr/>
        </p:nvSpPr>
        <p:spPr>
          <a:xfrm>
            <a:off x="774783" y="3851737"/>
            <a:ext cx="228978" cy="228978"/>
          </a:xfrm>
          <a:prstGeom prst="ellipse">
            <a:avLst/>
          </a:prstGeom>
          <a:solidFill>
            <a:srgbClr val="E76C6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sp>
        <p:nvSpPr>
          <p:cNvPr id="55" name="Ovale 54">
            <a:extLst>
              <a:ext uri="{FF2B5EF4-FFF2-40B4-BE49-F238E27FC236}">
                <a16:creationId xmlns:a16="http://schemas.microsoft.com/office/drawing/2014/main" id="{D1BBFEC2-12E8-1D33-ECBC-962F187F024E}"/>
              </a:ext>
            </a:extLst>
          </p:cNvPr>
          <p:cNvSpPr/>
          <p:nvPr/>
        </p:nvSpPr>
        <p:spPr>
          <a:xfrm>
            <a:off x="774783" y="4181523"/>
            <a:ext cx="228978" cy="228978"/>
          </a:xfrm>
          <a:prstGeom prst="ellipse">
            <a:avLst/>
          </a:prstGeom>
          <a:solidFill>
            <a:srgbClr val="E76C6C"/>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endParaRPr lang="it-IT" sz="1633">
              <a:solidFill>
                <a:srgbClr val="FFFFFF"/>
              </a:solidFill>
              <a:latin typeface="Calibri"/>
            </a:endParaRPr>
          </a:p>
        </p:txBody>
      </p:sp>
      <p:sp>
        <p:nvSpPr>
          <p:cNvPr id="63" name="Ovale 71">
            <a:extLst>
              <a:ext uri="{FF2B5EF4-FFF2-40B4-BE49-F238E27FC236}">
                <a16:creationId xmlns:a16="http://schemas.microsoft.com/office/drawing/2014/main" id="{5DF6479C-3FA0-0AA3-6CDC-1BFFF92F1158}"/>
              </a:ext>
            </a:extLst>
          </p:cNvPr>
          <p:cNvSpPr/>
          <p:nvPr/>
        </p:nvSpPr>
        <p:spPr>
          <a:xfrm>
            <a:off x="2418985" y="6532460"/>
            <a:ext cx="219574" cy="215250"/>
          </a:xfrm>
          <a:prstGeom prst="ellipse">
            <a:avLst/>
          </a:prstGeom>
          <a:solidFill>
            <a:srgbClr val="E76C6C"/>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4">
              <a:defRPr/>
            </a:pPr>
            <a:endParaRPr lang="it-IT" sz="1270">
              <a:solidFill>
                <a:srgbClr val="DCDCDC">
                  <a:lumMod val="10000"/>
                </a:srgbClr>
              </a:solidFill>
              <a:latin typeface="Calibri"/>
            </a:endParaRPr>
          </a:p>
        </p:txBody>
      </p:sp>
      <p:sp>
        <p:nvSpPr>
          <p:cNvPr id="1024" name="Rettangolo 1023">
            <a:extLst>
              <a:ext uri="{FF2B5EF4-FFF2-40B4-BE49-F238E27FC236}">
                <a16:creationId xmlns:a16="http://schemas.microsoft.com/office/drawing/2014/main" id="{A491E8D2-5B79-3690-E571-A6EBDF97C77F}"/>
              </a:ext>
            </a:extLst>
          </p:cNvPr>
          <p:cNvSpPr/>
          <p:nvPr/>
        </p:nvSpPr>
        <p:spPr>
          <a:xfrm>
            <a:off x="2690451" y="6566898"/>
            <a:ext cx="771119" cy="1470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defTabSz="414772">
              <a:defRPr/>
            </a:pPr>
            <a:r>
              <a:rPr lang="it-IT" sz="907" i="1">
                <a:solidFill>
                  <a:srgbClr val="FFFFFF"/>
                </a:solidFill>
                <a:latin typeface="Calibri"/>
              </a:rPr>
              <a:t>Lead Caldissimo</a:t>
            </a:r>
            <a:endParaRPr lang="it-IT" sz="726" i="1">
              <a:solidFill>
                <a:srgbClr val="FFFFFF"/>
              </a:solidFill>
              <a:latin typeface="Calibri"/>
            </a:endParaRPr>
          </a:p>
        </p:txBody>
      </p:sp>
      <p:sp>
        <p:nvSpPr>
          <p:cNvPr id="1026" name="Rettangolo 1025">
            <a:extLst>
              <a:ext uri="{FF2B5EF4-FFF2-40B4-BE49-F238E27FC236}">
                <a16:creationId xmlns:a16="http://schemas.microsoft.com/office/drawing/2014/main" id="{4E85D336-E8CB-2138-ED02-021D55B541AF}"/>
              </a:ext>
            </a:extLst>
          </p:cNvPr>
          <p:cNvSpPr/>
          <p:nvPr/>
        </p:nvSpPr>
        <p:spPr>
          <a:xfrm>
            <a:off x="1678424" y="6566898"/>
            <a:ext cx="648620" cy="1470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defTabSz="414772">
              <a:defRPr/>
            </a:pPr>
            <a:r>
              <a:rPr lang="it-IT" sz="907" i="1">
                <a:solidFill>
                  <a:srgbClr val="FFFFFF"/>
                </a:solidFill>
                <a:latin typeface="Calibri"/>
              </a:rPr>
              <a:t>Lead Caldo</a:t>
            </a:r>
            <a:endParaRPr lang="it-IT" sz="726" i="1">
              <a:solidFill>
                <a:srgbClr val="FFFFFF"/>
              </a:solidFill>
              <a:latin typeface="Calibri"/>
            </a:endParaRPr>
          </a:p>
        </p:txBody>
      </p:sp>
      <p:sp>
        <p:nvSpPr>
          <p:cNvPr id="1027" name="Ovale 67">
            <a:extLst>
              <a:ext uri="{FF2B5EF4-FFF2-40B4-BE49-F238E27FC236}">
                <a16:creationId xmlns:a16="http://schemas.microsoft.com/office/drawing/2014/main" id="{13D3A994-1CAC-9255-2F0A-D60C52EAB611}"/>
              </a:ext>
            </a:extLst>
          </p:cNvPr>
          <p:cNvSpPr/>
          <p:nvPr/>
        </p:nvSpPr>
        <p:spPr>
          <a:xfrm>
            <a:off x="1376143" y="6532783"/>
            <a:ext cx="219213" cy="214927"/>
          </a:xfrm>
          <a:prstGeom prst="ellipse">
            <a:avLst/>
          </a:prstGeom>
          <a:solidFill>
            <a:srgbClr val="FFC000"/>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4">
              <a:defRPr/>
            </a:pPr>
            <a:endParaRPr lang="it-IT" sz="1270">
              <a:solidFill>
                <a:srgbClr val="DCDCDC">
                  <a:lumMod val="10000"/>
                </a:srgbClr>
              </a:solidFill>
              <a:latin typeface="Calibri"/>
            </a:endParaRPr>
          </a:p>
        </p:txBody>
      </p:sp>
      <p:sp>
        <p:nvSpPr>
          <p:cNvPr id="1031" name="Rettangolo 1030">
            <a:extLst>
              <a:ext uri="{FF2B5EF4-FFF2-40B4-BE49-F238E27FC236}">
                <a16:creationId xmlns:a16="http://schemas.microsoft.com/office/drawing/2014/main" id="{DE6F945E-5FE1-4DF1-0A42-38E777777A8C}"/>
              </a:ext>
            </a:extLst>
          </p:cNvPr>
          <p:cNvSpPr/>
          <p:nvPr/>
        </p:nvSpPr>
        <p:spPr>
          <a:xfrm>
            <a:off x="635583" y="6566898"/>
            <a:ext cx="648620" cy="1470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defTabSz="829544">
              <a:defRPr/>
            </a:pPr>
            <a:r>
              <a:rPr lang="it-IT" sz="907" i="1">
                <a:solidFill>
                  <a:srgbClr val="FFFFFF"/>
                </a:solidFill>
                <a:latin typeface="Calibri"/>
              </a:rPr>
              <a:t>Lead Tiepido</a:t>
            </a:r>
            <a:endParaRPr lang="it-IT" sz="726" i="1">
              <a:solidFill>
                <a:srgbClr val="FFFFFF"/>
              </a:solidFill>
              <a:latin typeface="Calibri"/>
            </a:endParaRPr>
          </a:p>
        </p:txBody>
      </p:sp>
      <p:sp>
        <p:nvSpPr>
          <p:cNvPr id="1034" name="Ovale 77">
            <a:extLst>
              <a:ext uri="{FF2B5EF4-FFF2-40B4-BE49-F238E27FC236}">
                <a16:creationId xmlns:a16="http://schemas.microsoft.com/office/drawing/2014/main" id="{634C3821-3959-B709-4CD5-068707D3DBC8}"/>
              </a:ext>
            </a:extLst>
          </p:cNvPr>
          <p:cNvSpPr/>
          <p:nvPr/>
        </p:nvSpPr>
        <p:spPr>
          <a:xfrm>
            <a:off x="333301" y="6532783"/>
            <a:ext cx="219213" cy="214927"/>
          </a:xfrm>
          <a:prstGeom prst="ellipse">
            <a:avLst/>
          </a:prstGeom>
          <a:solidFill>
            <a:srgbClr val="FFE28A"/>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29544">
              <a:defRPr/>
            </a:pPr>
            <a:endParaRPr lang="it-IT" sz="1270">
              <a:solidFill>
                <a:srgbClr val="DCDCDC">
                  <a:lumMod val="10000"/>
                </a:srgbClr>
              </a:solidFill>
              <a:latin typeface="Calibri"/>
            </a:endParaRPr>
          </a:p>
        </p:txBody>
      </p:sp>
      <p:sp>
        <p:nvSpPr>
          <p:cNvPr id="42" name="Fumetto: rettangolo con angoli arrotondati 41">
            <a:extLst>
              <a:ext uri="{FF2B5EF4-FFF2-40B4-BE49-F238E27FC236}">
                <a16:creationId xmlns:a16="http://schemas.microsoft.com/office/drawing/2014/main" id="{A066E1D2-CD2A-C7FC-6A2D-A921C471C5EE}"/>
              </a:ext>
            </a:extLst>
          </p:cNvPr>
          <p:cNvSpPr/>
          <p:nvPr/>
        </p:nvSpPr>
        <p:spPr>
          <a:xfrm>
            <a:off x="453259" y="4601822"/>
            <a:ext cx="3391703" cy="494597"/>
          </a:xfrm>
          <a:prstGeom prst="wedgeRoundRectCallout">
            <a:avLst>
              <a:gd name="adj1" fmla="val -20514"/>
              <a:gd name="adj2" fmla="val -76292"/>
              <a:gd name="adj3" fmla="val 16667"/>
            </a:avLst>
          </a:prstGeom>
          <a:solidFill>
            <a:srgbClr val="FFF6D9"/>
          </a:solidFill>
          <a:ln w="952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29544">
              <a:defRPr/>
            </a:pPr>
            <a:r>
              <a:rPr lang="it-IT" sz="1270" i="1" u="sng">
                <a:solidFill>
                  <a:srgbClr val="0F3250"/>
                </a:solidFill>
                <a:latin typeface="Calibri"/>
              </a:rPr>
              <a:t>In corso revisione logiche di prioritizzazione dei lead secondo "calore" su progettualità dedicata</a:t>
            </a:r>
          </a:p>
        </p:txBody>
      </p:sp>
      <p:sp>
        <p:nvSpPr>
          <p:cNvPr id="19" name="Rettangolo 18">
            <a:extLst>
              <a:ext uri="{FF2B5EF4-FFF2-40B4-BE49-F238E27FC236}">
                <a16:creationId xmlns:a16="http://schemas.microsoft.com/office/drawing/2014/main" id="{23587942-D7C7-ACD8-FDE2-4A1829158046}"/>
              </a:ext>
            </a:extLst>
          </p:cNvPr>
          <p:cNvSpPr/>
          <p:nvPr/>
        </p:nvSpPr>
        <p:spPr>
          <a:xfrm>
            <a:off x="2811099" y="5296062"/>
            <a:ext cx="980718" cy="528522"/>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2">
              <a:defRPr/>
            </a:pPr>
            <a:r>
              <a:rPr lang="it-IT" sz="1089" i="1">
                <a:solidFill>
                  <a:srgbClr val="0F3250"/>
                </a:solidFill>
                <a:latin typeface="Calibri"/>
              </a:rPr>
              <a:t>Eventuali altri preventivatori online (TBD)</a:t>
            </a:r>
          </a:p>
        </p:txBody>
      </p:sp>
      <p:grpSp>
        <p:nvGrpSpPr>
          <p:cNvPr id="1052" name="Gruppo 1051">
            <a:extLst>
              <a:ext uri="{FF2B5EF4-FFF2-40B4-BE49-F238E27FC236}">
                <a16:creationId xmlns:a16="http://schemas.microsoft.com/office/drawing/2014/main" id="{0F2B9B80-061B-AFF1-3C7B-D48C6483926B}"/>
              </a:ext>
            </a:extLst>
          </p:cNvPr>
          <p:cNvGrpSpPr/>
          <p:nvPr/>
        </p:nvGrpSpPr>
        <p:grpSpPr>
          <a:xfrm>
            <a:off x="494710" y="5296291"/>
            <a:ext cx="980886" cy="528065"/>
            <a:chOff x="545340" y="5838233"/>
            <a:chExt cx="1081274" cy="582109"/>
          </a:xfrm>
        </p:grpSpPr>
        <p:sp>
          <p:nvSpPr>
            <p:cNvPr id="1045" name="Rettangolo 1044">
              <a:extLst>
                <a:ext uri="{FF2B5EF4-FFF2-40B4-BE49-F238E27FC236}">
                  <a16:creationId xmlns:a16="http://schemas.microsoft.com/office/drawing/2014/main" id="{FF17B53E-C5AC-3DCB-3D73-569D80320D4A}"/>
                </a:ext>
              </a:extLst>
            </p:cNvPr>
            <p:cNvSpPr/>
            <p:nvPr/>
          </p:nvSpPr>
          <p:spPr>
            <a:xfrm>
              <a:off x="545340" y="5838233"/>
              <a:ext cx="1081274" cy="582109"/>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2658" tIns="0" rIns="32658" bIns="0" rtlCol="0" anchor="ctr"/>
            <a:lstStyle/>
            <a:p>
              <a:pPr defTabSz="414772">
                <a:defRPr/>
              </a:pPr>
              <a:endParaRPr lang="it-IT" sz="1270" b="1">
                <a:solidFill>
                  <a:srgbClr val="0F3250"/>
                </a:solidFill>
                <a:latin typeface="Calibri"/>
              </a:endParaRPr>
            </a:p>
          </p:txBody>
        </p:sp>
        <p:pic>
          <p:nvPicPr>
            <p:cNvPr id="1047" name="Picture 2" descr="logo-unisalute - Pluriass Scuola">
              <a:extLst>
                <a:ext uri="{FF2B5EF4-FFF2-40B4-BE49-F238E27FC236}">
                  <a16:creationId xmlns:a16="http://schemas.microsoft.com/office/drawing/2014/main" id="{BEF8B1B8-4B19-AA19-58E9-16422D4472DD}"/>
                </a:ext>
              </a:extLst>
            </p:cNvPr>
            <p:cNvPicPr>
              <a:picLocks noChangeAspect="1" noChangeArrowheads="1"/>
            </p:cNvPicPr>
            <p:nvPr/>
          </p:nvPicPr>
          <p:blipFill rotWithShape="1">
            <a:blip r:embed="rId16">
              <a:extLst>
                <a:ext uri="{BEBA8EAE-BF5A-486C-A8C5-ECC9F3942E4B}">
                  <a14:imgProps xmlns:a14="http://schemas.microsoft.com/office/drawing/2010/main">
                    <a14:imgLayer r:embed="rId17">
                      <a14:imgEffect>
                        <a14:backgroundRemoval t="10000" b="90000" l="10000" r="90000"/>
                      </a14:imgEffect>
                    </a14:imgLayer>
                  </a14:imgProps>
                </a:ext>
                <a:ext uri="{28A0092B-C50C-407E-A947-70E740481C1C}">
                  <a14:useLocalDpi xmlns:a14="http://schemas.microsoft.com/office/drawing/2010/main" val="0"/>
                </a:ext>
              </a:extLst>
            </a:blip>
            <a:srcRect l="7015" t="21122" r="11654" b="21168"/>
            <a:stretch>
              <a:fillRect/>
            </a:stretch>
          </p:blipFill>
          <p:spPr bwMode="auto">
            <a:xfrm>
              <a:off x="646593" y="5900057"/>
              <a:ext cx="878770" cy="466797"/>
            </a:xfrm>
            <a:prstGeom prst="rect">
              <a:avLst/>
            </a:prstGeom>
            <a:noFill/>
            <a:extLst>
              <a:ext uri="{909E8E84-426E-40DD-AFC4-6F175D3DCCD1}">
                <a14:hiddenFill xmlns:a14="http://schemas.microsoft.com/office/drawing/2010/main">
                  <a:solidFill>
                    <a:srgbClr val="FFFFFF"/>
                  </a:solidFill>
                </a14:hiddenFill>
              </a:ext>
            </a:extLst>
          </p:spPr>
        </p:pic>
      </p:grpSp>
      <p:sp>
        <p:nvSpPr>
          <p:cNvPr id="1049" name="Rettangolo 1048">
            <a:extLst>
              <a:ext uri="{FF2B5EF4-FFF2-40B4-BE49-F238E27FC236}">
                <a16:creationId xmlns:a16="http://schemas.microsoft.com/office/drawing/2014/main" id="{39B39BB8-6D41-B69F-8645-A4A20DC5F917}"/>
              </a:ext>
            </a:extLst>
          </p:cNvPr>
          <p:cNvSpPr/>
          <p:nvPr/>
        </p:nvSpPr>
        <p:spPr>
          <a:xfrm>
            <a:off x="1652905" y="5296341"/>
            <a:ext cx="980886" cy="527962"/>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65315" rIns="0" bIns="0" rtlCol="0" anchor="ctr"/>
          <a:lstStyle/>
          <a:p>
            <a:pPr algn="ctr" defTabSz="414772">
              <a:defRPr/>
            </a:pPr>
            <a:r>
              <a:rPr lang="it-IT" sz="1452" b="1" i="1">
                <a:solidFill>
                  <a:srgbClr val="0F3250"/>
                </a:solidFill>
                <a:latin typeface="Calibri"/>
              </a:rPr>
              <a:t>               </a:t>
            </a:r>
          </a:p>
          <a:p>
            <a:pPr algn="ctr" defTabSz="414772">
              <a:defRPr/>
            </a:pPr>
            <a:r>
              <a:rPr lang="it-IT" sz="1270" i="1">
                <a:solidFill>
                  <a:srgbClr val="0F3250"/>
                </a:solidFill>
                <a:latin typeface="Calibri"/>
              </a:rPr>
              <a:t>Previdenza</a:t>
            </a:r>
            <a:endParaRPr lang="it-IT" sz="1452" i="1">
              <a:solidFill>
                <a:srgbClr val="0F3250"/>
              </a:solidFill>
              <a:latin typeface="Calibri"/>
            </a:endParaRPr>
          </a:p>
        </p:txBody>
      </p:sp>
      <p:pic>
        <p:nvPicPr>
          <p:cNvPr id="1050" name="Picture 4" descr="I nostri Partners - Finanza e Previdenza">
            <a:extLst>
              <a:ext uri="{FF2B5EF4-FFF2-40B4-BE49-F238E27FC236}">
                <a16:creationId xmlns:a16="http://schemas.microsoft.com/office/drawing/2014/main" id="{B8D31799-280D-270B-A609-7BB4CDC04881}"/>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99355" y="5280353"/>
            <a:ext cx="887989" cy="422122"/>
          </a:xfrm>
          <a:prstGeom prst="rect">
            <a:avLst/>
          </a:prstGeom>
          <a:noFill/>
          <a:extLst>
            <a:ext uri="{909E8E84-426E-40DD-AFC4-6F175D3DCCD1}">
              <a14:hiddenFill xmlns:a14="http://schemas.microsoft.com/office/drawing/2010/main">
                <a:solidFill>
                  <a:srgbClr val="FFFFFF"/>
                </a:solidFill>
              </a14:hiddenFill>
            </a:ext>
          </a:extLst>
        </p:spPr>
      </p:pic>
      <p:sp>
        <p:nvSpPr>
          <p:cNvPr id="48" name="CasellaDiTesto 47">
            <a:extLst>
              <a:ext uri="{FF2B5EF4-FFF2-40B4-BE49-F238E27FC236}">
                <a16:creationId xmlns:a16="http://schemas.microsoft.com/office/drawing/2014/main" id="{033E81E7-4A65-EA53-C614-17E696ACEC50}"/>
              </a:ext>
            </a:extLst>
          </p:cNvPr>
          <p:cNvSpPr txBox="1"/>
          <p:nvPr/>
        </p:nvSpPr>
        <p:spPr>
          <a:xfrm>
            <a:off x="6284801" y="6446923"/>
            <a:ext cx="3475730" cy="399468"/>
          </a:xfrm>
          <a:prstGeom prst="rect">
            <a:avLst/>
          </a:prstGeom>
          <a:noFill/>
        </p:spPr>
        <p:txBody>
          <a:bodyPr wrap="square" rtlCol="0">
            <a:spAutoFit/>
          </a:bodyPr>
          <a:lstStyle/>
          <a:p>
            <a:pPr defTabSz="414772">
              <a:defRPr/>
            </a:pPr>
            <a:r>
              <a:rPr lang="it-IT" sz="998" i="1">
                <a:solidFill>
                  <a:srgbClr val="FFFFFF"/>
                </a:solidFill>
                <a:latin typeface="Calibri"/>
              </a:rPr>
              <a:t>Nota: 1) Include Clienti e Prospect Anagrafati, soggetti senza polizza attiva ma con anagrafica registrata da Compagnia</a:t>
            </a:r>
          </a:p>
        </p:txBody>
      </p:sp>
      <p:sp>
        <p:nvSpPr>
          <p:cNvPr id="12" name="Rettangolo 11">
            <a:extLst>
              <a:ext uri="{FF2B5EF4-FFF2-40B4-BE49-F238E27FC236}">
                <a16:creationId xmlns:a16="http://schemas.microsoft.com/office/drawing/2014/main" id="{8ADB9460-30F7-99CC-7306-0F0AA960ABBB}"/>
              </a:ext>
            </a:extLst>
          </p:cNvPr>
          <p:cNvSpPr/>
          <p:nvPr/>
        </p:nvSpPr>
        <p:spPr>
          <a:xfrm rot="1658532">
            <a:off x="9743075" y="568143"/>
            <a:ext cx="2381773" cy="373613"/>
          </a:xfrm>
          <a:prstGeom prst="rect">
            <a:avLst/>
          </a:prstGeom>
          <a:solidFill>
            <a:schemeClr val="bg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t>Da modello di Business</a:t>
            </a:r>
          </a:p>
        </p:txBody>
      </p:sp>
    </p:spTree>
    <p:extLst>
      <p:ext uri="{BB962C8B-B14F-4D97-AF65-F5344CB8AC3E}">
        <p14:creationId xmlns:p14="http://schemas.microsoft.com/office/powerpoint/2010/main" val="611303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CC17-9A72-37B2-32B9-1F68A9E9407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DF9AD46-1F81-A0B2-7662-1CD1BAF2BD69}"/>
              </a:ext>
            </a:extLst>
          </p:cNvPr>
          <p:cNvGraphicFramePr>
            <a:graphicFrameLocks noChangeAspect="1"/>
          </p:cNvGraphicFramePr>
          <p:nvPr>
            <p:custDataLst>
              <p:tags r:id="rId1"/>
            </p:custDataLst>
            <p:extLst>
              <p:ext uri="{D42A27DB-BD31-4B8C-83A1-F6EECF244321}">
                <p14:modId xmlns:p14="http://schemas.microsoft.com/office/powerpoint/2010/main" val="18032993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CDF9AD46-1F81-A0B2-7662-1CD1BAF2BD6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olo 1">
            <a:extLst>
              <a:ext uri="{FF2B5EF4-FFF2-40B4-BE49-F238E27FC236}">
                <a16:creationId xmlns:a16="http://schemas.microsoft.com/office/drawing/2014/main" id="{12E64362-0F68-E311-3578-19CD641E036B}"/>
              </a:ext>
            </a:extLst>
          </p:cNvPr>
          <p:cNvSpPr>
            <a:spLocks noGrp="1"/>
          </p:cNvSpPr>
          <p:nvPr>
            <p:ph type="title"/>
          </p:nvPr>
        </p:nvSpPr>
        <p:spPr>
          <a:xfrm>
            <a:off x="289560" y="54750"/>
            <a:ext cx="10302057" cy="471783"/>
          </a:xfrm>
        </p:spPr>
        <p:txBody>
          <a:bodyPr vert="horz" lIns="91440" tIns="45720" rIns="91440" bIns="45720" anchor="ctr">
            <a:noAutofit/>
          </a:bodyPr>
          <a:lstStyle/>
          <a:p>
            <a:r>
              <a:rPr lang="it-IT" sz="2000" dirty="0">
                <a:ea typeface="Calibri"/>
                <a:cs typeface="Calibri"/>
              </a:rPr>
              <a:t>Algoritmo assegnazione – Verifica se presente agenzia già associata al soggetto</a:t>
            </a:r>
            <a:endParaRPr lang="it-IT" sz="2000" dirty="0"/>
          </a:p>
        </p:txBody>
      </p:sp>
      <p:sp>
        <p:nvSpPr>
          <p:cNvPr id="5" name="Segnaposto numero diapositiva 4">
            <a:extLst>
              <a:ext uri="{FF2B5EF4-FFF2-40B4-BE49-F238E27FC236}">
                <a16:creationId xmlns:a16="http://schemas.microsoft.com/office/drawing/2014/main" id="{462255F4-4661-1A3F-2B9D-452FB4CBAC0C}"/>
              </a:ext>
            </a:extLst>
          </p:cNvPr>
          <p:cNvSpPr>
            <a:spLocks noGrp="1"/>
          </p:cNvSpPr>
          <p:nvPr>
            <p:ph type="sldNum" sz="quarter" idx="12"/>
          </p:nvPr>
        </p:nvSpPr>
        <p:spPr/>
        <p:txBody>
          <a:bodyPr/>
          <a:lstStyle/>
          <a:p>
            <a:fld id="{7998DEE5-5424-45CB-8336-3215AFBD0173}" type="slidenum">
              <a:rPr lang="it-IT" smtClean="0"/>
              <a:pPr/>
              <a:t>5</a:t>
            </a:fld>
            <a:endParaRPr lang="it-IT"/>
          </a:p>
        </p:txBody>
      </p:sp>
      <p:sp>
        <p:nvSpPr>
          <p:cNvPr id="7" name="Text 1">
            <a:extLst>
              <a:ext uri="{FF2B5EF4-FFF2-40B4-BE49-F238E27FC236}">
                <a16:creationId xmlns:a16="http://schemas.microsoft.com/office/drawing/2014/main" id="{FD0013DA-2335-4D01-96F1-1E7CD7800218}"/>
              </a:ext>
            </a:extLst>
          </p:cNvPr>
          <p:cNvSpPr/>
          <p:nvPr/>
        </p:nvSpPr>
        <p:spPr>
          <a:xfrm>
            <a:off x="154067" y="764861"/>
            <a:ext cx="11509856" cy="377904"/>
          </a:xfrm>
          <a:prstGeom prst="rect">
            <a:avLst/>
          </a:prstGeom>
          <a:noFill/>
          <a:ln/>
        </p:spPr>
        <p:txBody>
          <a:bodyPr wrap="square" lIns="0" tIns="0" rIns="0" bIns="0" rtlCol="0" anchor="t"/>
          <a:lstStyle/>
          <a:p>
            <a:pPr marL="0" indent="0" algn="ctr">
              <a:lnSpc>
                <a:spcPts val="1450"/>
              </a:lnSpc>
              <a:buNone/>
            </a:pPr>
            <a:r>
              <a:rPr lang="en-US" sz="1200" dirty="0">
                <a:solidFill>
                  <a:srgbClr val="0C3252"/>
                </a:solidFill>
                <a:ea typeface="Nunito Sans" pitchFamily="34" charset="-122"/>
                <a:cs typeface="Nunito Sans" pitchFamily="34" charset="-120"/>
              </a:rPr>
              <a:t>Il primo passaggio </a:t>
            </a:r>
            <a:r>
              <a:rPr lang="en-US" sz="1200" dirty="0" err="1">
                <a:solidFill>
                  <a:srgbClr val="0C3252"/>
                </a:solidFill>
                <a:ea typeface="Nunito Sans" pitchFamily="34" charset="-122"/>
                <a:cs typeface="Nunito Sans" pitchFamily="34" charset="-120"/>
              </a:rPr>
              <a:t>dell’algoritmo</a:t>
            </a:r>
            <a:r>
              <a:rPr lang="en-US" sz="1200" dirty="0">
                <a:solidFill>
                  <a:srgbClr val="0C3252"/>
                </a:solidFill>
                <a:ea typeface="Nunito Sans" pitchFamily="34" charset="-122"/>
                <a:cs typeface="Nunito Sans" pitchFamily="34" charset="-120"/>
              </a:rPr>
              <a:t> di </a:t>
            </a:r>
            <a:r>
              <a:rPr lang="en-US" sz="1200" dirty="0" err="1">
                <a:solidFill>
                  <a:srgbClr val="0C3252"/>
                </a:solidFill>
                <a:ea typeface="Nunito Sans" pitchFamily="34" charset="-122"/>
                <a:cs typeface="Nunito Sans" pitchFamily="34" charset="-120"/>
              </a:rPr>
              <a:t>assegnazione</a:t>
            </a:r>
            <a:r>
              <a:rPr lang="en-US" sz="1200" dirty="0">
                <a:solidFill>
                  <a:srgbClr val="0C3252"/>
                </a:solidFill>
                <a:ea typeface="Nunito Sans" pitchFamily="34" charset="-122"/>
                <a:cs typeface="Nunito Sans" pitchFamily="34" charset="-120"/>
              </a:rPr>
              <a:t> è una </a:t>
            </a:r>
            <a:r>
              <a:rPr lang="en-US" sz="1200" dirty="0" err="1">
                <a:solidFill>
                  <a:srgbClr val="0C3252"/>
                </a:solidFill>
                <a:ea typeface="Nunito Sans" pitchFamily="34" charset="-122"/>
                <a:cs typeface="Nunito Sans" pitchFamily="34" charset="-120"/>
              </a:rPr>
              <a:t>verifica</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sul</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soggetto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che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sta</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effettuando</a:t>
            </a:r>
            <a:r>
              <a:rPr lang="en-US" sz="1200" dirty="0">
                <a:solidFill>
                  <a:srgbClr val="0C3252"/>
                </a:solidFill>
                <a:ea typeface="Nunito Sans" pitchFamily="34" charset="-122"/>
                <a:cs typeface="Nunito Sans" pitchFamily="34" charset="-120"/>
              </a:rPr>
              <a:t> la </a:t>
            </a:r>
            <a:r>
              <a:rPr lang="en-US" sz="1200" dirty="0" err="1">
                <a:solidFill>
                  <a:srgbClr val="0C3252"/>
                </a:solidFill>
                <a:ea typeface="Nunito Sans" pitchFamily="34" charset="-122"/>
                <a:cs typeface="Nunito Sans" pitchFamily="34" charset="-120"/>
              </a:rPr>
              <a:t>quotazione</a:t>
            </a:r>
            <a:r>
              <a:rPr lang="en-US" sz="1200" dirty="0">
                <a:solidFill>
                  <a:srgbClr val="0C3252"/>
                </a:solidFill>
                <a:ea typeface="Nunito Sans" pitchFamily="34" charset="-122"/>
                <a:cs typeface="Nunito Sans" pitchFamily="34" charset="-120"/>
              </a:rPr>
              <a:t> e </a:t>
            </a:r>
            <a:r>
              <a:rPr lang="en-US" sz="1200" dirty="0" err="1">
                <a:solidFill>
                  <a:srgbClr val="0C3252"/>
                </a:solidFill>
                <a:ea typeface="Nunito Sans" pitchFamily="34" charset="-122"/>
                <a:cs typeface="Nunito Sans" pitchFamily="34" charset="-120"/>
              </a:rPr>
              <a:t>sulle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eventuali</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polizze</a:t>
            </a:r>
            <a:r>
              <a:rPr lang="en-US" sz="1200" dirty="0">
                <a:solidFill>
                  <a:srgbClr val="0C3252"/>
                </a:solidFill>
                <a:ea typeface="Nunito Sans" pitchFamily="34" charset="-122"/>
                <a:cs typeface="Nunito Sans" pitchFamily="34" charset="-120"/>
              </a:rPr>
              <a:t> o preventive da </a:t>
            </a:r>
            <a:r>
              <a:rPr lang="en-US" sz="1200" dirty="0" err="1">
                <a:solidFill>
                  <a:srgbClr val="0C3252"/>
                </a:solidFill>
                <a:ea typeface="Nunito Sans" pitchFamily="34" charset="-122"/>
                <a:cs typeface="Nunito Sans" pitchFamily="34" charset="-120"/>
              </a:rPr>
              <a:t>esso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posseduti</a:t>
            </a:r>
            <a:r>
              <a:rPr lang="en-US" sz="1200" dirty="0">
                <a:solidFill>
                  <a:srgbClr val="0C3252"/>
                </a:solidFill>
                <a:ea typeface="Nunito Sans" pitchFamily="34" charset="-122"/>
                <a:cs typeface="Nunito Sans" pitchFamily="34" charset="-120"/>
              </a:rPr>
              <a:t>, al fine di </a:t>
            </a:r>
            <a:r>
              <a:rPr lang="en-US" sz="1200" dirty="0" err="1">
                <a:solidFill>
                  <a:srgbClr val="0C3252"/>
                </a:solidFill>
                <a:ea typeface="Nunito Sans" pitchFamily="34" charset="-122"/>
                <a:cs typeface="Nunito Sans" pitchFamily="34" charset="-120"/>
              </a:rPr>
              <a:t>verificare</a:t>
            </a:r>
            <a:r>
              <a:rPr lang="en-US" sz="1200" dirty="0">
                <a:solidFill>
                  <a:srgbClr val="0C3252"/>
                </a:solidFill>
                <a:ea typeface="Nunito Sans" pitchFamily="34" charset="-122"/>
                <a:cs typeface="Nunito Sans" pitchFamily="34" charset="-120"/>
              </a:rPr>
              <a:t> se le </a:t>
            </a:r>
            <a:r>
              <a:rPr lang="en-US" sz="1200" dirty="0" err="1">
                <a:solidFill>
                  <a:srgbClr val="0C3252"/>
                </a:solidFill>
                <a:ea typeface="Nunito Sans" pitchFamily="34" charset="-122"/>
                <a:cs typeface="Nunito Sans" pitchFamily="34" charset="-120"/>
              </a:rPr>
              <a:t>eventuali</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agenzie</a:t>
            </a:r>
            <a:r>
              <a:rPr lang="en-US" sz="1200" dirty="0">
                <a:solidFill>
                  <a:srgbClr val="0C3252"/>
                </a:solidFill>
                <a:ea typeface="Nunito Sans" pitchFamily="34" charset="-122"/>
                <a:cs typeface="Nunito Sans" pitchFamily="34" charset="-120"/>
              </a:rPr>
              <a:t> ad </a:t>
            </a:r>
            <a:r>
              <a:rPr lang="en-US" sz="1200" dirty="0" err="1">
                <a:solidFill>
                  <a:srgbClr val="0C3252"/>
                </a:solidFill>
                <a:ea typeface="Nunito Sans" pitchFamily="34" charset="-122"/>
                <a:cs typeface="Nunito Sans" pitchFamily="34" charset="-120"/>
              </a:rPr>
              <a:t>esso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associato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possono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gestire</a:t>
            </a:r>
            <a:r>
              <a:rPr lang="en-US" sz="1200" dirty="0">
                <a:solidFill>
                  <a:srgbClr val="0C3252"/>
                </a:solidFill>
                <a:ea typeface="Nunito Sans" pitchFamily="34" charset="-122"/>
                <a:cs typeface="Nunito Sans" pitchFamily="34" charset="-120"/>
              </a:rPr>
              <a:t> il </a:t>
            </a:r>
            <a:r>
              <a:rPr lang="en-US" sz="1200" dirty="0" err="1">
                <a:solidFill>
                  <a:srgbClr val="0C3252"/>
                </a:solidFill>
                <a:ea typeface="Nunito Sans" pitchFamily="34" charset="-122"/>
                <a:cs typeface="Nunito Sans" pitchFamily="34" charset="-120"/>
              </a:rPr>
              <a:t>soggetto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scelta</a:t>
            </a:r>
            <a:r>
              <a:rPr lang="en-US" sz="1200" dirty="0">
                <a:solidFill>
                  <a:srgbClr val="0C3252"/>
                </a:solidFill>
                <a:ea typeface="Nunito Sans" pitchFamily="34" charset="-122"/>
                <a:cs typeface="Nunito Sans" pitchFamily="34" charset="-120"/>
              </a:rPr>
              <a:t> da cui </a:t>
            </a:r>
            <a:r>
              <a:rPr lang="en-US" sz="1200" dirty="0" err="1">
                <a:solidFill>
                  <a:srgbClr val="0C3252"/>
                </a:solidFill>
                <a:ea typeface="Nunito Sans" pitchFamily="34" charset="-122"/>
                <a:cs typeface="Nunito Sans" pitchFamily="34" charset="-120"/>
              </a:rPr>
              <a:t>dipende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l’esecuzione</a:t>
            </a:r>
            <a:r>
              <a:rPr lang="en-US" sz="1200" dirty="0">
                <a:solidFill>
                  <a:srgbClr val="0C3252"/>
                </a:solidFill>
                <a:ea typeface="Nunito Sans" pitchFamily="34" charset="-122"/>
                <a:cs typeface="Nunito Sans" pitchFamily="34" charset="-120"/>
              </a:rPr>
              <a:t> o </a:t>
            </a:r>
            <a:r>
              <a:rPr lang="en-US" sz="1200" dirty="0" err="1">
                <a:solidFill>
                  <a:srgbClr val="0C3252"/>
                </a:solidFill>
                <a:ea typeface="Nunito Sans" pitchFamily="34" charset="-122"/>
                <a:cs typeface="Nunito Sans" pitchFamily="34" charset="-120"/>
              </a:rPr>
              <a:t>meno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dell’algoritmo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geografico</a:t>
            </a:r>
            <a:r>
              <a:rPr lang="en-US" sz="1200" dirty="0">
                <a:solidFill>
                  <a:srgbClr val="0C3252"/>
                </a:solidFill>
                <a:ea typeface="Nunito Sans" pitchFamily="34" charset="-122"/>
                <a:cs typeface="Nunito Sans" pitchFamily="34" charset="-120"/>
              </a:rPr>
              <a:t> (poi geo-</a:t>
            </a:r>
            <a:r>
              <a:rPr lang="en-US" sz="1200" dirty="0" err="1">
                <a:solidFill>
                  <a:srgbClr val="0C3252"/>
                </a:solidFill>
                <a:ea typeface="Nunito Sans" pitchFamily="34" charset="-122"/>
                <a:cs typeface="Nunito Sans" pitchFamily="34" charset="-120"/>
              </a:rPr>
              <a:t>meritocratico</a:t>
            </a:r>
            <a:r>
              <a:rPr lang="en-US" sz="1200" dirty="0">
                <a:solidFill>
                  <a:srgbClr val="0C3252"/>
                </a:solidFill>
                <a:ea typeface="Nunito Sans" pitchFamily="34" charset="-122"/>
                <a:cs typeface="Nunito Sans" pitchFamily="34" charset="-120"/>
              </a:rPr>
              <a:t>)</a:t>
            </a:r>
            <a:endParaRPr lang="en-US" sz="1200" dirty="0"/>
          </a:p>
        </p:txBody>
      </p:sp>
      <p:sp>
        <p:nvSpPr>
          <p:cNvPr id="17" name="Text 10">
            <a:extLst>
              <a:ext uri="{FF2B5EF4-FFF2-40B4-BE49-F238E27FC236}">
                <a16:creationId xmlns:a16="http://schemas.microsoft.com/office/drawing/2014/main" id="{9BF64976-1DCF-430A-B7C6-7D97D4B87485}"/>
              </a:ext>
            </a:extLst>
          </p:cNvPr>
          <p:cNvSpPr/>
          <p:nvPr/>
        </p:nvSpPr>
        <p:spPr>
          <a:xfrm>
            <a:off x="789105" y="5750666"/>
            <a:ext cx="11157813" cy="377904"/>
          </a:xfrm>
          <a:prstGeom prst="rect">
            <a:avLst/>
          </a:prstGeom>
          <a:noFill/>
          <a:ln>
            <a:noFill/>
          </a:ln>
        </p:spPr>
        <p:txBody>
          <a:bodyPr wrap="square" lIns="0" tIns="0" rIns="0" bIns="0" rtlCol="0" anchor="t"/>
          <a:lstStyle/>
          <a:p>
            <a:pPr marL="0" indent="0" algn="ctr">
              <a:lnSpc>
                <a:spcPts val="1450"/>
              </a:lnSpc>
              <a:buNone/>
            </a:pPr>
            <a:r>
              <a:rPr lang="en-US" sz="1200" dirty="0">
                <a:solidFill>
                  <a:srgbClr val="0C3252"/>
                </a:solidFill>
                <a:ea typeface="Nunito Sans" pitchFamily="34" charset="-122"/>
                <a:cs typeface="Nunito Sans" pitchFamily="34" charset="-120"/>
              </a:rPr>
              <a:t>TBD</a:t>
            </a:r>
            <a:endParaRPr lang="en-US" sz="1200" dirty="0"/>
          </a:p>
        </p:txBody>
      </p:sp>
      <p:pic>
        <p:nvPicPr>
          <p:cNvPr id="33" name="Immagine 32">
            <a:extLst>
              <a:ext uri="{FF2B5EF4-FFF2-40B4-BE49-F238E27FC236}">
                <a16:creationId xmlns:a16="http://schemas.microsoft.com/office/drawing/2014/main" id="{08F1E214-90C5-46A6-BF16-F19AAC14F52F}"/>
              </a:ext>
            </a:extLst>
          </p:cNvPr>
          <p:cNvPicPr>
            <a:picLocks noChangeAspect="1"/>
          </p:cNvPicPr>
          <p:nvPr/>
        </p:nvPicPr>
        <p:blipFill rotWithShape="1">
          <a:blip r:embed="rId6">
            <a:extLst>
              <a:ext uri="{28A0092B-C50C-407E-A947-70E740481C1C}">
                <a14:useLocalDpi xmlns:a14="http://schemas.microsoft.com/office/drawing/2010/main" val="0"/>
              </a:ext>
            </a:extLst>
          </a:blip>
          <a:srcRect l="4967" t="22908" r="4992" b="11203"/>
          <a:stretch/>
        </p:blipFill>
        <p:spPr>
          <a:xfrm>
            <a:off x="753893" y="1371600"/>
            <a:ext cx="10977665" cy="4518642"/>
          </a:xfrm>
          <a:prstGeom prst="rect">
            <a:avLst/>
          </a:prstGeom>
        </p:spPr>
      </p:pic>
    </p:spTree>
    <p:extLst>
      <p:ext uri="{BB962C8B-B14F-4D97-AF65-F5344CB8AC3E}">
        <p14:creationId xmlns:p14="http://schemas.microsoft.com/office/powerpoint/2010/main" val="1167641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CC17-9A72-37B2-32B9-1F68A9E9407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DBC8B19-B2B7-AFD2-EB66-7BA86277615F}"/>
              </a:ext>
            </a:extLst>
          </p:cNvPr>
          <p:cNvGraphicFramePr>
            <a:graphicFrameLocks noChangeAspect="1"/>
          </p:cNvGraphicFramePr>
          <p:nvPr>
            <p:custDataLst>
              <p:tags r:id="rId1"/>
            </p:custDataLst>
            <p:extLst>
              <p:ext uri="{D42A27DB-BD31-4B8C-83A1-F6EECF244321}">
                <p14:modId xmlns:p14="http://schemas.microsoft.com/office/powerpoint/2010/main" val="16885612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4DBC8B19-B2B7-AFD2-EB66-7BA8627761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Shape 4">
            <a:extLst>
              <a:ext uri="{FF2B5EF4-FFF2-40B4-BE49-F238E27FC236}">
                <a16:creationId xmlns:a16="http://schemas.microsoft.com/office/drawing/2014/main" id="{616CFA24-7229-4B80-B18E-99192F110B7E}"/>
              </a:ext>
            </a:extLst>
          </p:cNvPr>
          <p:cNvSpPr/>
          <p:nvPr/>
        </p:nvSpPr>
        <p:spPr>
          <a:xfrm>
            <a:off x="666427" y="5684013"/>
            <a:ext cx="11407994" cy="522035"/>
          </a:xfrm>
          <a:prstGeom prst="roundRect">
            <a:avLst>
              <a:gd name="adj" fmla="val 189"/>
            </a:avLst>
          </a:prstGeom>
          <a:solidFill>
            <a:schemeClr val="accent4">
              <a:lumMod val="40000"/>
              <a:lumOff val="60000"/>
            </a:schemeClr>
          </a:solidFill>
          <a:ln/>
        </p:spPr>
        <p:txBody>
          <a:bodyPr/>
          <a:lstStyle/>
          <a:p>
            <a:pPr algn="ctr"/>
            <a:endParaRPr lang="it-IT"/>
          </a:p>
        </p:txBody>
      </p:sp>
      <p:sp>
        <p:nvSpPr>
          <p:cNvPr id="2" name="Titolo 1">
            <a:extLst>
              <a:ext uri="{FF2B5EF4-FFF2-40B4-BE49-F238E27FC236}">
                <a16:creationId xmlns:a16="http://schemas.microsoft.com/office/drawing/2014/main" id="{12E64362-0F68-E311-3578-19CD641E036B}"/>
              </a:ext>
            </a:extLst>
          </p:cNvPr>
          <p:cNvSpPr>
            <a:spLocks noGrp="1"/>
          </p:cNvSpPr>
          <p:nvPr>
            <p:ph type="title"/>
          </p:nvPr>
        </p:nvSpPr>
        <p:spPr>
          <a:xfrm>
            <a:off x="268940" y="71942"/>
            <a:ext cx="10302057" cy="471783"/>
          </a:xfrm>
        </p:spPr>
        <p:txBody>
          <a:bodyPr vert="horz" lIns="91440" tIns="45720" rIns="91440" bIns="45720" anchor="ctr">
            <a:noAutofit/>
          </a:bodyPr>
          <a:lstStyle/>
          <a:p>
            <a:r>
              <a:rPr lang="it-IT" sz="2000" dirty="0">
                <a:ea typeface="Calibri"/>
                <a:cs typeface="Calibri"/>
              </a:rPr>
              <a:t>Algoritmo assegnazione - </a:t>
            </a:r>
            <a:r>
              <a:rPr lang="it-IT" sz="2000" dirty="0" err="1">
                <a:ea typeface="Calibri"/>
                <a:cs typeface="Calibri"/>
              </a:rPr>
              <a:t>Prospect</a:t>
            </a:r>
            <a:endParaRPr lang="it-IT" sz="2000" dirty="0"/>
          </a:p>
        </p:txBody>
      </p:sp>
      <p:sp>
        <p:nvSpPr>
          <p:cNvPr id="5" name="Segnaposto numero diapositiva 4">
            <a:extLst>
              <a:ext uri="{FF2B5EF4-FFF2-40B4-BE49-F238E27FC236}">
                <a16:creationId xmlns:a16="http://schemas.microsoft.com/office/drawing/2014/main" id="{462255F4-4661-1A3F-2B9D-452FB4CBAC0C}"/>
              </a:ext>
            </a:extLst>
          </p:cNvPr>
          <p:cNvSpPr>
            <a:spLocks noGrp="1"/>
          </p:cNvSpPr>
          <p:nvPr>
            <p:ph type="sldNum" sz="quarter" idx="12"/>
          </p:nvPr>
        </p:nvSpPr>
        <p:spPr/>
        <p:txBody>
          <a:bodyPr/>
          <a:lstStyle/>
          <a:p>
            <a:fld id="{7998DEE5-5424-45CB-8336-3215AFBD0173}" type="slidenum">
              <a:rPr lang="it-IT" smtClean="0"/>
              <a:pPr/>
              <a:t>6</a:t>
            </a:fld>
            <a:endParaRPr lang="it-IT"/>
          </a:p>
        </p:txBody>
      </p:sp>
      <p:sp>
        <p:nvSpPr>
          <p:cNvPr id="7" name="Text 1">
            <a:extLst>
              <a:ext uri="{FF2B5EF4-FFF2-40B4-BE49-F238E27FC236}">
                <a16:creationId xmlns:a16="http://schemas.microsoft.com/office/drawing/2014/main" id="{FD0013DA-2335-4D01-96F1-1E7CD7800218}"/>
              </a:ext>
            </a:extLst>
          </p:cNvPr>
          <p:cNvSpPr/>
          <p:nvPr/>
        </p:nvSpPr>
        <p:spPr>
          <a:xfrm>
            <a:off x="154067" y="764861"/>
            <a:ext cx="11509856" cy="377904"/>
          </a:xfrm>
          <a:prstGeom prst="rect">
            <a:avLst/>
          </a:prstGeom>
          <a:noFill/>
          <a:ln/>
        </p:spPr>
        <p:txBody>
          <a:bodyPr wrap="square" lIns="0" tIns="0" rIns="0" bIns="0" rtlCol="0" anchor="t"/>
          <a:lstStyle/>
          <a:p>
            <a:pPr marL="0" indent="0" algn="ctr">
              <a:lnSpc>
                <a:spcPts val="1450"/>
              </a:lnSpc>
              <a:buNone/>
            </a:pPr>
            <a:r>
              <a:rPr lang="en-US" sz="1200">
                <a:solidFill>
                  <a:srgbClr val="0C3252"/>
                </a:solidFill>
                <a:ea typeface="Nunito Sans" pitchFamily="34" charset="-122"/>
                <a:cs typeface="Nunito Sans" pitchFamily="34" charset="-120"/>
              </a:rPr>
              <a:t>Il motore di assegnazione segue una logica sequenziale precisa che combina prossimità geografica e disponibilità dei contatori. Di seguito il flusso operativo completo, dalla ricezione del prospect fino all'assegnazione definitiva al punto vendita.</a:t>
            </a:r>
            <a:endParaRPr lang="en-US" sz="1200"/>
          </a:p>
        </p:txBody>
      </p:sp>
      <p:grpSp>
        <p:nvGrpSpPr>
          <p:cNvPr id="27" name="Gruppo 26">
            <a:extLst>
              <a:ext uri="{FF2B5EF4-FFF2-40B4-BE49-F238E27FC236}">
                <a16:creationId xmlns:a16="http://schemas.microsoft.com/office/drawing/2014/main" id="{C3D9A947-0987-481C-930D-294A9F832573}"/>
              </a:ext>
            </a:extLst>
          </p:cNvPr>
          <p:cNvGrpSpPr/>
          <p:nvPr/>
        </p:nvGrpSpPr>
        <p:grpSpPr>
          <a:xfrm>
            <a:off x="268940" y="1375381"/>
            <a:ext cx="7333129" cy="4108371"/>
            <a:chOff x="2637753" y="1493968"/>
            <a:chExt cx="7333129" cy="4108371"/>
          </a:xfrm>
        </p:grpSpPr>
        <p:pic>
          <p:nvPicPr>
            <p:cNvPr id="8" name="Image 0" descr="preencoded.png">
              <a:extLst>
                <a:ext uri="{FF2B5EF4-FFF2-40B4-BE49-F238E27FC236}">
                  <a16:creationId xmlns:a16="http://schemas.microsoft.com/office/drawing/2014/main" id="{08A7E2F4-1F8F-4B7F-9254-FB27CD6EA4AA}"/>
                </a:ext>
              </a:extLst>
            </p:cNvPr>
            <p:cNvPicPr>
              <a:picLocks noChangeAspect="1"/>
            </p:cNvPicPr>
            <p:nvPr/>
          </p:nvPicPr>
          <p:blipFill rotWithShape="1">
            <a:blip r:embed="rId6"/>
            <a:srcRect l="7463" r="12218"/>
            <a:stretch/>
          </p:blipFill>
          <p:spPr>
            <a:xfrm>
              <a:off x="2637753" y="1493968"/>
              <a:ext cx="7333129" cy="4108371"/>
            </a:xfrm>
            <a:prstGeom prst="rect">
              <a:avLst/>
            </a:prstGeom>
          </p:spPr>
        </p:pic>
        <p:sp>
          <p:nvSpPr>
            <p:cNvPr id="9" name="Text 2">
              <a:extLst>
                <a:ext uri="{FF2B5EF4-FFF2-40B4-BE49-F238E27FC236}">
                  <a16:creationId xmlns:a16="http://schemas.microsoft.com/office/drawing/2014/main" id="{1FEC92B2-E9D2-4647-987C-2FC674531314}"/>
                </a:ext>
              </a:extLst>
            </p:cNvPr>
            <p:cNvSpPr/>
            <p:nvPr/>
          </p:nvSpPr>
          <p:spPr>
            <a:xfrm>
              <a:off x="3331772" y="1694229"/>
              <a:ext cx="1597700" cy="246897"/>
            </a:xfrm>
            <a:prstGeom prst="rect">
              <a:avLst/>
            </a:prstGeom>
            <a:noFill/>
            <a:ln/>
          </p:spPr>
          <p:txBody>
            <a:bodyPr wrap="none" lIns="0" tIns="0" rIns="0" bIns="0" rtlCol="0" anchor="t"/>
            <a:lstStyle/>
            <a:p>
              <a:pPr marL="0" indent="0" algn="ctr">
                <a:lnSpc>
                  <a:spcPts val="1900"/>
                </a:lnSpc>
                <a:buNone/>
              </a:pPr>
              <a:r>
                <a:rPr lang="en-US" sz="1550" b="1">
                  <a:solidFill>
                    <a:srgbClr val="0C3252"/>
                  </a:solidFill>
                  <a:ea typeface="Nunito Sans Bold" pitchFamily="34" charset="-122"/>
                  <a:cs typeface="Nunito Sans Bold" pitchFamily="34" charset="-120"/>
                </a:rPr>
                <a:t>Individuazione</a:t>
              </a:r>
              <a:endParaRPr lang="en-US" sz="1550"/>
            </a:p>
          </p:txBody>
        </p:sp>
        <p:sp>
          <p:nvSpPr>
            <p:cNvPr id="10" name="Text 3">
              <a:extLst>
                <a:ext uri="{FF2B5EF4-FFF2-40B4-BE49-F238E27FC236}">
                  <a16:creationId xmlns:a16="http://schemas.microsoft.com/office/drawing/2014/main" id="{F096BF31-E824-43D6-B713-1C02420DD68C}"/>
                </a:ext>
              </a:extLst>
            </p:cNvPr>
            <p:cNvSpPr/>
            <p:nvPr/>
          </p:nvSpPr>
          <p:spPr>
            <a:xfrm>
              <a:off x="3331772" y="2011355"/>
              <a:ext cx="1597700" cy="335780"/>
            </a:xfrm>
            <a:prstGeom prst="rect">
              <a:avLst/>
            </a:prstGeom>
            <a:noFill/>
            <a:ln/>
          </p:spPr>
          <p:txBody>
            <a:bodyPr wrap="square" lIns="0" tIns="0" rIns="0" bIns="0" rtlCol="0" anchor="t"/>
            <a:lstStyle/>
            <a:p>
              <a:pPr marL="0" indent="0" algn="ctr">
                <a:lnSpc>
                  <a:spcPts val="1300"/>
                </a:lnSpc>
                <a:buNone/>
              </a:pPr>
              <a:r>
                <a:rPr lang="en-US" sz="1200">
                  <a:solidFill>
                    <a:srgbClr val="0C3252"/>
                  </a:solidFill>
                  <a:ea typeface="Nunito Sans" pitchFamily="34" charset="-122"/>
                  <a:cs typeface="Nunito Sans" pitchFamily="34" charset="-120"/>
                </a:rPr>
                <a:t>Rilevare l'indirizzo del prospect</a:t>
              </a:r>
              <a:endParaRPr lang="en-US" sz="1200"/>
            </a:p>
          </p:txBody>
        </p:sp>
        <p:sp>
          <p:nvSpPr>
            <p:cNvPr id="11" name="Text 4">
              <a:extLst>
                <a:ext uri="{FF2B5EF4-FFF2-40B4-BE49-F238E27FC236}">
                  <a16:creationId xmlns:a16="http://schemas.microsoft.com/office/drawing/2014/main" id="{53B12B3C-0B0D-4697-B739-44383817C887}"/>
                </a:ext>
              </a:extLst>
            </p:cNvPr>
            <p:cNvSpPr/>
            <p:nvPr/>
          </p:nvSpPr>
          <p:spPr>
            <a:xfrm>
              <a:off x="4911914" y="4775507"/>
              <a:ext cx="1606479" cy="246897"/>
            </a:xfrm>
            <a:prstGeom prst="rect">
              <a:avLst/>
            </a:prstGeom>
            <a:noFill/>
            <a:ln/>
          </p:spPr>
          <p:txBody>
            <a:bodyPr wrap="none" lIns="0" tIns="0" rIns="0" bIns="0" rtlCol="0" anchor="t"/>
            <a:lstStyle/>
            <a:p>
              <a:pPr marL="0" indent="0" algn="ctr">
                <a:lnSpc>
                  <a:spcPts val="1900"/>
                </a:lnSpc>
                <a:buNone/>
              </a:pPr>
              <a:r>
                <a:rPr lang="en-US" sz="1550" b="1">
                  <a:solidFill>
                    <a:srgbClr val="0C3252"/>
                  </a:solidFill>
                  <a:ea typeface="Nunito Sans Bold" pitchFamily="34" charset="-122"/>
                  <a:cs typeface="Nunito Sans Bold" pitchFamily="34" charset="-120"/>
                </a:rPr>
                <a:t>Ricerca</a:t>
              </a:r>
              <a:endParaRPr lang="en-US" sz="1550"/>
            </a:p>
          </p:txBody>
        </p:sp>
        <p:sp>
          <p:nvSpPr>
            <p:cNvPr id="12" name="Text 5">
              <a:extLst>
                <a:ext uri="{FF2B5EF4-FFF2-40B4-BE49-F238E27FC236}">
                  <a16:creationId xmlns:a16="http://schemas.microsoft.com/office/drawing/2014/main" id="{7E6184F9-A9BA-427E-A682-FE8CA0DDA1E9}"/>
                </a:ext>
              </a:extLst>
            </p:cNvPr>
            <p:cNvSpPr/>
            <p:nvPr/>
          </p:nvSpPr>
          <p:spPr>
            <a:xfrm>
              <a:off x="4911914" y="5092633"/>
              <a:ext cx="1606479" cy="335780"/>
            </a:xfrm>
            <a:prstGeom prst="rect">
              <a:avLst/>
            </a:prstGeom>
            <a:noFill/>
            <a:ln/>
          </p:spPr>
          <p:txBody>
            <a:bodyPr wrap="square" lIns="0" tIns="0" rIns="0" bIns="0" rtlCol="0" anchor="t"/>
            <a:lstStyle/>
            <a:p>
              <a:pPr algn="ctr">
                <a:lnSpc>
                  <a:spcPts val="1300"/>
                </a:lnSpc>
              </a:pPr>
              <a:r>
                <a:rPr lang="en-US" sz="1200" err="1">
                  <a:solidFill>
                    <a:srgbClr val="0C3252"/>
                  </a:solidFill>
                  <a:ea typeface="Nunito Sans" pitchFamily="34" charset="-122"/>
                  <a:cs typeface="Nunito Sans" pitchFamily="34" charset="-120"/>
                </a:rPr>
                <a:t>Recuperare</a:t>
              </a:r>
              <a:r>
                <a:rPr lang="en-US" sz="1200">
                  <a:solidFill>
                    <a:srgbClr val="0C3252"/>
                  </a:solidFill>
                  <a:ea typeface="Nunito Sans" pitchFamily="34" charset="-122"/>
                  <a:cs typeface="Nunito Sans" pitchFamily="34" charset="-120"/>
                </a:rPr>
                <a:t> </a:t>
              </a:r>
              <a:r>
                <a:rPr lang="en-US" sz="1200" err="1">
                  <a:solidFill>
                    <a:srgbClr val="0C3252"/>
                  </a:solidFill>
                  <a:ea typeface="Nunito Sans" pitchFamily="34" charset="-122"/>
                  <a:cs typeface="Nunito Sans" pitchFamily="34" charset="-120"/>
                </a:rPr>
                <a:t>agenzie</a:t>
              </a:r>
              <a:r>
                <a:rPr lang="en-US" sz="1200">
                  <a:solidFill>
                    <a:srgbClr val="0C3252"/>
                  </a:solidFill>
                  <a:ea typeface="Nunito Sans" pitchFamily="34" charset="-122"/>
                  <a:cs typeface="Nunito Sans" pitchFamily="34" charset="-120"/>
                </a:rPr>
                <a:t> </a:t>
              </a:r>
              <a:r>
                <a:rPr lang="en-US" sz="1200" err="1">
                  <a:solidFill>
                    <a:srgbClr val="0C3252"/>
                  </a:solidFill>
                  <a:ea typeface="Nunito Sans" pitchFamily="34" charset="-122"/>
                  <a:cs typeface="Nunito Sans" pitchFamily="34" charset="-120"/>
                </a:rPr>
                <a:t>più</a:t>
              </a:r>
              <a:r>
                <a:rPr lang="en-US" sz="1200">
                  <a:solidFill>
                    <a:srgbClr val="0C3252"/>
                  </a:solidFill>
                  <a:ea typeface="Nunito Sans" pitchFamily="34" charset="-122"/>
                  <a:cs typeface="Nunito Sans" pitchFamily="34" charset="-120"/>
                </a:rPr>
                <a:t> vicine, non </a:t>
              </a:r>
              <a:r>
                <a:rPr lang="en-US" sz="1200" err="1">
                  <a:solidFill>
                    <a:srgbClr val="0C3252"/>
                  </a:solidFill>
                  <a:ea typeface="Nunito Sans" pitchFamily="34" charset="-122"/>
                  <a:cs typeface="Nunito Sans" pitchFamily="34" charset="-120"/>
                </a:rPr>
                <a:t>limitate</a:t>
              </a:r>
              <a:r>
                <a:rPr lang="en-US" sz="1200">
                  <a:solidFill>
                    <a:srgbClr val="0C3252"/>
                  </a:solidFill>
                  <a:ea typeface="Nunito Sans" pitchFamily="34" charset="-122"/>
                  <a:cs typeface="Nunito Sans" pitchFamily="34" charset="-120"/>
                </a:rPr>
                <a:t> al CAP</a:t>
              </a:r>
              <a:endParaRPr lang="en-US" sz="1200"/>
            </a:p>
          </p:txBody>
        </p:sp>
        <p:sp>
          <p:nvSpPr>
            <p:cNvPr id="13" name="Text 6">
              <a:extLst>
                <a:ext uri="{FF2B5EF4-FFF2-40B4-BE49-F238E27FC236}">
                  <a16:creationId xmlns:a16="http://schemas.microsoft.com/office/drawing/2014/main" id="{82A3A561-E850-476E-865C-21CE9622BF95}"/>
                </a:ext>
              </a:extLst>
            </p:cNvPr>
            <p:cNvSpPr/>
            <p:nvPr/>
          </p:nvSpPr>
          <p:spPr>
            <a:xfrm>
              <a:off x="6474499" y="1579559"/>
              <a:ext cx="1597700" cy="246897"/>
            </a:xfrm>
            <a:prstGeom prst="rect">
              <a:avLst/>
            </a:prstGeom>
            <a:noFill/>
            <a:ln/>
          </p:spPr>
          <p:txBody>
            <a:bodyPr wrap="none" lIns="0" tIns="0" rIns="0" bIns="0" rtlCol="0" anchor="t"/>
            <a:lstStyle/>
            <a:p>
              <a:pPr marL="0" indent="0" algn="ctr">
                <a:lnSpc>
                  <a:spcPts val="1900"/>
                </a:lnSpc>
                <a:buNone/>
              </a:pPr>
              <a:r>
                <a:rPr lang="en-US" sz="1550" b="1">
                  <a:solidFill>
                    <a:srgbClr val="0C3252"/>
                  </a:solidFill>
                  <a:ea typeface="Nunito Sans Bold" pitchFamily="34" charset="-122"/>
                  <a:cs typeface="Nunito Sans Bold" pitchFamily="34" charset="-120"/>
                </a:rPr>
                <a:t>Assegnazione</a:t>
              </a:r>
              <a:endParaRPr lang="en-US" sz="1550"/>
            </a:p>
          </p:txBody>
        </p:sp>
        <p:sp>
          <p:nvSpPr>
            <p:cNvPr id="14" name="Text 7">
              <a:extLst>
                <a:ext uri="{FF2B5EF4-FFF2-40B4-BE49-F238E27FC236}">
                  <a16:creationId xmlns:a16="http://schemas.microsoft.com/office/drawing/2014/main" id="{5B759D2E-40B8-4708-8A83-0BF1EA2C2663}"/>
                </a:ext>
              </a:extLst>
            </p:cNvPr>
            <p:cNvSpPr/>
            <p:nvPr/>
          </p:nvSpPr>
          <p:spPr>
            <a:xfrm>
              <a:off x="6298855" y="1896685"/>
              <a:ext cx="1990314" cy="503671"/>
            </a:xfrm>
            <a:prstGeom prst="rect">
              <a:avLst/>
            </a:prstGeom>
            <a:noFill/>
            <a:ln/>
          </p:spPr>
          <p:txBody>
            <a:bodyPr wrap="square" lIns="0" tIns="0" rIns="0" bIns="0" rtlCol="0" anchor="t"/>
            <a:lstStyle/>
            <a:p>
              <a:pPr algn="ctr">
                <a:lnSpc>
                  <a:spcPts val="1300"/>
                </a:lnSpc>
              </a:pPr>
              <a:r>
                <a:rPr lang="en-US" sz="1200" dirty="0" err="1">
                  <a:solidFill>
                    <a:srgbClr val="0C3252"/>
                  </a:solidFill>
                  <a:ea typeface="Nunito Sans" pitchFamily="34" charset="-122"/>
                  <a:cs typeface="Nunito Sans" pitchFamily="34" charset="-120"/>
                </a:rPr>
                <a:t>Attribuire</a:t>
              </a:r>
              <a:r>
                <a:rPr lang="en-US" sz="1200" dirty="0">
                  <a:solidFill>
                    <a:srgbClr val="0C3252"/>
                  </a:solidFill>
                  <a:ea typeface="Nunito Sans" pitchFamily="34" charset="-122"/>
                  <a:cs typeface="Nunito Sans" pitchFamily="34" charset="-120"/>
                </a:rPr>
                <a:t> al punto </a:t>
              </a:r>
              <a:r>
                <a:rPr lang="en-US" sz="1200" dirty="0" err="1">
                  <a:solidFill>
                    <a:srgbClr val="0C3252"/>
                  </a:solidFill>
                  <a:ea typeface="Nunito Sans" pitchFamily="34" charset="-122"/>
                  <a:cs typeface="Nunito Sans" pitchFamily="34" charset="-120"/>
                </a:rPr>
                <a:t>vendita</a:t>
              </a:r>
              <a:r>
                <a:rPr lang="en-US" sz="1200" dirty="0">
                  <a:solidFill>
                    <a:srgbClr val="0C3252"/>
                  </a:solidFill>
                  <a:ea typeface="Nunito Sans" pitchFamily="34" charset="-122"/>
                  <a:cs typeface="Nunito Sans" pitchFamily="34" charset="-120"/>
                </a:rPr>
                <a:t> con </a:t>
              </a:r>
              <a:r>
                <a:rPr lang="en-US" sz="1200" dirty="0" err="1">
                  <a:solidFill>
                    <a:srgbClr val="0C3252"/>
                  </a:solidFill>
                  <a:ea typeface="Nunito Sans" pitchFamily="34" charset="-122"/>
                  <a:cs typeface="Nunito Sans" pitchFamily="34" charset="-120"/>
                </a:rPr>
                <a:t>contatore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capiente</a:t>
              </a:r>
              <a:r>
                <a:rPr lang="en-US" sz="1200" dirty="0">
                  <a:solidFill>
                    <a:srgbClr val="0C3252"/>
                  </a:solidFill>
                  <a:ea typeface="Nunito Sans" pitchFamily="34" charset="-122"/>
                  <a:cs typeface="Nunito Sans" pitchFamily="34" charset="-120"/>
                </a:rPr>
                <a:t> e </a:t>
              </a:r>
              <a:r>
                <a:rPr lang="en-US" sz="1200" dirty="0" err="1">
                  <a:solidFill>
                    <a:srgbClr val="0C3252"/>
                  </a:solidFill>
                  <a:ea typeface="Nunito Sans" pitchFamily="34" charset="-122"/>
                  <a:cs typeface="Nunito Sans" pitchFamily="34" charset="-120"/>
                </a:rPr>
                <a:t>che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vende</a:t>
              </a:r>
              <a:r>
                <a:rPr lang="en-US" sz="1200" dirty="0">
                  <a:solidFill>
                    <a:srgbClr val="0C3252"/>
                  </a:solidFill>
                  <a:ea typeface="Nunito Sans" pitchFamily="34" charset="-122"/>
                  <a:cs typeface="Nunito Sans" pitchFamily="34" charset="-120"/>
                </a:rPr>
                <a:t> il </a:t>
              </a:r>
              <a:r>
                <a:rPr lang="en-US" sz="1200" dirty="0" err="1">
                  <a:solidFill>
                    <a:srgbClr val="0C3252"/>
                  </a:solidFill>
                  <a:ea typeface="Nunito Sans" pitchFamily="34" charset="-122"/>
                  <a:cs typeface="Nunito Sans" pitchFamily="34" charset="-120"/>
                </a:rPr>
                <a:t>prodotto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quotato</a:t>
              </a:r>
              <a:endParaRPr lang="en-US" sz="1200" dirty="0"/>
            </a:p>
          </p:txBody>
        </p:sp>
        <p:sp>
          <p:nvSpPr>
            <p:cNvPr id="15" name="Text 8">
              <a:extLst>
                <a:ext uri="{FF2B5EF4-FFF2-40B4-BE49-F238E27FC236}">
                  <a16:creationId xmlns:a16="http://schemas.microsoft.com/office/drawing/2014/main" id="{0BED0D91-448E-423F-90A9-471D38579422}"/>
                </a:ext>
              </a:extLst>
            </p:cNvPr>
            <p:cNvSpPr/>
            <p:nvPr/>
          </p:nvSpPr>
          <p:spPr>
            <a:xfrm>
              <a:off x="8054642" y="4691562"/>
              <a:ext cx="1597700" cy="246897"/>
            </a:xfrm>
            <a:prstGeom prst="rect">
              <a:avLst/>
            </a:prstGeom>
            <a:noFill/>
            <a:ln/>
          </p:spPr>
          <p:txBody>
            <a:bodyPr wrap="none" lIns="0" tIns="0" rIns="0" bIns="0" rtlCol="0" anchor="t"/>
            <a:lstStyle/>
            <a:p>
              <a:pPr marL="0" indent="0" algn="ctr">
                <a:lnSpc>
                  <a:spcPts val="1900"/>
                </a:lnSpc>
                <a:buNone/>
              </a:pPr>
              <a:r>
                <a:rPr lang="en-US" sz="1550" b="1">
                  <a:solidFill>
                    <a:srgbClr val="0C3252"/>
                  </a:solidFill>
                  <a:ea typeface="Nunito Sans Bold" pitchFamily="34" charset="-122"/>
                  <a:cs typeface="Nunito Sans Bold" pitchFamily="34" charset="-120"/>
                </a:rPr>
                <a:t>Aggiornamento</a:t>
              </a:r>
              <a:endParaRPr lang="en-US" sz="1550"/>
            </a:p>
          </p:txBody>
        </p:sp>
        <p:sp>
          <p:nvSpPr>
            <p:cNvPr id="16" name="Text 9">
              <a:extLst>
                <a:ext uri="{FF2B5EF4-FFF2-40B4-BE49-F238E27FC236}">
                  <a16:creationId xmlns:a16="http://schemas.microsoft.com/office/drawing/2014/main" id="{1F0C566E-757C-4504-84AE-01DAFA7856D7}"/>
                </a:ext>
              </a:extLst>
            </p:cNvPr>
            <p:cNvSpPr/>
            <p:nvPr/>
          </p:nvSpPr>
          <p:spPr>
            <a:xfrm>
              <a:off x="8054642" y="5008688"/>
              <a:ext cx="1597700" cy="503670"/>
            </a:xfrm>
            <a:prstGeom prst="rect">
              <a:avLst/>
            </a:prstGeom>
            <a:noFill/>
            <a:ln/>
          </p:spPr>
          <p:txBody>
            <a:bodyPr wrap="square" lIns="0" tIns="0" rIns="0" bIns="0" rtlCol="0" anchor="t"/>
            <a:lstStyle/>
            <a:p>
              <a:pPr marL="0" indent="0" algn="ctr">
                <a:lnSpc>
                  <a:spcPts val="1300"/>
                </a:lnSpc>
                <a:buNone/>
              </a:pPr>
              <a:r>
                <a:rPr lang="en-US" sz="1200" dirty="0">
                  <a:solidFill>
                    <a:srgbClr val="0C3252"/>
                  </a:solidFill>
                  <a:ea typeface="Nunito Sans" pitchFamily="34" charset="-122"/>
                  <a:cs typeface="Nunito Sans" pitchFamily="34" charset="-120"/>
                </a:rPr>
                <a:t>Aggiornamento </a:t>
              </a:r>
              <a:r>
                <a:rPr lang="en-US" sz="1200" dirty="0" err="1">
                  <a:solidFill>
                    <a:srgbClr val="0C3252"/>
                  </a:solidFill>
                  <a:ea typeface="Nunito Sans" pitchFamily="34" charset="-122"/>
                  <a:cs typeface="Nunito Sans" pitchFamily="34" charset="-120"/>
                </a:rPr>
                <a:t>contatore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nel</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caso</a:t>
              </a:r>
              <a:r>
                <a:rPr lang="en-US" sz="1200" dirty="0">
                  <a:solidFill>
                    <a:srgbClr val="0C3252"/>
                  </a:solidFill>
                  <a:ea typeface="Nunito Sans" pitchFamily="34" charset="-122"/>
                  <a:cs typeface="Nunito Sans" pitchFamily="34" charset="-120"/>
                </a:rPr>
                <a:t> in cui il </a:t>
              </a:r>
              <a:r>
                <a:rPr lang="en-US" sz="1200" dirty="0" err="1">
                  <a:solidFill>
                    <a:srgbClr val="0C3252"/>
                  </a:solidFill>
                  <a:ea typeface="Nunito Sans" pitchFamily="34" charset="-122"/>
                  <a:cs typeface="Nunito Sans" pitchFamily="34" charset="-120"/>
                </a:rPr>
                <a:t>cliente</a:t>
              </a:r>
              <a:r>
                <a:rPr lang="en-US" sz="1200" dirty="0">
                  <a:solidFill>
                    <a:srgbClr val="0C3252"/>
                  </a:solidFill>
                  <a:ea typeface="Nunito Sans" pitchFamily="34" charset="-122"/>
                  <a:cs typeface="Nunito Sans" pitchFamily="34" charset="-120"/>
                </a:rPr>
                <a:t> non </a:t>
              </a:r>
              <a:r>
                <a:rPr lang="en-US" sz="1200" dirty="0" err="1">
                  <a:solidFill>
                    <a:srgbClr val="0C3252"/>
                  </a:solidFill>
                  <a:ea typeface="Nunito Sans" pitchFamily="34" charset="-122"/>
                  <a:cs typeface="Nunito Sans" pitchFamily="34" charset="-120"/>
                </a:rPr>
                <a:t>cambi</a:t>
              </a:r>
              <a:r>
                <a:rPr lang="en-US" sz="1200" dirty="0">
                  <a:solidFill>
                    <a:srgbClr val="0C3252"/>
                  </a:solidFill>
                  <a:ea typeface="Nunito Sans" pitchFamily="34" charset="-122"/>
                  <a:cs typeface="Nunito Sans" pitchFamily="34" charset="-120"/>
                </a:rPr>
                <a:t> punto </a:t>
              </a:r>
              <a:r>
                <a:rPr lang="en-US" sz="1200" dirty="0" err="1">
                  <a:solidFill>
                    <a:srgbClr val="0C3252"/>
                  </a:solidFill>
                  <a:ea typeface="Nunito Sans" pitchFamily="34" charset="-122"/>
                  <a:cs typeface="Nunito Sans" pitchFamily="34" charset="-120"/>
                </a:rPr>
                <a:t>vendita</a:t>
              </a:r>
              <a:endParaRPr lang="en-US" sz="1200" dirty="0"/>
            </a:p>
          </p:txBody>
        </p:sp>
      </p:grpSp>
      <p:sp>
        <p:nvSpPr>
          <p:cNvPr id="17" name="Text 10">
            <a:extLst>
              <a:ext uri="{FF2B5EF4-FFF2-40B4-BE49-F238E27FC236}">
                <a16:creationId xmlns:a16="http://schemas.microsoft.com/office/drawing/2014/main" id="{9BF64976-1DCF-430A-B7C6-7D97D4B87485}"/>
              </a:ext>
            </a:extLst>
          </p:cNvPr>
          <p:cNvSpPr/>
          <p:nvPr/>
        </p:nvSpPr>
        <p:spPr>
          <a:xfrm>
            <a:off x="789105" y="5750666"/>
            <a:ext cx="11157813" cy="377904"/>
          </a:xfrm>
          <a:prstGeom prst="rect">
            <a:avLst/>
          </a:prstGeom>
          <a:noFill/>
          <a:ln>
            <a:noFill/>
          </a:ln>
        </p:spPr>
        <p:txBody>
          <a:bodyPr wrap="square" lIns="0" tIns="0" rIns="0" bIns="0" rtlCol="0" anchor="t"/>
          <a:lstStyle/>
          <a:p>
            <a:pPr marL="0" indent="0" algn="ctr">
              <a:lnSpc>
                <a:spcPts val="1450"/>
              </a:lnSpc>
              <a:buNone/>
            </a:pPr>
            <a:r>
              <a:rPr lang="en-US" sz="1200">
                <a:solidFill>
                  <a:srgbClr val="0C3252"/>
                </a:solidFill>
                <a:ea typeface="Nunito Sans" pitchFamily="34" charset="-122"/>
                <a:cs typeface="Nunito Sans" pitchFamily="34" charset="-120"/>
              </a:rPr>
              <a:t>Il processo garantisce che ogni lead venga assegnato al punto vendita più vicino che disponga ancora di capienza nel proprio contatore. Il refresh avviene alla fine del mese oppure al raggiungimento della saturazione all'interno dello stesso CAP.</a:t>
            </a:r>
            <a:endParaRPr lang="en-US" sz="1200" dirty="0"/>
          </a:p>
        </p:txBody>
      </p:sp>
      <p:grpSp>
        <p:nvGrpSpPr>
          <p:cNvPr id="28" name="Gruppo 27">
            <a:extLst>
              <a:ext uri="{FF2B5EF4-FFF2-40B4-BE49-F238E27FC236}">
                <a16:creationId xmlns:a16="http://schemas.microsoft.com/office/drawing/2014/main" id="{C004ADBC-04B6-4552-8B40-E277B3FD2922}"/>
              </a:ext>
            </a:extLst>
          </p:cNvPr>
          <p:cNvGrpSpPr/>
          <p:nvPr/>
        </p:nvGrpSpPr>
        <p:grpSpPr>
          <a:xfrm>
            <a:off x="7773768" y="2946452"/>
            <a:ext cx="4282797" cy="1150382"/>
            <a:chOff x="-56912" y="6198842"/>
            <a:chExt cx="4282797" cy="1150382"/>
          </a:xfrm>
        </p:grpSpPr>
        <p:sp>
          <p:nvSpPr>
            <p:cNvPr id="18" name="Shape 11">
              <a:extLst>
                <a:ext uri="{FF2B5EF4-FFF2-40B4-BE49-F238E27FC236}">
                  <a16:creationId xmlns:a16="http://schemas.microsoft.com/office/drawing/2014/main" id="{F796897D-94FD-4B5D-BC3F-38AFDED247FB}"/>
                </a:ext>
              </a:extLst>
            </p:cNvPr>
            <p:cNvSpPr/>
            <p:nvPr/>
          </p:nvSpPr>
          <p:spPr>
            <a:xfrm>
              <a:off x="-56912" y="6198842"/>
              <a:ext cx="4282797" cy="1150382"/>
            </a:xfrm>
            <a:prstGeom prst="roundRect">
              <a:avLst>
                <a:gd name="adj" fmla="val 795"/>
              </a:avLst>
            </a:prstGeom>
            <a:solidFill>
              <a:srgbClr val="FFFFFF"/>
            </a:solidFill>
            <a:ln w="15240">
              <a:solidFill>
                <a:srgbClr val="B9CDDE"/>
              </a:solidFill>
              <a:prstDash val="solid"/>
            </a:ln>
          </p:spPr>
          <p:txBody>
            <a:bodyPr/>
            <a:lstStyle/>
            <a:p>
              <a:endParaRPr lang="it-IT"/>
            </a:p>
          </p:txBody>
        </p:sp>
        <p:sp>
          <p:nvSpPr>
            <p:cNvPr id="19" name="Text 12">
              <a:extLst>
                <a:ext uri="{FF2B5EF4-FFF2-40B4-BE49-F238E27FC236}">
                  <a16:creationId xmlns:a16="http://schemas.microsoft.com/office/drawing/2014/main" id="{076BC01B-482F-4D7B-B79B-D3AE79E448F2}"/>
                </a:ext>
              </a:extLst>
            </p:cNvPr>
            <p:cNvSpPr/>
            <p:nvPr/>
          </p:nvSpPr>
          <p:spPr>
            <a:xfrm>
              <a:off x="154067" y="6352909"/>
              <a:ext cx="2669024" cy="217051"/>
            </a:xfrm>
            <a:prstGeom prst="rect">
              <a:avLst/>
            </a:prstGeom>
            <a:noFill/>
            <a:ln/>
          </p:spPr>
          <p:txBody>
            <a:bodyPr wrap="none" lIns="0" tIns="0" rIns="0" bIns="0" rtlCol="0" anchor="t"/>
            <a:lstStyle/>
            <a:p>
              <a:pPr>
                <a:lnSpc>
                  <a:spcPts val="1700"/>
                </a:lnSpc>
              </a:pPr>
              <a:r>
                <a:rPr lang="en-US" sz="1350" b="1">
                  <a:solidFill>
                    <a:srgbClr val="0C3252"/>
                  </a:solidFill>
                  <a:ea typeface="Nunito Sans Bold" pitchFamily="34" charset="-122"/>
                  <a:cs typeface="Nunito Sans Bold" pitchFamily="34" charset="-120"/>
                </a:rPr>
                <a:t>Cambio Punto </a:t>
              </a:r>
              <a:r>
                <a:rPr lang="en-US" sz="1350" b="1" err="1">
                  <a:solidFill>
                    <a:srgbClr val="0C3252"/>
                  </a:solidFill>
                  <a:ea typeface="Nunito Sans Bold" pitchFamily="34" charset="-122"/>
                  <a:cs typeface="Nunito Sans Bold" pitchFamily="34" charset="-120"/>
                </a:rPr>
                <a:t>Vendita</a:t>
              </a:r>
              <a:r>
                <a:rPr lang="en-US" sz="1350" b="1">
                  <a:solidFill>
                    <a:srgbClr val="0C3252"/>
                  </a:solidFill>
                  <a:ea typeface="Nunito Sans Bold" pitchFamily="34" charset="-122"/>
                  <a:cs typeface="Nunito Sans Bold" pitchFamily="34" charset="-120"/>
                </a:rPr>
                <a:t> da </a:t>
              </a:r>
              <a:r>
                <a:rPr lang="en-US" sz="1350" b="1" err="1">
                  <a:solidFill>
                    <a:srgbClr val="0C3252"/>
                  </a:solidFill>
                  <a:ea typeface="Nunito Sans Bold" pitchFamily="34" charset="-122"/>
                  <a:cs typeface="Nunito Sans Bold" pitchFamily="34" charset="-120"/>
                </a:rPr>
                <a:t>parte</a:t>
              </a:r>
              <a:r>
                <a:rPr lang="en-US" sz="1350" b="1">
                  <a:solidFill>
                    <a:srgbClr val="0C3252"/>
                  </a:solidFill>
                  <a:ea typeface="Nunito Sans Bold" pitchFamily="34" charset="-122"/>
                  <a:cs typeface="Nunito Sans Bold" pitchFamily="34" charset="-120"/>
                </a:rPr>
                <a:t> del prospect</a:t>
              </a:r>
              <a:endParaRPr lang="en-US" sz="1350"/>
            </a:p>
          </p:txBody>
        </p:sp>
        <p:sp>
          <p:nvSpPr>
            <p:cNvPr id="20" name="Text 13">
              <a:extLst>
                <a:ext uri="{FF2B5EF4-FFF2-40B4-BE49-F238E27FC236}">
                  <a16:creationId xmlns:a16="http://schemas.microsoft.com/office/drawing/2014/main" id="{D779DECD-E2FA-4A62-A3A6-43305E686F3C}"/>
                </a:ext>
              </a:extLst>
            </p:cNvPr>
            <p:cNvSpPr/>
            <p:nvPr/>
          </p:nvSpPr>
          <p:spPr>
            <a:xfrm>
              <a:off x="154067" y="6628300"/>
              <a:ext cx="3974663" cy="566857"/>
            </a:xfrm>
            <a:prstGeom prst="rect">
              <a:avLst/>
            </a:prstGeom>
            <a:noFill/>
            <a:ln/>
          </p:spPr>
          <p:txBody>
            <a:bodyPr wrap="square" lIns="0" tIns="0" rIns="0" bIns="0" rtlCol="0" anchor="t"/>
            <a:lstStyle/>
            <a:p>
              <a:pPr>
                <a:lnSpc>
                  <a:spcPts val="1450"/>
                </a:lnSpc>
              </a:pPr>
              <a:r>
                <a:rPr lang="en-US" sz="1050">
                  <a:solidFill>
                    <a:srgbClr val="0C3252"/>
                  </a:solidFill>
                  <a:ea typeface="Nunito Sans" pitchFamily="34" charset="-122"/>
                  <a:cs typeface="Nunito Sans" pitchFamily="34" charset="-120"/>
                </a:rPr>
                <a:t>Se il </a:t>
              </a:r>
              <a:r>
                <a:rPr lang="en-US" sz="1050" err="1">
                  <a:solidFill>
                    <a:srgbClr val="0C3252"/>
                  </a:solidFill>
                  <a:ea typeface="Nunito Sans" pitchFamily="34" charset="-122"/>
                  <a:cs typeface="Nunito Sans" pitchFamily="34" charset="-120"/>
                </a:rPr>
                <a:t>soggetto</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seleziona</a:t>
              </a:r>
              <a:r>
                <a:rPr lang="en-US" sz="1050">
                  <a:solidFill>
                    <a:srgbClr val="0C3252"/>
                  </a:solidFill>
                  <a:ea typeface="Nunito Sans" pitchFamily="34" charset="-122"/>
                  <a:cs typeface="Nunito Sans" pitchFamily="34" charset="-120"/>
                </a:rPr>
                <a:t> un Punto </a:t>
              </a:r>
              <a:r>
                <a:rPr lang="en-US" sz="1050" err="1">
                  <a:solidFill>
                    <a:srgbClr val="0C3252"/>
                  </a:solidFill>
                  <a:ea typeface="Nunito Sans" pitchFamily="34" charset="-122"/>
                  <a:cs typeface="Nunito Sans" pitchFamily="34" charset="-120"/>
                </a:rPr>
                <a:t>Vendita</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diverso</a:t>
              </a:r>
              <a:r>
                <a:rPr lang="en-US" sz="1050">
                  <a:solidFill>
                    <a:srgbClr val="0C3252"/>
                  </a:solidFill>
                  <a:ea typeface="Nunito Sans" pitchFamily="34" charset="-122"/>
                  <a:cs typeface="Nunito Sans" pitchFamily="34" charset="-120"/>
                </a:rPr>
                <a:t> da </a:t>
              </a:r>
              <a:r>
                <a:rPr lang="en-US" sz="1050" err="1">
                  <a:solidFill>
                    <a:srgbClr val="0C3252"/>
                  </a:solidFill>
                  <a:ea typeface="Nunito Sans" pitchFamily="34" charset="-122"/>
                  <a:cs typeface="Nunito Sans" pitchFamily="34" charset="-120"/>
                </a:rPr>
                <a:t>quello</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proposto</a:t>
              </a:r>
              <a:r>
                <a:rPr lang="en-US" sz="1050">
                  <a:solidFill>
                    <a:srgbClr val="0C3252"/>
                  </a:solidFill>
                  <a:ea typeface="Nunito Sans" pitchFamily="34" charset="-122"/>
                  <a:cs typeface="Nunito Sans" pitchFamily="34" charset="-120"/>
                </a:rPr>
                <a:t> dal </a:t>
              </a:r>
              <a:r>
                <a:rPr lang="en-US" sz="1050" err="1">
                  <a:solidFill>
                    <a:srgbClr val="0C3252"/>
                  </a:solidFill>
                  <a:ea typeface="Nunito Sans" pitchFamily="34" charset="-122"/>
                  <a:cs typeface="Nunito Sans" pitchFamily="34" charset="-120"/>
                </a:rPr>
                <a:t>modello</a:t>
              </a:r>
              <a:r>
                <a:rPr lang="en-US" sz="1050">
                  <a:solidFill>
                    <a:srgbClr val="0C3252"/>
                  </a:solidFill>
                  <a:ea typeface="Nunito Sans" pitchFamily="34" charset="-122"/>
                  <a:cs typeface="Nunito Sans" pitchFamily="34" charset="-120"/>
                </a:rPr>
                <a:t>, il </a:t>
              </a:r>
              <a:r>
                <a:rPr lang="en-US" sz="1050" err="1">
                  <a:solidFill>
                    <a:srgbClr val="0C3252"/>
                  </a:solidFill>
                  <a:ea typeface="Nunito Sans" pitchFamily="34" charset="-122"/>
                  <a:cs typeface="Nunito Sans" pitchFamily="34" charset="-120"/>
                </a:rPr>
                <a:t>contatore</a:t>
              </a:r>
              <a:r>
                <a:rPr lang="en-US" sz="1050">
                  <a:solidFill>
                    <a:srgbClr val="0C3252"/>
                  </a:solidFill>
                  <a:ea typeface="Nunito Sans" pitchFamily="34" charset="-122"/>
                  <a:cs typeface="Nunito Sans" pitchFamily="34" charset="-120"/>
                </a:rPr>
                <a:t> del Punto </a:t>
              </a:r>
              <a:r>
                <a:rPr lang="en-US" sz="1050" err="1">
                  <a:solidFill>
                    <a:srgbClr val="0C3252"/>
                  </a:solidFill>
                  <a:ea typeface="Nunito Sans" pitchFamily="34" charset="-122"/>
                  <a:cs typeface="Nunito Sans" pitchFamily="34" charset="-120"/>
                </a:rPr>
                <a:t>Vendita</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originariamente</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proposto</a:t>
              </a:r>
              <a:r>
                <a:rPr lang="en-US" sz="1050">
                  <a:solidFill>
                    <a:srgbClr val="0C3252"/>
                  </a:solidFill>
                  <a:ea typeface="Nunito Sans" pitchFamily="34" charset="-122"/>
                  <a:cs typeface="Nunito Sans" pitchFamily="34" charset="-120"/>
                </a:rPr>
                <a:t> </a:t>
              </a:r>
              <a:r>
                <a:rPr lang="en-US" sz="1050" b="1">
                  <a:solidFill>
                    <a:srgbClr val="0C3252"/>
                  </a:solidFill>
                  <a:ea typeface="Nunito Sans" pitchFamily="34" charset="-122"/>
                  <a:cs typeface="Nunito Sans" pitchFamily="34" charset="-120"/>
                </a:rPr>
                <a:t>non </a:t>
              </a:r>
              <a:r>
                <a:rPr lang="en-US" sz="1050" b="1" err="1">
                  <a:solidFill>
                    <a:srgbClr val="0C3252"/>
                  </a:solidFill>
                  <a:ea typeface="Nunito Sans" pitchFamily="34" charset="-122"/>
                  <a:cs typeface="Nunito Sans" pitchFamily="34" charset="-120"/>
                </a:rPr>
                <a:t>viene</a:t>
              </a:r>
              <a:r>
                <a:rPr lang="en-US" sz="1050" b="1">
                  <a:solidFill>
                    <a:srgbClr val="0C3252"/>
                  </a:solidFill>
                  <a:ea typeface="Nunito Sans" pitchFamily="34" charset="-122"/>
                  <a:cs typeface="Nunito Sans" pitchFamily="34" charset="-120"/>
                </a:rPr>
                <a:t> </a:t>
              </a:r>
              <a:r>
                <a:rPr lang="en-US" sz="1050" b="1" err="1">
                  <a:solidFill>
                    <a:srgbClr val="0C3252"/>
                  </a:solidFill>
                  <a:ea typeface="Nunito Sans" pitchFamily="34" charset="-122"/>
                  <a:cs typeface="Nunito Sans" pitchFamily="34" charset="-120"/>
                </a:rPr>
                <a:t>impattato</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poiché</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quel</a:t>
              </a:r>
              <a:r>
                <a:rPr lang="en-US" sz="1050">
                  <a:solidFill>
                    <a:srgbClr val="0C3252"/>
                  </a:solidFill>
                  <a:ea typeface="Nunito Sans" pitchFamily="34" charset="-122"/>
                  <a:cs typeface="Nunito Sans" pitchFamily="34" charset="-120"/>
                </a:rPr>
                <a:t> punto </a:t>
              </a:r>
              <a:r>
                <a:rPr lang="en-US" sz="1050" err="1">
                  <a:solidFill>
                    <a:srgbClr val="0C3252"/>
                  </a:solidFill>
                  <a:ea typeface="Nunito Sans" pitchFamily="34" charset="-122"/>
                  <a:cs typeface="Nunito Sans" pitchFamily="34" charset="-120"/>
                </a:rPr>
                <a:t>vendita</a:t>
              </a:r>
              <a:r>
                <a:rPr lang="en-US" sz="1050">
                  <a:solidFill>
                    <a:srgbClr val="0C3252"/>
                  </a:solidFill>
                  <a:ea typeface="Nunito Sans" pitchFamily="34" charset="-122"/>
                  <a:cs typeface="Nunito Sans" pitchFamily="34" charset="-120"/>
                </a:rPr>
                <a:t> non </a:t>
              </a:r>
              <a:r>
                <a:rPr lang="en-US" sz="1050" err="1">
                  <a:solidFill>
                    <a:srgbClr val="0C3252"/>
                  </a:solidFill>
                  <a:ea typeface="Nunito Sans" pitchFamily="34" charset="-122"/>
                  <a:cs typeface="Nunito Sans" pitchFamily="34" charset="-120"/>
                </a:rPr>
                <a:t>riceve</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l'assegnazione</a:t>
              </a:r>
              <a:r>
                <a:rPr lang="en-US" sz="1050">
                  <a:solidFill>
                    <a:srgbClr val="0C3252"/>
                  </a:solidFill>
                  <a:ea typeface="Nunito Sans" pitchFamily="34" charset="-122"/>
                  <a:cs typeface="Nunito Sans" pitchFamily="34" charset="-120"/>
                </a:rPr>
                <a:t>.</a:t>
              </a:r>
              <a:endParaRPr lang="en-US" sz="1050"/>
            </a:p>
          </p:txBody>
        </p:sp>
      </p:grpSp>
      <p:sp>
        <p:nvSpPr>
          <p:cNvPr id="21" name="Shape 14">
            <a:extLst>
              <a:ext uri="{FF2B5EF4-FFF2-40B4-BE49-F238E27FC236}">
                <a16:creationId xmlns:a16="http://schemas.microsoft.com/office/drawing/2014/main" id="{94882139-AE0C-403C-96C3-8781F027CF17}"/>
              </a:ext>
            </a:extLst>
          </p:cNvPr>
          <p:cNvSpPr/>
          <p:nvPr/>
        </p:nvSpPr>
        <p:spPr>
          <a:xfrm>
            <a:off x="7773768" y="4372498"/>
            <a:ext cx="4282797" cy="1150382"/>
          </a:xfrm>
          <a:prstGeom prst="roundRect">
            <a:avLst>
              <a:gd name="adj" fmla="val 795"/>
            </a:avLst>
          </a:prstGeom>
          <a:solidFill>
            <a:srgbClr val="FFFFFF"/>
          </a:solidFill>
          <a:ln w="15240">
            <a:solidFill>
              <a:srgbClr val="B9CDDE"/>
            </a:solidFill>
            <a:prstDash val="solid"/>
          </a:ln>
        </p:spPr>
        <p:txBody>
          <a:bodyPr/>
          <a:lstStyle/>
          <a:p>
            <a:endParaRPr lang="it-IT"/>
          </a:p>
        </p:txBody>
      </p:sp>
      <p:sp>
        <p:nvSpPr>
          <p:cNvPr id="22" name="Text 15">
            <a:extLst>
              <a:ext uri="{FF2B5EF4-FFF2-40B4-BE49-F238E27FC236}">
                <a16:creationId xmlns:a16="http://schemas.microsoft.com/office/drawing/2014/main" id="{9496F176-4BA6-4B81-BA09-0DDEA915E60B}"/>
              </a:ext>
            </a:extLst>
          </p:cNvPr>
          <p:cNvSpPr/>
          <p:nvPr/>
        </p:nvSpPr>
        <p:spPr>
          <a:xfrm>
            <a:off x="7927835" y="4526565"/>
            <a:ext cx="2684621" cy="217051"/>
          </a:xfrm>
          <a:prstGeom prst="rect">
            <a:avLst/>
          </a:prstGeom>
          <a:noFill/>
          <a:ln/>
        </p:spPr>
        <p:txBody>
          <a:bodyPr wrap="none" lIns="0" tIns="0" rIns="0" bIns="0" rtlCol="0" anchor="t"/>
          <a:lstStyle/>
          <a:p>
            <a:pPr>
              <a:lnSpc>
                <a:spcPts val="1700"/>
              </a:lnSpc>
            </a:pPr>
            <a:r>
              <a:rPr lang="en-US" sz="1350" b="1">
                <a:solidFill>
                  <a:srgbClr val="0C3252"/>
                </a:solidFill>
                <a:ea typeface="Nunito Sans Bold" pitchFamily="34" charset="-122"/>
                <a:cs typeface="Nunito Sans Bold" pitchFamily="34" charset="-120"/>
              </a:rPr>
              <a:t>Journey solo CAP (Pet, </a:t>
            </a:r>
            <a:r>
              <a:rPr lang="en-US" sz="1350" b="1" err="1">
                <a:solidFill>
                  <a:srgbClr val="0C3252"/>
                </a:solidFill>
                <a:ea typeface="Nunito Sans Bold" pitchFamily="34" charset="-122"/>
                <a:cs typeface="Nunito Sans Bold" pitchFamily="34" charset="-120"/>
              </a:rPr>
              <a:t>Viaggi</a:t>
            </a:r>
            <a:r>
              <a:rPr lang="en-US" sz="1350" b="1">
                <a:solidFill>
                  <a:srgbClr val="0C3252"/>
                </a:solidFill>
                <a:ea typeface="Nunito Sans Bold" pitchFamily="34" charset="-122"/>
                <a:cs typeface="Nunito Sans Bold" pitchFamily="34" charset="-120"/>
              </a:rPr>
              <a:t>, </a:t>
            </a:r>
            <a:r>
              <a:rPr lang="en-US" sz="1350" b="1" err="1">
                <a:solidFill>
                  <a:srgbClr val="0C3252"/>
                </a:solidFill>
                <a:ea typeface="Nunito Sans Bold" pitchFamily="34" charset="-122"/>
                <a:cs typeface="Nunito Sans Bold" pitchFamily="34" charset="-120"/>
              </a:rPr>
              <a:t>Unisalute</a:t>
            </a:r>
            <a:r>
              <a:rPr lang="en-US" sz="1350" b="1">
                <a:solidFill>
                  <a:srgbClr val="0C3252"/>
                </a:solidFill>
                <a:ea typeface="Nunito Sans Bold" pitchFamily="34" charset="-122"/>
                <a:cs typeface="Nunito Sans Bold" pitchFamily="34" charset="-120"/>
              </a:rPr>
              <a:t>)</a:t>
            </a:r>
            <a:endParaRPr lang="en-US" sz="1350"/>
          </a:p>
        </p:txBody>
      </p:sp>
      <p:sp>
        <p:nvSpPr>
          <p:cNvPr id="23" name="Text 16">
            <a:extLst>
              <a:ext uri="{FF2B5EF4-FFF2-40B4-BE49-F238E27FC236}">
                <a16:creationId xmlns:a16="http://schemas.microsoft.com/office/drawing/2014/main" id="{4653DFEC-AB4E-47B5-8E07-10DC2EF000C2}"/>
              </a:ext>
            </a:extLst>
          </p:cNvPr>
          <p:cNvSpPr/>
          <p:nvPr/>
        </p:nvSpPr>
        <p:spPr>
          <a:xfrm>
            <a:off x="7927835" y="4801956"/>
            <a:ext cx="3974663" cy="566857"/>
          </a:xfrm>
          <a:prstGeom prst="rect">
            <a:avLst/>
          </a:prstGeom>
          <a:noFill/>
          <a:ln/>
        </p:spPr>
        <p:txBody>
          <a:bodyPr wrap="square" lIns="0" tIns="0" rIns="0" bIns="0" rtlCol="0" anchor="t"/>
          <a:lstStyle/>
          <a:p>
            <a:pPr>
              <a:lnSpc>
                <a:spcPts val="1450"/>
              </a:lnSpc>
            </a:pPr>
            <a:r>
              <a:rPr lang="en-US" sz="1050">
                <a:solidFill>
                  <a:srgbClr val="0C3252"/>
                </a:solidFill>
                <a:ea typeface="Nunito Sans" pitchFamily="34" charset="-122"/>
                <a:cs typeface="Nunito Sans" pitchFamily="34" charset="-120"/>
              </a:rPr>
              <a:t>Per I </a:t>
            </a:r>
            <a:r>
              <a:rPr lang="en-US" sz="1050" err="1">
                <a:solidFill>
                  <a:srgbClr val="0C3252"/>
                </a:solidFill>
                <a:ea typeface="Nunito Sans" pitchFamily="34" charset="-122"/>
                <a:cs typeface="Nunito Sans" pitchFamily="34" charset="-120"/>
              </a:rPr>
              <a:t>prodotti</a:t>
            </a:r>
            <a:r>
              <a:rPr lang="en-US" sz="1050">
                <a:solidFill>
                  <a:srgbClr val="0C3252"/>
                </a:solidFill>
                <a:ea typeface="Nunito Sans" pitchFamily="34" charset="-122"/>
                <a:cs typeface="Nunito Sans" pitchFamily="34" charset="-120"/>
              </a:rPr>
              <a:t> la cui journey </a:t>
            </a:r>
            <a:r>
              <a:rPr lang="en-US" sz="1050" err="1">
                <a:solidFill>
                  <a:srgbClr val="0C3252"/>
                </a:solidFill>
                <a:ea typeface="Nunito Sans" pitchFamily="34" charset="-122"/>
                <a:cs typeface="Nunito Sans" pitchFamily="34" charset="-120"/>
              </a:rPr>
              <a:t>prevede</a:t>
            </a:r>
            <a:r>
              <a:rPr lang="en-US" sz="1050">
                <a:solidFill>
                  <a:srgbClr val="0C3252"/>
                </a:solidFill>
                <a:ea typeface="Nunito Sans" pitchFamily="34" charset="-122"/>
                <a:cs typeface="Nunito Sans" pitchFamily="34" charset="-120"/>
              </a:rPr>
              <a:t> solo </a:t>
            </a:r>
            <a:r>
              <a:rPr lang="en-US" sz="1050" err="1">
                <a:solidFill>
                  <a:srgbClr val="0C3252"/>
                </a:solidFill>
                <a:ea typeface="Nunito Sans" pitchFamily="34" charset="-122"/>
                <a:cs typeface="Nunito Sans" pitchFamily="34" charset="-120"/>
              </a:rPr>
              <a:t>l'inserimento</a:t>
            </a:r>
            <a:r>
              <a:rPr lang="en-US" sz="1050">
                <a:solidFill>
                  <a:srgbClr val="0C3252"/>
                </a:solidFill>
                <a:ea typeface="Nunito Sans" pitchFamily="34" charset="-122"/>
                <a:cs typeface="Nunito Sans" pitchFamily="34" charset="-120"/>
              </a:rPr>
              <a:t> del CAP (es. Pet, </a:t>
            </a:r>
            <a:r>
              <a:rPr lang="en-US" sz="1050" err="1">
                <a:solidFill>
                  <a:srgbClr val="0C3252"/>
                </a:solidFill>
                <a:ea typeface="Nunito Sans" pitchFamily="34" charset="-122"/>
                <a:cs typeface="Nunito Sans" pitchFamily="34" charset="-120"/>
              </a:rPr>
              <a:t>Viaggi</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viene</a:t>
            </a:r>
            <a:r>
              <a:rPr lang="en-US" sz="1050">
                <a:solidFill>
                  <a:srgbClr val="0C3252"/>
                </a:solidFill>
                <a:ea typeface="Nunito Sans" pitchFamily="34" charset="-122"/>
                <a:cs typeface="Nunito Sans" pitchFamily="34" charset="-120"/>
              </a:rPr>
              <a:t> </a:t>
            </a:r>
            <a:r>
              <a:rPr lang="en-US" sz="1050" err="1">
                <a:solidFill>
                  <a:srgbClr val="0C3252"/>
                </a:solidFill>
                <a:ea typeface="Nunito Sans" pitchFamily="34" charset="-122"/>
                <a:cs typeface="Nunito Sans" pitchFamily="34" charset="-120"/>
              </a:rPr>
              <a:t>utilizzato</a:t>
            </a:r>
            <a:r>
              <a:rPr lang="en-US" sz="1050">
                <a:solidFill>
                  <a:srgbClr val="0C3252"/>
                </a:solidFill>
                <a:ea typeface="Nunito Sans" pitchFamily="34" charset="-122"/>
                <a:cs typeface="Nunito Sans" pitchFamily="34" charset="-120"/>
              </a:rPr>
              <a:t> il </a:t>
            </a:r>
            <a:r>
              <a:rPr lang="en-US" sz="1050" b="1" err="1">
                <a:solidFill>
                  <a:srgbClr val="0C3252"/>
                </a:solidFill>
                <a:ea typeface="Nunito Sans" pitchFamily="34" charset="-122"/>
                <a:cs typeface="Nunito Sans" pitchFamily="34" charset="-120"/>
              </a:rPr>
              <a:t>centro</a:t>
            </a:r>
            <a:r>
              <a:rPr lang="en-US" sz="1050" b="1">
                <a:solidFill>
                  <a:srgbClr val="0C3252"/>
                </a:solidFill>
                <a:ea typeface="Nunito Sans" pitchFamily="34" charset="-122"/>
                <a:cs typeface="Nunito Sans" pitchFamily="34" charset="-120"/>
              </a:rPr>
              <a:t> del CAP</a:t>
            </a:r>
            <a:r>
              <a:rPr lang="en-US" sz="1050">
                <a:solidFill>
                  <a:srgbClr val="0C3252"/>
                </a:solidFill>
                <a:ea typeface="Nunito Sans" pitchFamily="34" charset="-122"/>
                <a:cs typeface="Nunito Sans" pitchFamily="34" charset="-120"/>
              </a:rPr>
              <a:t> come </a:t>
            </a:r>
            <a:r>
              <a:rPr lang="en-US" sz="1050" err="1">
                <a:solidFill>
                  <a:srgbClr val="0C3252"/>
                </a:solidFill>
                <a:ea typeface="Nunito Sans" pitchFamily="34" charset="-122"/>
                <a:cs typeface="Nunito Sans" pitchFamily="34" charset="-120"/>
              </a:rPr>
              <a:t>indirizzo</a:t>
            </a:r>
            <a:r>
              <a:rPr lang="en-US" sz="1050">
                <a:solidFill>
                  <a:srgbClr val="0C3252"/>
                </a:solidFill>
                <a:ea typeface="Nunito Sans" pitchFamily="34" charset="-122"/>
                <a:cs typeface="Nunito Sans" pitchFamily="34" charset="-120"/>
              </a:rPr>
              <a:t> di </a:t>
            </a:r>
            <a:r>
              <a:rPr lang="en-US" sz="1050" err="1">
                <a:solidFill>
                  <a:srgbClr val="0C3252"/>
                </a:solidFill>
                <a:ea typeface="Nunito Sans" pitchFamily="34" charset="-122"/>
                <a:cs typeface="Nunito Sans" pitchFamily="34" charset="-120"/>
              </a:rPr>
              <a:t>riferimento</a:t>
            </a:r>
            <a:r>
              <a:rPr lang="en-US" sz="1050">
                <a:solidFill>
                  <a:srgbClr val="0C3252"/>
                </a:solidFill>
                <a:ea typeface="Nunito Sans" pitchFamily="34" charset="-122"/>
                <a:cs typeface="Nunito Sans" pitchFamily="34" charset="-120"/>
              </a:rPr>
              <a:t> per il </a:t>
            </a:r>
            <a:r>
              <a:rPr lang="en-US" sz="1050" err="1">
                <a:solidFill>
                  <a:srgbClr val="0C3252"/>
                </a:solidFill>
                <a:ea typeface="Nunito Sans" pitchFamily="34" charset="-122"/>
                <a:cs typeface="Nunito Sans" pitchFamily="34" charset="-120"/>
              </a:rPr>
              <a:t>calcolo</a:t>
            </a:r>
            <a:r>
              <a:rPr lang="en-US" sz="1050">
                <a:solidFill>
                  <a:srgbClr val="0C3252"/>
                </a:solidFill>
                <a:ea typeface="Nunito Sans" pitchFamily="34" charset="-122"/>
                <a:cs typeface="Nunito Sans" pitchFamily="34" charset="-120"/>
              </a:rPr>
              <a:t> delle </a:t>
            </a:r>
            <a:r>
              <a:rPr lang="en-US" sz="1050" err="1">
                <a:solidFill>
                  <a:srgbClr val="0C3252"/>
                </a:solidFill>
                <a:ea typeface="Nunito Sans" pitchFamily="34" charset="-122"/>
                <a:cs typeface="Nunito Sans" pitchFamily="34" charset="-120"/>
              </a:rPr>
              <a:t>distanze</a:t>
            </a:r>
            <a:r>
              <a:rPr lang="en-US" sz="1050">
                <a:solidFill>
                  <a:srgbClr val="0C3252"/>
                </a:solidFill>
                <a:ea typeface="Nunito Sans" pitchFamily="34" charset="-122"/>
                <a:cs typeface="Nunito Sans" pitchFamily="34" charset="-120"/>
              </a:rPr>
              <a:t>.</a:t>
            </a:r>
            <a:endParaRPr lang="en-US" sz="1050"/>
          </a:p>
        </p:txBody>
      </p:sp>
      <p:grpSp>
        <p:nvGrpSpPr>
          <p:cNvPr id="32" name="Gruppo 31">
            <a:extLst>
              <a:ext uri="{FF2B5EF4-FFF2-40B4-BE49-F238E27FC236}">
                <a16:creationId xmlns:a16="http://schemas.microsoft.com/office/drawing/2014/main" id="{917B929C-54ED-46A8-9871-1C6A063A495A}"/>
              </a:ext>
            </a:extLst>
          </p:cNvPr>
          <p:cNvGrpSpPr/>
          <p:nvPr/>
        </p:nvGrpSpPr>
        <p:grpSpPr>
          <a:xfrm>
            <a:off x="7773767" y="1524076"/>
            <a:ext cx="4282797" cy="1150382"/>
            <a:chOff x="-56912" y="6198842"/>
            <a:chExt cx="4282797" cy="1150382"/>
          </a:xfrm>
        </p:grpSpPr>
        <p:sp>
          <p:nvSpPr>
            <p:cNvPr id="33" name="Shape 11">
              <a:extLst>
                <a:ext uri="{FF2B5EF4-FFF2-40B4-BE49-F238E27FC236}">
                  <a16:creationId xmlns:a16="http://schemas.microsoft.com/office/drawing/2014/main" id="{BA623DDD-30AF-4F0D-9868-E84B8ED09033}"/>
                </a:ext>
              </a:extLst>
            </p:cNvPr>
            <p:cNvSpPr/>
            <p:nvPr/>
          </p:nvSpPr>
          <p:spPr>
            <a:xfrm>
              <a:off x="-56912" y="6198842"/>
              <a:ext cx="4282797" cy="1150382"/>
            </a:xfrm>
            <a:prstGeom prst="roundRect">
              <a:avLst>
                <a:gd name="adj" fmla="val 795"/>
              </a:avLst>
            </a:prstGeom>
            <a:solidFill>
              <a:srgbClr val="FFFFFF"/>
            </a:solidFill>
            <a:ln w="15240">
              <a:solidFill>
                <a:srgbClr val="B9CDDE"/>
              </a:solidFill>
              <a:prstDash val="solid"/>
            </a:ln>
          </p:spPr>
          <p:txBody>
            <a:bodyPr/>
            <a:lstStyle/>
            <a:p>
              <a:endParaRPr lang="it-IT"/>
            </a:p>
          </p:txBody>
        </p:sp>
        <p:sp>
          <p:nvSpPr>
            <p:cNvPr id="34" name="Text 12">
              <a:extLst>
                <a:ext uri="{FF2B5EF4-FFF2-40B4-BE49-F238E27FC236}">
                  <a16:creationId xmlns:a16="http://schemas.microsoft.com/office/drawing/2014/main" id="{CC4DA9B0-8676-43F0-907A-7FAF468E53CE}"/>
                </a:ext>
              </a:extLst>
            </p:cNvPr>
            <p:cNvSpPr/>
            <p:nvPr/>
          </p:nvSpPr>
          <p:spPr>
            <a:xfrm>
              <a:off x="154067" y="6352909"/>
              <a:ext cx="2669024" cy="217051"/>
            </a:xfrm>
            <a:prstGeom prst="rect">
              <a:avLst/>
            </a:prstGeom>
            <a:noFill/>
            <a:ln/>
          </p:spPr>
          <p:txBody>
            <a:bodyPr wrap="none" lIns="0" tIns="0" rIns="0" bIns="0" rtlCol="0" anchor="t"/>
            <a:lstStyle/>
            <a:p>
              <a:pPr>
                <a:lnSpc>
                  <a:spcPts val="1700"/>
                </a:lnSpc>
              </a:pPr>
              <a:r>
                <a:rPr lang="en-US" sz="1350" b="1" dirty="0" err="1">
                  <a:solidFill>
                    <a:srgbClr val="0C3252"/>
                  </a:solidFill>
                  <a:ea typeface="Nunito Sans Bold" pitchFamily="34" charset="-122"/>
                  <a:cs typeface="Nunito Sans Bold" pitchFamily="34" charset="-120"/>
                </a:rPr>
                <a:t>Verifica</a:t>
              </a:r>
              <a:r>
                <a:rPr lang="en-US" sz="1350" b="1" dirty="0">
                  <a:solidFill>
                    <a:srgbClr val="0C3252"/>
                  </a:solidFill>
                  <a:ea typeface="Nunito Sans Bold" pitchFamily="34" charset="-122"/>
                  <a:cs typeface="Nunito Sans Bold" pitchFamily="34" charset="-120"/>
                </a:rPr>
                <a:t> Blacklist</a:t>
              </a:r>
              <a:endParaRPr lang="en-US" sz="1350" dirty="0"/>
            </a:p>
          </p:txBody>
        </p:sp>
        <p:sp>
          <p:nvSpPr>
            <p:cNvPr id="35" name="Text 13">
              <a:extLst>
                <a:ext uri="{FF2B5EF4-FFF2-40B4-BE49-F238E27FC236}">
                  <a16:creationId xmlns:a16="http://schemas.microsoft.com/office/drawing/2014/main" id="{9EB5DFE1-D0DC-4E7D-AEC5-7D237E302CA3}"/>
                </a:ext>
              </a:extLst>
            </p:cNvPr>
            <p:cNvSpPr/>
            <p:nvPr/>
          </p:nvSpPr>
          <p:spPr>
            <a:xfrm>
              <a:off x="154067" y="6628300"/>
              <a:ext cx="3974663" cy="566857"/>
            </a:xfrm>
            <a:prstGeom prst="rect">
              <a:avLst/>
            </a:prstGeom>
            <a:noFill/>
            <a:ln/>
          </p:spPr>
          <p:txBody>
            <a:bodyPr wrap="square" lIns="0" tIns="0" rIns="0" bIns="0" rtlCol="0" anchor="t"/>
            <a:lstStyle/>
            <a:p>
              <a:pPr>
                <a:lnSpc>
                  <a:spcPts val="1450"/>
                </a:lnSpc>
              </a:pPr>
              <a:r>
                <a:rPr lang="en-US" sz="1050" dirty="0">
                  <a:solidFill>
                    <a:srgbClr val="0C3252"/>
                  </a:solidFill>
                  <a:ea typeface="Nunito Sans" pitchFamily="34" charset="-122"/>
                  <a:cs typeface="Nunito Sans" pitchFamily="34" charset="-120"/>
                </a:rPr>
                <a:t>Se il Punto </a:t>
              </a:r>
              <a:r>
                <a:rPr lang="en-US" sz="1050" dirty="0" err="1">
                  <a:solidFill>
                    <a:srgbClr val="0C3252"/>
                  </a:solidFill>
                  <a:ea typeface="Nunito Sans" pitchFamily="34" charset="-122"/>
                  <a:cs typeface="Nunito Sans" pitchFamily="34" charset="-120"/>
                </a:rPr>
                <a:t>Vendita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rientra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nella</a:t>
              </a:r>
              <a:r>
                <a:rPr lang="en-US" sz="1050" dirty="0">
                  <a:solidFill>
                    <a:srgbClr val="0C3252"/>
                  </a:solidFill>
                  <a:ea typeface="Nunito Sans" pitchFamily="34" charset="-122"/>
                  <a:cs typeface="Nunito Sans" pitchFamily="34" charset="-120"/>
                </a:rPr>
                <a:t> blacklist per il </a:t>
              </a:r>
              <a:r>
                <a:rPr lang="en-US" sz="1050" dirty="0" err="1">
                  <a:solidFill>
                    <a:srgbClr val="0C3252"/>
                  </a:solidFill>
                  <a:ea typeface="Nunito Sans" pitchFamily="34" charset="-122"/>
                  <a:cs typeface="Nunito Sans" pitchFamily="34" charset="-120"/>
                </a:rPr>
                <a:t>prodotto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selezionato</a:t>
              </a:r>
              <a:r>
                <a:rPr lang="en-US" sz="1050" dirty="0">
                  <a:solidFill>
                    <a:srgbClr val="0C3252"/>
                  </a:solidFill>
                  <a:ea typeface="Nunito Sans" pitchFamily="34" charset="-122"/>
                  <a:cs typeface="Nunito Sans" pitchFamily="34" charset="-120"/>
                </a:rPr>
                <a:t>, il punto </a:t>
              </a:r>
              <a:r>
                <a:rPr lang="en-US" sz="1050" dirty="0" err="1">
                  <a:solidFill>
                    <a:srgbClr val="0C3252"/>
                  </a:solidFill>
                  <a:ea typeface="Nunito Sans" pitchFamily="34" charset="-122"/>
                  <a:cs typeface="Nunito Sans" pitchFamily="34" charset="-120"/>
                </a:rPr>
                <a:t>vendita</a:t>
              </a:r>
              <a:r>
                <a:rPr lang="en-US" sz="1050" b="1" dirty="0">
                  <a:solidFill>
                    <a:srgbClr val="0C3252"/>
                  </a:solidFill>
                  <a:ea typeface="Nunito Sans" pitchFamily="34" charset="-122"/>
                  <a:cs typeface="Nunito Sans" pitchFamily="34" charset="-120"/>
                </a:rPr>
                <a:t> </a:t>
              </a:r>
              <a:r>
                <a:rPr lang="en-US" sz="1050" b="1" dirty="0" err="1">
                  <a:solidFill>
                    <a:srgbClr val="0C3252"/>
                  </a:solidFill>
                  <a:ea typeface="Nunito Sans" pitchFamily="34" charset="-122"/>
                  <a:cs typeface="Nunito Sans" pitchFamily="34" charset="-120"/>
                </a:rPr>
                <a:t>viene</a:t>
              </a:r>
              <a:r>
                <a:rPr lang="en-US" sz="1050" b="1" dirty="0">
                  <a:solidFill>
                    <a:srgbClr val="0C3252"/>
                  </a:solidFill>
                  <a:ea typeface="Nunito Sans" pitchFamily="34" charset="-122"/>
                  <a:cs typeface="Nunito Sans" pitchFamily="34" charset="-120"/>
                </a:rPr>
                <a:t> </a:t>
              </a:r>
              <a:r>
                <a:rPr lang="en-US" sz="1050" b="1" dirty="0" err="1">
                  <a:solidFill>
                    <a:srgbClr val="0C3252"/>
                  </a:solidFill>
                  <a:ea typeface="Nunito Sans" pitchFamily="34" charset="-122"/>
                  <a:cs typeface="Nunito Sans" pitchFamily="34" charset="-120"/>
                </a:rPr>
                <a:t>scartato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dai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risultati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delle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ricerca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delle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agenzie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più</a:t>
              </a:r>
              <a:r>
                <a:rPr lang="en-US" sz="1050" dirty="0">
                  <a:solidFill>
                    <a:srgbClr val="0C3252"/>
                  </a:solidFill>
                  <a:ea typeface="Nunito Sans" pitchFamily="34" charset="-122"/>
                  <a:cs typeface="Nunito Sans" pitchFamily="34" charset="-120"/>
                </a:rPr>
                <a:t> vicine.</a:t>
              </a:r>
              <a:endParaRPr lang="en-US" sz="1050" dirty="0"/>
            </a:p>
          </p:txBody>
        </p:sp>
      </p:grpSp>
    </p:spTree>
    <p:extLst>
      <p:ext uri="{BB962C8B-B14F-4D97-AF65-F5344CB8AC3E}">
        <p14:creationId xmlns:p14="http://schemas.microsoft.com/office/powerpoint/2010/main" val="4127610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BA9ECC1-7F0F-1967-AD15-ABE6EA3EFCF0}"/>
              </a:ext>
            </a:extLst>
          </p:cNvPr>
          <p:cNvGraphicFramePr>
            <a:graphicFrameLocks noChangeAspect="1"/>
          </p:cNvGraphicFramePr>
          <p:nvPr>
            <p:custDataLst>
              <p:tags r:id="rId1"/>
            </p:custDataLst>
            <p:extLst>
              <p:ext uri="{D42A27DB-BD31-4B8C-83A1-F6EECF244321}">
                <p14:modId xmlns:p14="http://schemas.microsoft.com/office/powerpoint/2010/main" val="27583174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CBA9ECC1-7F0F-1967-AD15-ABE6EA3EFCF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olo 1">
            <a:extLst>
              <a:ext uri="{FF2B5EF4-FFF2-40B4-BE49-F238E27FC236}">
                <a16:creationId xmlns:a16="http://schemas.microsoft.com/office/drawing/2014/main" id="{D0CCEA4C-FB75-559D-F6BE-CCEDBE294067}"/>
              </a:ext>
            </a:extLst>
          </p:cNvPr>
          <p:cNvSpPr>
            <a:spLocks noGrp="1"/>
          </p:cNvSpPr>
          <p:nvPr>
            <p:ph type="title"/>
          </p:nvPr>
        </p:nvSpPr>
        <p:spPr>
          <a:xfrm>
            <a:off x="429203" y="66571"/>
            <a:ext cx="10302057" cy="471783"/>
          </a:xfrm>
        </p:spPr>
        <p:txBody>
          <a:bodyPr vert="horz" lIns="91440" tIns="45720" rIns="91440" bIns="45720" anchor="ctr">
            <a:noAutofit/>
          </a:bodyPr>
          <a:lstStyle/>
          <a:p>
            <a:r>
              <a:rPr lang="it-IT" sz="2000" dirty="0">
                <a:ea typeface="Calibri"/>
                <a:cs typeface="Calibri"/>
              </a:rPr>
              <a:t>Modello Geografico</a:t>
            </a:r>
            <a:endParaRPr lang="it-IT" sz="2000" dirty="0"/>
          </a:p>
        </p:txBody>
      </p:sp>
      <p:sp>
        <p:nvSpPr>
          <p:cNvPr id="5" name="Segnaposto numero diapositiva 4">
            <a:extLst>
              <a:ext uri="{FF2B5EF4-FFF2-40B4-BE49-F238E27FC236}">
                <a16:creationId xmlns:a16="http://schemas.microsoft.com/office/drawing/2014/main" id="{C4D43119-C6AF-8BD0-43F8-EBE1AD1E8CAD}"/>
              </a:ext>
            </a:extLst>
          </p:cNvPr>
          <p:cNvSpPr>
            <a:spLocks noGrp="1"/>
          </p:cNvSpPr>
          <p:nvPr>
            <p:ph type="sldNum" sz="quarter" idx="12"/>
          </p:nvPr>
        </p:nvSpPr>
        <p:spPr/>
        <p:txBody>
          <a:bodyPr/>
          <a:lstStyle/>
          <a:p>
            <a:fld id="{7998DEE5-5424-45CB-8336-3215AFBD0173}" type="slidenum">
              <a:rPr lang="it-IT" smtClean="0"/>
              <a:pPr/>
              <a:t>7</a:t>
            </a:fld>
            <a:endParaRPr lang="it-IT"/>
          </a:p>
        </p:txBody>
      </p:sp>
      <p:sp>
        <p:nvSpPr>
          <p:cNvPr id="8" name="Shape 4">
            <a:extLst>
              <a:ext uri="{FF2B5EF4-FFF2-40B4-BE49-F238E27FC236}">
                <a16:creationId xmlns:a16="http://schemas.microsoft.com/office/drawing/2014/main" id="{71B32CCE-865E-477E-BB04-7E55A1CAD4DA}"/>
              </a:ext>
            </a:extLst>
          </p:cNvPr>
          <p:cNvSpPr/>
          <p:nvPr/>
        </p:nvSpPr>
        <p:spPr>
          <a:xfrm>
            <a:off x="429203" y="1186061"/>
            <a:ext cx="6580210" cy="1152000"/>
          </a:xfrm>
          <a:prstGeom prst="roundRect">
            <a:avLst>
              <a:gd name="adj" fmla="val 333"/>
            </a:avLst>
          </a:prstGeom>
          <a:noFill/>
          <a:ln w="28575">
            <a:solidFill>
              <a:schemeClr val="accent3">
                <a:lumMod val="75000"/>
              </a:schemeClr>
            </a:solidFill>
            <a:prstDash val="solid"/>
          </a:ln>
        </p:spPr>
        <p:txBody>
          <a:bodyPr/>
          <a:lstStyle/>
          <a:p>
            <a:endParaRPr lang="it-IT"/>
          </a:p>
        </p:txBody>
      </p:sp>
      <p:sp>
        <p:nvSpPr>
          <p:cNvPr id="9" name="Text 5">
            <a:extLst>
              <a:ext uri="{FF2B5EF4-FFF2-40B4-BE49-F238E27FC236}">
                <a16:creationId xmlns:a16="http://schemas.microsoft.com/office/drawing/2014/main" id="{0C071AB9-82B7-40A5-8D77-62AC598207BD}"/>
              </a:ext>
            </a:extLst>
          </p:cNvPr>
          <p:cNvSpPr/>
          <p:nvPr/>
        </p:nvSpPr>
        <p:spPr>
          <a:xfrm>
            <a:off x="691962" y="1240685"/>
            <a:ext cx="4571615" cy="166688"/>
          </a:xfrm>
          <a:prstGeom prst="rect">
            <a:avLst/>
          </a:prstGeom>
          <a:noFill/>
          <a:ln/>
        </p:spPr>
        <p:txBody>
          <a:bodyPr wrap="none" lIns="0" tIns="0" rIns="0" bIns="0" rtlCol="0" anchor="t"/>
          <a:lstStyle/>
          <a:p>
            <a:pPr marL="0" indent="0" algn="l">
              <a:lnSpc>
                <a:spcPct val="150000"/>
              </a:lnSpc>
              <a:buNone/>
            </a:pPr>
            <a:r>
              <a:rPr lang="en-US" sz="1200" b="1">
                <a:solidFill>
                  <a:srgbClr val="0C3252"/>
                </a:solidFill>
                <a:ea typeface="Nunito Sans Bold" pitchFamily="34" charset="-122"/>
                <a:cs typeface="Nunito Sans Bold" pitchFamily="34" charset="-120"/>
              </a:rPr>
              <a:t>Distanza minima</a:t>
            </a:r>
            <a:endParaRPr lang="en-US" sz="1200"/>
          </a:p>
        </p:txBody>
      </p:sp>
      <p:sp>
        <p:nvSpPr>
          <p:cNvPr id="10" name="Text 6">
            <a:extLst>
              <a:ext uri="{FF2B5EF4-FFF2-40B4-BE49-F238E27FC236}">
                <a16:creationId xmlns:a16="http://schemas.microsoft.com/office/drawing/2014/main" id="{25CFA7F3-8A4D-4B7A-BCD1-25D32C56CE65}"/>
              </a:ext>
            </a:extLst>
          </p:cNvPr>
          <p:cNvSpPr/>
          <p:nvPr/>
        </p:nvSpPr>
        <p:spPr>
          <a:xfrm>
            <a:off x="727477" y="1529683"/>
            <a:ext cx="5912469" cy="1023929"/>
          </a:xfrm>
          <a:prstGeom prst="rect">
            <a:avLst/>
          </a:prstGeom>
          <a:noFill/>
          <a:ln/>
        </p:spPr>
        <p:txBody>
          <a:bodyPr wrap="square" lIns="0" tIns="0" rIns="0" bIns="0" rtlCol="0" anchor="t"/>
          <a:lstStyle/>
          <a:p>
            <a:pPr marL="0" indent="0" algn="l">
              <a:lnSpc>
                <a:spcPct val="150000"/>
              </a:lnSpc>
              <a:buNone/>
            </a:pPr>
            <a:r>
              <a:rPr lang="en-US" sz="1050" dirty="0">
                <a:solidFill>
                  <a:srgbClr val="0C3252"/>
                </a:solidFill>
                <a:ea typeface="Nunito Sans" pitchFamily="34" charset="-122"/>
                <a:cs typeface="Nunito Sans" pitchFamily="34" charset="-120"/>
              </a:rPr>
              <a:t>Il </a:t>
            </a:r>
            <a:r>
              <a:rPr lang="en-US" sz="1050" dirty="0" err="1">
                <a:solidFill>
                  <a:srgbClr val="0C3252"/>
                </a:solidFill>
                <a:ea typeface="Nunito Sans" pitchFamily="34" charset="-122"/>
                <a:cs typeface="Nunito Sans" pitchFamily="34" charset="-120"/>
              </a:rPr>
              <a:t>sistema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assegna</a:t>
            </a:r>
            <a:r>
              <a:rPr lang="en-US" sz="1050" dirty="0">
                <a:solidFill>
                  <a:srgbClr val="0C3252"/>
                </a:solidFill>
                <a:ea typeface="Nunito Sans" pitchFamily="34" charset="-122"/>
                <a:cs typeface="Nunito Sans" pitchFamily="34" charset="-120"/>
              </a:rPr>
              <a:t> il </a:t>
            </a:r>
            <a:r>
              <a:rPr lang="en-US" sz="1050" dirty="0" err="1">
                <a:solidFill>
                  <a:srgbClr val="0C3252"/>
                </a:solidFill>
                <a:ea typeface="Nunito Sans" pitchFamily="34" charset="-122"/>
                <a:cs typeface="Nunito Sans" pitchFamily="34" charset="-120"/>
              </a:rPr>
              <a:t>soggetto</a:t>
            </a:r>
            <a:r>
              <a:rPr lang="en-US" sz="1050" dirty="0">
                <a:solidFill>
                  <a:srgbClr val="0C3252"/>
                </a:solidFill>
                <a:ea typeface="Nunito Sans" pitchFamily="34" charset="-122"/>
                <a:cs typeface="Nunito Sans" pitchFamily="34" charset="-120"/>
              </a:rPr>
              <a:t> al punto </a:t>
            </a:r>
            <a:r>
              <a:rPr lang="en-US" sz="1050" dirty="0" err="1">
                <a:solidFill>
                  <a:srgbClr val="0C3252"/>
                </a:solidFill>
                <a:ea typeface="Nunito Sans" pitchFamily="34" charset="-122"/>
                <a:cs typeface="Nunito Sans" pitchFamily="34" charset="-120"/>
              </a:rPr>
              <a:t>vendita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disponibile</a:t>
            </a:r>
            <a:r>
              <a:rPr lang="en-US" sz="1050" dirty="0">
                <a:solidFill>
                  <a:srgbClr val="0C3252"/>
                </a:solidFill>
                <a:ea typeface="Nunito Sans" pitchFamily="34" charset="-122"/>
                <a:cs typeface="Nunito Sans" pitchFamily="34" charset="-120"/>
              </a:rPr>
              <a:t> e </a:t>
            </a:r>
            <a:r>
              <a:rPr lang="en-US" sz="1050" dirty="0" err="1">
                <a:solidFill>
                  <a:srgbClr val="0C3252"/>
                </a:solidFill>
                <a:ea typeface="Nunito Sans" pitchFamily="34" charset="-122"/>
                <a:cs typeface="Nunito Sans" pitchFamily="34" charset="-120"/>
              </a:rPr>
              <a:t>geograficamente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più</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vicino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all'indirizzo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inserito</a:t>
            </a:r>
            <a:r>
              <a:rPr lang="en-US" sz="1050" dirty="0">
                <a:solidFill>
                  <a:srgbClr val="0C3252"/>
                </a:solidFill>
                <a:ea typeface="Nunito Sans" pitchFamily="34" charset="-122"/>
                <a:cs typeface="Nunito Sans" pitchFamily="34" charset="-120"/>
              </a:rPr>
              <a:t> in </a:t>
            </a:r>
            <a:r>
              <a:rPr lang="en-US" sz="1050" dirty="0" err="1">
                <a:solidFill>
                  <a:srgbClr val="0C3252"/>
                </a:solidFill>
                <a:ea typeface="Nunito Sans" pitchFamily="34" charset="-122"/>
                <a:cs typeface="Nunito Sans" pitchFamily="34" charset="-120"/>
              </a:rPr>
              <a:t>fase</a:t>
            </a:r>
            <a:r>
              <a:rPr lang="en-US" sz="1050" dirty="0">
                <a:solidFill>
                  <a:srgbClr val="0C3252"/>
                </a:solidFill>
                <a:ea typeface="Nunito Sans" pitchFamily="34" charset="-122"/>
                <a:cs typeface="Nunito Sans" pitchFamily="34" charset="-120"/>
              </a:rPr>
              <a:t> di </a:t>
            </a:r>
            <a:r>
              <a:rPr lang="en-US" sz="1050" dirty="0" err="1">
                <a:solidFill>
                  <a:srgbClr val="0C3252"/>
                </a:solidFill>
                <a:ea typeface="Nunito Sans" pitchFamily="34" charset="-122"/>
                <a:cs typeface="Nunito Sans" pitchFamily="34" charset="-120"/>
              </a:rPr>
              <a:t>preventivazione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sul</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canale</a:t>
            </a:r>
            <a:r>
              <a:rPr lang="en-US" sz="1050" dirty="0">
                <a:solidFill>
                  <a:srgbClr val="0C3252"/>
                </a:solidFill>
                <a:ea typeface="Nunito Sans" pitchFamily="34" charset="-122"/>
                <a:cs typeface="Nunito Sans" pitchFamily="34" charset="-120"/>
              </a:rPr>
              <a:t> digitale.</a:t>
            </a:r>
            <a:endParaRPr lang="en-US" sz="1050" dirty="0">
              <a:solidFill>
                <a:srgbClr val="0C3252"/>
              </a:solidFill>
            </a:endParaRPr>
          </a:p>
        </p:txBody>
      </p:sp>
      <p:sp>
        <p:nvSpPr>
          <p:cNvPr id="18" name="Shape 4">
            <a:extLst>
              <a:ext uri="{FF2B5EF4-FFF2-40B4-BE49-F238E27FC236}">
                <a16:creationId xmlns:a16="http://schemas.microsoft.com/office/drawing/2014/main" id="{DA5BDC17-5DCE-41BA-A0C8-E11DBB5C2E7C}"/>
              </a:ext>
            </a:extLst>
          </p:cNvPr>
          <p:cNvSpPr/>
          <p:nvPr/>
        </p:nvSpPr>
        <p:spPr>
          <a:xfrm>
            <a:off x="429203" y="2887264"/>
            <a:ext cx="6580210" cy="1152000"/>
          </a:xfrm>
          <a:prstGeom prst="roundRect">
            <a:avLst>
              <a:gd name="adj" fmla="val 333"/>
            </a:avLst>
          </a:prstGeom>
          <a:noFill/>
          <a:ln w="28575">
            <a:solidFill>
              <a:schemeClr val="accent3">
                <a:lumMod val="75000"/>
              </a:schemeClr>
            </a:solidFill>
            <a:prstDash val="solid"/>
          </a:ln>
        </p:spPr>
        <p:txBody>
          <a:bodyPr/>
          <a:lstStyle/>
          <a:p>
            <a:endParaRPr lang="it-IT"/>
          </a:p>
        </p:txBody>
      </p:sp>
      <p:sp>
        <p:nvSpPr>
          <p:cNvPr id="12" name="Text 8">
            <a:extLst>
              <a:ext uri="{FF2B5EF4-FFF2-40B4-BE49-F238E27FC236}">
                <a16:creationId xmlns:a16="http://schemas.microsoft.com/office/drawing/2014/main" id="{927874E0-29A7-463A-BF8B-054174FE392F}"/>
              </a:ext>
            </a:extLst>
          </p:cNvPr>
          <p:cNvSpPr/>
          <p:nvPr/>
        </p:nvSpPr>
        <p:spPr>
          <a:xfrm>
            <a:off x="691962" y="2997963"/>
            <a:ext cx="5203045" cy="166688"/>
          </a:xfrm>
          <a:prstGeom prst="rect">
            <a:avLst/>
          </a:prstGeom>
          <a:noFill/>
          <a:ln/>
        </p:spPr>
        <p:txBody>
          <a:bodyPr wrap="none" lIns="0" tIns="0" rIns="0" bIns="0" rtlCol="0" anchor="t"/>
          <a:lstStyle/>
          <a:p>
            <a:pPr>
              <a:lnSpc>
                <a:spcPct val="150000"/>
              </a:lnSpc>
            </a:pPr>
            <a:r>
              <a:rPr lang="en-US" sz="1200" b="1" err="1">
                <a:solidFill>
                  <a:srgbClr val="0C3252"/>
                </a:solidFill>
                <a:ea typeface="Nunito Sans Bold" pitchFamily="34" charset="-122"/>
                <a:cs typeface="Nunito Sans Bold" pitchFamily="34" charset="-120"/>
              </a:rPr>
              <a:t>Contatori</a:t>
            </a:r>
            <a:r>
              <a:rPr lang="en-US" sz="1200" b="1">
                <a:solidFill>
                  <a:srgbClr val="0C3252"/>
                </a:solidFill>
                <a:ea typeface="Nunito Sans Bold" pitchFamily="34" charset="-122"/>
                <a:cs typeface="Nunito Sans Bold" pitchFamily="34" charset="-120"/>
              </a:rPr>
              <a:t> con </a:t>
            </a:r>
            <a:r>
              <a:rPr lang="en-US" sz="1200" b="1" err="1">
                <a:solidFill>
                  <a:srgbClr val="0C3252"/>
                </a:solidFill>
                <a:ea typeface="Nunito Sans Bold" pitchFamily="34" charset="-122"/>
                <a:cs typeface="Nunito Sans Bold" pitchFamily="34" charset="-120"/>
              </a:rPr>
              <a:t>capienza</a:t>
            </a:r>
            <a:r>
              <a:rPr lang="en-US" sz="1200" b="1">
                <a:solidFill>
                  <a:srgbClr val="0C3252"/>
                </a:solidFill>
                <a:ea typeface="Nunito Sans Bold" pitchFamily="34" charset="-122"/>
                <a:cs typeface="Nunito Sans Bold" pitchFamily="34" charset="-120"/>
              </a:rPr>
              <a:t> 1 per punto vendita</a:t>
            </a:r>
            <a:endParaRPr lang="en-US" sz="1200"/>
          </a:p>
        </p:txBody>
      </p:sp>
      <p:sp>
        <p:nvSpPr>
          <p:cNvPr id="13" name="Text 9">
            <a:extLst>
              <a:ext uri="{FF2B5EF4-FFF2-40B4-BE49-F238E27FC236}">
                <a16:creationId xmlns:a16="http://schemas.microsoft.com/office/drawing/2014/main" id="{EA4AD230-369E-4E28-BB0A-857BFC06BBF1}"/>
              </a:ext>
            </a:extLst>
          </p:cNvPr>
          <p:cNvSpPr/>
          <p:nvPr/>
        </p:nvSpPr>
        <p:spPr>
          <a:xfrm>
            <a:off x="691964" y="3267254"/>
            <a:ext cx="5916327" cy="1023928"/>
          </a:xfrm>
          <a:prstGeom prst="rect">
            <a:avLst/>
          </a:prstGeom>
          <a:noFill/>
          <a:ln/>
        </p:spPr>
        <p:txBody>
          <a:bodyPr wrap="square" lIns="0" tIns="0" rIns="0" bIns="0" rtlCol="0" anchor="t"/>
          <a:lstStyle/>
          <a:p>
            <a:pPr>
              <a:lnSpc>
                <a:spcPct val="150000"/>
              </a:lnSpc>
            </a:pPr>
            <a:r>
              <a:rPr lang="en-US" sz="1050" dirty="0">
                <a:solidFill>
                  <a:srgbClr val="0C3252"/>
                </a:solidFill>
                <a:ea typeface="Nunito Sans" pitchFamily="34" charset="-122"/>
                <a:cs typeface="Nunito Sans" pitchFamily="34" charset="-120"/>
              </a:rPr>
              <a:t>In </a:t>
            </a:r>
            <a:r>
              <a:rPr lang="en-US" sz="1050" dirty="0" err="1">
                <a:solidFill>
                  <a:srgbClr val="0C3252"/>
                </a:solidFill>
                <a:ea typeface="Nunito Sans" pitchFamily="34" charset="-122"/>
                <a:cs typeface="Nunito Sans" pitchFamily="34" charset="-120"/>
              </a:rPr>
              <a:t>questo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modello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ogni</a:t>
            </a:r>
            <a:r>
              <a:rPr lang="en-US" sz="1050" dirty="0">
                <a:solidFill>
                  <a:srgbClr val="0C3252"/>
                </a:solidFill>
                <a:ea typeface="Nunito Sans" pitchFamily="34" charset="-122"/>
                <a:cs typeface="Nunito Sans" pitchFamily="34" charset="-120"/>
              </a:rPr>
              <a:t> punto </a:t>
            </a:r>
            <a:r>
              <a:rPr lang="en-US" sz="1050" dirty="0" err="1">
                <a:solidFill>
                  <a:srgbClr val="0C3252"/>
                </a:solidFill>
                <a:ea typeface="Nunito Sans" pitchFamily="34" charset="-122"/>
                <a:cs typeface="Nunito Sans" pitchFamily="34" charset="-120"/>
              </a:rPr>
              <a:t>vendita</a:t>
            </a:r>
            <a:r>
              <a:rPr lang="en-US" sz="1050" dirty="0">
                <a:solidFill>
                  <a:srgbClr val="0C3252"/>
                </a:solidFill>
                <a:ea typeface="Nunito Sans" pitchFamily="34" charset="-122"/>
                <a:cs typeface="Nunito Sans" pitchFamily="34" charset="-120"/>
              </a:rPr>
              <a:t> dispone di un </a:t>
            </a:r>
            <a:r>
              <a:rPr lang="en-US" sz="1050" dirty="0" err="1">
                <a:solidFill>
                  <a:srgbClr val="0C3252"/>
                </a:solidFill>
                <a:ea typeface="Nunito Sans" pitchFamily="34" charset="-122"/>
                <a:cs typeface="Nunito Sans" pitchFamily="34" charset="-120"/>
              </a:rPr>
              <a:t>contatore</a:t>
            </a:r>
            <a:r>
              <a:rPr lang="en-US" sz="1050" dirty="0">
                <a:solidFill>
                  <a:srgbClr val="0C3252"/>
                </a:solidFill>
                <a:ea typeface="Nunito Sans" pitchFamily="34" charset="-122"/>
                <a:cs typeface="Nunito Sans" pitchFamily="34" charset="-120"/>
              </a:rPr>
              <a:t> con </a:t>
            </a:r>
            <a:r>
              <a:rPr lang="en-US" sz="1050" b="1" dirty="0" err="1">
                <a:solidFill>
                  <a:srgbClr val="0C3252"/>
                </a:solidFill>
                <a:ea typeface="Nunito Sans" pitchFamily="34" charset="-122"/>
                <a:cs typeface="Nunito Sans" pitchFamily="34" charset="-120"/>
              </a:rPr>
              <a:t>capienza</a:t>
            </a:r>
            <a:r>
              <a:rPr lang="en-US" sz="1050" b="1" dirty="0">
                <a:solidFill>
                  <a:srgbClr val="0C3252"/>
                </a:solidFill>
                <a:ea typeface="Nunito Sans" pitchFamily="34" charset="-122"/>
                <a:cs typeface="Nunito Sans" pitchFamily="34" charset="-120"/>
              </a:rPr>
              <a:t> </a:t>
            </a:r>
            <a:r>
              <a:rPr lang="en-US" sz="1050" b="1" dirty="0" err="1">
                <a:solidFill>
                  <a:srgbClr val="0C3252"/>
                </a:solidFill>
                <a:ea typeface="Nunito Sans" pitchFamily="34" charset="-122"/>
                <a:cs typeface="Nunito Sans" pitchFamily="34" charset="-120"/>
              </a:rPr>
              <a:t>massima</a:t>
            </a:r>
            <a:r>
              <a:rPr lang="en-US" sz="1050" b="1" dirty="0">
                <a:solidFill>
                  <a:srgbClr val="0C3252"/>
                </a:solidFill>
                <a:ea typeface="Nunito Sans" pitchFamily="34" charset="-122"/>
                <a:cs typeface="Nunito Sans" pitchFamily="34" charset="-120"/>
              </a:rPr>
              <a:t> </a:t>
            </a:r>
            <a:r>
              <a:rPr lang="en-US" sz="1050" b="1" dirty="0" err="1">
                <a:solidFill>
                  <a:srgbClr val="0C3252"/>
                </a:solidFill>
                <a:ea typeface="Nunito Sans" pitchFamily="34" charset="-122"/>
                <a:cs typeface="Nunito Sans" pitchFamily="34" charset="-120"/>
              </a:rPr>
              <a:t>uguale</a:t>
            </a:r>
            <a:r>
              <a:rPr lang="en-US" sz="1050" b="1" dirty="0">
                <a:solidFill>
                  <a:srgbClr val="0C3252"/>
                </a:solidFill>
                <a:ea typeface="Nunito Sans" pitchFamily="34" charset="-122"/>
                <a:cs typeface="Nunito Sans" pitchFamily="34" charset="-120"/>
              </a:rPr>
              <a:t> a 1</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Ogni</a:t>
            </a:r>
            <a:r>
              <a:rPr lang="en-US" sz="1050" dirty="0">
                <a:solidFill>
                  <a:srgbClr val="0C3252"/>
                </a:solidFill>
                <a:ea typeface="Nunito Sans" pitchFamily="34" charset="-122"/>
                <a:cs typeface="Nunito Sans" pitchFamily="34" charset="-120"/>
              </a:rPr>
              <a:t> punto </a:t>
            </a:r>
            <a:r>
              <a:rPr lang="en-US" sz="1050" dirty="0" err="1">
                <a:solidFill>
                  <a:srgbClr val="0C3252"/>
                </a:solidFill>
                <a:ea typeface="Nunito Sans" pitchFamily="34" charset="-122"/>
                <a:cs typeface="Nunito Sans" pitchFamily="34" charset="-120"/>
              </a:rPr>
              <a:t>vendita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riceve</a:t>
            </a:r>
            <a:r>
              <a:rPr lang="en-US" sz="1050" dirty="0">
                <a:solidFill>
                  <a:srgbClr val="0C3252"/>
                </a:solidFill>
                <a:ea typeface="Nunito Sans" pitchFamily="34" charset="-122"/>
                <a:cs typeface="Nunito Sans" pitchFamily="34" charset="-120"/>
              </a:rPr>
              <a:t> un solo lead per </a:t>
            </a:r>
            <a:r>
              <a:rPr lang="en-US" sz="1050" dirty="0" err="1">
                <a:solidFill>
                  <a:srgbClr val="0C3252"/>
                </a:solidFill>
                <a:ea typeface="Nunito Sans" pitchFamily="34" charset="-122"/>
                <a:cs typeface="Nunito Sans" pitchFamily="34" charset="-120"/>
              </a:rPr>
              <a:t>turno</a:t>
            </a:r>
            <a:r>
              <a:rPr lang="en-US" sz="1050" dirty="0">
                <a:solidFill>
                  <a:srgbClr val="0C3252"/>
                </a:solidFill>
                <a:ea typeface="Nunito Sans" pitchFamily="34" charset="-122"/>
                <a:cs typeface="Nunito Sans" pitchFamily="34" charset="-120"/>
              </a:rPr>
              <a:t> prima </a:t>
            </a:r>
            <a:r>
              <a:rPr lang="en-US" sz="1050" dirty="0" err="1">
                <a:solidFill>
                  <a:srgbClr val="0C3252"/>
                </a:solidFill>
                <a:ea typeface="Nunito Sans" pitchFamily="34" charset="-122"/>
                <a:cs typeface="Nunito Sans" pitchFamily="34" charset="-120"/>
              </a:rPr>
              <a:t>che</a:t>
            </a:r>
            <a:r>
              <a:rPr lang="en-US" sz="1050" dirty="0">
                <a:solidFill>
                  <a:srgbClr val="0C3252"/>
                </a:solidFill>
                <a:ea typeface="Nunito Sans" pitchFamily="34" charset="-122"/>
                <a:cs typeface="Nunito Sans" pitchFamily="34" charset="-120"/>
              </a:rPr>
              <a:t> il </a:t>
            </a:r>
            <a:r>
              <a:rPr lang="en-US" sz="1050" dirty="0" err="1">
                <a:solidFill>
                  <a:srgbClr val="0C3252"/>
                </a:solidFill>
                <a:ea typeface="Nunito Sans" pitchFamily="34" charset="-122"/>
                <a:cs typeface="Nunito Sans" pitchFamily="34" charset="-120"/>
              </a:rPr>
              <a:t>contatore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venga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consumato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garantendo</a:t>
            </a:r>
            <a:r>
              <a:rPr lang="en-US" sz="1050" dirty="0">
                <a:solidFill>
                  <a:srgbClr val="0C3252"/>
                </a:solidFill>
                <a:ea typeface="Nunito Sans" pitchFamily="34" charset="-122"/>
                <a:cs typeface="Nunito Sans" pitchFamily="34" charset="-120"/>
              </a:rPr>
              <a:t> la </a:t>
            </a:r>
            <a:r>
              <a:rPr lang="en-US" sz="1050" dirty="0" err="1">
                <a:solidFill>
                  <a:srgbClr val="0C3252"/>
                </a:solidFill>
                <a:ea typeface="Nunito Sans" pitchFamily="34" charset="-122"/>
                <a:cs typeface="Nunito Sans" pitchFamily="34" charset="-120"/>
              </a:rPr>
              <a:t>rotazione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sistematica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all’interno</a:t>
            </a:r>
            <a:r>
              <a:rPr lang="en-US" sz="1050" dirty="0">
                <a:solidFill>
                  <a:srgbClr val="0C3252"/>
                </a:solidFill>
                <a:ea typeface="Nunito Sans" pitchFamily="34" charset="-122"/>
                <a:cs typeface="Nunito Sans" pitchFamily="34" charset="-120"/>
              </a:rPr>
              <a:t> del CAP.</a:t>
            </a:r>
            <a:endParaRPr lang="en-US" sz="1050" dirty="0"/>
          </a:p>
        </p:txBody>
      </p:sp>
      <p:sp>
        <p:nvSpPr>
          <p:cNvPr id="19" name="Shape 4">
            <a:extLst>
              <a:ext uri="{FF2B5EF4-FFF2-40B4-BE49-F238E27FC236}">
                <a16:creationId xmlns:a16="http://schemas.microsoft.com/office/drawing/2014/main" id="{991ADBFB-72AA-457C-827B-10BE51B396C6}"/>
              </a:ext>
            </a:extLst>
          </p:cNvPr>
          <p:cNvSpPr/>
          <p:nvPr/>
        </p:nvSpPr>
        <p:spPr>
          <a:xfrm>
            <a:off x="429203" y="4620890"/>
            <a:ext cx="6580210" cy="1152000"/>
          </a:xfrm>
          <a:prstGeom prst="roundRect">
            <a:avLst>
              <a:gd name="adj" fmla="val 333"/>
            </a:avLst>
          </a:prstGeom>
          <a:noFill/>
          <a:ln w="28575">
            <a:solidFill>
              <a:schemeClr val="accent3">
                <a:lumMod val="75000"/>
              </a:schemeClr>
            </a:solidFill>
            <a:prstDash val="solid"/>
          </a:ln>
        </p:spPr>
        <p:txBody>
          <a:bodyPr/>
          <a:lstStyle/>
          <a:p>
            <a:endParaRPr lang="it-IT"/>
          </a:p>
        </p:txBody>
      </p:sp>
      <p:sp>
        <p:nvSpPr>
          <p:cNvPr id="15" name="Text 11">
            <a:extLst>
              <a:ext uri="{FF2B5EF4-FFF2-40B4-BE49-F238E27FC236}">
                <a16:creationId xmlns:a16="http://schemas.microsoft.com/office/drawing/2014/main" id="{85860DDA-2CFD-4A47-908A-FEBBD52E4FFC}"/>
              </a:ext>
            </a:extLst>
          </p:cNvPr>
          <p:cNvSpPr/>
          <p:nvPr/>
        </p:nvSpPr>
        <p:spPr>
          <a:xfrm>
            <a:off x="727477" y="4733661"/>
            <a:ext cx="5835134" cy="166688"/>
          </a:xfrm>
          <a:prstGeom prst="rect">
            <a:avLst/>
          </a:prstGeom>
          <a:noFill/>
          <a:ln/>
        </p:spPr>
        <p:txBody>
          <a:bodyPr wrap="none" lIns="0" tIns="0" rIns="0" bIns="0" rtlCol="0" anchor="t"/>
          <a:lstStyle/>
          <a:p>
            <a:pPr marL="0" indent="0" algn="l">
              <a:lnSpc>
                <a:spcPct val="150000"/>
              </a:lnSpc>
              <a:buNone/>
            </a:pPr>
            <a:r>
              <a:rPr lang="en-US" sz="1200" b="1">
                <a:solidFill>
                  <a:srgbClr val="0C3252"/>
                </a:solidFill>
                <a:ea typeface="Nunito Sans Bold" pitchFamily="34" charset="-122"/>
                <a:cs typeface="Nunito Sans Bold" pitchFamily="34" charset="-120"/>
              </a:rPr>
              <a:t>Massima </a:t>
            </a:r>
            <a:r>
              <a:rPr lang="en-US" sz="1200" b="1" err="1">
                <a:solidFill>
                  <a:srgbClr val="0C3252"/>
                </a:solidFill>
                <a:ea typeface="Nunito Sans Bold" pitchFamily="34" charset="-122"/>
                <a:cs typeface="Nunito Sans Bold" pitchFamily="34" charset="-120"/>
              </a:rPr>
              <a:t>equità</a:t>
            </a:r>
            <a:r>
              <a:rPr lang="en-US" sz="1200" b="1">
                <a:solidFill>
                  <a:srgbClr val="0C3252"/>
                </a:solidFill>
                <a:ea typeface="Nunito Sans Bold" pitchFamily="34" charset="-122"/>
                <a:cs typeface="Nunito Sans Bold" pitchFamily="34" charset="-120"/>
              </a:rPr>
              <a:t> </a:t>
            </a:r>
            <a:r>
              <a:rPr lang="en-US" sz="1200" b="1" err="1">
                <a:solidFill>
                  <a:srgbClr val="0C3252"/>
                </a:solidFill>
                <a:ea typeface="Nunito Sans Bold" pitchFamily="34" charset="-122"/>
                <a:cs typeface="Nunito Sans Bold" pitchFamily="34" charset="-120"/>
              </a:rPr>
              <a:t>distributiva</a:t>
            </a:r>
            <a:r>
              <a:rPr lang="en-US" sz="1200" b="1">
                <a:solidFill>
                  <a:srgbClr val="0C3252"/>
                </a:solidFill>
                <a:ea typeface="Nunito Sans Bold" pitchFamily="34" charset="-122"/>
                <a:cs typeface="Nunito Sans Bold" pitchFamily="34" charset="-120"/>
              </a:rPr>
              <a:t> </a:t>
            </a:r>
            <a:r>
              <a:rPr lang="en-US" sz="1200" b="1" err="1">
                <a:solidFill>
                  <a:srgbClr val="0C3252"/>
                </a:solidFill>
                <a:ea typeface="Nunito Sans Bold" pitchFamily="34" charset="-122"/>
                <a:cs typeface="Nunito Sans Bold" pitchFamily="34" charset="-120"/>
              </a:rPr>
              <a:t>all’interno</a:t>
            </a:r>
            <a:r>
              <a:rPr lang="en-US" sz="1200" b="1">
                <a:solidFill>
                  <a:srgbClr val="0C3252"/>
                </a:solidFill>
                <a:ea typeface="Nunito Sans Bold" pitchFamily="34" charset="-122"/>
                <a:cs typeface="Nunito Sans Bold" pitchFamily="34" charset="-120"/>
              </a:rPr>
              <a:t> del CAP</a:t>
            </a:r>
            <a:endParaRPr lang="en-US" sz="1200"/>
          </a:p>
        </p:txBody>
      </p:sp>
      <p:sp>
        <p:nvSpPr>
          <p:cNvPr id="16" name="Text 12">
            <a:extLst>
              <a:ext uri="{FF2B5EF4-FFF2-40B4-BE49-F238E27FC236}">
                <a16:creationId xmlns:a16="http://schemas.microsoft.com/office/drawing/2014/main" id="{8272C6C0-79EE-4954-B843-BCFEE7C3B962}"/>
              </a:ext>
            </a:extLst>
          </p:cNvPr>
          <p:cNvSpPr/>
          <p:nvPr/>
        </p:nvSpPr>
        <p:spPr>
          <a:xfrm>
            <a:off x="727479" y="4964336"/>
            <a:ext cx="5983955" cy="1023928"/>
          </a:xfrm>
          <a:prstGeom prst="rect">
            <a:avLst/>
          </a:prstGeom>
          <a:noFill/>
          <a:ln/>
        </p:spPr>
        <p:txBody>
          <a:bodyPr wrap="square" lIns="0" tIns="0" rIns="0" bIns="0" rtlCol="0" anchor="t"/>
          <a:lstStyle/>
          <a:p>
            <a:pPr>
              <a:lnSpc>
                <a:spcPct val="150000"/>
              </a:lnSpc>
            </a:pPr>
            <a:r>
              <a:rPr lang="en-US" sz="1050" dirty="0">
                <a:solidFill>
                  <a:srgbClr val="0C3252"/>
                </a:solidFill>
                <a:ea typeface="Nunito Sans" pitchFamily="34" charset="-122"/>
                <a:cs typeface="Nunito Sans" pitchFamily="34" charset="-120"/>
              </a:rPr>
              <a:t>La </a:t>
            </a:r>
            <a:r>
              <a:rPr lang="en-US" sz="1050" dirty="0" err="1">
                <a:solidFill>
                  <a:srgbClr val="0C3252"/>
                </a:solidFill>
                <a:ea typeface="Nunito Sans" pitchFamily="34" charset="-122"/>
                <a:cs typeface="Nunito Sans" pitchFamily="34" charset="-120"/>
              </a:rPr>
              <a:t>presenza</a:t>
            </a:r>
            <a:r>
              <a:rPr lang="en-US" sz="1050" dirty="0">
                <a:solidFill>
                  <a:srgbClr val="0C3252"/>
                </a:solidFill>
                <a:ea typeface="Nunito Sans" pitchFamily="34" charset="-122"/>
                <a:cs typeface="Nunito Sans" pitchFamily="34" charset="-120"/>
              </a:rPr>
              <a:t> di </a:t>
            </a:r>
            <a:r>
              <a:rPr lang="en-US" sz="1050" dirty="0" err="1">
                <a:solidFill>
                  <a:srgbClr val="0C3252"/>
                </a:solidFill>
                <a:ea typeface="Nunito Sans" pitchFamily="34" charset="-122"/>
                <a:cs typeface="Nunito Sans" pitchFamily="34" charset="-120"/>
              </a:rPr>
              <a:t>contatori</a:t>
            </a:r>
            <a:r>
              <a:rPr lang="en-US" sz="1050" dirty="0">
                <a:solidFill>
                  <a:srgbClr val="0C3252"/>
                </a:solidFill>
                <a:ea typeface="Nunito Sans" pitchFamily="34" charset="-122"/>
                <a:cs typeface="Nunito Sans" pitchFamily="34" charset="-120"/>
              </a:rPr>
              <a:t> con </a:t>
            </a:r>
            <a:r>
              <a:rPr lang="en-US" sz="1050" dirty="0" err="1">
                <a:solidFill>
                  <a:srgbClr val="0C3252"/>
                </a:solidFill>
                <a:ea typeface="Nunito Sans" pitchFamily="34" charset="-122"/>
                <a:cs typeface="Nunito Sans" pitchFamily="34" charset="-120"/>
              </a:rPr>
              <a:t>capienza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unitaria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assicura</a:t>
            </a:r>
            <a:r>
              <a:rPr lang="en-US" sz="1050" dirty="0">
                <a:solidFill>
                  <a:srgbClr val="0C3252"/>
                </a:solidFill>
                <a:ea typeface="Nunito Sans" pitchFamily="34" charset="-122"/>
                <a:cs typeface="Nunito Sans" pitchFamily="34" charset="-120"/>
              </a:rPr>
              <a:t> la </a:t>
            </a:r>
            <a:r>
              <a:rPr lang="en-US" sz="1050" b="1" dirty="0" err="1">
                <a:solidFill>
                  <a:srgbClr val="0C3252"/>
                </a:solidFill>
                <a:ea typeface="Nunito Sans" pitchFamily="34" charset="-122"/>
                <a:cs typeface="Nunito Sans" pitchFamily="34" charset="-120"/>
              </a:rPr>
              <a:t>massima</a:t>
            </a:r>
            <a:r>
              <a:rPr lang="en-US" sz="1050" b="1" dirty="0">
                <a:solidFill>
                  <a:srgbClr val="0C3252"/>
                </a:solidFill>
                <a:ea typeface="Nunito Sans" pitchFamily="34" charset="-122"/>
                <a:cs typeface="Nunito Sans" pitchFamily="34" charset="-120"/>
              </a:rPr>
              <a:t> </a:t>
            </a:r>
            <a:r>
              <a:rPr lang="en-US" sz="1050" b="1" dirty="0" err="1">
                <a:solidFill>
                  <a:srgbClr val="0C3252"/>
                </a:solidFill>
                <a:ea typeface="Nunito Sans" pitchFamily="34" charset="-122"/>
                <a:cs typeface="Nunito Sans" pitchFamily="34" charset="-120"/>
              </a:rPr>
              <a:t>equità</a:t>
            </a:r>
            <a:r>
              <a:rPr lang="en-US" sz="1050" b="1" dirty="0">
                <a:solidFill>
                  <a:srgbClr val="0C3252"/>
                </a:solidFill>
                <a:ea typeface="Nunito Sans" pitchFamily="34" charset="-122"/>
                <a:cs typeface="Nunito Sans" pitchFamily="34" charset="-120"/>
              </a:rPr>
              <a:t> di </a:t>
            </a:r>
            <a:r>
              <a:rPr lang="en-US" sz="1050" b="1" dirty="0" err="1">
                <a:solidFill>
                  <a:srgbClr val="0C3252"/>
                </a:solidFill>
                <a:ea typeface="Nunito Sans" pitchFamily="34" charset="-122"/>
                <a:cs typeface="Nunito Sans" pitchFamily="34" charset="-120"/>
              </a:rPr>
              <a:t>distribuzione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dei</a:t>
            </a:r>
            <a:r>
              <a:rPr lang="en-US" sz="1050" dirty="0">
                <a:solidFill>
                  <a:srgbClr val="0C3252"/>
                </a:solidFill>
                <a:ea typeface="Nunito Sans" pitchFamily="34" charset="-122"/>
                <a:cs typeface="Nunito Sans" pitchFamily="34" charset="-120"/>
              </a:rPr>
              <a:t> lead </a:t>
            </a:r>
            <a:r>
              <a:rPr lang="en-US" sz="1050" dirty="0" err="1">
                <a:solidFill>
                  <a:srgbClr val="0C3252"/>
                </a:solidFill>
                <a:ea typeface="Nunito Sans" pitchFamily="34" charset="-122"/>
                <a:cs typeface="Nunito Sans" pitchFamily="34" charset="-120"/>
              </a:rPr>
              <a:t>all'interno</a:t>
            </a:r>
            <a:r>
              <a:rPr lang="en-US" sz="1050" dirty="0">
                <a:solidFill>
                  <a:srgbClr val="0C3252"/>
                </a:solidFill>
                <a:ea typeface="Nunito Sans" pitchFamily="34" charset="-122"/>
                <a:cs typeface="Nunito Sans" pitchFamily="34" charset="-120"/>
              </a:rPr>
              <a:t> del CAP di </a:t>
            </a:r>
            <a:r>
              <a:rPr lang="en-US" sz="1050" dirty="0" err="1">
                <a:solidFill>
                  <a:srgbClr val="0C3252"/>
                </a:solidFill>
                <a:ea typeface="Nunito Sans" pitchFamily="34" charset="-122"/>
                <a:cs typeface="Nunito Sans" pitchFamily="34" charset="-120"/>
              </a:rPr>
              <a:t>riferimento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Nessun</a:t>
            </a:r>
            <a:r>
              <a:rPr lang="en-US" sz="1050" dirty="0">
                <a:solidFill>
                  <a:srgbClr val="0C3252"/>
                </a:solidFill>
                <a:ea typeface="Nunito Sans" pitchFamily="34" charset="-122"/>
                <a:cs typeface="Nunito Sans" pitchFamily="34" charset="-120"/>
              </a:rPr>
              <a:t> punto </a:t>
            </a:r>
            <a:r>
              <a:rPr lang="en-US" sz="1050" dirty="0" err="1">
                <a:solidFill>
                  <a:srgbClr val="0C3252"/>
                </a:solidFill>
                <a:ea typeface="Nunito Sans" pitchFamily="34" charset="-122"/>
                <a:cs typeface="Nunito Sans" pitchFamily="34" charset="-120"/>
              </a:rPr>
              <a:t>vendita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accumula</a:t>
            </a:r>
            <a:r>
              <a:rPr lang="en-US" sz="1050" dirty="0">
                <a:solidFill>
                  <a:srgbClr val="0C3252"/>
                </a:solidFill>
                <a:ea typeface="Nunito Sans" pitchFamily="34" charset="-122"/>
                <a:cs typeface="Nunito Sans" pitchFamily="34" charset="-120"/>
              </a:rPr>
              <a:t> un </a:t>
            </a:r>
            <a:r>
              <a:rPr lang="en-US" sz="1050" dirty="0" err="1">
                <a:solidFill>
                  <a:srgbClr val="0C3252"/>
                </a:solidFill>
                <a:ea typeface="Nunito Sans" pitchFamily="34" charset="-122"/>
                <a:cs typeface="Nunito Sans" pitchFamily="34" charset="-120"/>
              </a:rPr>
              <a:t>vantaggio</a:t>
            </a:r>
            <a:r>
              <a:rPr lang="en-US" sz="1050" dirty="0">
                <a:solidFill>
                  <a:srgbClr val="0C3252"/>
                </a:solidFill>
                <a:ea typeface="Nunito Sans" pitchFamily="34" charset="-122"/>
                <a:cs typeface="Nunito Sans" pitchFamily="34" charset="-120"/>
              </a:rPr>
              <a:t> rispetto </a:t>
            </a:r>
            <a:r>
              <a:rPr lang="en-US" sz="1050" dirty="0" err="1">
                <a:solidFill>
                  <a:srgbClr val="0C3252"/>
                </a:solidFill>
                <a:ea typeface="Nunito Sans" pitchFamily="34" charset="-122"/>
                <a:cs typeface="Nunito Sans" pitchFamily="34" charset="-120"/>
              </a:rPr>
              <a:t>agli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altri</a:t>
            </a:r>
            <a:r>
              <a:rPr lang="en-US" sz="1050" dirty="0">
                <a:solidFill>
                  <a:srgbClr val="0C3252"/>
                </a:solidFill>
                <a:ea typeface="Nunito Sans" pitchFamily="34" charset="-122"/>
                <a:cs typeface="Nunito Sans" pitchFamily="34" charset="-120"/>
              </a:rPr>
              <a:t> in </a:t>
            </a:r>
            <a:r>
              <a:rPr lang="en-US" sz="1050" dirty="0" err="1">
                <a:solidFill>
                  <a:srgbClr val="0C3252"/>
                </a:solidFill>
                <a:ea typeface="Nunito Sans" pitchFamily="34" charset="-122"/>
                <a:cs typeface="Nunito Sans" pitchFamily="34" charset="-120"/>
              </a:rPr>
              <a:t>quanto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alla</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saturazione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delle</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distribuzioni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sullo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stesso</a:t>
            </a:r>
            <a:r>
              <a:rPr lang="en-US" sz="1050" dirty="0">
                <a:solidFill>
                  <a:srgbClr val="0C3252"/>
                </a:solidFill>
                <a:ea typeface="Nunito Sans" pitchFamily="34" charset="-122"/>
                <a:cs typeface="Nunito Sans" pitchFamily="34" charset="-120"/>
              </a:rPr>
              <a:t> CAP </a:t>
            </a:r>
            <a:r>
              <a:rPr lang="en-US" sz="1050" dirty="0" err="1">
                <a:solidFill>
                  <a:srgbClr val="0C3252"/>
                </a:solidFill>
                <a:ea typeface="Nunito Sans" pitchFamily="34" charset="-122"/>
                <a:cs typeface="Nunito Sans" pitchFamily="34" charset="-120"/>
              </a:rPr>
              <a:t>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contatori</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vengono</a:t>
            </a:r>
            <a:r>
              <a:rPr lang="en-US" sz="1050" dirty="0">
                <a:solidFill>
                  <a:srgbClr val="0C3252"/>
                </a:solidFill>
                <a:ea typeface="Nunito Sans" pitchFamily="34" charset="-122"/>
                <a:cs typeface="Nunito Sans" pitchFamily="34" charset="-120"/>
              </a:rPr>
              <a:t> </a:t>
            </a:r>
            <a:r>
              <a:rPr lang="en-US" sz="1050" dirty="0" err="1">
                <a:solidFill>
                  <a:srgbClr val="0C3252"/>
                </a:solidFill>
                <a:ea typeface="Nunito Sans" pitchFamily="34" charset="-122"/>
                <a:cs typeface="Nunito Sans" pitchFamily="34" charset="-120"/>
              </a:rPr>
              <a:t>riportati</a:t>
            </a:r>
            <a:r>
              <a:rPr lang="en-US" sz="1050" dirty="0">
                <a:solidFill>
                  <a:srgbClr val="0C3252"/>
                </a:solidFill>
                <a:ea typeface="Nunito Sans" pitchFamily="34" charset="-122"/>
                <a:cs typeface="Nunito Sans" pitchFamily="34" charset="-120"/>
              </a:rPr>
              <a:t> a 1</a:t>
            </a:r>
            <a:endParaRPr lang="en-US" sz="1050" dirty="0"/>
          </a:p>
        </p:txBody>
      </p:sp>
      <p:pic>
        <p:nvPicPr>
          <p:cNvPr id="26" name="Immagine 25">
            <a:extLst>
              <a:ext uri="{FF2B5EF4-FFF2-40B4-BE49-F238E27FC236}">
                <a16:creationId xmlns:a16="http://schemas.microsoft.com/office/drawing/2014/main" id="{B7B5D23B-4486-4C0E-A069-B776C96A38A2}"/>
              </a:ext>
            </a:extLst>
          </p:cNvPr>
          <p:cNvPicPr>
            <a:picLocks noChangeAspect="1"/>
          </p:cNvPicPr>
          <p:nvPr/>
        </p:nvPicPr>
        <p:blipFill>
          <a:blip r:embed="rId6"/>
          <a:stretch>
            <a:fillRect/>
          </a:stretch>
        </p:blipFill>
        <p:spPr>
          <a:xfrm>
            <a:off x="8138413" y="1189640"/>
            <a:ext cx="3359039" cy="4478719"/>
          </a:xfrm>
          <a:prstGeom prst="rect">
            <a:avLst/>
          </a:prstGeom>
        </p:spPr>
      </p:pic>
    </p:spTree>
    <p:extLst>
      <p:ext uri="{BB962C8B-B14F-4D97-AF65-F5344CB8AC3E}">
        <p14:creationId xmlns:p14="http://schemas.microsoft.com/office/powerpoint/2010/main" val="24752103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098C-1576-012E-EF45-7E6953E0E81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37B67B0-2587-35C7-0352-94816F11B2C8}"/>
              </a:ext>
            </a:extLst>
          </p:cNvPr>
          <p:cNvGraphicFramePr>
            <a:graphicFrameLocks noChangeAspect="1"/>
          </p:cNvGraphicFramePr>
          <p:nvPr>
            <p:custDataLst>
              <p:tags r:id="rId1"/>
            </p:custDataLst>
            <p:extLst>
              <p:ext uri="{D42A27DB-BD31-4B8C-83A1-F6EECF244321}">
                <p14:modId xmlns:p14="http://schemas.microsoft.com/office/powerpoint/2010/main" val="41296117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B37B67B0-2587-35C7-0352-94816F11B2C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olo 1">
            <a:extLst>
              <a:ext uri="{FF2B5EF4-FFF2-40B4-BE49-F238E27FC236}">
                <a16:creationId xmlns:a16="http://schemas.microsoft.com/office/drawing/2014/main" id="{304DC813-5A46-73EE-749C-4365EBB3699F}"/>
              </a:ext>
            </a:extLst>
          </p:cNvPr>
          <p:cNvSpPr>
            <a:spLocks noGrp="1"/>
          </p:cNvSpPr>
          <p:nvPr>
            <p:ph type="title"/>
          </p:nvPr>
        </p:nvSpPr>
        <p:spPr>
          <a:xfrm>
            <a:off x="289560" y="84484"/>
            <a:ext cx="10302057" cy="471783"/>
          </a:xfrm>
        </p:spPr>
        <p:txBody>
          <a:bodyPr vert="horz" lIns="91440" tIns="45720" rIns="91440" bIns="45720" anchor="ctr">
            <a:noAutofit/>
          </a:bodyPr>
          <a:lstStyle/>
          <a:p>
            <a:r>
              <a:rPr lang="it-IT" sz="2000" dirty="0">
                <a:ea typeface="Calibri"/>
                <a:cs typeface="Calibri"/>
              </a:rPr>
              <a:t>Modello Geo-meritocratico</a:t>
            </a:r>
            <a:endParaRPr lang="it-IT" sz="2000" dirty="0"/>
          </a:p>
        </p:txBody>
      </p:sp>
      <p:sp>
        <p:nvSpPr>
          <p:cNvPr id="5" name="Segnaposto numero diapositiva 4">
            <a:extLst>
              <a:ext uri="{FF2B5EF4-FFF2-40B4-BE49-F238E27FC236}">
                <a16:creationId xmlns:a16="http://schemas.microsoft.com/office/drawing/2014/main" id="{5120A02A-7D52-E87E-7540-573298C238AE}"/>
              </a:ext>
            </a:extLst>
          </p:cNvPr>
          <p:cNvSpPr>
            <a:spLocks noGrp="1"/>
          </p:cNvSpPr>
          <p:nvPr>
            <p:ph type="sldNum" sz="quarter" idx="12"/>
          </p:nvPr>
        </p:nvSpPr>
        <p:spPr/>
        <p:txBody>
          <a:bodyPr/>
          <a:lstStyle/>
          <a:p>
            <a:fld id="{7998DEE5-5424-45CB-8336-3215AFBD0173}" type="slidenum">
              <a:rPr lang="it-IT" smtClean="0"/>
              <a:pPr/>
              <a:t>8</a:t>
            </a:fld>
            <a:endParaRPr lang="it-IT"/>
          </a:p>
        </p:txBody>
      </p:sp>
      <p:sp>
        <p:nvSpPr>
          <p:cNvPr id="7" name="Text 3">
            <a:extLst>
              <a:ext uri="{FF2B5EF4-FFF2-40B4-BE49-F238E27FC236}">
                <a16:creationId xmlns:a16="http://schemas.microsoft.com/office/drawing/2014/main" id="{1E028EE4-2703-4813-9418-6C8569EB4133}"/>
              </a:ext>
            </a:extLst>
          </p:cNvPr>
          <p:cNvSpPr/>
          <p:nvPr/>
        </p:nvSpPr>
        <p:spPr>
          <a:xfrm>
            <a:off x="490042" y="890755"/>
            <a:ext cx="11110772" cy="588407"/>
          </a:xfrm>
          <a:prstGeom prst="rect">
            <a:avLst/>
          </a:prstGeom>
          <a:noFill/>
          <a:ln/>
        </p:spPr>
        <p:txBody>
          <a:bodyPr wrap="square" lIns="0" tIns="0" rIns="0" bIns="0" rtlCol="0" anchor="t"/>
          <a:lstStyle/>
          <a:p>
            <a:pPr algn="ctr">
              <a:lnSpc>
                <a:spcPts val="2300"/>
              </a:lnSpc>
            </a:pPr>
            <a:r>
              <a:rPr lang="en-US" sz="1200" dirty="0">
                <a:solidFill>
                  <a:srgbClr val="0C3252"/>
                </a:solidFill>
                <a:ea typeface="Nunito Sans" pitchFamily="34" charset="-122"/>
                <a:cs typeface="Nunito Sans" pitchFamily="34" charset="-120"/>
              </a:rPr>
              <a:t>Il </a:t>
            </a:r>
            <a:r>
              <a:rPr lang="en-US" sz="1200" dirty="0" err="1">
                <a:solidFill>
                  <a:srgbClr val="0C3252"/>
                </a:solidFill>
                <a:ea typeface="Nunito Sans" pitchFamily="34" charset="-122"/>
                <a:cs typeface="Nunito Sans" pitchFamily="34" charset="-120"/>
              </a:rPr>
              <a:t>modello</a:t>
            </a:r>
            <a:r>
              <a:rPr lang="en-US" sz="1200" dirty="0">
                <a:solidFill>
                  <a:srgbClr val="0C3252"/>
                </a:solidFill>
                <a:ea typeface="Nunito Sans" pitchFamily="34" charset="-122"/>
                <a:cs typeface="Nunito Sans" pitchFamily="34" charset="-120"/>
              </a:rPr>
              <a:t> geo-</a:t>
            </a:r>
            <a:r>
              <a:rPr lang="en-US" sz="1200" dirty="0" err="1">
                <a:solidFill>
                  <a:srgbClr val="0C3252"/>
                </a:solidFill>
                <a:ea typeface="Nunito Sans" pitchFamily="34" charset="-122"/>
                <a:cs typeface="Nunito Sans" pitchFamily="34" charset="-120"/>
              </a:rPr>
              <a:t>meritocratico</a:t>
            </a:r>
            <a:r>
              <a:rPr lang="en-US" sz="1200" dirty="0">
                <a:solidFill>
                  <a:srgbClr val="0C3252"/>
                </a:solidFill>
                <a:ea typeface="Nunito Sans" pitchFamily="34" charset="-122"/>
                <a:cs typeface="Nunito Sans" pitchFamily="34" charset="-120"/>
              </a:rPr>
              <a:t> introduce una </a:t>
            </a:r>
            <a:r>
              <a:rPr lang="en-US" sz="1200" b="1" dirty="0" err="1">
                <a:solidFill>
                  <a:srgbClr val="0C3252"/>
                </a:solidFill>
                <a:ea typeface="Nunito Sans" pitchFamily="34" charset="-122"/>
                <a:cs typeface="Nunito Sans" pitchFamily="34" charset="-120"/>
              </a:rPr>
              <a:t>componente</a:t>
            </a:r>
            <a:r>
              <a:rPr lang="en-US" sz="1200" b="1" dirty="0">
                <a:solidFill>
                  <a:srgbClr val="0C3252"/>
                </a:solidFill>
                <a:ea typeface="Nunito Sans" pitchFamily="34" charset="-122"/>
                <a:cs typeface="Nunito Sans" pitchFamily="34" charset="-120"/>
              </a:rPr>
              <a:t> di performance </a:t>
            </a:r>
            <a:r>
              <a:rPr lang="en-US" sz="1200" b="1" dirty="0" err="1">
                <a:solidFill>
                  <a:srgbClr val="0C3252"/>
                </a:solidFill>
                <a:ea typeface="Nunito Sans" pitchFamily="34" charset="-122"/>
                <a:cs typeface="Nunito Sans" pitchFamily="34" charset="-120"/>
              </a:rPr>
              <a:t>agenziale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nel</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processo</a:t>
            </a:r>
            <a:r>
              <a:rPr lang="en-US" sz="1200" dirty="0">
                <a:solidFill>
                  <a:srgbClr val="0C3252"/>
                </a:solidFill>
                <a:ea typeface="Nunito Sans" pitchFamily="34" charset="-122"/>
                <a:cs typeface="Nunito Sans" pitchFamily="34" charset="-120"/>
              </a:rPr>
              <a:t> di </a:t>
            </a:r>
            <a:r>
              <a:rPr lang="en-US" sz="1200" dirty="0" err="1">
                <a:solidFill>
                  <a:srgbClr val="0C3252"/>
                </a:solidFill>
                <a:ea typeface="Nunito Sans" pitchFamily="34" charset="-122"/>
                <a:cs typeface="Nunito Sans" pitchFamily="34" charset="-120"/>
              </a:rPr>
              <a:t>assegnazione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dei</a:t>
            </a:r>
            <a:r>
              <a:rPr lang="en-US" sz="1200" dirty="0">
                <a:solidFill>
                  <a:srgbClr val="0C3252"/>
                </a:solidFill>
                <a:ea typeface="Nunito Sans" pitchFamily="34" charset="-122"/>
                <a:cs typeface="Nunito Sans" pitchFamily="34" charset="-120"/>
              </a:rPr>
              <a:t> prospect, </a:t>
            </a:r>
            <a:r>
              <a:rPr lang="en-US" sz="1200" dirty="0" err="1">
                <a:solidFill>
                  <a:srgbClr val="0C3252"/>
                </a:solidFill>
                <a:ea typeface="Nunito Sans" pitchFamily="34" charset="-122"/>
                <a:cs typeface="Nunito Sans" pitchFamily="34" charset="-120"/>
              </a:rPr>
              <a:t>valorizzando</a:t>
            </a:r>
            <a:r>
              <a:rPr lang="en-US" sz="1200" dirty="0">
                <a:solidFill>
                  <a:srgbClr val="0C3252"/>
                </a:solidFill>
                <a:ea typeface="Nunito Sans" pitchFamily="34" charset="-122"/>
                <a:cs typeface="Nunito Sans" pitchFamily="34" charset="-120"/>
              </a:rPr>
              <a:t> le </a:t>
            </a:r>
            <a:r>
              <a:rPr lang="en-US" sz="1200" dirty="0" err="1">
                <a:solidFill>
                  <a:srgbClr val="0C3252"/>
                </a:solidFill>
                <a:ea typeface="Nunito Sans" pitchFamily="34" charset="-122"/>
                <a:cs typeface="Nunito Sans" pitchFamily="34" charset="-120"/>
              </a:rPr>
              <a:t>agenzie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più</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virtuose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attraverso</a:t>
            </a:r>
            <a:r>
              <a:rPr lang="en-US" sz="1200" dirty="0">
                <a:solidFill>
                  <a:srgbClr val="0C3252"/>
                </a:solidFill>
                <a:ea typeface="Nunito Sans" pitchFamily="34" charset="-122"/>
                <a:cs typeface="Nunito Sans" pitchFamily="34" charset="-120"/>
              </a:rPr>
              <a:t> una </a:t>
            </a:r>
            <a:r>
              <a:rPr lang="en-US" sz="1200" dirty="0" err="1">
                <a:solidFill>
                  <a:srgbClr val="0C3252"/>
                </a:solidFill>
                <a:ea typeface="Nunito Sans" pitchFamily="34" charset="-122"/>
                <a:cs typeface="Nunito Sans" pitchFamily="34" charset="-120"/>
              </a:rPr>
              <a:t>capacità</a:t>
            </a:r>
            <a:r>
              <a:rPr lang="en-US" sz="1200" dirty="0">
                <a:solidFill>
                  <a:srgbClr val="0C3252"/>
                </a:solidFill>
                <a:ea typeface="Nunito Sans" pitchFamily="34" charset="-122"/>
                <a:cs typeface="Nunito Sans" pitchFamily="34" charset="-120"/>
              </a:rPr>
              <a:t> di </a:t>
            </a:r>
            <a:r>
              <a:rPr lang="en-US" sz="1200" dirty="0" err="1">
                <a:solidFill>
                  <a:srgbClr val="0C3252"/>
                </a:solidFill>
                <a:ea typeface="Nunito Sans" pitchFamily="34" charset="-122"/>
                <a:cs typeface="Nunito Sans" pitchFamily="34" charset="-120"/>
              </a:rPr>
              <a:t>ricezione</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proporzionale</a:t>
            </a:r>
            <a:r>
              <a:rPr lang="en-US" sz="1200" dirty="0">
                <a:solidFill>
                  <a:srgbClr val="0C3252"/>
                </a:solidFill>
                <a:ea typeface="Nunito Sans" pitchFamily="34" charset="-122"/>
                <a:cs typeface="Nunito Sans" pitchFamily="34" charset="-120"/>
              </a:rPr>
              <a:t> al </a:t>
            </a:r>
            <a:r>
              <a:rPr lang="en-US" sz="1200" dirty="0" err="1">
                <a:solidFill>
                  <a:srgbClr val="0C3252"/>
                </a:solidFill>
                <a:ea typeface="Nunito Sans" pitchFamily="34" charset="-122"/>
                <a:cs typeface="Nunito Sans" pitchFamily="34" charset="-120"/>
              </a:rPr>
              <a:t>loro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merito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Questo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approccio</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bilancia</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prossimità</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geografica</a:t>
            </a:r>
            <a:r>
              <a:rPr lang="en-US" sz="1200" dirty="0">
                <a:solidFill>
                  <a:srgbClr val="0C3252"/>
                </a:solidFill>
                <a:ea typeface="Nunito Sans" pitchFamily="34" charset="-122"/>
                <a:cs typeface="Nunito Sans" pitchFamily="34" charset="-120"/>
              </a:rPr>
              <a:t> e </a:t>
            </a:r>
            <a:r>
              <a:rPr lang="en-US" sz="1200" dirty="0" err="1">
                <a:solidFill>
                  <a:srgbClr val="0C3252"/>
                </a:solidFill>
                <a:ea typeface="Nunito Sans" pitchFamily="34" charset="-122"/>
                <a:cs typeface="Nunito Sans" pitchFamily="34" charset="-120"/>
              </a:rPr>
              <a:t>qualità</a:t>
            </a:r>
            <a:r>
              <a:rPr lang="en-US" sz="1200" dirty="0">
                <a:solidFill>
                  <a:srgbClr val="0C3252"/>
                </a:solidFill>
                <a:ea typeface="Nunito Sans" pitchFamily="34" charset="-122"/>
                <a:cs typeface="Nunito Sans" pitchFamily="34" charset="-120"/>
              </a:rPr>
              <a:t> </a:t>
            </a:r>
            <a:r>
              <a:rPr lang="en-US" sz="1200" dirty="0" err="1">
                <a:solidFill>
                  <a:srgbClr val="0C3252"/>
                </a:solidFill>
                <a:ea typeface="Nunito Sans" pitchFamily="34" charset="-122"/>
                <a:cs typeface="Nunito Sans" pitchFamily="34" charset="-120"/>
              </a:rPr>
              <a:t>operativa</a:t>
            </a:r>
            <a:r>
              <a:rPr lang="en-US" sz="1200" dirty="0">
                <a:solidFill>
                  <a:srgbClr val="0C3252"/>
                </a:solidFill>
                <a:ea typeface="Nunito Sans" pitchFamily="34" charset="-122"/>
                <a:cs typeface="Nunito Sans" pitchFamily="34" charset="-120"/>
              </a:rPr>
              <a:t>.</a:t>
            </a:r>
            <a:endParaRPr lang="en-US" sz="1200" dirty="0"/>
          </a:p>
        </p:txBody>
      </p:sp>
      <p:grpSp>
        <p:nvGrpSpPr>
          <p:cNvPr id="16" name="Gruppo 15">
            <a:extLst>
              <a:ext uri="{FF2B5EF4-FFF2-40B4-BE49-F238E27FC236}">
                <a16:creationId xmlns:a16="http://schemas.microsoft.com/office/drawing/2014/main" id="{4306CC2D-AD80-4287-918E-3488D0B84E65}"/>
              </a:ext>
            </a:extLst>
          </p:cNvPr>
          <p:cNvGrpSpPr/>
          <p:nvPr/>
        </p:nvGrpSpPr>
        <p:grpSpPr>
          <a:xfrm>
            <a:off x="247038" y="1816102"/>
            <a:ext cx="11744333" cy="1267426"/>
            <a:chOff x="247038" y="2080958"/>
            <a:chExt cx="11744333" cy="1267426"/>
          </a:xfrm>
        </p:grpSpPr>
        <p:sp>
          <p:nvSpPr>
            <p:cNvPr id="8" name="Shape 4">
              <a:extLst>
                <a:ext uri="{FF2B5EF4-FFF2-40B4-BE49-F238E27FC236}">
                  <a16:creationId xmlns:a16="http://schemas.microsoft.com/office/drawing/2014/main" id="{0E489AF1-5D38-438B-B28C-818B3A1D8F2B}"/>
                </a:ext>
              </a:extLst>
            </p:cNvPr>
            <p:cNvSpPr/>
            <p:nvPr/>
          </p:nvSpPr>
          <p:spPr>
            <a:xfrm>
              <a:off x="247038" y="2080958"/>
              <a:ext cx="11744333" cy="1096293"/>
            </a:xfrm>
            <a:prstGeom prst="roundRect">
              <a:avLst>
                <a:gd name="adj" fmla="val 189"/>
              </a:avLst>
            </a:prstGeom>
            <a:solidFill>
              <a:schemeClr val="accent4">
                <a:lumMod val="40000"/>
                <a:lumOff val="60000"/>
              </a:schemeClr>
            </a:solidFill>
            <a:ln/>
          </p:spPr>
          <p:txBody>
            <a:bodyPr/>
            <a:lstStyle/>
            <a:p>
              <a:pPr algn="ctr"/>
              <a:endParaRPr lang="it-IT"/>
            </a:p>
          </p:txBody>
        </p:sp>
        <p:sp>
          <p:nvSpPr>
            <p:cNvPr id="10" name="Text 6">
              <a:extLst>
                <a:ext uri="{FF2B5EF4-FFF2-40B4-BE49-F238E27FC236}">
                  <a16:creationId xmlns:a16="http://schemas.microsoft.com/office/drawing/2014/main" id="{9002DAC6-924D-4855-935A-15BD3C34E8E7}"/>
                </a:ext>
              </a:extLst>
            </p:cNvPr>
            <p:cNvSpPr/>
            <p:nvPr/>
          </p:nvSpPr>
          <p:spPr>
            <a:xfrm>
              <a:off x="435514" y="2171570"/>
              <a:ext cx="11069795" cy="1176814"/>
            </a:xfrm>
            <a:prstGeom prst="rect">
              <a:avLst/>
            </a:prstGeom>
            <a:noFill/>
            <a:ln/>
          </p:spPr>
          <p:txBody>
            <a:bodyPr wrap="square" lIns="0" tIns="0" rIns="0" bIns="0" rtlCol="0" anchor="t"/>
            <a:lstStyle/>
            <a:p>
              <a:pPr algn="ctr">
                <a:lnSpc>
                  <a:spcPts val="2300"/>
                </a:lnSpc>
              </a:pPr>
              <a:r>
                <a:rPr lang="en-US" sz="1200" dirty="0">
                  <a:solidFill>
                    <a:srgbClr val="000000"/>
                  </a:solidFill>
                  <a:ea typeface="Nunito Sans" pitchFamily="34" charset="-122"/>
                  <a:cs typeface="Nunito Sans" pitchFamily="34" charset="-120"/>
                </a:rPr>
                <a:t>Il </a:t>
              </a:r>
              <a:r>
                <a:rPr lang="en-US" sz="1200" dirty="0" err="1">
                  <a:solidFill>
                    <a:srgbClr val="000000"/>
                  </a:solidFill>
                  <a:ea typeface="Nunito Sans" pitchFamily="34" charset="-122"/>
                  <a:cs typeface="Nunito Sans" pitchFamily="34" charset="-120"/>
                </a:rPr>
                <a:t>sistema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assegna</a:t>
              </a:r>
              <a:r>
                <a:rPr lang="en-US" sz="1200" dirty="0">
                  <a:solidFill>
                    <a:srgbClr val="000000"/>
                  </a:solidFill>
                  <a:ea typeface="Nunito Sans" pitchFamily="34" charset="-122"/>
                  <a:cs typeface="Nunito Sans" pitchFamily="34" charset="-120"/>
                </a:rPr>
                <a:t> il lead al Punto </a:t>
              </a:r>
              <a:r>
                <a:rPr lang="en-US" sz="1200" dirty="0" err="1">
                  <a:solidFill>
                    <a:srgbClr val="000000"/>
                  </a:solidFill>
                  <a:ea typeface="Nunito Sans" pitchFamily="34" charset="-122"/>
                  <a:cs typeface="Nunito Sans" pitchFamily="34" charset="-120"/>
                </a:rPr>
                <a:t>vendita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più</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vicino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che</a:t>
              </a:r>
              <a:r>
                <a:rPr lang="en-US" sz="1200" dirty="0">
                  <a:solidFill>
                    <a:srgbClr val="000000"/>
                  </a:solidFill>
                  <a:ea typeface="Nunito Sans" pitchFamily="34" charset="-122"/>
                  <a:cs typeface="Nunito Sans" pitchFamily="34" charset="-120"/>
                </a:rPr>
                <a:t> dispone di un </a:t>
              </a:r>
              <a:r>
                <a:rPr lang="en-US" sz="1200" dirty="0" err="1">
                  <a:solidFill>
                    <a:srgbClr val="000000"/>
                  </a:solidFill>
                  <a:ea typeface="Nunito Sans" pitchFamily="34" charset="-122"/>
                  <a:cs typeface="Nunito Sans" pitchFamily="34" charset="-120"/>
                </a:rPr>
                <a:t>contatore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capiente</a:t>
              </a:r>
              <a:r>
                <a:rPr lang="en-US" sz="1200" dirty="0">
                  <a:solidFill>
                    <a:srgbClr val="000000"/>
                  </a:solidFill>
                  <a:ea typeface="Nunito Sans" pitchFamily="34" charset="-122"/>
                  <a:cs typeface="Nunito Sans" pitchFamily="34" charset="-120"/>
                </a:rPr>
                <a:t>". La </a:t>
              </a:r>
              <a:r>
                <a:rPr lang="en-US" sz="1200" dirty="0" err="1">
                  <a:solidFill>
                    <a:srgbClr val="000000"/>
                  </a:solidFill>
                  <a:ea typeface="Nunito Sans" pitchFamily="34" charset="-122"/>
                  <a:cs typeface="Nunito Sans" pitchFamily="34" charset="-120"/>
                </a:rPr>
                <a:t>capienza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massima</a:t>
              </a:r>
              <a:r>
                <a:rPr lang="en-US" sz="1200" dirty="0">
                  <a:solidFill>
                    <a:srgbClr val="000000"/>
                  </a:solidFill>
                  <a:ea typeface="Nunito Sans" pitchFamily="34" charset="-122"/>
                  <a:cs typeface="Nunito Sans" pitchFamily="34" charset="-120"/>
                </a:rPr>
                <a:t> del </a:t>
              </a:r>
              <a:r>
                <a:rPr lang="en-US" sz="1200" dirty="0" err="1">
                  <a:solidFill>
                    <a:srgbClr val="000000"/>
                  </a:solidFill>
                  <a:ea typeface="Nunito Sans" pitchFamily="34" charset="-122"/>
                  <a:cs typeface="Nunito Sans" pitchFamily="34" charset="-120"/>
                </a:rPr>
                <a:t>contatore</a:t>
              </a:r>
              <a:r>
                <a:rPr lang="en-US" sz="1200" dirty="0">
                  <a:solidFill>
                    <a:srgbClr val="000000"/>
                  </a:solidFill>
                  <a:ea typeface="Nunito Sans" pitchFamily="34" charset="-122"/>
                  <a:cs typeface="Nunito Sans" pitchFamily="34" charset="-120"/>
                </a:rPr>
                <a:t> non è </a:t>
              </a:r>
              <a:r>
                <a:rPr lang="en-US" sz="1200" dirty="0" err="1">
                  <a:solidFill>
                    <a:srgbClr val="000000"/>
                  </a:solidFill>
                  <a:ea typeface="Nunito Sans" pitchFamily="34" charset="-122"/>
                  <a:cs typeface="Nunito Sans" pitchFamily="34" charset="-120"/>
                </a:rPr>
                <a:t>fissa</a:t>
              </a:r>
              <a:r>
                <a:rPr lang="en-US" sz="1200" dirty="0">
                  <a:solidFill>
                    <a:srgbClr val="000000"/>
                  </a:solidFill>
                  <a:ea typeface="Nunito Sans" pitchFamily="34" charset="-122"/>
                  <a:cs typeface="Nunito Sans" pitchFamily="34" charset="-120"/>
                </a:rPr>
                <a:t> a 1, ma </a:t>
              </a:r>
              <a:r>
                <a:rPr lang="en-US" sz="1200" dirty="0" err="1">
                  <a:solidFill>
                    <a:srgbClr val="000000"/>
                  </a:solidFill>
                  <a:ea typeface="Nunito Sans" pitchFamily="34" charset="-122"/>
                  <a:cs typeface="Nunito Sans" pitchFamily="34" charset="-120"/>
                </a:rPr>
                <a:t>viene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determinata</a:t>
              </a:r>
              <a:r>
                <a:rPr lang="en-US" sz="1200" dirty="0">
                  <a:solidFill>
                    <a:srgbClr val="000000"/>
                  </a:solidFill>
                  <a:ea typeface="Nunito Sans" pitchFamily="34" charset="-122"/>
                  <a:cs typeface="Nunito Sans" pitchFamily="34" charset="-120"/>
                </a:rPr>
                <a:t> in base al </a:t>
              </a:r>
              <a:r>
                <a:rPr lang="en-US" sz="1200" b="1" dirty="0" err="1">
                  <a:solidFill>
                    <a:srgbClr val="000000"/>
                  </a:solidFill>
                  <a:ea typeface="Nunito Sans" pitchFamily="34" charset="-122"/>
                  <a:cs typeface="Nunito Sans" pitchFamily="34" charset="-120"/>
                </a:rPr>
                <a:t>grado</a:t>
              </a:r>
              <a:r>
                <a:rPr lang="en-US" sz="1200" b="1" dirty="0">
                  <a:solidFill>
                    <a:srgbClr val="000000"/>
                  </a:solidFill>
                  <a:ea typeface="Nunito Sans" pitchFamily="34" charset="-122"/>
                  <a:cs typeface="Nunito Sans" pitchFamily="34" charset="-120"/>
                </a:rPr>
                <a:t> di </a:t>
              </a:r>
              <a:r>
                <a:rPr lang="en-US" sz="1200" b="1" dirty="0" err="1">
                  <a:solidFill>
                    <a:srgbClr val="000000"/>
                  </a:solidFill>
                  <a:ea typeface="Nunito Sans" pitchFamily="34" charset="-122"/>
                  <a:cs typeface="Nunito Sans" pitchFamily="34" charset="-120"/>
                </a:rPr>
                <a:t>meritocrazia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riconosciuto</a:t>
              </a:r>
              <a:r>
                <a:rPr lang="en-US" sz="1200" dirty="0">
                  <a:solidFill>
                    <a:srgbClr val="000000"/>
                  </a:solidFill>
                  <a:ea typeface="Nunito Sans" pitchFamily="34" charset="-122"/>
                  <a:cs typeface="Nunito Sans" pitchFamily="34" charset="-120"/>
                </a:rPr>
                <a:t> al punto </a:t>
              </a:r>
              <a:r>
                <a:rPr lang="en-US" sz="1200" dirty="0" err="1">
                  <a:solidFill>
                    <a:srgbClr val="000000"/>
                  </a:solidFill>
                  <a:ea typeface="Nunito Sans" pitchFamily="34" charset="-122"/>
                  <a:cs typeface="Nunito Sans" pitchFamily="34" charset="-120"/>
                </a:rPr>
                <a:t>vendita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dalla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compagnia</a:t>
              </a:r>
              <a:r>
                <a:rPr lang="en-US" sz="1200" dirty="0">
                  <a:solidFill>
                    <a:srgbClr val="000000"/>
                  </a:solidFill>
                  <a:ea typeface="Nunito Sans" pitchFamily="34" charset="-122"/>
                  <a:cs typeface="Nunito Sans" pitchFamily="34" charset="-120"/>
                </a:rPr>
                <a:t>. Un punto </a:t>
              </a:r>
              <a:r>
                <a:rPr lang="en-US" sz="1200" dirty="0" err="1">
                  <a:solidFill>
                    <a:srgbClr val="000000"/>
                  </a:solidFill>
                  <a:ea typeface="Nunito Sans" pitchFamily="34" charset="-122"/>
                  <a:cs typeface="Nunito Sans" pitchFamily="34" charset="-120"/>
                </a:rPr>
                <a:t>vendita</a:t>
              </a:r>
              <a:r>
                <a:rPr lang="en-US" sz="1200" dirty="0">
                  <a:solidFill>
                    <a:srgbClr val="000000"/>
                  </a:solidFill>
                  <a:ea typeface="Nunito Sans" pitchFamily="34" charset="-122"/>
                  <a:cs typeface="Nunito Sans" pitchFamily="34" charset="-120"/>
                </a:rPr>
                <a:t> con </a:t>
              </a:r>
              <a:r>
                <a:rPr lang="en-US" sz="1200" dirty="0" err="1">
                  <a:solidFill>
                    <a:srgbClr val="000000"/>
                  </a:solidFill>
                  <a:ea typeface="Nunito Sans" pitchFamily="34" charset="-122"/>
                  <a:cs typeface="Nunito Sans" pitchFamily="34" charset="-120"/>
                </a:rPr>
                <a:t>merito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elevato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potrà</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ricevere</a:t>
              </a:r>
              <a:r>
                <a:rPr lang="en-US" sz="1200" dirty="0">
                  <a:solidFill>
                    <a:srgbClr val="000000"/>
                  </a:solidFill>
                  <a:ea typeface="Nunito Sans" pitchFamily="34" charset="-122"/>
                  <a:cs typeface="Nunito Sans" pitchFamily="34" charset="-120"/>
                </a:rPr>
                <a:t> un </a:t>
              </a:r>
              <a:r>
                <a:rPr lang="en-US" sz="1200" dirty="0" err="1">
                  <a:solidFill>
                    <a:srgbClr val="000000"/>
                  </a:solidFill>
                  <a:ea typeface="Nunito Sans" pitchFamily="34" charset="-122"/>
                  <a:cs typeface="Nunito Sans" pitchFamily="34" charset="-120"/>
                </a:rPr>
                <a:t>numero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maggiore</a:t>
              </a:r>
              <a:r>
                <a:rPr lang="en-US" sz="1200" dirty="0">
                  <a:solidFill>
                    <a:srgbClr val="000000"/>
                  </a:solidFill>
                  <a:ea typeface="Nunito Sans" pitchFamily="34" charset="-122"/>
                  <a:cs typeface="Nunito Sans" pitchFamily="34" charset="-120"/>
                </a:rPr>
                <a:t> di lead rispetto a un punto </a:t>
              </a:r>
              <a:r>
                <a:rPr lang="en-US" sz="1200" dirty="0" err="1">
                  <a:solidFill>
                    <a:srgbClr val="000000"/>
                  </a:solidFill>
                  <a:ea typeface="Nunito Sans" pitchFamily="34" charset="-122"/>
                  <a:cs typeface="Nunito Sans" pitchFamily="34" charset="-120"/>
                </a:rPr>
                <a:t>vendita</a:t>
              </a:r>
              <a:r>
                <a:rPr lang="en-US" sz="1200" dirty="0">
                  <a:solidFill>
                    <a:srgbClr val="000000"/>
                  </a:solidFill>
                  <a:ea typeface="Nunito Sans" pitchFamily="34" charset="-122"/>
                  <a:cs typeface="Nunito Sans" pitchFamily="34" charset="-120"/>
                </a:rPr>
                <a:t> con performance </a:t>
              </a:r>
              <a:r>
                <a:rPr lang="en-US" sz="1200" dirty="0" err="1">
                  <a:solidFill>
                    <a:srgbClr val="000000"/>
                  </a:solidFill>
                  <a:ea typeface="Nunito Sans" pitchFamily="34" charset="-122"/>
                  <a:cs typeface="Nunito Sans" pitchFamily="34" charset="-120"/>
                </a:rPr>
                <a:t>inferiori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pur</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rimanendo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nella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stessa</a:t>
              </a:r>
              <a:r>
                <a:rPr lang="en-US" sz="1200" dirty="0">
                  <a:solidFill>
                    <a:srgbClr val="000000"/>
                  </a:solidFill>
                  <a:ea typeface="Nunito Sans" pitchFamily="34" charset="-122"/>
                  <a:cs typeface="Nunito Sans" pitchFamily="34" charset="-120"/>
                </a:rPr>
                <a:t> area </a:t>
              </a:r>
              <a:r>
                <a:rPr lang="en-US" sz="1200" dirty="0" err="1">
                  <a:solidFill>
                    <a:srgbClr val="000000"/>
                  </a:solidFill>
                  <a:ea typeface="Nunito Sans" pitchFamily="34" charset="-122"/>
                  <a:cs typeface="Nunito Sans" pitchFamily="34" charset="-120"/>
                </a:rPr>
                <a:t>geografica</a:t>
              </a:r>
              <a:r>
                <a:rPr lang="en-US" sz="1200" dirty="0">
                  <a:solidFill>
                    <a:srgbClr val="000000"/>
                  </a:solidFill>
                  <a:ea typeface="Nunito Sans" pitchFamily="34" charset="-122"/>
                  <a:cs typeface="Nunito Sans" pitchFamily="34" charset="-120"/>
                </a:rPr>
                <a:t>.</a:t>
              </a:r>
              <a:endParaRPr lang="en-US" sz="1200" dirty="0"/>
            </a:p>
          </p:txBody>
        </p:sp>
      </p:grpSp>
      <p:sp>
        <p:nvSpPr>
          <p:cNvPr id="12" name="Text 8">
            <a:extLst>
              <a:ext uri="{FF2B5EF4-FFF2-40B4-BE49-F238E27FC236}">
                <a16:creationId xmlns:a16="http://schemas.microsoft.com/office/drawing/2014/main" id="{39F9C232-2054-4F99-837D-17CB57B181D4}"/>
              </a:ext>
            </a:extLst>
          </p:cNvPr>
          <p:cNvSpPr/>
          <p:nvPr/>
        </p:nvSpPr>
        <p:spPr>
          <a:xfrm>
            <a:off x="7821220" y="3435008"/>
            <a:ext cx="2402443" cy="294680"/>
          </a:xfrm>
          <a:prstGeom prst="rect">
            <a:avLst/>
          </a:prstGeom>
          <a:noFill/>
          <a:ln/>
        </p:spPr>
        <p:txBody>
          <a:bodyPr wrap="none" lIns="0" tIns="0" rIns="0" bIns="0" rtlCol="0" anchor="t"/>
          <a:lstStyle/>
          <a:p>
            <a:pPr marL="0" indent="0" algn="l">
              <a:lnSpc>
                <a:spcPts val="2300"/>
              </a:lnSpc>
              <a:buNone/>
            </a:pPr>
            <a:r>
              <a:rPr lang="en-US" sz="1600" b="1">
                <a:solidFill>
                  <a:srgbClr val="0C3252"/>
                </a:solidFill>
                <a:ea typeface="Nunito Sans Bold" pitchFamily="34" charset="-122"/>
                <a:cs typeface="Nunito Sans Bold" pitchFamily="34" charset="-120"/>
              </a:rPr>
              <a:t>Gestione dei contatori</a:t>
            </a:r>
            <a:endParaRPr lang="en-US" sz="1600"/>
          </a:p>
        </p:txBody>
      </p:sp>
      <p:sp>
        <p:nvSpPr>
          <p:cNvPr id="13" name="Text 9">
            <a:extLst>
              <a:ext uri="{FF2B5EF4-FFF2-40B4-BE49-F238E27FC236}">
                <a16:creationId xmlns:a16="http://schemas.microsoft.com/office/drawing/2014/main" id="{0116B716-2C88-42FF-ACD6-898E06471DDF}"/>
              </a:ext>
            </a:extLst>
          </p:cNvPr>
          <p:cNvSpPr/>
          <p:nvPr/>
        </p:nvSpPr>
        <p:spPr>
          <a:xfrm>
            <a:off x="6152827" y="3752503"/>
            <a:ext cx="5817692" cy="1845765"/>
          </a:xfrm>
          <a:prstGeom prst="rect">
            <a:avLst/>
          </a:prstGeom>
          <a:noFill/>
          <a:ln w="19050">
            <a:solidFill>
              <a:schemeClr val="accent3">
                <a:lumMod val="60000"/>
                <a:lumOff val="40000"/>
              </a:schemeClr>
            </a:solidFill>
          </a:ln>
        </p:spPr>
        <p:txBody>
          <a:bodyPr wrap="square" lIns="0" tIns="0" rIns="0" bIns="0" rtlCol="0" anchor="t"/>
          <a:lstStyle/>
          <a:p>
            <a:pPr marL="342900" indent="-158750">
              <a:lnSpc>
                <a:spcPts val="2300"/>
              </a:lnSpc>
              <a:buSzPct val="100000"/>
              <a:buChar char="•"/>
            </a:pPr>
            <a:r>
              <a:rPr lang="en-US" sz="1100" b="1" dirty="0" err="1">
                <a:solidFill>
                  <a:srgbClr val="0C3252"/>
                </a:solidFill>
                <a:ea typeface="Nunito Sans" pitchFamily="34" charset="-122"/>
                <a:cs typeface="Nunito Sans" pitchFamily="34" charset="-120"/>
              </a:rPr>
              <a:t>Capienza</a:t>
            </a:r>
            <a:r>
              <a:rPr lang="en-US" sz="1100" b="1" dirty="0">
                <a:solidFill>
                  <a:srgbClr val="0C3252"/>
                </a:solidFill>
                <a:ea typeface="Nunito Sans" pitchFamily="34" charset="-122"/>
                <a:cs typeface="Nunito Sans" pitchFamily="34" charset="-120"/>
              </a:rPr>
              <a:t> </a:t>
            </a:r>
            <a:r>
              <a:rPr lang="en-US" sz="1100" b="1" dirty="0" err="1">
                <a:solidFill>
                  <a:srgbClr val="0C3252"/>
                </a:solidFill>
                <a:ea typeface="Nunito Sans" pitchFamily="34" charset="-122"/>
                <a:cs typeface="Nunito Sans" pitchFamily="34" charset="-120"/>
              </a:rPr>
              <a:t>massima</a:t>
            </a:r>
            <a:r>
              <a:rPr lang="en-US" sz="1100" b="1" dirty="0">
                <a:solidFill>
                  <a:srgbClr val="0C3252"/>
                </a:solidFill>
                <a:ea typeface="Nunito Sans" pitchFamily="34" charset="-122"/>
                <a:cs typeface="Nunito Sans" pitchFamily="34" charset="-120"/>
              </a:rPr>
              <a:t> &gt; 1</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ogni</a:t>
            </a:r>
            <a:r>
              <a:rPr lang="en-US" sz="1100" dirty="0">
                <a:solidFill>
                  <a:srgbClr val="0C3252"/>
                </a:solidFill>
                <a:ea typeface="Nunito Sans" pitchFamily="34" charset="-122"/>
                <a:cs typeface="Nunito Sans" pitchFamily="34" charset="-120"/>
              </a:rPr>
              <a:t> punto </a:t>
            </a:r>
            <a:r>
              <a:rPr lang="en-US" sz="1100" dirty="0" err="1">
                <a:solidFill>
                  <a:srgbClr val="0C3252"/>
                </a:solidFill>
                <a:ea typeface="Nunito Sans" pitchFamily="34" charset="-122"/>
                <a:cs typeface="Nunito Sans" pitchFamily="34" charset="-120"/>
              </a:rPr>
              <a:t>vendita</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può</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ricevere</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più</a:t>
            </a:r>
            <a:r>
              <a:rPr lang="en-US" sz="1100" dirty="0">
                <a:solidFill>
                  <a:srgbClr val="0C3252"/>
                </a:solidFill>
                <a:ea typeface="Nunito Sans" pitchFamily="34" charset="-122"/>
                <a:cs typeface="Nunito Sans" pitchFamily="34" charset="-120"/>
              </a:rPr>
              <a:t> lead per </a:t>
            </a:r>
            <a:r>
              <a:rPr lang="en-US" sz="1100" dirty="0" err="1">
                <a:solidFill>
                  <a:srgbClr val="0C3252"/>
                </a:solidFill>
                <a:ea typeface="Nunito Sans" pitchFamily="34" charset="-122"/>
                <a:cs typeface="Nunito Sans" pitchFamily="34" charset="-120"/>
              </a:rPr>
              <a:t>ciclo</a:t>
            </a:r>
            <a:r>
              <a:rPr lang="en-US" sz="1100" dirty="0">
                <a:solidFill>
                  <a:srgbClr val="0C3252"/>
                </a:solidFill>
                <a:ea typeface="Nunito Sans" pitchFamily="34" charset="-122"/>
                <a:cs typeface="Nunito Sans" pitchFamily="34" charset="-120"/>
              </a:rPr>
              <a:t>, in </a:t>
            </a:r>
            <a:r>
              <a:rPr lang="en-US" sz="1100" dirty="0" err="1">
                <a:solidFill>
                  <a:srgbClr val="0C3252"/>
                </a:solidFill>
                <a:ea typeface="Nunito Sans" pitchFamily="34" charset="-122"/>
                <a:cs typeface="Nunito Sans" pitchFamily="34" charset="-120"/>
              </a:rPr>
              <a:t>proporzione</a:t>
            </a:r>
            <a:r>
              <a:rPr lang="en-US" sz="1100" dirty="0">
                <a:solidFill>
                  <a:srgbClr val="0C3252"/>
                </a:solidFill>
                <a:ea typeface="Nunito Sans" pitchFamily="34" charset="-122"/>
                <a:cs typeface="Nunito Sans" pitchFamily="34" charset="-120"/>
              </a:rPr>
              <a:t> al proprio </a:t>
            </a:r>
            <a:r>
              <a:rPr lang="en-US" sz="1100" dirty="0" err="1">
                <a:solidFill>
                  <a:srgbClr val="0C3252"/>
                </a:solidFill>
                <a:ea typeface="Nunito Sans" pitchFamily="34" charset="-122"/>
                <a:cs typeface="Nunito Sans" pitchFamily="34" charset="-120"/>
              </a:rPr>
              <a:t>grado</a:t>
            </a:r>
            <a:r>
              <a:rPr lang="en-US" sz="1100" dirty="0">
                <a:solidFill>
                  <a:srgbClr val="0C3252"/>
                </a:solidFill>
                <a:ea typeface="Nunito Sans" pitchFamily="34" charset="-122"/>
                <a:cs typeface="Nunito Sans" pitchFamily="34" charset="-120"/>
              </a:rPr>
              <a:t> di </a:t>
            </a:r>
            <a:r>
              <a:rPr lang="en-US" sz="1100" dirty="0" err="1">
                <a:solidFill>
                  <a:srgbClr val="0C3252"/>
                </a:solidFill>
                <a:ea typeface="Nunito Sans" pitchFamily="34" charset="-122"/>
                <a:cs typeface="Nunito Sans" pitchFamily="34" charset="-120"/>
              </a:rPr>
              <a:t>meritocrazia</a:t>
            </a:r>
            <a:endParaRPr lang="en-US" sz="1100" dirty="0"/>
          </a:p>
          <a:p>
            <a:pPr marL="342900" indent="-158750" algn="l">
              <a:lnSpc>
                <a:spcPts val="2300"/>
              </a:lnSpc>
              <a:buSzPct val="100000"/>
              <a:buChar char="•"/>
            </a:pPr>
            <a:r>
              <a:rPr lang="en-US" sz="1100" b="1" dirty="0">
                <a:solidFill>
                  <a:srgbClr val="0C3252"/>
                </a:solidFill>
                <a:ea typeface="Nunito Sans" pitchFamily="34" charset="-122"/>
                <a:cs typeface="Nunito Sans" pitchFamily="34" charset="-120"/>
              </a:rPr>
              <a:t>Aggiornamento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contatori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vengono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aggiornati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mensilmente</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rimisurando</a:t>
            </a:r>
            <a:r>
              <a:rPr lang="en-US" sz="1100" dirty="0">
                <a:solidFill>
                  <a:srgbClr val="0C3252"/>
                </a:solidFill>
                <a:ea typeface="Nunito Sans" pitchFamily="34" charset="-122"/>
                <a:cs typeface="Nunito Sans" pitchFamily="34" charset="-120"/>
              </a:rPr>
              <a:t> le performance </a:t>
            </a:r>
            <a:r>
              <a:rPr lang="en-US" sz="1100" dirty="0" err="1">
                <a:solidFill>
                  <a:srgbClr val="0C3252"/>
                </a:solidFill>
                <a:ea typeface="Nunito Sans" pitchFamily="34" charset="-122"/>
                <a:cs typeface="Nunito Sans" pitchFamily="34" charset="-120"/>
              </a:rPr>
              <a:t>dell’agenzia</a:t>
            </a:r>
            <a:r>
              <a:rPr lang="en-US" sz="1100" dirty="0">
                <a:solidFill>
                  <a:srgbClr val="0C3252"/>
                </a:solidFill>
                <a:ea typeface="Nunito Sans" pitchFamily="34" charset="-122"/>
                <a:cs typeface="Nunito Sans" pitchFamily="34" charset="-120"/>
              </a:rPr>
              <a:t>, e </a:t>
            </a:r>
            <a:r>
              <a:rPr lang="en-US" sz="1100" dirty="0" err="1">
                <a:solidFill>
                  <a:srgbClr val="0C3252"/>
                </a:solidFill>
                <a:ea typeface="Nunito Sans" pitchFamily="34" charset="-122"/>
                <a:cs typeface="Nunito Sans" pitchFamily="34" charset="-120"/>
              </a:rPr>
              <a:t>vengono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recepiti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dall’algoritmo</a:t>
            </a:r>
            <a:r>
              <a:rPr lang="en-US" sz="1100" dirty="0">
                <a:solidFill>
                  <a:srgbClr val="0C3252"/>
                </a:solidFill>
                <a:ea typeface="Nunito Sans" pitchFamily="34" charset="-122"/>
                <a:cs typeface="Nunito Sans" pitchFamily="34" charset="-120"/>
              </a:rPr>
              <a:t> per le successive </a:t>
            </a:r>
            <a:r>
              <a:rPr lang="en-US" sz="1100" dirty="0" err="1">
                <a:solidFill>
                  <a:srgbClr val="0C3252"/>
                </a:solidFill>
                <a:ea typeface="Nunito Sans" pitchFamily="34" charset="-122"/>
                <a:cs typeface="Nunito Sans" pitchFamily="34" charset="-120"/>
              </a:rPr>
              <a:t>assegnazioni</a:t>
            </a:r>
            <a:r>
              <a:rPr lang="en-US" sz="1100" dirty="0">
                <a:solidFill>
                  <a:srgbClr val="0C3252"/>
                </a:solidFill>
                <a:ea typeface="Nunito Sans" pitchFamily="34" charset="-122"/>
                <a:cs typeface="Nunito Sans" pitchFamily="34" charset="-120"/>
              </a:rPr>
              <a:t>*</a:t>
            </a:r>
            <a:endParaRPr lang="en-US" sz="1100" dirty="0"/>
          </a:p>
          <a:p>
            <a:pPr marL="342900" indent="-158750" algn="l">
              <a:lnSpc>
                <a:spcPts val="2300"/>
              </a:lnSpc>
              <a:buSzPct val="100000"/>
              <a:buChar char="•"/>
            </a:pPr>
            <a:r>
              <a:rPr lang="en-US" sz="1100" b="1" dirty="0">
                <a:solidFill>
                  <a:srgbClr val="0C3252"/>
                </a:solidFill>
                <a:ea typeface="Nunito Sans" pitchFamily="34" charset="-122"/>
                <a:cs typeface="Nunito Sans" pitchFamily="34" charset="-120"/>
              </a:rPr>
              <a:t>Reset a </a:t>
            </a:r>
            <a:r>
              <a:rPr lang="en-US" sz="1100" b="1" dirty="0" err="1">
                <a:solidFill>
                  <a:srgbClr val="0C3252"/>
                </a:solidFill>
                <a:ea typeface="Nunito Sans" pitchFamily="34" charset="-122"/>
                <a:cs typeface="Nunito Sans" pitchFamily="34" charset="-120"/>
              </a:rPr>
              <a:t>saturazione</a:t>
            </a:r>
            <a:r>
              <a:rPr lang="en-US" sz="1100" dirty="0">
                <a:solidFill>
                  <a:srgbClr val="0C3252"/>
                </a:solidFill>
                <a:ea typeface="Nunito Sans" pitchFamily="34" charset="-122"/>
                <a:cs typeface="Nunito Sans" pitchFamily="34" charset="-120"/>
              </a:rPr>
              <a:t>: al </a:t>
            </a:r>
            <a:r>
              <a:rPr lang="en-US" sz="1100" dirty="0" err="1">
                <a:solidFill>
                  <a:srgbClr val="0C3252"/>
                </a:solidFill>
                <a:ea typeface="Nunito Sans" pitchFamily="34" charset="-122"/>
                <a:cs typeface="Nunito Sans" pitchFamily="34" charset="-120"/>
              </a:rPr>
              <a:t>raggiungimento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della</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saturazione</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sullo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stesso</a:t>
            </a:r>
            <a:r>
              <a:rPr lang="en-US" sz="1100" dirty="0">
                <a:solidFill>
                  <a:srgbClr val="0C3252"/>
                </a:solidFill>
                <a:ea typeface="Nunito Sans" pitchFamily="34" charset="-122"/>
                <a:cs typeface="Nunito Sans" pitchFamily="34" charset="-120"/>
              </a:rPr>
              <a:t> cap I </a:t>
            </a:r>
            <a:r>
              <a:rPr lang="en-US" sz="1100" dirty="0" err="1">
                <a:solidFill>
                  <a:srgbClr val="0C3252"/>
                </a:solidFill>
                <a:ea typeface="Nunito Sans" pitchFamily="34" charset="-122"/>
                <a:cs typeface="Nunito Sans" pitchFamily="34" charset="-120"/>
              </a:rPr>
              <a:t>contatori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vengono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resettati</a:t>
            </a:r>
            <a:r>
              <a:rPr lang="en-US" sz="1100" dirty="0">
                <a:solidFill>
                  <a:srgbClr val="0C3252"/>
                </a:solidFill>
                <a:ea typeface="Nunito Sans" pitchFamily="34" charset="-122"/>
                <a:cs typeface="Nunito Sans" pitchFamily="34" charset="-120"/>
              </a:rPr>
              <a:t> e </a:t>
            </a:r>
            <a:r>
              <a:rPr lang="en-US" sz="1100" dirty="0" err="1">
                <a:solidFill>
                  <a:srgbClr val="0C3252"/>
                </a:solidFill>
                <a:ea typeface="Nunito Sans" pitchFamily="34" charset="-122"/>
                <a:cs typeface="Nunito Sans" pitchFamily="34" charset="-120"/>
              </a:rPr>
              <a:t>riportati</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ognuno</a:t>
            </a:r>
            <a:r>
              <a:rPr lang="en-US" sz="1100" dirty="0">
                <a:solidFill>
                  <a:srgbClr val="0C3252"/>
                </a:solidFill>
                <a:ea typeface="Nunito Sans" pitchFamily="34" charset="-122"/>
                <a:cs typeface="Nunito Sans" pitchFamily="34" charset="-120"/>
              </a:rPr>
              <a:t> al </a:t>
            </a:r>
            <a:r>
              <a:rPr lang="en-US" sz="1100" dirty="0" err="1">
                <a:solidFill>
                  <a:srgbClr val="0C3252"/>
                </a:solidFill>
                <a:ea typeface="Nunito Sans" pitchFamily="34" charset="-122"/>
                <a:cs typeface="Nunito Sans" pitchFamily="34" charset="-120"/>
              </a:rPr>
              <a:t>suo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tetto</a:t>
            </a:r>
            <a:r>
              <a:rPr lang="en-US" sz="1100" dirty="0">
                <a:solidFill>
                  <a:srgbClr val="0C3252"/>
                </a:solidFill>
                <a:ea typeface="Nunito Sans" pitchFamily="34" charset="-122"/>
                <a:cs typeface="Nunito Sans" pitchFamily="34" charset="-120"/>
              </a:rPr>
              <a:t> </a:t>
            </a:r>
            <a:r>
              <a:rPr lang="en-US" sz="1100" dirty="0" err="1">
                <a:solidFill>
                  <a:srgbClr val="0C3252"/>
                </a:solidFill>
                <a:ea typeface="Nunito Sans" pitchFamily="34" charset="-122"/>
                <a:cs typeface="Nunito Sans" pitchFamily="34" charset="-120"/>
              </a:rPr>
              <a:t>massimo</a:t>
            </a:r>
            <a:endParaRPr lang="en-US" sz="1100" dirty="0"/>
          </a:p>
        </p:txBody>
      </p:sp>
      <p:pic>
        <p:nvPicPr>
          <p:cNvPr id="24" name="Immagine 23">
            <a:extLst>
              <a:ext uri="{FF2B5EF4-FFF2-40B4-BE49-F238E27FC236}">
                <a16:creationId xmlns:a16="http://schemas.microsoft.com/office/drawing/2014/main" id="{24A52187-6D4A-4592-96F7-254C630412C2}"/>
              </a:ext>
            </a:extLst>
          </p:cNvPr>
          <p:cNvPicPr>
            <a:picLocks noChangeAspect="1"/>
          </p:cNvPicPr>
          <p:nvPr/>
        </p:nvPicPr>
        <p:blipFill rotWithShape="1">
          <a:blip r:embed="rId6">
            <a:extLst>
              <a:ext uri="{28A0092B-C50C-407E-A947-70E740481C1C}">
                <a14:useLocalDpi xmlns:a14="http://schemas.microsoft.com/office/drawing/2010/main" val="0"/>
              </a:ext>
            </a:extLst>
          </a:blip>
          <a:srcRect t="16879"/>
          <a:stretch/>
        </p:blipFill>
        <p:spPr>
          <a:xfrm>
            <a:off x="357396" y="3310728"/>
            <a:ext cx="5538907" cy="2511266"/>
          </a:xfrm>
          <a:prstGeom prst="rect">
            <a:avLst/>
          </a:prstGeom>
        </p:spPr>
      </p:pic>
      <p:sp>
        <p:nvSpPr>
          <p:cNvPr id="17" name="Text 3">
            <a:extLst>
              <a:ext uri="{FF2B5EF4-FFF2-40B4-BE49-F238E27FC236}">
                <a16:creationId xmlns:a16="http://schemas.microsoft.com/office/drawing/2014/main" id="{09F6E721-2CAA-4F53-BC86-412C6DEB1711}"/>
              </a:ext>
            </a:extLst>
          </p:cNvPr>
          <p:cNvSpPr/>
          <p:nvPr/>
        </p:nvSpPr>
        <p:spPr>
          <a:xfrm>
            <a:off x="188417" y="6441905"/>
            <a:ext cx="11110772" cy="588407"/>
          </a:xfrm>
          <a:prstGeom prst="rect">
            <a:avLst/>
          </a:prstGeom>
          <a:noFill/>
          <a:ln/>
        </p:spPr>
        <p:txBody>
          <a:bodyPr wrap="square" lIns="0" tIns="0" rIns="0" bIns="0" rtlCol="0" anchor="t"/>
          <a:lstStyle/>
          <a:p>
            <a:pPr algn="ctr">
              <a:lnSpc>
                <a:spcPts val="2300"/>
              </a:lnSpc>
            </a:pPr>
            <a:r>
              <a:rPr lang="en-US" sz="1200" i="1" dirty="0">
                <a:solidFill>
                  <a:schemeClr val="bg1"/>
                </a:solidFill>
                <a:ea typeface="Nunito Sans" pitchFamily="34" charset="-122"/>
                <a:cs typeface="Nunito Sans" pitchFamily="34" charset="-120"/>
              </a:rPr>
              <a:t>*</a:t>
            </a:r>
            <a:r>
              <a:rPr lang="en-US" sz="1200" i="1" dirty="0" err="1">
                <a:solidFill>
                  <a:schemeClr val="bg1"/>
                </a:solidFill>
                <a:ea typeface="Nunito Sans" pitchFamily="34" charset="-122"/>
                <a:cs typeface="Nunito Sans" pitchFamily="34" charset="-120"/>
              </a:rPr>
              <a:t>OP:il</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cambio</a:t>
            </a:r>
            <a:r>
              <a:rPr lang="en-US" sz="1200" i="1" dirty="0">
                <a:solidFill>
                  <a:schemeClr val="bg1"/>
                </a:solidFill>
                <a:ea typeface="Nunito Sans" pitchFamily="34" charset="-122"/>
                <a:cs typeface="Nunito Sans" pitchFamily="34" charset="-120"/>
              </a:rPr>
              <a:t> mese, con </a:t>
            </a:r>
            <a:r>
              <a:rPr lang="en-US" sz="1200" i="1" dirty="0" err="1">
                <a:solidFill>
                  <a:schemeClr val="bg1"/>
                </a:solidFill>
                <a:ea typeface="Nunito Sans" pitchFamily="34" charset="-122"/>
                <a:cs typeface="Nunito Sans" pitchFamily="34" charset="-120"/>
              </a:rPr>
              <a:t>conseguente</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ricalcolo</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dei</a:t>
            </a:r>
            <a:r>
              <a:rPr lang="en-US" sz="1200" i="1" dirty="0">
                <a:solidFill>
                  <a:schemeClr val="bg1"/>
                </a:solidFill>
                <a:ea typeface="Nunito Sans" pitchFamily="34" charset="-122"/>
                <a:cs typeface="Nunito Sans" pitchFamily="34" charset="-120"/>
              </a:rPr>
              <a:t> KPI, </a:t>
            </a:r>
            <a:r>
              <a:rPr lang="en-US" sz="1200" i="1" dirty="0" err="1">
                <a:solidFill>
                  <a:schemeClr val="bg1"/>
                </a:solidFill>
                <a:ea typeface="Nunito Sans" pitchFamily="34" charset="-122"/>
                <a:cs typeface="Nunito Sans" pitchFamily="34" charset="-120"/>
              </a:rPr>
              <a:t>deve</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comportare</a:t>
            </a:r>
            <a:r>
              <a:rPr lang="en-US" sz="1200" i="1" dirty="0">
                <a:solidFill>
                  <a:schemeClr val="bg1"/>
                </a:solidFill>
                <a:ea typeface="Nunito Sans" pitchFamily="34" charset="-122"/>
                <a:cs typeface="Nunito Sans" pitchFamily="34" charset="-120"/>
              </a:rPr>
              <a:t> un </a:t>
            </a:r>
            <a:r>
              <a:rPr lang="en-US" sz="1200" i="1" dirty="0" err="1">
                <a:solidFill>
                  <a:schemeClr val="bg1"/>
                </a:solidFill>
                <a:ea typeface="Nunito Sans" pitchFamily="34" charset="-122"/>
                <a:cs typeface="Nunito Sans" pitchFamily="34" charset="-120"/>
              </a:rPr>
              <a:t>azzeramento</a:t>
            </a:r>
            <a:r>
              <a:rPr lang="en-US" sz="1200" i="1" dirty="0">
                <a:solidFill>
                  <a:schemeClr val="bg1"/>
                </a:solidFill>
                <a:ea typeface="Nunito Sans" pitchFamily="34" charset="-122"/>
                <a:cs typeface="Nunito Sans" pitchFamily="34" charset="-120"/>
              </a:rPr>
              <a:t> del </a:t>
            </a:r>
            <a:r>
              <a:rPr lang="en-US" sz="1200" i="1" dirty="0" err="1">
                <a:solidFill>
                  <a:schemeClr val="bg1"/>
                </a:solidFill>
                <a:ea typeface="Nunito Sans" pitchFamily="34" charset="-122"/>
                <a:cs typeface="Nunito Sans" pitchFamily="34" charset="-120"/>
              </a:rPr>
              <a:t>valore</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dei</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contatori</a:t>
            </a:r>
            <a:r>
              <a:rPr lang="en-US" sz="1200" i="1" dirty="0">
                <a:solidFill>
                  <a:schemeClr val="bg1"/>
                </a:solidFill>
                <a:ea typeface="Nunito Sans" pitchFamily="34" charset="-122"/>
                <a:cs typeface="Nunito Sans" pitchFamily="34" charset="-120"/>
              </a:rPr>
              <a:t>, o solo un aggiornamento </a:t>
            </a:r>
            <a:r>
              <a:rPr lang="en-US" sz="1200" i="1" dirty="0" err="1">
                <a:solidFill>
                  <a:schemeClr val="bg1"/>
                </a:solidFill>
                <a:ea typeface="Nunito Sans" pitchFamily="34" charset="-122"/>
                <a:cs typeface="Nunito Sans" pitchFamily="34" charset="-120"/>
              </a:rPr>
              <a:t>dei</a:t>
            </a:r>
            <a:r>
              <a:rPr lang="en-US" sz="1200" i="1" dirty="0">
                <a:solidFill>
                  <a:schemeClr val="bg1"/>
                </a:solidFill>
                <a:ea typeface="Nunito Sans" pitchFamily="34" charset="-122"/>
                <a:cs typeface="Nunito Sans" pitchFamily="34" charset="-120"/>
              </a:rPr>
              <a:t> </a:t>
            </a:r>
            <a:r>
              <a:rPr lang="en-US" sz="1200" i="1" dirty="0" err="1">
                <a:solidFill>
                  <a:schemeClr val="bg1"/>
                </a:solidFill>
                <a:ea typeface="Nunito Sans" pitchFamily="34" charset="-122"/>
                <a:cs typeface="Nunito Sans" pitchFamily="34" charset="-120"/>
              </a:rPr>
              <a:t>massimali</a:t>
            </a:r>
            <a:r>
              <a:rPr lang="en-US" sz="1200" i="1" dirty="0">
                <a:solidFill>
                  <a:schemeClr val="bg1"/>
                </a:solidFill>
                <a:ea typeface="Nunito Sans" pitchFamily="34" charset="-122"/>
                <a:cs typeface="Nunito Sans" pitchFamily="34" charset="-120"/>
              </a:rPr>
              <a:t>?</a:t>
            </a:r>
            <a:endParaRPr lang="en-US" sz="1200" i="1" dirty="0">
              <a:solidFill>
                <a:schemeClr val="bg1"/>
              </a:solidFill>
            </a:endParaRPr>
          </a:p>
        </p:txBody>
      </p:sp>
    </p:spTree>
    <p:extLst>
      <p:ext uri="{BB962C8B-B14F-4D97-AF65-F5344CB8AC3E}">
        <p14:creationId xmlns:p14="http://schemas.microsoft.com/office/powerpoint/2010/main" val="382832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D51FD1-B137-46BA-ADD4-508F484F4FF8}"/>
              </a:ext>
            </a:extLst>
          </p:cNvPr>
          <p:cNvSpPr>
            <a:spLocks noGrp="1"/>
          </p:cNvSpPr>
          <p:nvPr>
            <p:ph type="title"/>
          </p:nvPr>
        </p:nvSpPr>
        <p:spPr>
          <a:xfrm>
            <a:off x="2616199" y="2741247"/>
            <a:ext cx="9218851" cy="566222"/>
          </a:xfrm>
        </p:spPr>
        <p:txBody>
          <a:bodyPr/>
          <a:lstStyle/>
          <a:p>
            <a:pPr algn="r"/>
            <a:r>
              <a:rPr lang="it-IT" sz="3200">
                <a:latin typeface="+mn-lt"/>
              </a:rPr>
              <a:t>Dashboard di direzione </a:t>
            </a:r>
            <a:r>
              <a:rPr lang="it-IT" sz="3200" err="1">
                <a:latin typeface="+mn-lt"/>
              </a:rPr>
              <a:t>Salesforce</a:t>
            </a:r>
            <a:endParaRPr lang="it-IT" sz="3200">
              <a:latin typeface="+mn-lt"/>
            </a:endParaRPr>
          </a:p>
        </p:txBody>
      </p:sp>
    </p:spTree>
    <p:extLst>
      <p:ext uri="{BB962C8B-B14F-4D97-AF65-F5344CB8AC3E}">
        <p14:creationId xmlns:p14="http://schemas.microsoft.com/office/powerpoint/2010/main" val="1370645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098C-1576-012E-EF45-7E6953E0E81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A86F8B0-3654-3465-C558-F357C6DCFF8F}"/>
              </a:ext>
            </a:extLst>
          </p:cNvPr>
          <p:cNvGraphicFramePr>
            <a:graphicFrameLocks noChangeAspect="1"/>
          </p:cNvGraphicFramePr>
          <p:nvPr>
            <p:custDataLst>
              <p:tags r:id="rId1"/>
            </p:custDataLst>
            <p:extLst>
              <p:ext uri="{D42A27DB-BD31-4B8C-83A1-F6EECF244321}">
                <p14:modId xmlns:p14="http://schemas.microsoft.com/office/powerpoint/2010/main" val="4004777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8A86F8B0-3654-3465-C558-F357C6DCFF8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8" name="Shape 4">
            <a:extLst>
              <a:ext uri="{FF2B5EF4-FFF2-40B4-BE49-F238E27FC236}">
                <a16:creationId xmlns:a16="http://schemas.microsoft.com/office/drawing/2014/main" id="{21F84461-2A0E-446C-AFB5-8D2AAF52CFE2}"/>
              </a:ext>
            </a:extLst>
          </p:cNvPr>
          <p:cNvSpPr/>
          <p:nvPr/>
        </p:nvSpPr>
        <p:spPr>
          <a:xfrm>
            <a:off x="5931657" y="1040853"/>
            <a:ext cx="5761531" cy="4411500"/>
          </a:xfrm>
          <a:prstGeom prst="roundRect">
            <a:avLst>
              <a:gd name="adj" fmla="val 333"/>
            </a:avLst>
          </a:prstGeom>
          <a:noFill/>
          <a:ln w="28575">
            <a:solidFill>
              <a:srgbClr val="B9CDDE"/>
            </a:solidFill>
            <a:prstDash val="solid"/>
          </a:ln>
        </p:spPr>
        <p:txBody>
          <a:bodyPr/>
          <a:lstStyle/>
          <a:p>
            <a:endParaRPr lang="it-IT"/>
          </a:p>
        </p:txBody>
      </p:sp>
      <p:sp>
        <p:nvSpPr>
          <p:cNvPr id="26" name="Shape 4">
            <a:extLst>
              <a:ext uri="{FF2B5EF4-FFF2-40B4-BE49-F238E27FC236}">
                <a16:creationId xmlns:a16="http://schemas.microsoft.com/office/drawing/2014/main" id="{ABE90225-6DBC-4AA3-B671-A0575155C0D0}"/>
              </a:ext>
            </a:extLst>
          </p:cNvPr>
          <p:cNvSpPr/>
          <p:nvPr/>
        </p:nvSpPr>
        <p:spPr>
          <a:xfrm>
            <a:off x="375023" y="1040853"/>
            <a:ext cx="5217804" cy="4411500"/>
          </a:xfrm>
          <a:prstGeom prst="roundRect">
            <a:avLst>
              <a:gd name="adj" fmla="val 333"/>
            </a:avLst>
          </a:prstGeom>
          <a:noFill/>
          <a:ln w="28575">
            <a:solidFill>
              <a:srgbClr val="B9CDDE"/>
            </a:solidFill>
            <a:prstDash val="solid"/>
          </a:ln>
        </p:spPr>
        <p:txBody>
          <a:bodyPr/>
          <a:lstStyle/>
          <a:p>
            <a:endParaRPr lang="it-IT"/>
          </a:p>
        </p:txBody>
      </p:sp>
      <p:sp>
        <p:nvSpPr>
          <p:cNvPr id="2" name="Titolo 1">
            <a:extLst>
              <a:ext uri="{FF2B5EF4-FFF2-40B4-BE49-F238E27FC236}">
                <a16:creationId xmlns:a16="http://schemas.microsoft.com/office/drawing/2014/main" id="{304DC813-5A46-73EE-749C-4365EBB3699F}"/>
              </a:ext>
            </a:extLst>
          </p:cNvPr>
          <p:cNvSpPr>
            <a:spLocks noGrp="1"/>
          </p:cNvSpPr>
          <p:nvPr>
            <p:ph type="title"/>
          </p:nvPr>
        </p:nvSpPr>
        <p:spPr>
          <a:xfrm>
            <a:off x="441798" y="106318"/>
            <a:ext cx="10302057" cy="471783"/>
          </a:xfrm>
        </p:spPr>
        <p:txBody>
          <a:bodyPr vert="horz" lIns="91440" tIns="45720" rIns="91440" bIns="45720" anchor="ctr">
            <a:noAutofit/>
          </a:bodyPr>
          <a:lstStyle/>
          <a:p>
            <a:r>
              <a:rPr lang="it-IT" sz="2000" dirty="0">
                <a:ea typeface="Calibri"/>
                <a:cs typeface="Calibri"/>
              </a:rPr>
              <a:t>Dashboard Salesforce per Direzione</a:t>
            </a:r>
            <a:endParaRPr lang="it-IT" sz="2000" dirty="0"/>
          </a:p>
        </p:txBody>
      </p:sp>
      <p:sp>
        <p:nvSpPr>
          <p:cNvPr id="5" name="Segnaposto numero diapositiva 4">
            <a:extLst>
              <a:ext uri="{FF2B5EF4-FFF2-40B4-BE49-F238E27FC236}">
                <a16:creationId xmlns:a16="http://schemas.microsoft.com/office/drawing/2014/main" id="{5120A02A-7D52-E87E-7540-573298C238AE}"/>
              </a:ext>
            </a:extLst>
          </p:cNvPr>
          <p:cNvSpPr>
            <a:spLocks noGrp="1"/>
          </p:cNvSpPr>
          <p:nvPr>
            <p:ph type="sldNum" sz="quarter" idx="12"/>
          </p:nvPr>
        </p:nvSpPr>
        <p:spPr/>
        <p:txBody>
          <a:bodyPr/>
          <a:lstStyle/>
          <a:p>
            <a:fld id="{7998DEE5-5424-45CB-8336-3215AFBD0173}" type="slidenum">
              <a:rPr lang="it-IT" smtClean="0"/>
              <a:pPr/>
              <a:t>10</a:t>
            </a:fld>
            <a:endParaRPr lang="it-IT"/>
          </a:p>
        </p:txBody>
      </p:sp>
      <p:sp>
        <p:nvSpPr>
          <p:cNvPr id="14" name="Text 3">
            <a:extLst>
              <a:ext uri="{FF2B5EF4-FFF2-40B4-BE49-F238E27FC236}">
                <a16:creationId xmlns:a16="http://schemas.microsoft.com/office/drawing/2014/main" id="{4AB8C588-7386-48C1-8785-85D977E19E1F}"/>
              </a:ext>
            </a:extLst>
          </p:cNvPr>
          <p:cNvSpPr/>
          <p:nvPr/>
        </p:nvSpPr>
        <p:spPr>
          <a:xfrm>
            <a:off x="498812" y="1263281"/>
            <a:ext cx="2726477" cy="278963"/>
          </a:xfrm>
          <a:prstGeom prst="rect">
            <a:avLst/>
          </a:prstGeom>
          <a:noFill/>
          <a:ln/>
        </p:spPr>
        <p:txBody>
          <a:bodyPr wrap="none" lIns="0" tIns="0" rIns="0" bIns="0" rtlCol="0" anchor="t"/>
          <a:lstStyle/>
          <a:p>
            <a:pPr marL="0" indent="0" algn="l">
              <a:lnSpc>
                <a:spcPts val="2150"/>
              </a:lnSpc>
              <a:buNone/>
            </a:pPr>
            <a:r>
              <a:rPr lang="en-US" sz="1600" b="1">
                <a:solidFill>
                  <a:srgbClr val="000000"/>
                </a:solidFill>
                <a:ea typeface="Nunito Sans Bold" pitchFamily="34" charset="-122"/>
                <a:cs typeface="Nunito Sans Bold" pitchFamily="34" charset="-120"/>
              </a:rPr>
              <a:t>Dashboard </a:t>
            </a:r>
            <a:r>
              <a:rPr lang="en-US" sz="1600" b="1" err="1">
                <a:solidFill>
                  <a:srgbClr val="000000"/>
                </a:solidFill>
                <a:ea typeface="Nunito Sans Bold" pitchFamily="34" charset="-122"/>
                <a:cs typeface="Nunito Sans Bold" pitchFamily="34" charset="-120"/>
              </a:rPr>
              <a:t>contatori</a:t>
            </a:r>
            <a:endParaRPr lang="en-US" sz="1600" b="1">
              <a:solidFill>
                <a:srgbClr val="000000"/>
              </a:solidFill>
            </a:endParaRPr>
          </a:p>
        </p:txBody>
      </p:sp>
      <p:sp>
        <p:nvSpPr>
          <p:cNvPr id="15" name="Text 4">
            <a:extLst>
              <a:ext uri="{FF2B5EF4-FFF2-40B4-BE49-F238E27FC236}">
                <a16:creationId xmlns:a16="http://schemas.microsoft.com/office/drawing/2014/main" id="{10905BB7-5F3C-4295-AD79-50F14E3FFECC}"/>
              </a:ext>
            </a:extLst>
          </p:cNvPr>
          <p:cNvSpPr/>
          <p:nvPr/>
        </p:nvSpPr>
        <p:spPr>
          <a:xfrm>
            <a:off x="498812" y="1702979"/>
            <a:ext cx="5094015" cy="542925"/>
          </a:xfrm>
          <a:prstGeom prst="rect">
            <a:avLst/>
          </a:prstGeom>
          <a:noFill/>
          <a:ln/>
        </p:spPr>
        <p:txBody>
          <a:bodyPr wrap="square" lIns="0" tIns="0" rIns="0" bIns="0" rtlCol="0" anchor="t"/>
          <a:lstStyle/>
          <a:p>
            <a:pPr marL="0" indent="0" algn="l">
              <a:lnSpc>
                <a:spcPts val="2100"/>
              </a:lnSpc>
              <a:buNone/>
            </a:pPr>
            <a:r>
              <a:rPr lang="en-US" sz="1200">
                <a:solidFill>
                  <a:srgbClr val="000000"/>
                </a:solidFill>
                <a:ea typeface="Nunito Sans" pitchFamily="34" charset="-122"/>
                <a:cs typeface="Nunito Sans" pitchFamily="34" charset="-120"/>
              </a:rPr>
              <a:t>La dashboard </a:t>
            </a:r>
            <a:r>
              <a:rPr lang="en-US" sz="1200" err="1">
                <a:solidFill>
                  <a:srgbClr val="000000"/>
                </a:solidFill>
                <a:ea typeface="Nunito Sans" pitchFamily="34" charset="-122"/>
                <a:cs typeface="Nunito Sans" pitchFamily="34" charset="-120"/>
              </a:rPr>
              <a:t>sarà</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posizionata</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nella</a:t>
            </a:r>
            <a:r>
              <a:rPr lang="en-US" sz="1200">
                <a:solidFill>
                  <a:srgbClr val="000000"/>
                </a:solidFill>
                <a:ea typeface="Nunito Sans" pitchFamily="34" charset="-122"/>
                <a:cs typeface="Nunito Sans" pitchFamily="34" charset="-120"/>
              </a:rPr>
              <a:t> Home Page </a:t>
            </a:r>
            <a:r>
              <a:rPr lang="en-US" sz="1200" err="1">
                <a:solidFill>
                  <a:srgbClr val="000000"/>
                </a:solidFill>
                <a:ea typeface="Nunito Sans" pitchFamily="34" charset="-122"/>
                <a:cs typeface="Nunito Sans" pitchFamily="34" charset="-120"/>
              </a:rPr>
              <a:t>dell'applicazione</a:t>
            </a:r>
            <a:r>
              <a:rPr lang="en-US" sz="1200">
                <a:solidFill>
                  <a:srgbClr val="000000"/>
                </a:solidFill>
                <a:ea typeface="Nunito Sans" pitchFamily="34" charset="-122"/>
                <a:cs typeface="Nunito Sans" pitchFamily="34" charset="-120"/>
              </a:rPr>
              <a:t> e </a:t>
            </a:r>
            <a:r>
              <a:rPr lang="en-US" sz="1200" err="1">
                <a:solidFill>
                  <a:srgbClr val="000000"/>
                </a:solidFill>
                <a:ea typeface="Nunito Sans" pitchFamily="34" charset="-122"/>
                <a:cs typeface="Nunito Sans" pitchFamily="34" charset="-120"/>
              </a:rPr>
              <a:t>conterrài</a:t>
            </a:r>
            <a:r>
              <a:rPr lang="en-US" sz="1200">
                <a:solidFill>
                  <a:srgbClr val="000000"/>
                </a:solidFill>
                <a:ea typeface="Nunito Sans" pitchFamily="34" charset="-122"/>
                <a:cs typeface="Nunito Sans" pitchFamily="34" charset="-120"/>
              </a:rPr>
              <a:t>:</a:t>
            </a:r>
            <a:endParaRPr lang="en-US" sz="1200">
              <a:solidFill>
                <a:srgbClr val="000000"/>
              </a:solidFill>
            </a:endParaRPr>
          </a:p>
        </p:txBody>
      </p:sp>
      <p:sp>
        <p:nvSpPr>
          <p:cNvPr id="17" name="Text 5">
            <a:extLst>
              <a:ext uri="{FF2B5EF4-FFF2-40B4-BE49-F238E27FC236}">
                <a16:creationId xmlns:a16="http://schemas.microsoft.com/office/drawing/2014/main" id="{9FC7D62E-80A3-4CEE-9CE3-1EB641352D22}"/>
              </a:ext>
            </a:extLst>
          </p:cNvPr>
          <p:cNvSpPr/>
          <p:nvPr/>
        </p:nvSpPr>
        <p:spPr>
          <a:xfrm>
            <a:off x="498812" y="2390565"/>
            <a:ext cx="5094015" cy="1684973"/>
          </a:xfrm>
          <a:prstGeom prst="rect">
            <a:avLst/>
          </a:prstGeom>
          <a:noFill/>
          <a:ln/>
        </p:spPr>
        <p:txBody>
          <a:bodyPr wrap="square" lIns="0" tIns="0" rIns="0" bIns="0" rtlCol="0" anchor="t"/>
          <a:lstStyle/>
          <a:p>
            <a:pPr marL="342900" indent="-342900">
              <a:lnSpc>
                <a:spcPts val="2100"/>
              </a:lnSpc>
              <a:buSzPct val="100000"/>
              <a:buChar char="•"/>
            </a:pPr>
            <a:r>
              <a:rPr lang="en-US" sz="1200" b="1" dirty="0">
                <a:solidFill>
                  <a:srgbClr val="000000"/>
                </a:solidFill>
                <a:ea typeface="Nunito Sans" pitchFamily="34" charset="-122"/>
                <a:cs typeface="Nunito Sans" pitchFamily="34" charset="-120"/>
              </a:rPr>
              <a:t>Report </a:t>
            </a:r>
            <a:r>
              <a:rPr lang="en-US" sz="1200" b="1" dirty="0" err="1">
                <a:solidFill>
                  <a:srgbClr val="000000"/>
                </a:solidFill>
                <a:ea typeface="Nunito Sans" pitchFamily="34" charset="-122"/>
                <a:cs typeface="Nunito Sans" pitchFamily="34" charset="-120"/>
              </a:rPr>
              <a:t>Contatori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visualizzazione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dei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contatori</a:t>
            </a:r>
            <a:r>
              <a:rPr lang="en-US" sz="1200" dirty="0">
                <a:solidFill>
                  <a:srgbClr val="000000"/>
                </a:solidFill>
                <a:ea typeface="Nunito Sans" pitchFamily="34" charset="-122"/>
                <a:cs typeface="Nunito Sans" pitchFamily="34" charset="-120"/>
              </a:rPr>
              <a:t> per punto </a:t>
            </a:r>
            <a:r>
              <a:rPr lang="en-US" sz="1200" dirty="0" err="1">
                <a:solidFill>
                  <a:srgbClr val="000000"/>
                </a:solidFill>
                <a:ea typeface="Nunito Sans" pitchFamily="34" charset="-122"/>
                <a:cs typeface="Nunito Sans" pitchFamily="34" charset="-120"/>
              </a:rPr>
              <a:t>vendita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differenziati</a:t>
            </a:r>
            <a:r>
              <a:rPr lang="en-US" sz="1200" dirty="0">
                <a:solidFill>
                  <a:srgbClr val="000000"/>
                </a:solidFill>
                <a:ea typeface="Nunito Sans" pitchFamily="34" charset="-122"/>
                <a:cs typeface="Nunito Sans" pitchFamily="34" charset="-120"/>
              </a:rPr>
              <a:t> per </a:t>
            </a:r>
            <a:r>
              <a:rPr lang="en-US" sz="1200" dirty="0" err="1">
                <a:solidFill>
                  <a:srgbClr val="000000"/>
                </a:solidFill>
                <a:ea typeface="Nunito Sans" pitchFamily="34" charset="-122"/>
                <a:cs typeface="Nunito Sans" pitchFamily="34" charset="-120"/>
              </a:rPr>
              <a:t>prodotto</a:t>
            </a:r>
            <a:r>
              <a:rPr lang="en-US" sz="1200" dirty="0">
                <a:solidFill>
                  <a:srgbClr val="000000"/>
                </a:solidFill>
                <a:ea typeface="Nunito Sans" pitchFamily="34" charset="-122"/>
                <a:cs typeface="Nunito Sans" pitchFamily="34" charset="-120"/>
              </a:rPr>
              <a:t> (PU Casa, PU Pet, </a:t>
            </a:r>
            <a:r>
              <a:rPr lang="en-US" sz="1200" dirty="0" err="1">
                <a:solidFill>
                  <a:srgbClr val="000000"/>
                </a:solidFill>
                <a:ea typeface="Nunito Sans" pitchFamily="34" charset="-122"/>
                <a:cs typeface="Nunito Sans" pitchFamily="34" charset="-120"/>
              </a:rPr>
              <a:t>CatNat</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ecc</a:t>
            </a:r>
            <a:r>
              <a:rPr lang="en-US" sz="1200" dirty="0">
                <a:solidFill>
                  <a:srgbClr val="000000"/>
                </a:solidFill>
                <a:ea typeface="Nunito Sans" pitchFamily="34" charset="-122"/>
                <a:cs typeface="Nunito Sans" pitchFamily="34" charset="-120"/>
              </a:rPr>
              <a:t>..), con </a:t>
            </a:r>
            <a:r>
              <a:rPr lang="en-US" sz="1200" dirty="0" err="1">
                <a:solidFill>
                  <a:srgbClr val="000000"/>
                </a:solidFill>
                <a:ea typeface="Nunito Sans" pitchFamily="34" charset="-122"/>
                <a:cs typeface="Nunito Sans" pitchFamily="34" charset="-120"/>
              </a:rPr>
              <a:t>indicazione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dei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tetti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massimi</a:t>
            </a:r>
            <a:r>
              <a:rPr lang="en-US" sz="1200" dirty="0">
                <a:solidFill>
                  <a:srgbClr val="000000"/>
                </a:solidFill>
                <a:ea typeface="Nunito Sans" pitchFamily="34" charset="-122"/>
                <a:cs typeface="Nunito Sans" pitchFamily="34" charset="-120"/>
              </a:rPr>
              <a:t> e </a:t>
            </a:r>
            <a:r>
              <a:rPr lang="en-US" sz="1200" dirty="0" err="1">
                <a:solidFill>
                  <a:srgbClr val="000000"/>
                </a:solidFill>
                <a:ea typeface="Nunito Sans" pitchFamily="34" charset="-122"/>
                <a:cs typeface="Nunito Sans" pitchFamily="34" charset="-120"/>
              </a:rPr>
              <a:t>dei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valori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attuali</a:t>
            </a:r>
            <a:r>
              <a:rPr lang="en-US" sz="1200" dirty="0">
                <a:solidFill>
                  <a:srgbClr val="000000"/>
                </a:solidFill>
                <a:ea typeface="Nunito Sans" pitchFamily="34" charset="-122"/>
                <a:cs typeface="Nunito Sans" pitchFamily="34" charset="-120"/>
              </a:rPr>
              <a:t> ed </a:t>
            </a:r>
            <a:r>
              <a:rPr lang="en-US" sz="1200" dirty="0" err="1">
                <a:solidFill>
                  <a:srgbClr val="000000"/>
                </a:solidFill>
                <a:ea typeface="Nunito Sans" pitchFamily="34" charset="-122"/>
                <a:cs typeface="Nunito Sans" pitchFamily="34" charset="-120"/>
              </a:rPr>
              <a:t>eventuale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presenza</a:t>
            </a:r>
            <a:r>
              <a:rPr lang="en-US" sz="1200" dirty="0">
                <a:solidFill>
                  <a:srgbClr val="000000"/>
                </a:solidFill>
                <a:ea typeface="Nunito Sans" pitchFamily="34" charset="-122"/>
                <a:cs typeface="Nunito Sans" pitchFamily="34" charset="-120"/>
              </a:rPr>
              <a:t> di flag Blacklist </a:t>
            </a:r>
            <a:r>
              <a:rPr lang="en-US" sz="1200" dirty="0" err="1">
                <a:solidFill>
                  <a:srgbClr val="000000"/>
                </a:solidFill>
                <a:ea typeface="Nunito Sans" pitchFamily="34" charset="-122"/>
                <a:cs typeface="Nunito Sans" pitchFamily="34" charset="-120"/>
              </a:rPr>
              <a:t>su</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relativo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prodotto</a:t>
            </a:r>
            <a:endParaRPr lang="en-US" sz="1200" dirty="0">
              <a:solidFill>
                <a:srgbClr val="000000"/>
              </a:solidFill>
            </a:endParaRPr>
          </a:p>
          <a:p>
            <a:pPr marL="342900" indent="-342900">
              <a:lnSpc>
                <a:spcPts val="2100"/>
              </a:lnSpc>
              <a:buSzPct val="100000"/>
              <a:buChar char="•"/>
            </a:pPr>
            <a:endParaRPr lang="en-US" sz="1200" dirty="0">
              <a:solidFill>
                <a:srgbClr val="000000"/>
              </a:solidFill>
            </a:endParaRPr>
          </a:p>
        </p:txBody>
      </p:sp>
      <p:sp>
        <p:nvSpPr>
          <p:cNvPr id="18" name="Text 6">
            <a:extLst>
              <a:ext uri="{FF2B5EF4-FFF2-40B4-BE49-F238E27FC236}">
                <a16:creationId xmlns:a16="http://schemas.microsoft.com/office/drawing/2014/main" id="{04AEFFD6-A1EA-4982-B1C1-430DC9544CA6}"/>
              </a:ext>
            </a:extLst>
          </p:cNvPr>
          <p:cNvSpPr/>
          <p:nvPr/>
        </p:nvSpPr>
        <p:spPr>
          <a:xfrm>
            <a:off x="498812" y="3510922"/>
            <a:ext cx="5094015" cy="542925"/>
          </a:xfrm>
          <a:prstGeom prst="rect">
            <a:avLst/>
          </a:prstGeom>
          <a:noFill/>
          <a:ln/>
        </p:spPr>
        <p:txBody>
          <a:bodyPr wrap="square" lIns="0" tIns="0" rIns="0" bIns="0" rtlCol="0" anchor="t"/>
          <a:lstStyle/>
          <a:p>
            <a:pPr>
              <a:lnSpc>
                <a:spcPts val="2100"/>
              </a:lnSpc>
            </a:pPr>
            <a:r>
              <a:rPr lang="en-US" sz="1200" dirty="0" err="1">
                <a:solidFill>
                  <a:srgbClr val="000000"/>
                </a:solidFill>
                <a:ea typeface="Nunito Sans" pitchFamily="34" charset="-122"/>
                <a:cs typeface="Nunito Sans" pitchFamily="34" charset="-120"/>
              </a:rPr>
              <a:t>Tecnicamente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verrà</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predisposta</a:t>
            </a:r>
            <a:r>
              <a:rPr lang="en-US" sz="1200" dirty="0">
                <a:solidFill>
                  <a:srgbClr val="000000"/>
                </a:solidFill>
                <a:ea typeface="Nunito Sans" pitchFamily="34" charset="-122"/>
                <a:cs typeface="Nunito Sans" pitchFamily="34" charset="-120"/>
              </a:rPr>
              <a:t> una dashboard non dynamic, </a:t>
            </a:r>
            <a:r>
              <a:rPr lang="en-US" sz="1200" dirty="0" err="1">
                <a:solidFill>
                  <a:srgbClr val="000000"/>
                </a:solidFill>
                <a:ea typeface="Nunito Sans" pitchFamily="34" charset="-122"/>
                <a:cs typeface="Nunito Sans" pitchFamily="34" charset="-120"/>
              </a:rPr>
              <a:t>che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garantisce</a:t>
            </a:r>
            <a:r>
              <a:rPr lang="en-US" sz="1200" dirty="0">
                <a:solidFill>
                  <a:srgbClr val="000000"/>
                </a:solidFill>
                <a:ea typeface="Nunito Sans" pitchFamily="34" charset="-122"/>
                <a:cs typeface="Nunito Sans" pitchFamily="34" charset="-120"/>
              </a:rPr>
              <a:t> tempi di </a:t>
            </a:r>
            <a:r>
              <a:rPr lang="en-US" sz="1200" dirty="0" err="1">
                <a:solidFill>
                  <a:srgbClr val="000000"/>
                </a:solidFill>
                <a:ea typeface="Nunito Sans" pitchFamily="34" charset="-122"/>
                <a:cs typeface="Nunito Sans" pitchFamily="34" charset="-120"/>
              </a:rPr>
              <a:t>caricamento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rapidi</a:t>
            </a:r>
            <a:r>
              <a:rPr lang="en-US" sz="1200" dirty="0">
                <a:solidFill>
                  <a:srgbClr val="000000"/>
                </a:solidFill>
                <a:ea typeface="Nunito Sans" pitchFamily="34" charset="-122"/>
                <a:cs typeface="Nunito Sans" pitchFamily="34" charset="-120"/>
              </a:rPr>
              <a:t> e </a:t>
            </a:r>
            <a:r>
              <a:rPr lang="en-US" sz="1200" dirty="0" err="1">
                <a:solidFill>
                  <a:srgbClr val="000000"/>
                </a:solidFill>
                <a:ea typeface="Nunito Sans" pitchFamily="34" charset="-122"/>
                <a:cs typeface="Nunito Sans" pitchFamily="34" charset="-120"/>
              </a:rPr>
              <a:t>stabilità</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della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visualizzazione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anche</a:t>
            </a:r>
            <a:r>
              <a:rPr lang="en-US" sz="1200" dirty="0">
                <a:solidFill>
                  <a:srgbClr val="000000"/>
                </a:solidFill>
                <a:ea typeface="Nunito Sans" pitchFamily="34" charset="-122"/>
                <a:cs typeface="Nunito Sans" pitchFamily="34" charset="-120"/>
              </a:rPr>
              <a:t> con </a:t>
            </a:r>
            <a:r>
              <a:rPr lang="en-US" sz="1200" dirty="0" err="1">
                <a:solidFill>
                  <a:srgbClr val="000000"/>
                </a:solidFill>
                <a:ea typeface="Nunito Sans" pitchFamily="34" charset="-122"/>
                <a:cs typeface="Nunito Sans" pitchFamily="34" charset="-120"/>
              </a:rPr>
              <a:t>grandi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volumi</a:t>
            </a:r>
            <a:r>
              <a:rPr lang="en-US" sz="1200" dirty="0">
                <a:solidFill>
                  <a:srgbClr val="000000"/>
                </a:solidFill>
                <a:ea typeface="Nunito Sans" pitchFamily="34" charset="-122"/>
                <a:cs typeface="Nunito Sans" pitchFamily="34" charset="-120"/>
              </a:rPr>
              <a:t> di </a:t>
            </a:r>
            <a:r>
              <a:rPr lang="en-US" sz="1200" dirty="0" err="1">
                <a:solidFill>
                  <a:srgbClr val="000000"/>
                </a:solidFill>
                <a:ea typeface="Nunito Sans" pitchFamily="34" charset="-122"/>
                <a:cs typeface="Nunito Sans" pitchFamily="34" charset="-120"/>
              </a:rPr>
              <a:t>dati</a:t>
            </a:r>
            <a:r>
              <a:rPr lang="en-US" sz="1200" dirty="0">
                <a:solidFill>
                  <a:srgbClr val="000000"/>
                </a:solidFill>
                <a:ea typeface="Nunito Sans" pitchFamily="34" charset="-122"/>
                <a:cs typeface="Nunito Sans" pitchFamily="34" charset="-120"/>
              </a:rPr>
              <a:t>.</a:t>
            </a:r>
            <a:endParaRPr lang="en-US" sz="1200" dirty="0"/>
          </a:p>
        </p:txBody>
      </p:sp>
      <p:sp>
        <p:nvSpPr>
          <p:cNvPr id="19" name="Text 7">
            <a:extLst>
              <a:ext uri="{FF2B5EF4-FFF2-40B4-BE49-F238E27FC236}">
                <a16:creationId xmlns:a16="http://schemas.microsoft.com/office/drawing/2014/main" id="{3615D043-B30A-48F7-B5DA-F4B77422D33E}"/>
              </a:ext>
            </a:extLst>
          </p:cNvPr>
          <p:cNvSpPr/>
          <p:nvPr/>
        </p:nvSpPr>
        <p:spPr>
          <a:xfrm>
            <a:off x="6265238" y="1201217"/>
            <a:ext cx="1881915" cy="278963"/>
          </a:xfrm>
          <a:prstGeom prst="rect">
            <a:avLst/>
          </a:prstGeom>
          <a:noFill/>
          <a:ln/>
        </p:spPr>
        <p:txBody>
          <a:bodyPr wrap="none" lIns="0" tIns="0" rIns="0" bIns="0" rtlCol="0" anchor="t"/>
          <a:lstStyle/>
          <a:p>
            <a:pPr>
              <a:lnSpc>
                <a:spcPts val="2150"/>
              </a:lnSpc>
            </a:pPr>
            <a:r>
              <a:rPr lang="en-US" sz="1600" b="1">
                <a:solidFill>
                  <a:srgbClr val="000000"/>
                </a:solidFill>
                <a:ea typeface="Nunito Sans Bold" pitchFamily="34" charset="-122"/>
                <a:cs typeface="Nunito Sans Bold" pitchFamily="34" charset="-120"/>
              </a:rPr>
              <a:t>List View </a:t>
            </a:r>
            <a:r>
              <a:rPr lang="en-US" sz="1600" b="1" err="1">
                <a:solidFill>
                  <a:srgbClr val="000000"/>
                </a:solidFill>
                <a:ea typeface="Nunito Sans Bold" pitchFamily="34" charset="-122"/>
                <a:cs typeface="Nunito Sans Bold" pitchFamily="34" charset="-120"/>
              </a:rPr>
              <a:t>Punti</a:t>
            </a:r>
            <a:r>
              <a:rPr lang="en-US" sz="1600" b="1">
                <a:solidFill>
                  <a:srgbClr val="000000"/>
                </a:solidFill>
                <a:ea typeface="Nunito Sans Bold" pitchFamily="34" charset="-122"/>
                <a:cs typeface="Nunito Sans Bold" pitchFamily="34" charset="-120"/>
              </a:rPr>
              <a:t> </a:t>
            </a:r>
            <a:r>
              <a:rPr lang="en-US" sz="1600" b="1" err="1">
                <a:solidFill>
                  <a:srgbClr val="000000"/>
                </a:solidFill>
                <a:ea typeface="Nunito Sans Bold" pitchFamily="34" charset="-122"/>
                <a:cs typeface="Nunito Sans Bold" pitchFamily="34" charset="-120"/>
              </a:rPr>
              <a:t>Vendita</a:t>
            </a:r>
            <a:endParaRPr lang="en-US" sz="1600">
              <a:solidFill>
                <a:srgbClr val="000000"/>
              </a:solidFill>
            </a:endParaRPr>
          </a:p>
        </p:txBody>
      </p:sp>
      <p:sp>
        <p:nvSpPr>
          <p:cNvPr id="20" name="Text 8">
            <a:extLst>
              <a:ext uri="{FF2B5EF4-FFF2-40B4-BE49-F238E27FC236}">
                <a16:creationId xmlns:a16="http://schemas.microsoft.com/office/drawing/2014/main" id="{0440F9C2-830F-4B3A-9AFE-7AC1FAB4FA9F}"/>
              </a:ext>
            </a:extLst>
          </p:cNvPr>
          <p:cNvSpPr/>
          <p:nvPr/>
        </p:nvSpPr>
        <p:spPr>
          <a:xfrm>
            <a:off x="6265238" y="1552511"/>
            <a:ext cx="5312976" cy="542925"/>
          </a:xfrm>
          <a:prstGeom prst="rect">
            <a:avLst/>
          </a:prstGeom>
          <a:noFill/>
          <a:ln/>
        </p:spPr>
        <p:txBody>
          <a:bodyPr wrap="square" lIns="0" tIns="0" rIns="0" bIns="0" rtlCol="0" anchor="t"/>
          <a:lstStyle/>
          <a:p>
            <a:pPr>
              <a:lnSpc>
                <a:spcPts val="2100"/>
              </a:lnSpc>
            </a:pPr>
            <a:r>
              <a:rPr lang="en-US" sz="1200">
                <a:solidFill>
                  <a:srgbClr val="000000"/>
                </a:solidFill>
                <a:ea typeface="Nunito Sans" pitchFamily="34" charset="-122"/>
                <a:cs typeface="Nunito Sans" pitchFamily="34" charset="-120"/>
              </a:rPr>
              <a:t>La List View </a:t>
            </a:r>
            <a:r>
              <a:rPr lang="en-US" sz="1200" err="1">
                <a:solidFill>
                  <a:srgbClr val="000000"/>
                </a:solidFill>
                <a:ea typeface="Nunito Sans" pitchFamily="34" charset="-122"/>
                <a:cs typeface="Nunito Sans" pitchFamily="34" charset="-120"/>
              </a:rPr>
              <a:t>mostrerà</a:t>
            </a:r>
            <a:r>
              <a:rPr lang="en-US" sz="1200">
                <a:solidFill>
                  <a:srgbClr val="000000"/>
                </a:solidFill>
                <a:ea typeface="Nunito Sans" pitchFamily="34" charset="-122"/>
                <a:cs typeface="Nunito Sans" pitchFamily="34" charset="-120"/>
              </a:rPr>
              <a:t> tutti </a:t>
            </a:r>
            <a:r>
              <a:rPr lang="en-US" sz="1200" err="1">
                <a:solidFill>
                  <a:srgbClr val="000000"/>
                </a:solidFill>
                <a:ea typeface="Nunito Sans" pitchFamily="34" charset="-122"/>
                <a:cs typeface="Nunito Sans" pitchFamily="34" charset="-120"/>
              </a:rPr>
              <a:t>i</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Punti</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vendita</a:t>
            </a:r>
            <a:r>
              <a:rPr lang="en-US" sz="1200">
                <a:solidFill>
                  <a:srgbClr val="000000"/>
                </a:solidFill>
                <a:ea typeface="Nunito Sans" pitchFamily="34" charset="-122"/>
                <a:cs typeface="Nunito Sans" pitchFamily="34" charset="-120"/>
              </a:rPr>
              <a:t> con accesso </a:t>
            </a:r>
            <a:r>
              <a:rPr lang="en-US" sz="1200" err="1">
                <a:solidFill>
                  <a:srgbClr val="000000"/>
                </a:solidFill>
                <a:ea typeface="Nunito Sans" pitchFamily="34" charset="-122"/>
                <a:cs typeface="Nunito Sans" pitchFamily="34" charset="-120"/>
              </a:rPr>
              <a:t>diretto</a:t>
            </a:r>
            <a:r>
              <a:rPr lang="en-US" sz="1200">
                <a:solidFill>
                  <a:srgbClr val="000000"/>
                </a:solidFill>
                <a:ea typeface="Nunito Sans" pitchFamily="34" charset="-122"/>
                <a:cs typeface="Nunito Sans" pitchFamily="34" charset="-120"/>
              </a:rPr>
              <a:t> alle </a:t>
            </a:r>
            <a:r>
              <a:rPr lang="en-US" sz="1200" err="1">
                <a:solidFill>
                  <a:srgbClr val="000000"/>
                </a:solidFill>
                <a:ea typeface="Nunito Sans" pitchFamily="34" charset="-122"/>
                <a:cs typeface="Nunito Sans" pitchFamily="34" charset="-120"/>
              </a:rPr>
              <a:t>funzionalità</a:t>
            </a:r>
            <a:r>
              <a:rPr lang="en-US" sz="1200">
                <a:solidFill>
                  <a:srgbClr val="000000"/>
                </a:solidFill>
                <a:ea typeface="Nunito Sans" pitchFamily="34" charset="-122"/>
                <a:cs typeface="Nunito Sans" pitchFamily="34" charset="-120"/>
              </a:rPr>
              <a:t> operative di </a:t>
            </a:r>
            <a:r>
              <a:rPr lang="en-US" sz="1200" err="1">
                <a:solidFill>
                  <a:srgbClr val="000000"/>
                </a:solidFill>
                <a:ea typeface="Nunito Sans" pitchFamily="34" charset="-122"/>
                <a:cs typeface="Nunito Sans" pitchFamily="34" charset="-120"/>
              </a:rPr>
              <a:t>modifica</a:t>
            </a:r>
            <a:r>
              <a:rPr lang="en-US" sz="1200">
                <a:solidFill>
                  <a:srgbClr val="000000"/>
                </a:solidFill>
                <a:ea typeface="Nunito Sans" pitchFamily="34" charset="-122"/>
                <a:cs typeface="Nunito Sans" pitchFamily="34" charset="-120"/>
              </a:rPr>
              <a:t>. Le </a:t>
            </a:r>
            <a:r>
              <a:rPr lang="en-US" sz="1200" err="1">
                <a:solidFill>
                  <a:srgbClr val="000000"/>
                </a:solidFill>
                <a:ea typeface="Nunito Sans" pitchFamily="34" charset="-122"/>
                <a:cs typeface="Nunito Sans" pitchFamily="34" charset="-120"/>
              </a:rPr>
              <a:t>azioni</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disponibili</a:t>
            </a:r>
            <a:r>
              <a:rPr lang="en-US" sz="1200">
                <a:solidFill>
                  <a:srgbClr val="000000"/>
                </a:solidFill>
                <a:ea typeface="Nunito Sans" pitchFamily="34" charset="-122"/>
                <a:cs typeface="Nunito Sans" pitchFamily="34" charset="-120"/>
              </a:rPr>
              <a:t> </a:t>
            </a:r>
            <a:r>
              <a:rPr lang="en-US" sz="1200" err="1">
                <a:solidFill>
                  <a:srgbClr val="000000"/>
                </a:solidFill>
                <a:ea typeface="Nunito Sans" pitchFamily="34" charset="-122"/>
                <a:cs typeface="Nunito Sans" pitchFamily="34" charset="-120"/>
              </a:rPr>
              <a:t>saranno</a:t>
            </a:r>
            <a:r>
              <a:rPr lang="en-US" sz="1200">
                <a:solidFill>
                  <a:srgbClr val="000000"/>
                </a:solidFill>
                <a:ea typeface="Nunito Sans" pitchFamily="34" charset="-122"/>
                <a:cs typeface="Nunito Sans" pitchFamily="34" charset="-120"/>
              </a:rPr>
              <a:t>:</a:t>
            </a:r>
            <a:endParaRPr lang="en-US" sz="1200">
              <a:solidFill>
                <a:srgbClr val="000000"/>
              </a:solidFill>
            </a:endParaRPr>
          </a:p>
        </p:txBody>
      </p:sp>
      <p:sp>
        <p:nvSpPr>
          <p:cNvPr id="21" name="Text 9">
            <a:extLst>
              <a:ext uri="{FF2B5EF4-FFF2-40B4-BE49-F238E27FC236}">
                <a16:creationId xmlns:a16="http://schemas.microsoft.com/office/drawing/2014/main" id="{CA3A538A-0B40-431D-BD58-C1F317B52986}"/>
              </a:ext>
            </a:extLst>
          </p:cNvPr>
          <p:cNvSpPr/>
          <p:nvPr/>
        </p:nvSpPr>
        <p:spPr>
          <a:xfrm>
            <a:off x="6265238" y="2240097"/>
            <a:ext cx="5312976" cy="1413510"/>
          </a:xfrm>
          <a:prstGeom prst="rect">
            <a:avLst/>
          </a:prstGeom>
          <a:noFill/>
          <a:ln/>
        </p:spPr>
        <p:txBody>
          <a:bodyPr wrap="square" lIns="0" tIns="0" rIns="0" bIns="0" rtlCol="0" anchor="t"/>
          <a:lstStyle/>
          <a:p>
            <a:pPr marL="342900" indent="-342900" algn="l">
              <a:lnSpc>
                <a:spcPts val="2100"/>
              </a:lnSpc>
              <a:buSzPct val="100000"/>
              <a:buChar char="•"/>
            </a:pPr>
            <a:r>
              <a:rPr lang="en-US" sz="1200" b="1" dirty="0" err="1">
                <a:solidFill>
                  <a:srgbClr val="000000"/>
                </a:solidFill>
                <a:ea typeface="Nunito Sans" pitchFamily="34" charset="-122"/>
                <a:cs typeface="Nunito Sans" pitchFamily="34" charset="-120"/>
              </a:rPr>
              <a:t>Modifica</a:t>
            </a:r>
            <a:r>
              <a:rPr lang="en-US" sz="1200" b="1" dirty="0">
                <a:solidFill>
                  <a:srgbClr val="000000"/>
                </a:solidFill>
                <a:ea typeface="Nunito Sans" pitchFamily="34" charset="-122"/>
                <a:cs typeface="Nunito Sans" pitchFamily="34" charset="-120"/>
              </a:rPr>
              <a:t> </a:t>
            </a:r>
            <a:r>
              <a:rPr lang="en-US" sz="1200" b="1" dirty="0" err="1">
                <a:solidFill>
                  <a:srgbClr val="000000"/>
                </a:solidFill>
                <a:ea typeface="Nunito Sans" pitchFamily="34" charset="-122"/>
                <a:cs typeface="Nunito Sans" pitchFamily="34" charset="-120"/>
              </a:rPr>
              <a:t>puntuale</a:t>
            </a:r>
            <a:r>
              <a:rPr lang="en-US" sz="1200" b="1" dirty="0">
                <a:solidFill>
                  <a:srgbClr val="000000"/>
                </a:solidFill>
                <a:ea typeface="Nunito Sans" pitchFamily="34" charset="-122"/>
                <a:cs typeface="Nunito Sans" pitchFamily="34" charset="-120"/>
              </a:rPr>
              <a:t> o </a:t>
            </a:r>
            <a:r>
              <a:rPr lang="en-US" sz="1200" b="1" dirty="0" err="1">
                <a:solidFill>
                  <a:srgbClr val="000000"/>
                </a:solidFill>
                <a:ea typeface="Nunito Sans" pitchFamily="34" charset="-122"/>
                <a:cs typeface="Nunito Sans" pitchFamily="34" charset="-120"/>
              </a:rPr>
              <a:t>massiva</a:t>
            </a:r>
            <a:r>
              <a:rPr lang="en-US" sz="1200" dirty="0">
                <a:solidFill>
                  <a:srgbClr val="000000"/>
                </a:solidFill>
                <a:ea typeface="Nunito Sans" pitchFamily="34" charset="-122"/>
                <a:cs typeface="Nunito Sans" pitchFamily="34" charset="-120"/>
              </a:rPr>
              <a:t> del </a:t>
            </a:r>
            <a:r>
              <a:rPr lang="en-US" sz="1200" dirty="0" err="1">
                <a:solidFill>
                  <a:srgbClr val="000000"/>
                </a:solidFill>
                <a:ea typeface="Nunito Sans" pitchFamily="34" charset="-122"/>
                <a:cs typeface="Nunito Sans" pitchFamily="34" charset="-120"/>
              </a:rPr>
              <a:t>tetto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massimo</a:t>
            </a:r>
            <a:r>
              <a:rPr lang="en-US" sz="1200" dirty="0">
                <a:solidFill>
                  <a:srgbClr val="000000"/>
                </a:solidFill>
                <a:ea typeface="Nunito Sans" pitchFamily="34" charset="-122"/>
                <a:cs typeface="Nunito Sans" pitchFamily="34" charset="-120"/>
              </a:rPr>
              <a:t> di </a:t>
            </a:r>
            <a:r>
              <a:rPr lang="en-US" sz="1200" dirty="0" err="1">
                <a:solidFill>
                  <a:srgbClr val="000000"/>
                </a:solidFill>
                <a:ea typeface="Nunito Sans" pitchFamily="34" charset="-122"/>
                <a:cs typeface="Nunito Sans" pitchFamily="34" charset="-120"/>
              </a:rPr>
              <a:t>trattative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lavorabili</a:t>
            </a:r>
            <a:r>
              <a:rPr lang="en-US" sz="1200" dirty="0">
                <a:solidFill>
                  <a:srgbClr val="000000"/>
                </a:solidFill>
                <a:ea typeface="Nunito Sans" pitchFamily="34" charset="-122"/>
                <a:cs typeface="Nunito Sans" pitchFamily="34" charset="-120"/>
              </a:rPr>
              <a:t> per </a:t>
            </a:r>
            <a:r>
              <a:rPr lang="en-US" sz="1200" dirty="0" err="1">
                <a:solidFill>
                  <a:srgbClr val="000000"/>
                </a:solidFill>
                <a:ea typeface="Nunito Sans" pitchFamily="34" charset="-122"/>
                <a:cs typeface="Nunito Sans" pitchFamily="34" charset="-120"/>
              </a:rPr>
              <a:t>ogni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agenzia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differenziato</a:t>
            </a:r>
            <a:r>
              <a:rPr lang="en-US" sz="1200" dirty="0">
                <a:solidFill>
                  <a:srgbClr val="000000"/>
                </a:solidFill>
                <a:ea typeface="Nunito Sans" pitchFamily="34" charset="-122"/>
                <a:cs typeface="Nunito Sans" pitchFamily="34" charset="-120"/>
              </a:rPr>
              <a:t> per </a:t>
            </a:r>
            <a:r>
              <a:rPr lang="en-US" sz="1200" dirty="0" err="1">
                <a:solidFill>
                  <a:srgbClr val="000000"/>
                </a:solidFill>
                <a:ea typeface="Nunito Sans" pitchFamily="34" charset="-122"/>
                <a:cs typeface="Nunito Sans" pitchFamily="34" charset="-120"/>
              </a:rPr>
              <a:t>prodotto</a:t>
            </a:r>
            <a:endParaRPr lang="en-US" sz="1200" dirty="0">
              <a:solidFill>
                <a:srgbClr val="000000"/>
              </a:solidFill>
            </a:endParaRPr>
          </a:p>
          <a:p>
            <a:pPr marL="342900" indent="-342900" algn="l">
              <a:lnSpc>
                <a:spcPts val="2100"/>
              </a:lnSpc>
              <a:buSzPct val="100000"/>
              <a:buChar char="•"/>
            </a:pPr>
            <a:r>
              <a:rPr lang="en-US" sz="1200" b="1" dirty="0" err="1">
                <a:solidFill>
                  <a:srgbClr val="000000"/>
                </a:solidFill>
                <a:ea typeface="Nunito Sans" pitchFamily="34" charset="-122"/>
                <a:cs typeface="Nunito Sans" pitchFamily="34" charset="-120"/>
              </a:rPr>
              <a:t>Azzeramento</a:t>
            </a:r>
            <a:r>
              <a:rPr lang="en-US" sz="1200" b="1" dirty="0">
                <a:solidFill>
                  <a:srgbClr val="000000"/>
                </a:solidFill>
                <a:ea typeface="Nunito Sans" pitchFamily="34" charset="-122"/>
                <a:cs typeface="Nunito Sans" pitchFamily="34" charset="-120"/>
              </a:rPr>
              <a:t> </a:t>
            </a:r>
            <a:r>
              <a:rPr lang="en-US" sz="1200" b="1" dirty="0" err="1">
                <a:solidFill>
                  <a:srgbClr val="000000"/>
                </a:solidFill>
                <a:ea typeface="Nunito Sans" pitchFamily="34" charset="-122"/>
                <a:cs typeface="Nunito Sans" pitchFamily="34" charset="-120"/>
              </a:rPr>
              <a:t>puntuale</a:t>
            </a:r>
            <a:r>
              <a:rPr lang="en-US" sz="1200" b="1" dirty="0">
                <a:solidFill>
                  <a:srgbClr val="000000"/>
                </a:solidFill>
                <a:ea typeface="Nunito Sans" pitchFamily="34" charset="-122"/>
                <a:cs typeface="Nunito Sans" pitchFamily="34" charset="-120"/>
              </a:rPr>
              <a:t> o </a:t>
            </a:r>
            <a:r>
              <a:rPr lang="en-US" sz="1200" b="1" dirty="0" err="1">
                <a:solidFill>
                  <a:srgbClr val="000000"/>
                </a:solidFill>
                <a:ea typeface="Nunito Sans" pitchFamily="34" charset="-122"/>
                <a:cs typeface="Nunito Sans" pitchFamily="34" charset="-120"/>
              </a:rPr>
              <a:t>massivo</a:t>
            </a:r>
            <a:r>
              <a:rPr lang="en-US" sz="1200" dirty="0">
                <a:solidFill>
                  <a:srgbClr val="000000"/>
                </a:solidFill>
                <a:ea typeface="Nunito Sans" pitchFamily="34" charset="-122"/>
                <a:cs typeface="Nunito Sans" pitchFamily="34" charset="-120"/>
              </a:rPr>
              <a:t> del counter </a:t>
            </a:r>
            <a:r>
              <a:rPr lang="en-US" sz="1200" dirty="0" err="1">
                <a:solidFill>
                  <a:srgbClr val="000000"/>
                </a:solidFill>
                <a:ea typeface="Nunito Sans" pitchFamily="34" charset="-122"/>
                <a:cs typeface="Nunito Sans" pitchFamily="34" charset="-120"/>
              </a:rPr>
              <a:t>delle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trattative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già</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assegnate</a:t>
            </a:r>
            <a:r>
              <a:rPr lang="en-US" sz="1200" dirty="0">
                <a:solidFill>
                  <a:srgbClr val="000000"/>
                </a:solidFill>
                <a:ea typeface="Nunito Sans" pitchFamily="34" charset="-122"/>
                <a:cs typeface="Nunito Sans" pitchFamily="34" charset="-120"/>
              </a:rPr>
              <a:t> alle </a:t>
            </a:r>
            <a:r>
              <a:rPr lang="en-US" sz="1200" dirty="0" err="1">
                <a:solidFill>
                  <a:srgbClr val="000000"/>
                </a:solidFill>
                <a:ea typeface="Nunito Sans" pitchFamily="34" charset="-122"/>
                <a:cs typeface="Nunito Sans" pitchFamily="34" charset="-120"/>
              </a:rPr>
              <a:t>agenzie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selezionate</a:t>
            </a:r>
            <a:endParaRPr lang="en-US" sz="1200" dirty="0">
              <a:solidFill>
                <a:srgbClr val="000000"/>
              </a:solidFill>
              <a:ea typeface="Nunito Sans" pitchFamily="34" charset="-122"/>
              <a:cs typeface="Nunito Sans" pitchFamily="34" charset="-120"/>
            </a:endParaRPr>
          </a:p>
          <a:p>
            <a:pPr marL="342900" indent="-342900" algn="l">
              <a:lnSpc>
                <a:spcPts val="2100"/>
              </a:lnSpc>
              <a:buSzPct val="100000"/>
              <a:buChar char="•"/>
            </a:pPr>
            <a:r>
              <a:rPr lang="en-US" sz="1200" b="1" dirty="0" err="1">
                <a:solidFill>
                  <a:srgbClr val="000000"/>
                </a:solidFill>
              </a:rPr>
              <a:t>Modifica</a:t>
            </a:r>
            <a:r>
              <a:rPr lang="en-US" sz="1200" b="1" dirty="0">
                <a:solidFill>
                  <a:srgbClr val="000000"/>
                </a:solidFill>
              </a:rPr>
              <a:t> </a:t>
            </a:r>
            <a:r>
              <a:rPr lang="en-US" sz="1200" b="1" dirty="0" err="1">
                <a:solidFill>
                  <a:srgbClr val="000000"/>
                </a:solidFill>
              </a:rPr>
              <a:t>puntuale</a:t>
            </a:r>
            <a:r>
              <a:rPr lang="en-US" sz="1200" b="1" dirty="0">
                <a:solidFill>
                  <a:srgbClr val="000000"/>
                </a:solidFill>
              </a:rPr>
              <a:t> o </a:t>
            </a:r>
            <a:r>
              <a:rPr lang="en-US" sz="1200" b="1" dirty="0" err="1">
                <a:solidFill>
                  <a:srgbClr val="000000"/>
                </a:solidFill>
              </a:rPr>
              <a:t>massiva</a:t>
            </a:r>
            <a:r>
              <a:rPr lang="en-US" sz="1200" b="1" dirty="0">
                <a:solidFill>
                  <a:srgbClr val="000000"/>
                </a:solidFill>
              </a:rPr>
              <a:t> </a:t>
            </a:r>
            <a:r>
              <a:rPr lang="en-US" sz="1200" dirty="0">
                <a:solidFill>
                  <a:srgbClr val="000000"/>
                </a:solidFill>
              </a:rPr>
              <a:t>del flag Blacklist per </a:t>
            </a:r>
            <a:r>
              <a:rPr lang="en-US" sz="1200" dirty="0" err="1">
                <a:solidFill>
                  <a:srgbClr val="000000"/>
                </a:solidFill>
              </a:rPr>
              <a:t>ogni</a:t>
            </a:r>
            <a:r>
              <a:rPr lang="en-US" sz="1200" dirty="0">
                <a:solidFill>
                  <a:srgbClr val="000000"/>
                </a:solidFill>
              </a:rPr>
              <a:t> </a:t>
            </a:r>
            <a:r>
              <a:rPr lang="en-US" sz="1200" dirty="0" err="1">
                <a:solidFill>
                  <a:srgbClr val="000000"/>
                </a:solidFill>
              </a:rPr>
              <a:t>agenzia</a:t>
            </a:r>
            <a:r>
              <a:rPr lang="en-US" sz="1200" dirty="0">
                <a:solidFill>
                  <a:srgbClr val="000000"/>
                </a:solidFill>
              </a:rPr>
              <a:t>, </a:t>
            </a:r>
            <a:r>
              <a:rPr lang="en-US" sz="1200" dirty="0" err="1">
                <a:solidFill>
                  <a:srgbClr val="000000"/>
                </a:solidFill>
              </a:rPr>
              <a:t>differenziato</a:t>
            </a:r>
            <a:r>
              <a:rPr lang="en-US" sz="1200" dirty="0">
                <a:solidFill>
                  <a:srgbClr val="000000"/>
                </a:solidFill>
              </a:rPr>
              <a:t> per </a:t>
            </a:r>
            <a:r>
              <a:rPr lang="en-US" sz="1200" dirty="0" err="1">
                <a:solidFill>
                  <a:srgbClr val="000000"/>
                </a:solidFill>
              </a:rPr>
              <a:t>prodotto</a:t>
            </a:r>
            <a:endParaRPr lang="en-US" sz="1200" dirty="0">
              <a:solidFill>
                <a:srgbClr val="000000"/>
              </a:solidFill>
            </a:endParaRPr>
          </a:p>
        </p:txBody>
      </p:sp>
      <p:sp>
        <p:nvSpPr>
          <p:cNvPr id="22" name="Text 10">
            <a:extLst>
              <a:ext uri="{FF2B5EF4-FFF2-40B4-BE49-F238E27FC236}">
                <a16:creationId xmlns:a16="http://schemas.microsoft.com/office/drawing/2014/main" id="{B4E533D5-D9B0-445C-88CC-A5BC2E5313CE}"/>
              </a:ext>
            </a:extLst>
          </p:cNvPr>
          <p:cNvSpPr/>
          <p:nvPr/>
        </p:nvSpPr>
        <p:spPr>
          <a:xfrm>
            <a:off x="6265238" y="3939322"/>
            <a:ext cx="5312976" cy="814388"/>
          </a:xfrm>
          <a:prstGeom prst="rect">
            <a:avLst/>
          </a:prstGeom>
          <a:noFill/>
          <a:ln/>
        </p:spPr>
        <p:txBody>
          <a:bodyPr wrap="square" lIns="0" tIns="0" rIns="0" bIns="0" rtlCol="0" anchor="t"/>
          <a:lstStyle/>
          <a:p>
            <a:pPr marL="0" indent="0" algn="l">
              <a:lnSpc>
                <a:spcPts val="2100"/>
              </a:lnSpc>
              <a:buNone/>
            </a:pPr>
            <a:r>
              <a:rPr lang="en-US" sz="1200" dirty="0" err="1">
                <a:solidFill>
                  <a:srgbClr val="000000"/>
                </a:solidFill>
                <a:ea typeface="Nunito Sans" pitchFamily="34" charset="-122"/>
                <a:cs typeface="Nunito Sans" pitchFamily="34" charset="-120"/>
              </a:rPr>
              <a:t>Entrambe</a:t>
            </a:r>
            <a:r>
              <a:rPr lang="en-US" sz="1200" dirty="0">
                <a:solidFill>
                  <a:srgbClr val="000000"/>
                </a:solidFill>
                <a:ea typeface="Nunito Sans" pitchFamily="34" charset="-122"/>
                <a:cs typeface="Nunito Sans" pitchFamily="34" charset="-120"/>
              </a:rPr>
              <a:t> le </a:t>
            </a:r>
            <a:r>
              <a:rPr lang="en-US" sz="1200" dirty="0" err="1">
                <a:solidFill>
                  <a:srgbClr val="000000"/>
                </a:solidFill>
                <a:ea typeface="Nunito Sans" pitchFamily="34" charset="-122"/>
                <a:cs typeface="Nunito Sans" pitchFamily="34" charset="-120"/>
              </a:rPr>
              <a:t>operazioni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saranno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gestite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tramite</a:t>
            </a:r>
            <a:r>
              <a:rPr lang="en-US" sz="1200" dirty="0">
                <a:solidFill>
                  <a:srgbClr val="000000"/>
                </a:solidFill>
                <a:ea typeface="Nunito Sans" pitchFamily="34" charset="-122"/>
                <a:cs typeface="Nunito Sans" pitchFamily="34" charset="-120"/>
              </a:rPr>
              <a:t> un </a:t>
            </a:r>
            <a:r>
              <a:rPr lang="en-US" sz="1200" b="1" dirty="0" err="1">
                <a:solidFill>
                  <a:srgbClr val="000000"/>
                </a:solidFill>
                <a:ea typeface="Nunito Sans" pitchFamily="34" charset="-122"/>
                <a:cs typeface="Nunito Sans" pitchFamily="34" charset="-120"/>
              </a:rPr>
              <a:t>screenflow</a:t>
            </a:r>
            <a:r>
              <a:rPr lang="en-US" sz="1200" b="1" dirty="0">
                <a:solidFill>
                  <a:srgbClr val="000000"/>
                </a:solidFill>
                <a:ea typeface="Nunito Sans" pitchFamily="34" charset="-122"/>
                <a:cs typeface="Nunito Sans" pitchFamily="34" charset="-120"/>
              </a:rPr>
              <a:t> </a:t>
            </a:r>
            <a:r>
              <a:rPr lang="en-US" sz="1200" b="1" dirty="0" err="1">
                <a:solidFill>
                  <a:srgbClr val="000000"/>
                </a:solidFill>
                <a:ea typeface="Nunito Sans" pitchFamily="34" charset="-122"/>
                <a:cs typeface="Nunito Sans" pitchFamily="34" charset="-120"/>
              </a:rPr>
              <a:t>guidato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attivato</a:t>
            </a:r>
            <a:r>
              <a:rPr lang="en-US" sz="1200" dirty="0">
                <a:solidFill>
                  <a:srgbClr val="000000"/>
                </a:solidFill>
                <a:ea typeface="Nunito Sans" pitchFamily="34" charset="-122"/>
                <a:cs typeface="Nunito Sans" pitchFamily="34" charset="-120"/>
              </a:rPr>
              <a:t> dal </a:t>
            </a:r>
            <a:r>
              <a:rPr lang="en-US" sz="1200" dirty="0" err="1">
                <a:solidFill>
                  <a:srgbClr val="000000"/>
                </a:solidFill>
                <a:ea typeface="Nunito Sans" pitchFamily="34" charset="-122"/>
                <a:cs typeface="Nunito Sans" pitchFamily="34" charset="-120"/>
              </a:rPr>
              <a:t>pulsante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Modifica</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Contatori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che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aprirà</a:t>
            </a:r>
            <a:r>
              <a:rPr lang="en-US" sz="1200" dirty="0">
                <a:solidFill>
                  <a:srgbClr val="000000"/>
                </a:solidFill>
                <a:ea typeface="Nunito Sans" pitchFamily="34" charset="-122"/>
                <a:cs typeface="Nunito Sans" pitchFamily="34" charset="-120"/>
              </a:rPr>
              <a:t> un popup con le </a:t>
            </a:r>
            <a:r>
              <a:rPr lang="en-US" sz="1200" dirty="0" err="1">
                <a:solidFill>
                  <a:srgbClr val="000000"/>
                </a:solidFill>
                <a:ea typeface="Nunito Sans" pitchFamily="34" charset="-122"/>
                <a:cs typeface="Nunito Sans" pitchFamily="34" charset="-120"/>
              </a:rPr>
              <a:t>opzioni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disponibili</a:t>
            </a:r>
            <a:r>
              <a:rPr lang="en-US" sz="1200" dirty="0">
                <a:solidFill>
                  <a:srgbClr val="000000"/>
                </a:solidFill>
                <a:ea typeface="Nunito Sans" pitchFamily="34" charset="-122"/>
                <a:cs typeface="Nunito Sans" pitchFamily="34" charset="-120"/>
              </a:rPr>
              <a:t> e la </a:t>
            </a:r>
            <a:r>
              <a:rPr lang="en-US" sz="1200" dirty="0" err="1">
                <a:solidFill>
                  <a:srgbClr val="000000"/>
                </a:solidFill>
                <a:ea typeface="Nunito Sans" pitchFamily="34" charset="-122"/>
                <a:cs typeface="Nunito Sans" pitchFamily="34" charset="-120"/>
              </a:rPr>
              <a:t>selezione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delle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agenzie</a:t>
            </a:r>
            <a:r>
              <a:rPr lang="en-US" sz="1200" dirty="0">
                <a:solidFill>
                  <a:srgbClr val="000000"/>
                </a:solidFill>
                <a:ea typeface="Nunito Sans" pitchFamily="34" charset="-122"/>
                <a:cs typeface="Nunito Sans" pitchFamily="34" charset="-120"/>
              </a:rPr>
              <a:t> target. </a:t>
            </a:r>
          </a:p>
          <a:p>
            <a:pPr marL="0" indent="0" algn="l">
              <a:lnSpc>
                <a:spcPts val="2100"/>
              </a:lnSpc>
              <a:buNone/>
            </a:pPr>
            <a:r>
              <a:rPr lang="en-US" sz="1200" dirty="0" err="1">
                <a:solidFill>
                  <a:srgbClr val="000000"/>
                </a:solidFill>
                <a:ea typeface="Nunito Sans" pitchFamily="34" charset="-122"/>
                <a:cs typeface="Nunito Sans" pitchFamily="34" charset="-120"/>
              </a:rPr>
              <a:t>Tali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azioni</a:t>
            </a:r>
            <a:r>
              <a:rPr lang="en-US" sz="1200" dirty="0">
                <a:solidFill>
                  <a:srgbClr val="000000"/>
                </a:solidFill>
                <a:ea typeface="Nunito Sans" pitchFamily="34" charset="-122"/>
                <a:cs typeface="Nunito Sans" pitchFamily="34" charset="-120"/>
              </a:rPr>
              <a:t> </a:t>
            </a:r>
            <a:r>
              <a:rPr lang="en-US" sz="1200" b="1" dirty="0" err="1">
                <a:solidFill>
                  <a:srgbClr val="000000"/>
                </a:solidFill>
                <a:ea typeface="Nunito Sans" pitchFamily="34" charset="-122"/>
                <a:cs typeface="Nunito Sans" pitchFamily="34" charset="-120"/>
              </a:rPr>
              <a:t>asincrone</a:t>
            </a:r>
            <a:r>
              <a:rPr lang="en-US" sz="1200" dirty="0">
                <a:solidFill>
                  <a:srgbClr val="000000"/>
                </a:solidFill>
                <a:ea typeface="Nunito Sans" pitchFamily="34" charset="-122"/>
                <a:cs typeface="Nunito Sans" pitchFamily="34" charset="-120"/>
              </a:rPr>
              <a:t> e </a:t>
            </a:r>
            <a:r>
              <a:rPr lang="en-US" sz="1200" dirty="0" err="1">
                <a:solidFill>
                  <a:srgbClr val="000000"/>
                </a:solidFill>
                <a:ea typeface="Nunito Sans" pitchFamily="34" charset="-122"/>
                <a:cs typeface="Nunito Sans" pitchFamily="34" charset="-120"/>
              </a:rPr>
              <a:t>saranno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previsti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controlli</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che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impediranno</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all'utente</a:t>
            </a:r>
            <a:r>
              <a:rPr lang="en-US" sz="1200" dirty="0">
                <a:solidFill>
                  <a:srgbClr val="000000"/>
                </a:solidFill>
                <a:ea typeface="Nunito Sans" pitchFamily="34" charset="-122"/>
                <a:cs typeface="Nunito Sans" pitchFamily="34" charset="-120"/>
              </a:rPr>
              <a:t> di </a:t>
            </a:r>
            <a:r>
              <a:rPr lang="en-US" sz="1200" dirty="0" err="1">
                <a:solidFill>
                  <a:srgbClr val="000000"/>
                </a:solidFill>
                <a:ea typeface="Nunito Sans" pitchFamily="34" charset="-122"/>
                <a:cs typeface="Nunito Sans" pitchFamily="34" charset="-120"/>
              </a:rPr>
              <a:t>avviare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nuove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operazioni</a:t>
            </a:r>
            <a:r>
              <a:rPr lang="en-US" sz="1200" dirty="0">
                <a:solidFill>
                  <a:srgbClr val="000000"/>
                </a:solidFill>
                <a:ea typeface="Nunito Sans" pitchFamily="34" charset="-122"/>
                <a:cs typeface="Nunito Sans" pitchFamily="34" charset="-120"/>
              </a:rPr>
              <a:t> se è </a:t>
            </a:r>
            <a:r>
              <a:rPr lang="en-US" sz="1200" dirty="0" err="1">
                <a:solidFill>
                  <a:srgbClr val="000000"/>
                </a:solidFill>
                <a:ea typeface="Nunito Sans" pitchFamily="34" charset="-122"/>
                <a:cs typeface="Nunito Sans" pitchFamily="34" charset="-120"/>
              </a:rPr>
              <a:t>già</a:t>
            </a:r>
            <a:r>
              <a:rPr lang="en-US" sz="1200" dirty="0">
                <a:solidFill>
                  <a:srgbClr val="000000"/>
                </a:solidFill>
                <a:ea typeface="Nunito Sans" pitchFamily="34" charset="-122"/>
                <a:cs typeface="Nunito Sans" pitchFamily="34" charset="-120"/>
              </a:rPr>
              <a:t> in corso </a:t>
            </a:r>
            <a:r>
              <a:rPr lang="en-US" sz="1200" dirty="0" err="1">
                <a:solidFill>
                  <a:srgbClr val="000000"/>
                </a:solidFill>
                <a:ea typeface="Nunito Sans" pitchFamily="34" charset="-122"/>
                <a:cs typeface="Nunito Sans" pitchFamily="34" charset="-120"/>
              </a:rPr>
              <a:t>un'operazione</a:t>
            </a:r>
            <a:r>
              <a:rPr lang="en-US" sz="1200" dirty="0">
                <a:solidFill>
                  <a:srgbClr val="000000"/>
                </a:solidFill>
                <a:ea typeface="Nunito Sans" pitchFamily="34" charset="-122"/>
                <a:cs typeface="Nunito Sans" pitchFamily="34" charset="-120"/>
              </a:rPr>
              <a:t> </a:t>
            </a:r>
            <a:r>
              <a:rPr lang="en-US" sz="1200" dirty="0" err="1">
                <a:solidFill>
                  <a:srgbClr val="000000"/>
                </a:solidFill>
                <a:ea typeface="Nunito Sans" pitchFamily="34" charset="-122"/>
                <a:cs typeface="Nunito Sans" pitchFamily="34" charset="-120"/>
              </a:rPr>
              <a:t>precedente</a:t>
            </a:r>
            <a:r>
              <a:rPr lang="en-US" sz="1200" dirty="0">
                <a:solidFill>
                  <a:srgbClr val="000000"/>
                </a:solidFill>
                <a:ea typeface="Nunito Sans" pitchFamily="34" charset="-122"/>
                <a:cs typeface="Nunito Sans" pitchFamily="34" charset="-120"/>
              </a:rPr>
              <a:t>.</a:t>
            </a:r>
            <a:endParaRPr lang="en-US" sz="1200" dirty="0">
              <a:solidFill>
                <a:srgbClr val="000000"/>
              </a:solidFill>
            </a:endParaRPr>
          </a:p>
        </p:txBody>
      </p:sp>
    </p:spTree>
    <p:extLst>
      <p:ext uri="{BB962C8B-B14F-4D97-AF65-F5344CB8AC3E}">
        <p14:creationId xmlns:p14="http://schemas.microsoft.com/office/powerpoint/2010/main" val="6827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D098C-1576-012E-EF45-7E6953E0E81E}"/>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9137B9D-D5D9-E755-68ED-6742B735882F}"/>
              </a:ext>
            </a:extLst>
          </p:cNvPr>
          <p:cNvGraphicFramePr>
            <a:graphicFrameLocks noChangeAspect="1"/>
          </p:cNvGraphicFramePr>
          <p:nvPr>
            <p:custDataLst>
              <p:tags r:id="rId1"/>
            </p:custDataLst>
            <p:extLst>
              <p:ext uri="{D42A27DB-BD31-4B8C-83A1-F6EECF244321}">
                <p14:modId xmlns:p14="http://schemas.microsoft.com/office/powerpoint/2010/main" val="2549073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 name="think-cell data - do not delete" hidden="1">
                        <a:extLst>
                          <a:ext uri="{FF2B5EF4-FFF2-40B4-BE49-F238E27FC236}">
                            <a16:creationId xmlns:a16="http://schemas.microsoft.com/office/drawing/2014/main" id="{09137B9D-D5D9-E755-68ED-6742B73588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olo 1">
            <a:extLst>
              <a:ext uri="{FF2B5EF4-FFF2-40B4-BE49-F238E27FC236}">
                <a16:creationId xmlns:a16="http://schemas.microsoft.com/office/drawing/2014/main" id="{304DC813-5A46-73EE-749C-4365EBB3699F}"/>
              </a:ext>
            </a:extLst>
          </p:cNvPr>
          <p:cNvSpPr>
            <a:spLocks noGrp="1"/>
          </p:cNvSpPr>
          <p:nvPr>
            <p:ph type="title"/>
          </p:nvPr>
        </p:nvSpPr>
        <p:spPr>
          <a:xfrm>
            <a:off x="389326" y="73235"/>
            <a:ext cx="10302057" cy="471783"/>
          </a:xfrm>
        </p:spPr>
        <p:txBody>
          <a:bodyPr vert="horz" lIns="91440" tIns="45720" rIns="91440" bIns="45720" anchor="ctr">
            <a:noAutofit/>
          </a:bodyPr>
          <a:lstStyle/>
          <a:p>
            <a:r>
              <a:rPr lang="it-IT" sz="2000" dirty="0">
                <a:ea typeface="Calibri"/>
                <a:cs typeface="Calibri"/>
              </a:rPr>
              <a:t>Report Contatori</a:t>
            </a:r>
            <a:endParaRPr lang="it-IT" sz="2000" dirty="0"/>
          </a:p>
        </p:txBody>
      </p:sp>
      <p:sp>
        <p:nvSpPr>
          <p:cNvPr id="5" name="Segnaposto numero diapositiva 4">
            <a:extLst>
              <a:ext uri="{FF2B5EF4-FFF2-40B4-BE49-F238E27FC236}">
                <a16:creationId xmlns:a16="http://schemas.microsoft.com/office/drawing/2014/main" id="{5120A02A-7D52-E87E-7540-573298C238AE}"/>
              </a:ext>
            </a:extLst>
          </p:cNvPr>
          <p:cNvSpPr>
            <a:spLocks noGrp="1"/>
          </p:cNvSpPr>
          <p:nvPr>
            <p:ph type="sldNum" sz="quarter" idx="12"/>
          </p:nvPr>
        </p:nvSpPr>
        <p:spPr/>
        <p:txBody>
          <a:bodyPr/>
          <a:lstStyle/>
          <a:p>
            <a:fld id="{7998DEE5-5424-45CB-8336-3215AFBD0173}" type="slidenum">
              <a:rPr lang="it-IT" smtClean="0"/>
              <a:pPr/>
              <a:t>11</a:t>
            </a:fld>
            <a:endParaRPr lang="it-IT"/>
          </a:p>
        </p:txBody>
      </p:sp>
      <p:sp>
        <p:nvSpPr>
          <p:cNvPr id="16" name="Text 1">
            <a:extLst>
              <a:ext uri="{FF2B5EF4-FFF2-40B4-BE49-F238E27FC236}">
                <a16:creationId xmlns:a16="http://schemas.microsoft.com/office/drawing/2014/main" id="{1E2B4348-8598-4089-801A-45BAAFE212E3}"/>
              </a:ext>
            </a:extLst>
          </p:cNvPr>
          <p:cNvSpPr/>
          <p:nvPr/>
        </p:nvSpPr>
        <p:spPr>
          <a:xfrm>
            <a:off x="209271" y="849416"/>
            <a:ext cx="11168644" cy="416719"/>
          </a:xfrm>
          <a:prstGeom prst="rect">
            <a:avLst/>
          </a:prstGeom>
          <a:noFill/>
          <a:ln/>
        </p:spPr>
        <p:txBody>
          <a:bodyPr wrap="square" lIns="0" tIns="0" rIns="0" bIns="0" rtlCol="0" anchor="t"/>
          <a:lstStyle/>
          <a:p>
            <a:pPr marL="0" indent="0" algn="ctr">
              <a:lnSpc>
                <a:spcPts val="1600"/>
              </a:lnSpc>
              <a:buNone/>
            </a:pPr>
            <a:r>
              <a:rPr lang="en-US" sz="1150">
                <a:solidFill>
                  <a:srgbClr val="0C3252"/>
                </a:solidFill>
                <a:ea typeface="Nunito Sans" pitchFamily="34" charset="-122"/>
                <a:cs typeface="Nunito Sans" pitchFamily="34" charset="-120"/>
              </a:rPr>
              <a:t>La dashboard </a:t>
            </a:r>
            <a:r>
              <a:rPr lang="en-US" sz="1150" err="1">
                <a:solidFill>
                  <a:srgbClr val="0C3252"/>
                </a:solidFill>
                <a:ea typeface="Nunito Sans" pitchFamily="34" charset="-122"/>
                <a:cs typeface="Nunito Sans" pitchFamily="34" charset="-120"/>
              </a:rPr>
              <a:t>presente</a:t>
            </a:r>
            <a:r>
              <a:rPr lang="en-US" sz="1150">
                <a:solidFill>
                  <a:srgbClr val="0C3252"/>
                </a:solidFill>
                <a:ea typeface="Nunito Sans" pitchFamily="34" charset="-122"/>
                <a:cs typeface="Nunito Sans" pitchFamily="34" charset="-120"/>
              </a:rPr>
              <a:t> in Salesforce fornisce una visione </a:t>
            </a:r>
            <a:r>
              <a:rPr lang="en-US" sz="1150" err="1">
                <a:solidFill>
                  <a:srgbClr val="0C3252"/>
                </a:solidFill>
                <a:ea typeface="Nunito Sans" pitchFamily="34" charset="-122"/>
                <a:cs typeface="Nunito Sans" pitchFamily="34" charset="-120"/>
              </a:rPr>
              <a:t>consolidata</a:t>
            </a:r>
            <a:r>
              <a:rPr lang="en-US" sz="1150">
                <a:solidFill>
                  <a:srgbClr val="0C3252"/>
                </a:solidFill>
                <a:ea typeface="Nunito Sans" pitchFamily="34" charset="-122"/>
                <a:cs typeface="Nunito Sans" pitchFamily="34" charset="-120"/>
              </a:rPr>
              <a:t> di tutti </a:t>
            </a:r>
            <a:r>
              <a:rPr lang="en-US" sz="1150" err="1">
                <a:solidFill>
                  <a:srgbClr val="0C3252"/>
                </a:solidFill>
                <a:ea typeface="Nunito Sans" pitchFamily="34" charset="-122"/>
                <a:cs typeface="Nunito Sans" pitchFamily="34" charset="-120"/>
              </a:rPr>
              <a:t>i</a:t>
            </a:r>
            <a:r>
              <a:rPr lang="en-US" sz="1150">
                <a:solidFill>
                  <a:srgbClr val="0C3252"/>
                </a:solidFill>
                <a:ea typeface="Nunito Sans" pitchFamily="34" charset="-122"/>
                <a:cs typeface="Nunito Sans" pitchFamily="34" charset="-120"/>
              </a:rPr>
              <a:t> </a:t>
            </a:r>
            <a:r>
              <a:rPr lang="en-US" sz="1150" err="1">
                <a:solidFill>
                  <a:srgbClr val="0C3252"/>
                </a:solidFill>
                <a:ea typeface="Nunito Sans" pitchFamily="34" charset="-122"/>
                <a:cs typeface="Nunito Sans" pitchFamily="34" charset="-120"/>
              </a:rPr>
              <a:t>Contatori</a:t>
            </a:r>
            <a:r>
              <a:rPr lang="en-US" sz="1150">
                <a:solidFill>
                  <a:srgbClr val="0C3252"/>
                </a:solidFill>
                <a:ea typeface="Nunito Sans" pitchFamily="34" charset="-122"/>
                <a:cs typeface="Nunito Sans" pitchFamily="34" charset="-120"/>
              </a:rPr>
              <a:t> relativi al motore geo-meritocratico. </a:t>
            </a:r>
            <a:r>
              <a:rPr lang="en-US" sz="1150" err="1">
                <a:solidFill>
                  <a:srgbClr val="0C3252"/>
                </a:solidFill>
                <a:ea typeface="Nunito Sans" pitchFamily="34" charset="-122"/>
                <a:cs typeface="Nunito Sans" pitchFamily="34" charset="-120"/>
              </a:rPr>
              <a:t>Sarà</a:t>
            </a:r>
            <a:r>
              <a:rPr lang="en-US" sz="1150">
                <a:solidFill>
                  <a:srgbClr val="0C3252"/>
                </a:solidFill>
                <a:ea typeface="Nunito Sans" pitchFamily="34" charset="-122"/>
                <a:cs typeface="Nunito Sans" pitchFamily="34" charset="-120"/>
              </a:rPr>
              <a:t> possibile aggiungere filtri globali, modificare i campi visualizzati e personalizzare la disposizione dei componenti in base alle esigenze operative.</a:t>
            </a:r>
            <a:endParaRPr lang="en-US" sz="1150"/>
          </a:p>
        </p:txBody>
      </p:sp>
      <p:sp>
        <p:nvSpPr>
          <p:cNvPr id="29" name="Shape 4">
            <a:extLst>
              <a:ext uri="{FF2B5EF4-FFF2-40B4-BE49-F238E27FC236}">
                <a16:creationId xmlns:a16="http://schemas.microsoft.com/office/drawing/2014/main" id="{B6EC7354-C897-4BF9-B595-895BE9C7F59E}"/>
              </a:ext>
            </a:extLst>
          </p:cNvPr>
          <p:cNvSpPr/>
          <p:nvPr/>
        </p:nvSpPr>
        <p:spPr>
          <a:xfrm>
            <a:off x="567134" y="5587849"/>
            <a:ext cx="11143800" cy="531852"/>
          </a:xfrm>
          <a:prstGeom prst="roundRect">
            <a:avLst>
              <a:gd name="adj" fmla="val 1719"/>
            </a:avLst>
          </a:prstGeom>
          <a:noFill/>
          <a:ln w="28575">
            <a:solidFill>
              <a:schemeClr val="accent3">
                <a:lumMod val="60000"/>
                <a:lumOff val="40000"/>
              </a:schemeClr>
            </a:solidFill>
          </a:ln>
        </p:spPr>
        <p:txBody>
          <a:bodyPr/>
          <a:lstStyle/>
          <a:p>
            <a:endParaRPr lang="it-IT"/>
          </a:p>
        </p:txBody>
      </p:sp>
      <p:sp>
        <p:nvSpPr>
          <p:cNvPr id="31" name="Text 5">
            <a:extLst>
              <a:ext uri="{FF2B5EF4-FFF2-40B4-BE49-F238E27FC236}">
                <a16:creationId xmlns:a16="http://schemas.microsoft.com/office/drawing/2014/main" id="{7E8BDC68-B633-4F50-AAED-672971A4E8B9}"/>
              </a:ext>
            </a:extLst>
          </p:cNvPr>
          <p:cNvSpPr/>
          <p:nvPr/>
        </p:nvSpPr>
        <p:spPr>
          <a:xfrm>
            <a:off x="1481256" y="5724863"/>
            <a:ext cx="9440734" cy="257824"/>
          </a:xfrm>
          <a:prstGeom prst="rect">
            <a:avLst/>
          </a:prstGeom>
          <a:noFill/>
          <a:ln/>
        </p:spPr>
        <p:txBody>
          <a:bodyPr wrap="none" lIns="0" tIns="0" rIns="0" bIns="0" rtlCol="0" anchor="t"/>
          <a:lstStyle/>
          <a:p>
            <a:pPr marL="0" indent="0" algn="l">
              <a:lnSpc>
                <a:spcPts val="1600"/>
              </a:lnSpc>
              <a:buNone/>
            </a:pPr>
            <a:r>
              <a:rPr lang="en-US" sz="1150">
                <a:solidFill>
                  <a:srgbClr val="000000"/>
                </a:solidFill>
                <a:ea typeface="Nunito Sans" pitchFamily="34" charset="-122"/>
                <a:cs typeface="Nunito Sans" pitchFamily="34" charset="-120"/>
              </a:rPr>
              <a:t>Le immagini sono a scopo esemplificativo. La configurazione definitiva della dashboard potrà essere personalizzata in fase di </a:t>
            </a:r>
            <a:r>
              <a:rPr lang="en-US" sz="1150" err="1">
                <a:solidFill>
                  <a:srgbClr val="000000"/>
                </a:solidFill>
                <a:ea typeface="Nunito Sans" pitchFamily="34" charset="-122"/>
                <a:cs typeface="Nunito Sans" pitchFamily="34" charset="-120"/>
              </a:rPr>
              <a:t>implementazione</a:t>
            </a:r>
            <a:r>
              <a:rPr lang="en-US" sz="1150">
                <a:solidFill>
                  <a:srgbClr val="000000"/>
                </a:solidFill>
                <a:ea typeface="Nunito Sans" pitchFamily="34" charset="-122"/>
                <a:cs typeface="Nunito Sans" pitchFamily="34" charset="-120"/>
              </a:rPr>
              <a:t>.</a:t>
            </a:r>
            <a:endParaRPr lang="en-US" sz="1150"/>
          </a:p>
        </p:txBody>
      </p:sp>
      <p:pic>
        <p:nvPicPr>
          <p:cNvPr id="32" name="Picture 3">
            <a:extLst>
              <a:ext uri="{FF2B5EF4-FFF2-40B4-BE49-F238E27FC236}">
                <a16:creationId xmlns:a16="http://schemas.microsoft.com/office/drawing/2014/main" id="{E122D1E9-0076-43C3-8802-712B261F9DB6}"/>
              </a:ext>
            </a:extLst>
          </p:cNvPr>
          <p:cNvPicPr>
            <a:picLocks noChangeAspect="1"/>
          </p:cNvPicPr>
          <p:nvPr/>
        </p:nvPicPr>
        <p:blipFill rotWithShape="1">
          <a:blip r:embed="rId6"/>
          <a:srcRect r="49632"/>
          <a:stretch/>
        </p:blipFill>
        <p:spPr>
          <a:xfrm>
            <a:off x="2523072" y="1538783"/>
            <a:ext cx="7231924" cy="3780434"/>
          </a:xfrm>
          <a:prstGeom prst="rect">
            <a:avLst/>
          </a:prstGeom>
          <a:ln>
            <a:solidFill>
              <a:schemeClr val="accent1">
                <a:shade val="15000"/>
              </a:schemeClr>
            </a:solidFill>
          </a:ln>
        </p:spPr>
      </p:pic>
      <p:sp>
        <p:nvSpPr>
          <p:cNvPr id="33" name="Rectangle 5">
            <a:extLst>
              <a:ext uri="{FF2B5EF4-FFF2-40B4-BE49-F238E27FC236}">
                <a16:creationId xmlns:a16="http://schemas.microsoft.com/office/drawing/2014/main" id="{523F7D31-59D5-4E44-9506-44B1F908BD8E}"/>
              </a:ext>
            </a:extLst>
          </p:cNvPr>
          <p:cNvSpPr/>
          <p:nvPr/>
        </p:nvSpPr>
        <p:spPr>
          <a:xfrm>
            <a:off x="2609140" y="2537278"/>
            <a:ext cx="5248656" cy="16276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4" name="Picture 6">
            <a:extLst>
              <a:ext uri="{FF2B5EF4-FFF2-40B4-BE49-F238E27FC236}">
                <a16:creationId xmlns:a16="http://schemas.microsoft.com/office/drawing/2014/main" id="{02CB8812-F577-4890-A28F-F14840DE750D}"/>
              </a:ext>
            </a:extLst>
          </p:cNvPr>
          <p:cNvPicPr>
            <a:picLocks noChangeAspect="1"/>
          </p:cNvPicPr>
          <p:nvPr/>
        </p:nvPicPr>
        <p:blipFill>
          <a:blip r:embed="rId7"/>
          <a:srcRect r="5489"/>
          <a:stretch>
            <a:fillRect/>
          </a:stretch>
        </p:blipFill>
        <p:spPr>
          <a:xfrm>
            <a:off x="2609140" y="2759042"/>
            <a:ext cx="6946895" cy="2154264"/>
          </a:xfrm>
          <a:prstGeom prst="rect">
            <a:avLst/>
          </a:prstGeom>
        </p:spPr>
      </p:pic>
    </p:spTree>
    <p:extLst>
      <p:ext uri="{BB962C8B-B14F-4D97-AF65-F5344CB8AC3E}">
        <p14:creationId xmlns:p14="http://schemas.microsoft.com/office/powerpoint/2010/main" val="1655675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D51FD1-B137-46BA-ADD4-508F484F4FF8}"/>
              </a:ext>
            </a:extLst>
          </p:cNvPr>
          <p:cNvSpPr>
            <a:spLocks noGrp="1"/>
          </p:cNvSpPr>
          <p:nvPr>
            <p:ph type="title"/>
          </p:nvPr>
        </p:nvSpPr>
        <p:spPr>
          <a:xfrm>
            <a:off x="2616199" y="2741247"/>
            <a:ext cx="9218851" cy="566222"/>
          </a:xfrm>
        </p:spPr>
        <p:txBody>
          <a:bodyPr/>
          <a:lstStyle/>
          <a:p>
            <a:pPr algn="r"/>
            <a:r>
              <a:rPr lang="it-IT" sz="3200">
                <a:latin typeface="+mn-lt"/>
              </a:rPr>
              <a:t>Open point</a:t>
            </a:r>
          </a:p>
        </p:txBody>
      </p:sp>
    </p:spTree>
    <p:extLst>
      <p:ext uri="{BB962C8B-B14F-4D97-AF65-F5344CB8AC3E}">
        <p14:creationId xmlns:p14="http://schemas.microsoft.com/office/powerpoint/2010/main" val="2769456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5E08-257A-9F3F-5B5B-BB48AF98A00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5490E69-25EE-7899-12CA-DF2EE8509C2B}"/>
              </a:ext>
            </a:extLst>
          </p:cNvPr>
          <p:cNvGraphicFramePr>
            <a:graphicFrameLocks noChangeAspect="1"/>
          </p:cNvGraphicFramePr>
          <p:nvPr>
            <p:custDataLst>
              <p:tags r:id="rId1"/>
            </p:custDataLst>
          </p:nvPr>
        </p:nvGraphicFramePr>
        <p:xfrm>
          <a:off x="13019" y="8018"/>
          <a:ext cx="1585" cy="1585"/>
        </p:xfrm>
        <a:graphic>
          <a:graphicData uri="http://schemas.openxmlformats.org/presentationml/2006/ole">
            <mc:AlternateContent xmlns:mc="http://schemas.openxmlformats.org/markup-compatibility/2006">
              <mc:Choice xmlns:v="urn:schemas-microsoft-com:vml" Requires="v">
                <p:oleObj name="Diapositiva think-cell" r:id="rId4" imgW="424" imgH="425" progId="TCLayout.ActiveDocument.1">
                  <p:embed/>
                </p:oleObj>
              </mc:Choice>
              <mc:Fallback>
                <p:oleObj name="Diapositiva think-cell" r:id="rId4" imgW="424" imgH="425" progId="TCLayout.ActiveDocument.1">
                  <p:embed/>
                  <p:pic>
                    <p:nvPicPr>
                      <p:cNvPr id="6" name="think-cell data - do not delete" hidden="1">
                        <a:extLst>
                          <a:ext uri="{FF2B5EF4-FFF2-40B4-BE49-F238E27FC236}">
                            <a16:creationId xmlns:a16="http://schemas.microsoft.com/office/drawing/2014/main" id="{35490E69-25EE-7899-12CA-DF2EE8509C2B}"/>
                          </a:ext>
                        </a:extLst>
                      </p:cNvPr>
                      <p:cNvPicPr/>
                      <p:nvPr/>
                    </p:nvPicPr>
                    <p:blipFill>
                      <a:blip r:embed="rId5"/>
                      <a:stretch>
                        <a:fillRect/>
                      </a:stretch>
                    </p:blipFill>
                    <p:spPr>
                      <a:xfrm>
                        <a:off x="13019" y="8018"/>
                        <a:ext cx="1585" cy="1585"/>
                      </a:xfrm>
                      <a:prstGeom prst="rect">
                        <a:avLst/>
                      </a:prstGeom>
                    </p:spPr>
                  </p:pic>
                </p:oleObj>
              </mc:Fallback>
            </mc:AlternateContent>
          </a:graphicData>
        </a:graphic>
      </p:graphicFrame>
      <p:pic>
        <p:nvPicPr>
          <p:cNvPr id="34" name="Immagine 33">
            <a:extLst>
              <a:ext uri="{FF2B5EF4-FFF2-40B4-BE49-F238E27FC236}">
                <a16:creationId xmlns:a16="http://schemas.microsoft.com/office/drawing/2014/main" id="{27286323-E732-D7B9-422C-3E4E244CF340}"/>
              </a:ext>
            </a:extLst>
          </p:cNvPr>
          <p:cNvPicPr>
            <a:picLocks noChangeAspect="1"/>
          </p:cNvPicPr>
          <p:nvPr/>
        </p:nvPicPr>
        <p:blipFill>
          <a:blip r:embed="rId6">
            <a:duotone>
              <a:schemeClr val="accent6">
                <a:shade val="45000"/>
                <a:satMod val="135000"/>
              </a:schemeClr>
              <a:prstClr val="white"/>
            </a:duotone>
          </a:blip>
          <a:stretch>
            <a:fillRect/>
          </a:stretch>
        </p:blipFill>
        <p:spPr>
          <a:xfrm>
            <a:off x="200307" y="1275455"/>
            <a:ext cx="5895693" cy="2784832"/>
          </a:xfrm>
          <a:prstGeom prst="rect">
            <a:avLst/>
          </a:prstGeom>
        </p:spPr>
      </p:pic>
      <p:pic>
        <p:nvPicPr>
          <p:cNvPr id="35" name="Immagine 34">
            <a:extLst>
              <a:ext uri="{FF2B5EF4-FFF2-40B4-BE49-F238E27FC236}">
                <a16:creationId xmlns:a16="http://schemas.microsoft.com/office/drawing/2014/main" id="{010C5C72-49A0-BC84-FECD-070AD027EE03}"/>
              </a:ext>
            </a:extLst>
          </p:cNvPr>
          <p:cNvPicPr>
            <a:picLocks noChangeAspect="1"/>
          </p:cNvPicPr>
          <p:nvPr/>
        </p:nvPicPr>
        <p:blipFill>
          <a:blip r:embed="rId6"/>
          <a:srcRect l="29345" b="63296"/>
          <a:stretch>
            <a:fillRect/>
          </a:stretch>
        </p:blipFill>
        <p:spPr>
          <a:xfrm>
            <a:off x="1930383" y="1275455"/>
            <a:ext cx="4165617" cy="1022133"/>
          </a:xfrm>
          <a:prstGeom prst="rect">
            <a:avLst/>
          </a:prstGeom>
        </p:spPr>
      </p:pic>
      <p:sp>
        <p:nvSpPr>
          <p:cNvPr id="39" name="CasellaDiTesto 38">
            <a:extLst>
              <a:ext uri="{FF2B5EF4-FFF2-40B4-BE49-F238E27FC236}">
                <a16:creationId xmlns:a16="http://schemas.microsoft.com/office/drawing/2014/main" id="{93B9A44B-D224-50D8-C6B9-1F325BD57945}"/>
              </a:ext>
            </a:extLst>
          </p:cNvPr>
          <p:cNvSpPr txBox="1"/>
          <p:nvPr/>
        </p:nvSpPr>
        <p:spPr>
          <a:xfrm>
            <a:off x="261248" y="115358"/>
            <a:ext cx="10854123" cy="400110"/>
          </a:xfrm>
          <a:prstGeom prst="rect">
            <a:avLst/>
          </a:prstGeom>
          <a:noFill/>
        </p:spPr>
        <p:txBody>
          <a:bodyPr wrap="square">
            <a:spAutoFit/>
          </a:bodyPr>
          <a:lstStyle/>
          <a:p>
            <a:r>
              <a:rPr lang="it-IT" sz="2000" b="1" dirty="0">
                <a:solidFill>
                  <a:srgbClr val="FFFFFF"/>
                </a:solidFill>
                <a:latin typeface="Calibri"/>
                <a:ea typeface="+mj-ea"/>
                <a:cs typeface="+mj-cs"/>
              </a:rPr>
              <a:t>Punti di Attenzione: KPI «Conversion» Trattative (1)</a:t>
            </a:r>
            <a:endParaRPr lang="it-IT" sz="2000" dirty="0"/>
          </a:p>
        </p:txBody>
      </p:sp>
      <p:sp>
        <p:nvSpPr>
          <p:cNvPr id="40" name="CasellaDiTesto 39">
            <a:extLst>
              <a:ext uri="{FF2B5EF4-FFF2-40B4-BE49-F238E27FC236}">
                <a16:creationId xmlns:a16="http://schemas.microsoft.com/office/drawing/2014/main" id="{49F107C3-1098-DCE6-D18E-2AD99AA47B00}"/>
              </a:ext>
            </a:extLst>
          </p:cNvPr>
          <p:cNvSpPr txBox="1"/>
          <p:nvPr/>
        </p:nvSpPr>
        <p:spPr>
          <a:xfrm>
            <a:off x="6335348" y="1275455"/>
            <a:ext cx="5485104" cy="3861635"/>
          </a:xfrm>
          <a:prstGeom prst="rect">
            <a:avLst/>
          </a:prstGeom>
          <a:noFill/>
        </p:spPr>
        <p:txBody>
          <a:bodyPr wrap="square" rtlCol="0">
            <a:spAutoFit/>
          </a:bodyPr>
          <a:lstStyle/>
          <a:p>
            <a:pPr marL="259232" indent="-259232">
              <a:buFont typeface="Wingdings" panose="05000000000000000000" pitchFamily="2" charset="2"/>
              <a:buChar char="Ø"/>
            </a:pPr>
            <a:r>
              <a:rPr lang="it-IT" sz="1633" dirty="0">
                <a:latin typeface="Aptos" panose="020B0004020202020204" pitchFamily="34" charset="0"/>
              </a:rPr>
              <a:t>Su Salesforce </a:t>
            </a:r>
            <a:r>
              <a:rPr lang="it-IT" sz="1633" b="1" dirty="0">
                <a:latin typeface="Aptos" panose="020B0004020202020204" pitchFamily="34" charset="0"/>
              </a:rPr>
              <a:t>non è garantito che tutti i preventivi fatti nell’ambito di un processo di Vendita </a:t>
            </a:r>
            <a:r>
              <a:rPr lang="it-IT" sz="1633" dirty="0">
                <a:latin typeface="Aptos" panose="020B0004020202020204" pitchFamily="34" charset="0"/>
              </a:rPr>
              <a:t>siano inclusi nella stessa trattativa </a:t>
            </a: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r>
              <a:rPr lang="it-IT" sz="1633" dirty="0">
                <a:latin typeface="Aptos" panose="020B0004020202020204" pitchFamily="34" charset="0"/>
              </a:rPr>
              <a:t>Questo produce un Disallineamento rispetto al </a:t>
            </a:r>
            <a:r>
              <a:rPr lang="it-IT" sz="1633" b="1" dirty="0">
                <a:latin typeface="Aptos" panose="020B0004020202020204" pitchFamily="34" charset="0"/>
              </a:rPr>
              <a:t>KPI di Conversion </a:t>
            </a:r>
            <a:r>
              <a:rPr lang="it-IT" sz="1633" dirty="0">
                <a:latin typeface="Aptos" panose="020B0004020202020204" pitchFamily="34" charset="0"/>
              </a:rPr>
              <a:t>definito nell’ambito del Progetto UNICA, che prevede il calcolo della Conversion in base a:</a:t>
            </a: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endParaRPr lang="it-IT" sz="1633" dirty="0">
              <a:latin typeface="Aptos" panose="020B0004020202020204" pitchFamily="34" charset="0"/>
            </a:endParaRPr>
          </a:p>
          <a:p>
            <a:pPr marL="259232" indent="-259232">
              <a:buFont typeface="Wingdings" panose="05000000000000000000" pitchFamily="2" charset="2"/>
              <a:buChar char="Ø"/>
            </a:pPr>
            <a:r>
              <a:rPr lang="it-IT" sz="1633" dirty="0">
                <a:latin typeface="Aptos" panose="020B0004020202020204" pitchFamily="34" charset="0"/>
              </a:rPr>
              <a:t>E’ previsto che questi KPI siano visualizzati in una Dashboard Tableau che sarà visibile alle Agenzie</a:t>
            </a:r>
          </a:p>
        </p:txBody>
      </p:sp>
      <p:sp>
        <p:nvSpPr>
          <p:cNvPr id="41" name="CasellaDiTesto 40">
            <a:extLst>
              <a:ext uri="{FF2B5EF4-FFF2-40B4-BE49-F238E27FC236}">
                <a16:creationId xmlns:a16="http://schemas.microsoft.com/office/drawing/2014/main" id="{03642190-9026-B9AA-93D7-FA3BED8882AC}"/>
              </a:ext>
            </a:extLst>
          </p:cNvPr>
          <p:cNvSpPr txBox="1"/>
          <p:nvPr/>
        </p:nvSpPr>
        <p:spPr>
          <a:xfrm>
            <a:off x="7311746" y="3243262"/>
            <a:ext cx="3034606" cy="315792"/>
          </a:xfrm>
          <a:prstGeom prst="rect">
            <a:avLst/>
          </a:prstGeom>
          <a:noFill/>
        </p:spPr>
        <p:txBody>
          <a:bodyPr wrap="square" rtlCol="0">
            <a:spAutoFit/>
          </a:bodyPr>
          <a:lstStyle/>
          <a:p>
            <a:pPr algn="ctr"/>
            <a:r>
              <a:rPr lang="it-IT" sz="1452" i="1" dirty="0">
                <a:latin typeface="Aptos" panose="020B0004020202020204" pitchFamily="34" charset="0"/>
              </a:rPr>
              <a:t>Emissioni</a:t>
            </a:r>
          </a:p>
        </p:txBody>
      </p:sp>
      <p:sp>
        <p:nvSpPr>
          <p:cNvPr id="42" name="CasellaDiTesto 41">
            <a:extLst>
              <a:ext uri="{FF2B5EF4-FFF2-40B4-BE49-F238E27FC236}">
                <a16:creationId xmlns:a16="http://schemas.microsoft.com/office/drawing/2014/main" id="{8A939B7C-F57C-8BB3-4AED-DF2F6E2A5B0D}"/>
              </a:ext>
            </a:extLst>
          </p:cNvPr>
          <p:cNvSpPr txBox="1"/>
          <p:nvPr/>
        </p:nvSpPr>
        <p:spPr>
          <a:xfrm>
            <a:off x="7311746" y="3572382"/>
            <a:ext cx="3034606" cy="706668"/>
          </a:xfrm>
          <a:prstGeom prst="rect">
            <a:avLst/>
          </a:prstGeom>
          <a:noFill/>
        </p:spPr>
        <p:txBody>
          <a:bodyPr wrap="square" rtlCol="0">
            <a:spAutoFit/>
          </a:bodyPr>
          <a:lstStyle/>
          <a:p>
            <a:pPr algn="ctr"/>
            <a:r>
              <a:rPr lang="it-IT" sz="1452" i="1" dirty="0">
                <a:latin typeface="Aptos" panose="020B0004020202020204" pitchFamily="34" charset="0"/>
              </a:rPr>
              <a:t>Preventivi </a:t>
            </a:r>
            <a:r>
              <a:rPr lang="it-IT" sz="1452" i="1" dirty="0" err="1">
                <a:latin typeface="Aptos" panose="020B0004020202020204" pitchFamily="34" charset="0"/>
              </a:rPr>
              <a:t>Deduplicati</a:t>
            </a:r>
            <a:r>
              <a:rPr lang="it-IT" sz="1452" i="1" dirty="0">
                <a:latin typeface="Aptos" panose="020B0004020202020204" pitchFamily="34" charset="0"/>
              </a:rPr>
              <a:t> per</a:t>
            </a:r>
          </a:p>
          <a:p>
            <a:pPr marL="259232" indent="-259232">
              <a:buFont typeface="Arial" panose="020B0604020202020204" pitchFamily="34" charset="0"/>
              <a:buChar char="•"/>
            </a:pPr>
            <a:r>
              <a:rPr lang="it-IT" sz="1270" i="1" dirty="0">
                <a:latin typeface="Aptos" panose="020B0004020202020204" pitchFamily="34" charset="0"/>
              </a:rPr>
              <a:t>Chiave univoca del bene</a:t>
            </a:r>
          </a:p>
          <a:p>
            <a:pPr marL="259232" indent="-259232">
              <a:buFont typeface="Arial" panose="020B0604020202020204" pitchFamily="34" charset="0"/>
              <a:buChar char="•"/>
            </a:pPr>
            <a:r>
              <a:rPr lang="it-IT" sz="1270" i="1" dirty="0">
                <a:latin typeface="Aptos" panose="020B0004020202020204" pitchFamily="34" charset="0"/>
              </a:rPr>
              <a:t>Finestra di 35gg sulla Data di Effetto</a:t>
            </a:r>
          </a:p>
        </p:txBody>
      </p:sp>
      <p:cxnSp>
        <p:nvCxnSpPr>
          <p:cNvPr id="44" name="Connettore diritto 43">
            <a:extLst>
              <a:ext uri="{FF2B5EF4-FFF2-40B4-BE49-F238E27FC236}">
                <a16:creationId xmlns:a16="http://schemas.microsoft.com/office/drawing/2014/main" id="{2F0E5567-1229-3B58-494D-C5C97264D607}"/>
              </a:ext>
            </a:extLst>
          </p:cNvPr>
          <p:cNvCxnSpPr>
            <a:cxnSpLocks/>
          </p:cNvCxnSpPr>
          <p:nvPr/>
        </p:nvCxnSpPr>
        <p:spPr>
          <a:xfrm>
            <a:off x="7311746" y="3550384"/>
            <a:ext cx="303460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5499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1862-D0C6-9EE1-14EB-91586F73839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174BE11-FEB2-6BA3-D0A9-C18DEAAF534F}"/>
              </a:ext>
            </a:extLst>
          </p:cNvPr>
          <p:cNvGraphicFramePr>
            <a:graphicFrameLocks noChangeAspect="1"/>
          </p:cNvGraphicFramePr>
          <p:nvPr>
            <p:custDataLst>
              <p:tags r:id="rId1"/>
            </p:custDataLst>
          </p:nvPr>
        </p:nvGraphicFramePr>
        <p:xfrm>
          <a:off x="13019" y="8018"/>
          <a:ext cx="1585" cy="1585"/>
        </p:xfrm>
        <a:graphic>
          <a:graphicData uri="http://schemas.openxmlformats.org/presentationml/2006/ole">
            <mc:AlternateContent xmlns:mc="http://schemas.openxmlformats.org/markup-compatibility/2006">
              <mc:Choice xmlns:v="urn:schemas-microsoft-com:vml" Requires="v">
                <p:oleObj name="Diapositiva think-cell" r:id="rId4" imgW="424" imgH="425" progId="TCLayout.ActiveDocument.1">
                  <p:embed/>
                </p:oleObj>
              </mc:Choice>
              <mc:Fallback>
                <p:oleObj name="Diapositiva think-cell" r:id="rId4" imgW="424" imgH="425" progId="TCLayout.ActiveDocument.1">
                  <p:embed/>
                  <p:pic>
                    <p:nvPicPr>
                      <p:cNvPr id="6" name="think-cell data - do not delete" hidden="1">
                        <a:extLst>
                          <a:ext uri="{FF2B5EF4-FFF2-40B4-BE49-F238E27FC236}">
                            <a16:creationId xmlns:a16="http://schemas.microsoft.com/office/drawing/2014/main" id="{4174BE11-FEB2-6BA3-D0A9-C18DEAAF534F}"/>
                          </a:ext>
                        </a:extLst>
                      </p:cNvPr>
                      <p:cNvPicPr/>
                      <p:nvPr/>
                    </p:nvPicPr>
                    <p:blipFill>
                      <a:blip r:embed="rId5"/>
                      <a:stretch>
                        <a:fillRect/>
                      </a:stretch>
                    </p:blipFill>
                    <p:spPr>
                      <a:xfrm>
                        <a:off x="13019" y="8018"/>
                        <a:ext cx="1585" cy="1585"/>
                      </a:xfrm>
                      <a:prstGeom prst="rect">
                        <a:avLst/>
                      </a:prstGeom>
                    </p:spPr>
                  </p:pic>
                </p:oleObj>
              </mc:Fallback>
            </mc:AlternateContent>
          </a:graphicData>
        </a:graphic>
      </p:graphicFrame>
      <p:sp>
        <p:nvSpPr>
          <p:cNvPr id="39" name="CasellaDiTesto 38">
            <a:extLst>
              <a:ext uri="{FF2B5EF4-FFF2-40B4-BE49-F238E27FC236}">
                <a16:creationId xmlns:a16="http://schemas.microsoft.com/office/drawing/2014/main" id="{84FE0912-EC88-7569-1F72-82E888A7D424}"/>
              </a:ext>
            </a:extLst>
          </p:cNvPr>
          <p:cNvSpPr txBox="1"/>
          <p:nvPr/>
        </p:nvSpPr>
        <p:spPr>
          <a:xfrm>
            <a:off x="261248" y="98107"/>
            <a:ext cx="10854123" cy="400110"/>
          </a:xfrm>
          <a:prstGeom prst="rect">
            <a:avLst/>
          </a:prstGeom>
          <a:noFill/>
        </p:spPr>
        <p:txBody>
          <a:bodyPr wrap="square">
            <a:spAutoFit/>
          </a:bodyPr>
          <a:lstStyle/>
          <a:p>
            <a:r>
              <a:rPr lang="it-IT" sz="2000" b="1" dirty="0">
                <a:solidFill>
                  <a:srgbClr val="FFFFFF"/>
                </a:solidFill>
                <a:latin typeface="Calibri"/>
                <a:ea typeface="+mj-ea"/>
                <a:cs typeface="+mj-cs"/>
              </a:rPr>
              <a:t>Punti di Attenzione: KPI «Conversion» Trattative (2)</a:t>
            </a:r>
            <a:endParaRPr lang="it-IT" sz="2000" dirty="0"/>
          </a:p>
        </p:txBody>
      </p:sp>
      <p:sp>
        <p:nvSpPr>
          <p:cNvPr id="2" name="CasellaDiTesto 1">
            <a:extLst>
              <a:ext uri="{FF2B5EF4-FFF2-40B4-BE49-F238E27FC236}">
                <a16:creationId xmlns:a16="http://schemas.microsoft.com/office/drawing/2014/main" id="{887D965A-DEEA-F707-94AF-C90212CABD03}"/>
              </a:ext>
            </a:extLst>
          </p:cNvPr>
          <p:cNvSpPr txBox="1"/>
          <p:nvPr/>
        </p:nvSpPr>
        <p:spPr>
          <a:xfrm>
            <a:off x="261248" y="850334"/>
            <a:ext cx="11395330" cy="1656544"/>
          </a:xfrm>
          <a:prstGeom prst="rect">
            <a:avLst/>
          </a:prstGeom>
          <a:noFill/>
        </p:spPr>
        <p:txBody>
          <a:bodyPr wrap="square" rtlCol="0">
            <a:spAutoFit/>
          </a:bodyPr>
          <a:lstStyle/>
          <a:p>
            <a:r>
              <a:rPr lang="it-IT" sz="1452" dirty="0">
                <a:latin typeface="Aptos" panose="020B0004020202020204" pitchFamily="34" charset="0"/>
              </a:rPr>
              <a:t>Esempio:</a:t>
            </a:r>
          </a:p>
          <a:p>
            <a:endParaRPr lang="it-IT" sz="1452" dirty="0">
              <a:latin typeface="Aptos" panose="020B0004020202020204" pitchFamily="34" charset="0"/>
            </a:endParaRPr>
          </a:p>
          <a:p>
            <a:pPr marL="311079" indent="-311079">
              <a:buFont typeface="+mj-lt"/>
              <a:buAutoNum type="arabicPeriod"/>
            </a:pPr>
            <a:r>
              <a:rPr lang="it-IT" sz="1452" dirty="0">
                <a:latin typeface="Aptos" panose="020B0004020202020204" pitchFamily="34" charset="0"/>
              </a:rPr>
              <a:t>Un </a:t>
            </a:r>
            <a:r>
              <a:rPr lang="it-IT" sz="1452" dirty="0" err="1">
                <a:latin typeface="Aptos" panose="020B0004020202020204" pitchFamily="34" charset="0"/>
              </a:rPr>
              <a:t>prospect</a:t>
            </a:r>
            <a:r>
              <a:rPr lang="it-IT" sz="1452" dirty="0">
                <a:latin typeface="Aptos" panose="020B0004020202020204" pitchFamily="34" charset="0"/>
              </a:rPr>
              <a:t> crea un quotazione digitale auto su UNICA (preventivo 1)</a:t>
            </a:r>
          </a:p>
          <a:p>
            <a:pPr marL="311079" indent="-311079">
              <a:buFont typeface="+mj-lt"/>
              <a:buAutoNum type="arabicPeriod"/>
            </a:pPr>
            <a:r>
              <a:rPr lang="it-IT" sz="1452" dirty="0">
                <a:latin typeface="Aptos" panose="020B0004020202020204" pitchFamily="34" charset="0"/>
              </a:rPr>
              <a:t>Questa quotazione viene assegnata ad un Agenzia e viene create una </a:t>
            </a:r>
            <a:r>
              <a:rPr lang="it-IT" sz="1452" b="1" dirty="0">
                <a:latin typeface="Aptos" panose="020B0004020202020204" pitchFamily="34" charset="0"/>
              </a:rPr>
              <a:t>prima trattativa</a:t>
            </a:r>
            <a:r>
              <a:rPr lang="it-IT" sz="1452" dirty="0">
                <a:latin typeface="Aptos" panose="020B0004020202020204" pitchFamily="34" charset="0"/>
              </a:rPr>
              <a:t> (trattativa 1) su Salesforce</a:t>
            </a:r>
          </a:p>
          <a:p>
            <a:pPr marL="311079" indent="-311079">
              <a:buFont typeface="+mj-lt"/>
              <a:buAutoNum type="arabicPeriod"/>
            </a:pPr>
            <a:r>
              <a:rPr lang="it-IT" sz="1452" dirty="0">
                <a:latin typeface="Aptos" panose="020B0004020202020204" pitchFamily="34" charset="0"/>
              </a:rPr>
              <a:t>L’Agente contatta il </a:t>
            </a:r>
            <a:r>
              <a:rPr lang="it-IT" sz="1452" dirty="0" err="1">
                <a:latin typeface="Aptos" panose="020B0004020202020204" pitchFamily="34" charset="0"/>
              </a:rPr>
              <a:t>Prospect</a:t>
            </a:r>
            <a:r>
              <a:rPr lang="it-IT" sz="1452" dirty="0">
                <a:latin typeface="Aptos" panose="020B0004020202020204" pitchFamily="34" charset="0"/>
              </a:rPr>
              <a:t> e crea un nuovo preventivo Agenziale (preventivo 2)</a:t>
            </a:r>
          </a:p>
          <a:p>
            <a:pPr marL="311079" indent="-311079">
              <a:buFont typeface="+mj-lt"/>
              <a:buAutoNum type="arabicPeriod"/>
            </a:pPr>
            <a:r>
              <a:rPr lang="it-IT" sz="1452" dirty="0">
                <a:latin typeface="Aptos" panose="020B0004020202020204" pitchFamily="34" charset="0"/>
              </a:rPr>
              <a:t>Questo preventivo atterra su Salesforce e genera una </a:t>
            </a:r>
            <a:r>
              <a:rPr lang="it-IT" sz="1452" b="1" dirty="0">
                <a:latin typeface="Aptos" panose="020B0004020202020204" pitchFamily="34" charset="0"/>
              </a:rPr>
              <a:t>seconda trattativa</a:t>
            </a:r>
            <a:r>
              <a:rPr lang="it-IT" sz="1452" dirty="0">
                <a:latin typeface="Aptos" panose="020B0004020202020204" pitchFamily="34" charset="0"/>
              </a:rPr>
              <a:t> (trattativa 2)</a:t>
            </a:r>
          </a:p>
          <a:p>
            <a:pPr marL="311079" indent="-311079">
              <a:buFont typeface="+mj-lt"/>
              <a:buAutoNum type="arabicPeriod"/>
            </a:pPr>
            <a:r>
              <a:rPr lang="it-IT" sz="1452" dirty="0">
                <a:latin typeface="Aptos" panose="020B0004020202020204" pitchFamily="34" charset="0"/>
              </a:rPr>
              <a:t>Il preventivo Agenziale viene accettato e la polizza viene emessa.</a:t>
            </a:r>
          </a:p>
        </p:txBody>
      </p:sp>
      <p:graphicFrame>
        <p:nvGraphicFramePr>
          <p:cNvPr id="3" name="Tabella 2">
            <a:extLst>
              <a:ext uri="{FF2B5EF4-FFF2-40B4-BE49-F238E27FC236}">
                <a16:creationId xmlns:a16="http://schemas.microsoft.com/office/drawing/2014/main" id="{89D0895E-F3F5-B4D1-2895-AF138AFC97AD}"/>
              </a:ext>
            </a:extLst>
          </p:cNvPr>
          <p:cNvGraphicFramePr>
            <a:graphicFrameLocks noGrp="1"/>
          </p:cNvGraphicFramePr>
          <p:nvPr/>
        </p:nvGraphicFramePr>
        <p:xfrm>
          <a:off x="445283" y="3224336"/>
          <a:ext cx="4157633" cy="746554"/>
        </p:xfrm>
        <a:graphic>
          <a:graphicData uri="http://schemas.openxmlformats.org/drawingml/2006/table">
            <a:tbl>
              <a:tblPr firstRow="1">
                <a:tableStyleId>{073A0DAA-6AF3-43AB-8588-CEC1D06C72B9}</a:tableStyleId>
              </a:tblPr>
              <a:tblGrid>
                <a:gridCol w="592175">
                  <a:extLst>
                    <a:ext uri="{9D8B030D-6E8A-4147-A177-3AD203B41FA5}">
                      <a16:colId xmlns:a16="http://schemas.microsoft.com/office/drawing/2014/main" val="3579784293"/>
                    </a:ext>
                  </a:extLst>
                </a:gridCol>
                <a:gridCol w="569133">
                  <a:extLst>
                    <a:ext uri="{9D8B030D-6E8A-4147-A177-3AD203B41FA5}">
                      <a16:colId xmlns:a16="http://schemas.microsoft.com/office/drawing/2014/main" val="739921791"/>
                    </a:ext>
                  </a:extLst>
                </a:gridCol>
                <a:gridCol w="374718">
                  <a:extLst>
                    <a:ext uri="{9D8B030D-6E8A-4147-A177-3AD203B41FA5}">
                      <a16:colId xmlns:a16="http://schemas.microsoft.com/office/drawing/2014/main" val="2515001100"/>
                    </a:ext>
                  </a:extLst>
                </a:gridCol>
                <a:gridCol w="804744">
                  <a:extLst>
                    <a:ext uri="{9D8B030D-6E8A-4147-A177-3AD203B41FA5}">
                      <a16:colId xmlns:a16="http://schemas.microsoft.com/office/drawing/2014/main" val="1953583817"/>
                    </a:ext>
                  </a:extLst>
                </a:gridCol>
                <a:gridCol w="804744">
                  <a:extLst>
                    <a:ext uri="{9D8B030D-6E8A-4147-A177-3AD203B41FA5}">
                      <a16:colId xmlns:a16="http://schemas.microsoft.com/office/drawing/2014/main" val="3392794456"/>
                    </a:ext>
                  </a:extLst>
                </a:gridCol>
                <a:gridCol w="1012119">
                  <a:extLst>
                    <a:ext uri="{9D8B030D-6E8A-4147-A177-3AD203B41FA5}">
                      <a16:colId xmlns:a16="http://schemas.microsoft.com/office/drawing/2014/main" val="3075402911"/>
                    </a:ext>
                  </a:extLst>
                </a:gridCol>
              </a:tblGrid>
              <a:tr h="331802">
                <a:tc>
                  <a:txBody>
                    <a:bodyPr/>
                    <a:lstStyle/>
                    <a:p>
                      <a:r>
                        <a:rPr lang="it-IT" sz="800" dirty="0">
                          <a:latin typeface="Aptos Narrow" panose="020B0004020202020204" pitchFamily="34" charset="0"/>
                        </a:rPr>
                        <a:t>Trattativa</a:t>
                      </a:r>
                    </a:p>
                  </a:txBody>
                  <a:tcPr marL="82951" marR="82951" marT="41475" marB="41475"/>
                </a:tc>
                <a:tc>
                  <a:txBody>
                    <a:bodyPr/>
                    <a:lstStyle/>
                    <a:p>
                      <a:r>
                        <a:rPr lang="it-IT" sz="800" dirty="0">
                          <a:latin typeface="Aptos Narrow" panose="020B0004020202020204" pitchFamily="34" charset="0"/>
                        </a:rPr>
                        <a:t>Canale</a:t>
                      </a:r>
                    </a:p>
                  </a:txBody>
                  <a:tcPr marL="82951" marR="82951" marT="41475" marB="41475"/>
                </a:tc>
                <a:tc>
                  <a:txBody>
                    <a:bodyPr/>
                    <a:lstStyle/>
                    <a:p>
                      <a:r>
                        <a:rPr lang="it-IT" sz="800" dirty="0" err="1">
                          <a:latin typeface="Aptos Narrow" panose="020B0004020202020204" pitchFamily="34" charset="0"/>
                        </a:rPr>
                        <a:t>AdP</a:t>
                      </a:r>
                      <a:endParaRPr lang="it-IT" sz="800" dirty="0">
                        <a:latin typeface="Aptos Narrow" panose="020B0004020202020204" pitchFamily="34" charset="0"/>
                      </a:endParaRPr>
                    </a:p>
                  </a:txBody>
                  <a:tcPr marL="82951" marR="82951" marT="41475" marB="41475"/>
                </a:tc>
                <a:tc>
                  <a:txBody>
                    <a:bodyPr/>
                    <a:lstStyle/>
                    <a:p>
                      <a:r>
                        <a:rPr lang="it-IT" sz="800" dirty="0">
                          <a:latin typeface="Aptos Narrow" panose="020B0004020202020204" pitchFamily="34" charset="0"/>
                        </a:rPr>
                        <a:t>Targa</a:t>
                      </a:r>
                    </a:p>
                  </a:txBody>
                  <a:tcPr marL="82951" marR="82951" marT="41475" marB="41475"/>
                </a:tc>
                <a:tc>
                  <a:txBody>
                    <a:bodyPr/>
                    <a:lstStyle/>
                    <a:p>
                      <a:r>
                        <a:rPr lang="it-IT" sz="800" dirty="0">
                          <a:latin typeface="Aptos Narrow" panose="020B0004020202020204" pitchFamily="34" charset="0"/>
                        </a:rPr>
                        <a:t>Preventivi Collegati</a:t>
                      </a:r>
                    </a:p>
                  </a:txBody>
                  <a:tcPr marL="82951" marR="82951" marT="41475" marB="41475"/>
                </a:tc>
                <a:tc>
                  <a:txBody>
                    <a:bodyPr/>
                    <a:lstStyle/>
                    <a:p>
                      <a:r>
                        <a:rPr lang="it-IT" sz="800" dirty="0">
                          <a:latin typeface="Aptos Narrow" panose="020B0004020202020204" pitchFamily="34" charset="0"/>
                        </a:rPr>
                        <a:t>Esito</a:t>
                      </a:r>
                    </a:p>
                  </a:txBody>
                  <a:tcPr marL="82951" marR="82951" marT="41475" marB="41475"/>
                </a:tc>
                <a:extLst>
                  <a:ext uri="{0D108BD9-81ED-4DB2-BD59-A6C34878D82A}">
                    <a16:rowId xmlns:a16="http://schemas.microsoft.com/office/drawing/2014/main" val="1051180435"/>
                  </a:ext>
                </a:extLst>
              </a:tr>
              <a:tr h="207376">
                <a:tc>
                  <a:txBody>
                    <a:bodyPr/>
                    <a:lstStyle/>
                    <a:p>
                      <a:r>
                        <a:rPr lang="it-IT" sz="800" dirty="0">
                          <a:latin typeface="Aptos Narrow" panose="020B0004020202020204" pitchFamily="34" charset="0"/>
                        </a:rPr>
                        <a:t>1</a:t>
                      </a:r>
                    </a:p>
                  </a:txBody>
                  <a:tcPr marL="82951" marR="82951" marT="41475" marB="41475"/>
                </a:tc>
                <a:tc>
                  <a:txBody>
                    <a:bodyPr/>
                    <a:lstStyle/>
                    <a:p>
                      <a:r>
                        <a:rPr lang="it-IT" sz="800" dirty="0">
                          <a:latin typeface="Aptos Narrow" panose="020B0004020202020204" pitchFamily="34" charset="0"/>
                        </a:rPr>
                        <a:t>DIGITALE</a:t>
                      </a:r>
                    </a:p>
                  </a:txBody>
                  <a:tcPr marL="82951" marR="82951" marT="41475" marB="41475"/>
                </a:tc>
                <a:tc>
                  <a:txBody>
                    <a:bodyPr/>
                    <a:lstStyle/>
                    <a:p>
                      <a:r>
                        <a:rPr lang="it-IT" sz="800" dirty="0">
                          <a:latin typeface="Aptos Narrow" panose="020B0004020202020204" pitchFamily="34" charset="0"/>
                        </a:rPr>
                        <a:t>Auto</a:t>
                      </a:r>
                    </a:p>
                  </a:txBody>
                  <a:tcPr marL="82951" marR="82951" marT="41475" marB="41475"/>
                </a:tc>
                <a:tc>
                  <a:txBody>
                    <a:bodyPr/>
                    <a:lstStyle/>
                    <a:p>
                      <a:r>
                        <a:rPr lang="it-IT" sz="800" dirty="0">
                          <a:latin typeface="Aptos Narrow" panose="020B0004020202020204" pitchFamily="34" charset="0"/>
                        </a:rPr>
                        <a:t>GG959SN</a:t>
                      </a:r>
                    </a:p>
                  </a:txBody>
                  <a:tcPr marL="82951" marR="82951" marT="41475" marB="41475"/>
                </a:tc>
                <a:tc>
                  <a:txBody>
                    <a:bodyPr/>
                    <a:lstStyle/>
                    <a:p>
                      <a:r>
                        <a:rPr lang="it-IT" sz="800" dirty="0">
                          <a:latin typeface="Aptos Narrow" panose="020B0004020202020204" pitchFamily="34" charset="0"/>
                        </a:rPr>
                        <a:t>P1</a:t>
                      </a:r>
                    </a:p>
                  </a:txBody>
                  <a:tcPr marL="82951" marR="82951" marT="41475" marB="41475"/>
                </a:tc>
                <a:tc>
                  <a:txBody>
                    <a:bodyPr/>
                    <a:lstStyle/>
                    <a:p>
                      <a:r>
                        <a:rPr lang="it-IT" sz="800" dirty="0">
                          <a:latin typeface="Aptos Narrow" panose="020B0004020202020204" pitchFamily="34" charset="0"/>
                        </a:rPr>
                        <a:t>Non Finalizzata</a:t>
                      </a:r>
                    </a:p>
                  </a:txBody>
                  <a:tcPr marL="82951" marR="82951" marT="41475" marB="41475"/>
                </a:tc>
                <a:extLst>
                  <a:ext uri="{0D108BD9-81ED-4DB2-BD59-A6C34878D82A}">
                    <a16:rowId xmlns:a16="http://schemas.microsoft.com/office/drawing/2014/main" val="1093498958"/>
                  </a:ext>
                </a:extLst>
              </a:tr>
              <a:tr h="207376">
                <a:tc>
                  <a:txBody>
                    <a:bodyPr/>
                    <a:lstStyle/>
                    <a:p>
                      <a:r>
                        <a:rPr lang="it-IT" sz="800" dirty="0">
                          <a:latin typeface="Aptos Narrow" panose="020B0004020202020204" pitchFamily="34" charset="0"/>
                        </a:rPr>
                        <a:t>2</a:t>
                      </a:r>
                    </a:p>
                  </a:txBody>
                  <a:tcPr marL="82951" marR="82951" marT="41475" marB="41475"/>
                </a:tc>
                <a:tc>
                  <a:txBody>
                    <a:bodyPr/>
                    <a:lstStyle/>
                    <a:p>
                      <a:r>
                        <a:rPr lang="it-IT" sz="800" dirty="0">
                          <a:latin typeface="Aptos Narrow" panose="020B0004020202020204" pitchFamily="34" charset="0"/>
                        </a:rPr>
                        <a:t>AGENZIA</a:t>
                      </a:r>
                    </a:p>
                  </a:txBody>
                  <a:tcPr marL="82951" marR="82951" marT="41475" marB="41475"/>
                </a:tc>
                <a:tc>
                  <a:txBody>
                    <a:bodyPr/>
                    <a:lstStyle/>
                    <a:p>
                      <a:r>
                        <a:rPr lang="it-IT" sz="800" dirty="0">
                          <a:latin typeface="Aptos Narrow" panose="020B0004020202020204" pitchFamily="34" charset="0"/>
                        </a:rPr>
                        <a:t>Auto</a:t>
                      </a:r>
                    </a:p>
                  </a:txBody>
                  <a:tcPr marL="82951" marR="82951" marT="41475" marB="41475"/>
                </a:tc>
                <a:tc>
                  <a:txBody>
                    <a:bodyPr/>
                    <a:lstStyle/>
                    <a:p>
                      <a:r>
                        <a:rPr lang="it-IT" sz="800" dirty="0">
                          <a:latin typeface="Aptos Narrow" panose="020B0004020202020204" pitchFamily="34" charset="0"/>
                        </a:rPr>
                        <a:t>GG959SN</a:t>
                      </a:r>
                    </a:p>
                  </a:txBody>
                  <a:tcPr marL="82951" marR="82951" marT="41475" marB="41475"/>
                </a:tc>
                <a:tc>
                  <a:txBody>
                    <a:bodyPr/>
                    <a:lstStyle/>
                    <a:p>
                      <a:r>
                        <a:rPr lang="it-IT" sz="800" dirty="0">
                          <a:latin typeface="Aptos Narrow" panose="020B0004020202020204" pitchFamily="34" charset="0"/>
                        </a:rPr>
                        <a:t>P2</a:t>
                      </a:r>
                    </a:p>
                  </a:txBody>
                  <a:tcPr marL="82951" marR="82951" marT="41475" marB="41475"/>
                </a:tc>
                <a:tc>
                  <a:txBody>
                    <a:bodyPr/>
                    <a:lstStyle/>
                    <a:p>
                      <a:r>
                        <a:rPr lang="it-IT" sz="800" dirty="0">
                          <a:latin typeface="Aptos Narrow" panose="020B0004020202020204" pitchFamily="34" charset="0"/>
                        </a:rPr>
                        <a:t>Finalizzata</a:t>
                      </a:r>
                    </a:p>
                  </a:txBody>
                  <a:tcPr marL="82951" marR="82951" marT="41475" marB="41475"/>
                </a:tc>
                <a:extLst>
                  <a:ext uri="{0D108BD9-81ED-4DB2-BD59-A6C34878D82A}">
                    <a16:rowId xmlns:a16="http://schemas.microsoft.com/office/drawing/2014/main" val="2384094900"/>
                  </a:ext>
                </a:extLst>
              </a:tr>
            </a:tbl>
          </a:graphicData>
        </a:graphic>
      </p:graphicFrame>
      <p:sp>
        <p:nvSpPr>
          <p:cNvPr id="5" name="CasellaDiTesto 4">
            <a:extLst>
              <a:ext uri="{FF2B5EF4-FFF2-40B4-BE49-F238E27FC236}">
                <a16:creationId xmlns:a16="http://schemas.microsoft.com/office/drawing/2014/main" id="{42923118-28AE-0E10-E3EC-04297563409B}"/>
              </a:ext>
            </a:extLst>
          </p:cNvPr>
          <p:cNvSpPr txBox="1"/>
          <p:nvPr/>
        </p:nvSpPr>
        <p:spPr>
          <a:xfrm>
            <a:off x="427715" y="3039658"/>
            <a:ext cx="2340760" cy="217880"/>
          </a:xfrm>
          <a:prstGeom prst="rect">
            <a:avLst/>
          </a:prstGeom>
          <a:noFill/>
        </p:spPr>
        <p:txBody>
          <a:bodyPr wrap="square">
            <a:spAutoFit/>
          </a:bodyPr>
          <a:lstStyle/>
          <a:p>
            <a:r>
              <a:rPr lang="it-IT" sz="816" b="1" i="1" dirty="0">
                <a:latin typeface="Aptos Narrow" panose="020B0004020202020204" pitchFamily="34" charset="0"/>
              </a:rPr>
              <a:t>Trattative Salesforce</a:t>
            </a:r>
          </a:p>
        </p:txBody>
      </p:sp>
      <p:graphicFrame>
        <p:nvGraphicFramePr>
          <p:cNvPr id="7" name="Tabella 6">
            <a:extLst>
              <a:ext uri="{FF2B5EF4-FFF2-40B4-BE49-F238E27FC236}">
                <a16:creationId xmlns:a16="http://schemas.microsoft.com/office/drawing/2014/main" id="{55B3F5B1-FD3F-78D7-21C9-BE589F3AC7EC}"/>
              </a:ext>
            </a:extLst>
          </p:cNvPr>
          <p:cNvGraphicFramePr>
            <a:graphicFrameLocks noGrp="1"/>
          </p:cNvGraphicFramePr>
          <p:nvPr/>
        </p:nvGraphicFramePr>
        <p:xfrm>
          <a:off x="427715" y="4340246"/>
          <a:ext cx="4601162" cy="622128"/>
        </p:xfrm>
        <a:graphic>
          <a:graphicData uri="http://schemas.openxmlformats.org/drawingml/2006/table">
            <a:tbl>
              <a:tblPr firstRow="1">
                <a:tableStyleId>{00A15C55-8517-42AA-B614-E9B94910E393}</a:tableStyleId>
              </a:tblPr>
              <a:tblGrid>
                <a:gridCol w="655347">
                  <a:extLst>
                    <a:ext uri="{9D8B030D-6E8A-4147-A177-3AD203B41FA5}">
                      <a16:colId xmlns:a16="http://schemas.microsoft.com/office/drawing/2014/main" val="3579784293"/>
                    </a:ext>
                  </a:extLst>
                </a:gridCol>
                <a:gridCol w="629847">
                  <a:extLst>
                    <a:ext uri="{9D8B030D-6E8A-4147-A177-3AD203B41FA5}">
                      <a16:colId xmlns:a16="http://schemas.microsoft.com/office/drawing/2014/main" val="739921791"/>
                    </a:ext>
                  </a:extLst>
                </a:gridCol>
                <a:gridCol w="414693">
                  <a:extLst>
                    <a:ext uri="{9D8B030D-6E8A-4147-A177-3AD203B41FA5}">
                      <a16:colId xmlns:a16="http://schemas.microsoft.com/office/drawing/2014/main" val="2515001100"/>
                    </a:ext>
                  </a:extLst>
                </a:gridCol>
                <a:gridCol w="890592">
                  <a:extLst>
                    <a:ext uri="{9D8B030D-6E8A-4147-A177-3AD203B41FA5}">
                      <a16:colId xmlns:a16="http://schemas.microsoft.com/office/drawing/2014/main" val="1953583817"/>
                    </a:ext>
                  </a:extLst>
                </a:gridCol>
                <a:gridCol w="890592">
                  <a:extLst>
                    <a:ext uri="{9D8B030D-6E8A-4147-A177-3AD203B41FA5}">
                      <a16:colId xmlns:a16="http://schemas.microsoft.com/office/drawing/2014/main" val="3392794456"/>
                    </a:ext>
                  </a:extLst>
                </a:gridCol>
                <a:gridCol w="1120091">
                  <a:extLst>
                    <a:ext uri="{9D8B030D-6E8A-4147-A177-3AD203B41FA5}">
                      <a16:colId xmlns:a16="http://schemas.microsoft.com/office/drawing/2014/main" val="3075402911"/>
                    </a:ext>
                  </a:extLst>
                </a:gridCol>
              </a:tblGrid>
              <a:tr h="207376">
                <a:tc>
                  <a:txBody>
                    <a:bodyPr/>
                    <a:lstStyle/>
                    <a:p>
                      <a:r>
                        <a:rPr lang="it-IT" sz="800" dirty="0"/>
                        <a:t>ID</a:t>
                      </a:r>
                      <a:endParaRPr lang="it-IT" sz="800" dirty="0">
                        <a:latin typeface="Aptos Narrow" panose="020B0004020202020204" pitchFamily="34" charset="0"/>
                      </a:endParaRPr>
                    </a:p>
                  </a:txBody>
                  <a:tcPr marL="82951" marR="82951" marT="41475" marB="41475"/>
                </a:tc>
                <a:tc>
                  <a:txBody>
                    <a:bodyPr/>
                    <a:lstStyle/>
                    <a:p>
                      <a:r>
                        <a:rPr lang="it-IT" sz="800" dirty="0"/>
                        <a:t>Canale</a:t>
                      </a:r>
                      <a:endParaRPr lang="it-IT" sz="800" dirty="0">
                        <a:latin typeface="Aptos Narrow" panose="020B0004020202020204" pitchFamily="34" charset="0"/>
                      </a:endParaRPr>
                    </a:p>
                  </a:txBody>
                  <a:tcPr marL="82951" marR="82951" marT="41475" marB="41475"/>
                </a:tc>
                <a:tc>
                  <a:txBody>
                    <a:bodyPr/>
                    <a:lstStyle/>
                    <a:p>
                      <a:r>
                        <a:rPr lang="it-IT" sz="800" dirty="0" err="1"/>
                        <a:t>AdP</a:t>
                      </a:r>
                      <a:endParaRPr lang="it-IT" sz="800" dirty="0">
                        <a:latin typeface="Aptos Narrow" panose="020B0004020202020204" pitchFamily="34" charset="0"/>
                      </a:endParaRPr>
                    </a:p>
                  </a:txBody>
                  <a:tcPr marL="82951" marR="82951" marT="41475" marB="41475"/>
                </a:tc>
                <a:tc>
                  <a:txBody>
                    <a:bodyPr/>
                    <a:lstStyle/>
                    <a:p>
                      <a:r>
                        <a:rPr lang="it-IT" sz="800" dirty="0"/>
                        <a:t>Targa</a:t>
                      </a:r>
                      <a:endParaRPr lang="it-IT" sz="800" dirty="0">
                        <a:latin typeface="Aptos Narrow" panose="020B0004020202020204" pitchFamily="34" charset="0"/>
                      </a:endParaRPr>
                    </a:p>
                  </a:txBody>
                  <a:tcPr marL="82951" marR="82951" marT="41475" marB="41475"/>
                </a:tc>
                <a:tc>
                  <a:txBody>
                    <a:bodyPr/>
                    <a:lstStyle/>
                    <a:p>
                      <a:r>
                        <a:rPr lang="it-IT" sz="800" dirty="0"/>
                        <a:t>Data Effetto</a:t>
                      </a:r>
                      <a:endParaRPr lang="it-IT" sz="800" dirty="0">
                        <a:latin typeface="Aptos Narrow" panose="020B0004020202020204" pitchFamily="34" charset="0"/>
                      </a:endParaRPr>
                    </a:p>
                  </a:txBody>
                  <a:tcPr marL="82951" marR="82951" marT="41475" marB="41475"/>
                </a:tc>
                <a:tc>
                  <a:txBody>
                    <a:bodyPr/>
                    <a:lstStyle/>
                    <a:p>
                      <a:r>
                        <a:rPr lang="it-IT" sz="800" dirty="0"/>
                        <a:t>Esito</a:t>
                      </a:r>
                      <a:endParaRPr lang="it-IT" sz="800" dirty="0">
                        <a:latin typeface="Aptos Narrow" panose="020B0004020202020204" pitchFamily="34" charset="0"/>
                      </a:endParaRPr>
                    </a:p>
                  </a:txBody>
                  <a:tcPr marL="82951" marR="82951" marT="41475" marB="41475"/>
                </a:tc>
                <a:extLst>
                  <a:ext uri="{0D108BD9-81ED-4DB2-BD59-A6C34878D82A}">
                    <a16:rowId xmlns:a16="http://schemas.microsoft.com/office/drawing/2014/main" val="1051180435"/>
                  </a:ext>
                </a:extLst>
              </a:tr>
              <a:tr h="207376">
                <a:tc>
                  <a:txBody>
                    <a:bodyPr/>
                    <a:lstStyle/>
                    <a:p>
                      <a:r>
                        <a:rPr lang="it-IT" sz="800" dirty="0"/>
                        <a:t>P1</a:t>
                      </a:r>
                      <a:endParaRPr lang="it-IT" sz="800" dirty="0">
                        <a:latin typeface="Aptos Narrow" panose="020B0004020202020204" pitchFamily="34" charset="0"/>
                      </a:endParaRPr>
                    </a:p>
                  </a:txBody>
                  <a:tcPr marL="82951" marR="82951" marT="41475" marB="41475"/>
                </a:tc>
                <a:tc>
                  <a:txBody>
                    <a:bodyPr/>
                    <a:lstStyle/>
                    <a:p>
                      <a:r>
                        <a:rPr lang="it-IT" sz="800" dirty="0"/>
                        <a:t>DIGITALE</a:t>
                      </a:r>
                      <a:endParaRPr lang="it-IT" sz="800" dirty="0">
                        <a:latin typeface="Aptos Narrow" panose="020B0004020202020204" pitchFamily="34" charset="0"/>
                      </a:endParaRPr>
                    </a:p>
                  </a:txBody>
                  <a:tcPr marL="82951" marR="82951" marT="41475" marB="41475"/>
                </a:tc>
                <a:tc>
                  <a:txBody>
                    <a:bodyPr/>
                    <a:lstStyle/>
                    <a:p>
                      <a:r>
                        <a:rPr lang="it-IT" sz="800" dirty="0"/>
                        <a:t>Auto</a:t>
                      </a:r>
                      <a:endParaRPr lang="it-IT" sz="800" dirty="0">
                        <a:latin typeface="Aptos Narrow" panose="020B0004020202020204" pitchFamily="34" charset="0"/>
                      </a:endParaRPr>
                    </a:p>
                  </a:txBody>
                  <a:tcPr marL="82951" marR="82951" marT="41475" marB="41475"/>
                </a:tc>
                <a:tc>
                  <a:txBody>
                    <a:bodyPr/>
                    <a:lstStyle/>
                    <a:p>
                      <a:r>
                        <a:rPr lang="it-IT" sz="800" dirty="0"/>
                        <a:t>GG959SN</a:t>
                      </a:r>
                      <a:endParaRPr lang="it-IT" sz="800" dirty="0">
                        <a:latin typeface="Aptos Narrow" panose="020B0004020202020204" pitchFamily="34" charset="0"/>
                      </a:endParaRPr>
                    </a:p>
                  </a:txBody>
                  <a:tcPr marL="82951" marR="82951" marT="41475" marB="41475"/>
                </a:tc>
                <a:tc>
                  <a:txBody>
                    <a:bodyPr/>
                    <a:lstStyle/>
                    <a:p>
                      <a:r>
                        <a:rPr lang="it-IT" sz="800" dirty="0"/>
                        <a:t>31/3/26</a:t>
                      </a:r>
                      <a:endParaRPr lang="it-IT" sz="800" dirty="0">
                        <a:latin typeface="Aptos Narrow" panose="020B0004020202020204" pitchFamily="34" charset="0"/>
                      </a:endParaRPr>
                    </a:p>
                  </a:txBody>
                  <a:tcPr marL="82951" marR="82951" marT="41475" marB="41475"/>
                </a:tc>
                <a:tc>
                  <a:txBody>
                    <a:bodyPr/>
                    <a:lstStyle/>
                    <a:p>
                      <a:r>
                        <a:rPr lang="it-IT" sz="800" dirty="0"/>
                        <a:t>Non Finalizzato</a:t>
                      </a:r>
                      <a:endParaRPr lang="it-IT" sz="800" dirty="0">
                        <a:latin typeface="Aptos Narrow" panose="020B0004020202020204" pitchFamily="34" charset="0"/>
                      </a:endParaRPr>
                    </a:p>
                  </a:txBody>
                  <a:tcPr marL="82951" marR="82951" marT="41475" marB="41475"/>
                </a:tc>
                <a:extLst>
                  <a:ext uri="{0D108BD9-81ED-4DB2-BD59-A6C34878D82A}">
                    <a16:rowId xmlns:a16="http://schemas.microsoft.com/office/drawing/2014/main" val="1093498958"/>
                  </a:ext>
                </a:extLst>
              </a:tr>
              <a:tr h="207376">
                <a:tc>
                  <a:txBody>
                    <a:bodyPr/>
                    <a:lstStyle/>
                    <a:p>
                      <a:r>
                        <a:rPr lang="it-IT" sz="800" dirty="0"/>
                        <a:t>P2</a:t>
                      </a:r>
                      <a:endParaRPr lang="it-IT" sz="800" dirty="0">
                        <a:latin typeface="Aptos Narrow" panose="020B0004020202020204" pitchFamily="34" charset="0"/>
                      </a:endParaRPr>
                    </a:p>
                  </a:txBody>
                  <a:tcPr marL="82951" marR="82951" marT="41475" marB="41475"/>
                </a:tc>
                <a:tc>
                  <a:txBody>
                    <a:bodyPr/>
                    <a:lstStyle/>
                    <a:p>
                      <a:r>
                        <a:rPr lang="it-IT" sz="800" dirty="0"/>
                        <a:t>AGENZIA</a:t>
                      </a:r>
                      <a:endParaRPr lang="it-IT" sz="800" dirty="0">
                        <a:latin typeface="Aptos Narrow" panose="020B0004020202020204" pitchFamily="34" charset="0"/>
                      </a:endParaRPr>
                    </a:p>
                  </a:txBody>
                  <a:tcPr marL="82951" marR="82951" marT="41475" marB="41475"/>
                </a:tc>
                <a:tc>
                  <a:txBody>
                    <a:bodyPr/>
                    <a:lstStyle/>
                    <a:p>
                      <a:r>
                        <a:rPr lang="it-IT" sz="800" dirty="0"/>
                        <a:t>Auto</a:t>
                      </a:r>
                      <a:endParaRPr lang="it-IT" sz="800" dirty="0">
                        <a:latin typeface="Aptos Narrow" panose="020B0004020202020204" pitchFamily="34" charset="0"/>
                      </a:endParaRPr>
                    </a:p>
                  </a:txBody>
                  <a:tcPr marL="82951" marR="82951" marT="41475" marB="41475"/>
                </a:tc>
                <a:tc>
                  <a:txBody>
                    <a:bodyPr/>
                    <a:lstStyle/>
                    <a:p>
                      <a:r>
                        <a:rPr lang="it-IT" sz="800" dirty="0"/>
                        <a:t>GG959SN</a:t>
                      </a:r>
                      <a:endParaRPr lang="it-IT" sz="800" dirty="0">
                        <a:latin typeface="Aptos Narrow" panose="020B0004020202020204" pitchFamily="34" charset="0"/>
                      </a:endParaRPr>
                    </a:p>
                  </a:txBody>
                  <a:tcPr marL="82951" marR="82951" marT="41475" marB="41475"/>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it-IT" sz="800" dirty="0"/>
                        <a:t>31/3/26</a:t>
                      </a:r>
                      <a:endParaRPr lang="it-IT" sz="800" dirty="0">
                        <a:latin typeface="Aptos Narrow" panose="020B0004020202020204" pitchFamily="34" charset="0"/>
                      </a:endParaRPr>
                    </a:p>
                  </a:txBody>
                  <a:tcPr marL="82951" marR="82951" marT="41475" marB="41475"/>
                </a:tc>
                <a:tc>
                  <a:txBody>
                    <a:bodyPr/>
                    <a:lstStyle/>
                    <a:p>
                      <a:r>
                        <a:rPr lang="it-IT" sz="800" dirty="0"/>
                        <a:t>Trasformato in Polizza</a:t>
                      </a:r>
                      <a:endParaRPr lang="it-IT" sz="800" dirty="0">
                        <a:latin typeface="Aptos Narrow" panose="020B0004020202020204" pitchFamily="34" charset="0"/>
                      </a:endParaRPr>
                    </a:p>
                  </a:txBody>
                  <a:tcPr marL="82951" marR="82951" marT="41475" marB="41475"/>
                </a:tc>
                <a:extLst>
                  <a:ext uri="{0D108BD9-81ED-4DB2-BD59-A6C34878D82A}">
                    <a16:rowId xmlns:a16="http://schemas.microsoft.com/office/drawing/2014/main" val="2384094900"/>
                  </a:ext>
                </a:extLst>
              </a:tr>
            </a:tbl>
          </a:graphicData>
        </a:graphic>
      </p:graphicFrame>
      <p:sp>
        <p:nvSpPr>
          <p:cNvPr id="8" name="CasellaDiTesto 7">
            <a:extLst>
              <a:ext uri="{FF2B5EF4-FFF2-40B4-BE49-F238E27FC236}">
                <a16:creationId xmlns:a16="http://schemas.microsoft.com/office/drawing/2014/main" id="{CE71212B-5A12-E077-E104-52FE79599F4E}"/>
              </a:ext>
            </a:extLst>
          </p:cNvPr>
          <p:cNvSpPr txBox="1"/>
          <p:nvPr/>
        </p:nvSpPr>
        <p:spPr>
          <a:xfrm>
            <a:off x="410146" y="4155568"/>
            <a:ext cx="2340760" cy="217880"/>
          </a:xfrm>
          <a:prstGeom prst="rect">
            <a:avLst/>
          </a:prstGeom>
          <a:noFill/>
        </p:spPr>
        <p:txBody>
          <a:bodyPr wrap="square">
            <a:spAutoFit/>
          </a:bodyPr>
          <a:lstStyle/>
          <a:p>
            <a:r>
              <a:rPr lang="it-IT" sz="816" b="1" i="1" dirty="0">
                <a:latin typeface="Aptos Narrow" panose="020B0004020202020204" pitchFamily="34" charset="0"/>
              </a:rPr>
              <a:t>Preventivi UNICA</a:t>
            </a:r>
          </a:p>
        </p:txBody>
      </p:sp>
      <p:graphicFrame>
        <p:nvGraphicFramePr>
          <p:cNvPr id="9" name="Tabella 8">
            <a:extLst>
              <a:ext uri="{FF2B5EF4-FFF2-40B4-BE49-F238E27FC236}">
                <a16:creationId xmlns:a16="http://schemas.microsoft.com/office/drawing/2014/main" id="{B98B2FC6-D019-BAE8-A169-A102BA581288}"/>
              </a:ext>
            </a:extLst>
          </p:cNvPr>
          <p:cNvGraphicFramePr>
            <a:graphicFrameLocks noGrp="1"/>
          </p:cNvGraphicFramePr>
          <p:nvPr/>
        </p:nvGraphicFramePr>
        <p:xfrm>
          <a:off x="462851" y="5454449"/>
          <a:ext cx="3481071" cy="414752"/>
        </p:xfrm>
        <a:graphic>
          <a:graphicData uri="http://schemas.openxmlformats.org/drawingml/2006/table">
            <a:tbl>
              <a:tblPr firstRow="1">
                <a:tableStyleId>{00A15C55-8517-42AA-B614-E9B94910E393}</a:tableStyleId>
              </a:tblPr>
              <a:tblGrid>
                <a:gridCol w="655347">
                  <a:extLst>
                    <a:ext uri="{9D8B030D-6E8A-4147-A177-3AD203B41FA5}">
                      <a16:colId xmlns:a16="http://schemas.microsoft.com/office/drawing/2014/main" val="3579784293"/>
                    </a:ext>
                  </a:extLst>
                </a:gridCol>
                <a:gridCol w="629847">
                  <a:extLst>
                    <a:ext uri="{9D8B030D-6E8A-4147-A177-3AD203B41FA5}">
                      <a16:colId xmlns:a16="http://schemas.microsoft.com/office/drawing/2014/main" val="739921791"/>
                    </a:ext>
                  </a:extLst>
                </a:gridCol>
                <a:gridCol w="414693">
                  <a:extLst>
                    <a:ext uri="{9D8B030D-6E8A-4147-A177-3AD203B41FA5}">
                      <a16:colId xmlns:a16="http://schemas.microsoft.com/office/drawing/2014/main" val="2515001100"/>
                    </a:ext>
                  </a:extLst>
                </a:gridCol>
                <a:gridCol w="890592">
                  <a:extLst>
                    <a:ext uri="{9D8B030D-6E8A-4147-A177-3AD203B41FA5}">
                      <a16:colId xmlns:a16="http://schemas.microsoft.com/office/drawing/2014/main" val="1953583817"/>
                    </a:ext>
                  </a:extLst>
                </a:gridCol>
                <a:gridCol w="890592">
                  <a:extLst>
                    <a:ext uri="{9D8B030D-6E8A-4147-A177-3AD203B41FA5}">
                      <a16:colId xmlns:a16="http://schemas.microsoft.com/office/drawing/2014/main" val="3392794456"/>
                    </a:ext>
                  </a:extLst>
                </a:gridCol>
              </a:tblGrid>
              <a:tr h="207376">
                <a:tc>
                  <a:txBody>
                    <a:bodyPr/>
                    <a:lstStyle/>
                    <a:p>
                      <a:r>
                        <a:rPr lang="it-IT" sz="800" dirty="0"/>
                        <a:t>ID</a:t>
                      </a:r>
                      <a:endParaRPr lang="it-IT" sz="800" dirty="0">
                        <a:latin typeface="Aptos Narrow" panose="020B0004020202020204" pitchFamily="34" charset="0"/>
                      </a:endParaRPr>
                    </a:p>
                  </a:txBody>
                  <a:tcPr marL="82951" marR="82951" marT="41475" marB="41475"/>
                </a:tc>
                <a:tc>
                  <a:txBody>
                    <a:bodyPr/>
                    <a:lstStyle/>
                    <a:p>
                      <a:r>
                        <a:rPr lang="it-IT" sz="800" dirty="0"/>
                        <a:t>Canale</a:t>
                      </a:r>
                      <a:endParaRPr lang="it-IT" sz="800" dirty="0">
                        <a:latin typeface="Aptos Narrow" panose="020B0004020202020204" pitchFamily="34" charset="0"/>
                      </a:endParaRPr>
                    </a:p>
                  </a:txBody>
                  <a:tcPr marL="82951" marR="82951" marT="41475" marB="41475"/>
                </a:tc>
                <a:tc>
                  <a:txBody>
                    <a:bodyPr/>
                    <a:lstStyle/>
                    <a:p>
                      <a:r>
                        <a:rPr lang="it-IT" sz="800" dirty="0" err="1"/>
                        <a:t>AdP</a:t>
                      </a:r>
                      <a:endParaRPr lang="it-IT" sz="800" dirty="0">
                        <a:latin typeface="Aptos Narrow" panose="020B0004020202020204" pitchFamily="34" charset="0"/>
                      </a:endParaRPr>
                    </a:p>
                  </a:txBody>
                  <a:tcPr marL="82951" marR="82951" marT="41475" marB="41475"/>
                </a:tc>
                <a:tc>
                  <a:txBody>
                    <a:bodyPr/>
                    <a:lstStyle/>
                    <a:p>
                      <a:r>
                        <a:rPr lang="it-IT" sz="800" dirty="0"/>
                        <a:t>Targa</a:t>
                      </a:r>
                      <a:endParaRPr lang="it-IT" sz="800" dirty="0">
                        <a:latin typeface="Aptos Narrow" panose="020B0004020202020204" pitchFamily="34" charset="0"/>
                      </a:endParaRPr>
                    </a:p>
                  </a:txBody>
                  <a:tcPr marL="82951" marR="82951" marT="41475" marB="41475"/>
                </a:tc>
                <a:tc>
                  <a:txBody>
                    <a:bodyPr/>
                    <a:lstStyle/>
                    <a:p>
                      <a:r>
                        <a:rPr lang="it-IT" sz="800" dirty="0"/>
                        <a:t>Data Effetto</a:t>
                      </a:r>
                      <a:endParaRPr lang="it-IT" sz="800" dirty="0">
                        <a:latin typeface="Aptos Narrow" panose="020B0004020202020204" pitchFamily="34" charset="0"/>
                      </a:endParaRPr>
                    </a:p>
                  </a:txBody>
                  <a:tcPr marL="82951" marR="82951" marT="41475" marB="41475"/>
                </a:tc>
                <a:extLst>
                  <a:ext uri="{0D108BD9-81ED-4DB2-BD59-A6C34878D82A}">
                    <a16:rowId xmlns:a16="http://schemas.microsoft.com/office/drawing/2014/main" val="1051180435"/>
                  </a:ext>
                </a:extLst>
              </a:tr>
              <a:tr h="207376">
                <a:tc>
                  <a:txBody>
                    <a:bodyPr/>
                    <a:lstStyle/>
                    <a:p>
                      <a:r>
                        <a:rPr lang="it-IT" sz="800" dirty="0"/>
                        <a:t>P2</a:t>
                      </a:r>
                      <a:endParaRPr lang="it-IT" sz="800" dirty="0">
                        <a:latin typeface="Aptos Narrow" panose="020B0004020202020204" pitchFamily="34" charset="0"/>
                      </a:endParaRPr>
                    </a:p>
                  </a:txBody>
                  <a:tcPr marL="82951" marR="82951" marT="41475" marB="41475"/>
                </a:tc>
                <a:tc>
                  <a:txBody>
                    <a:bodyPr/>
                    <a:lstStyle/>
                    <a:p>
                      <a:r>
                        <a:rPr lang="it-IT" sz="800" dirty="0"/>
                        <a:t>AGENZIA</a:t>
                      </a:r>
                      <a:endParaRPr lang="it-IT" sz="800" dirty="0">
                        <a:latin typeface="Aptos Narrow" panose="020B0004020202020204" pitchFamily="34" charset="0"/>
                      </a:endParaRPr>
                    </a:p>
                  </a:txBody>
                  <a:tcPr marL="82951" marR="82951" marT="41475" marB="41475"/>
                </a:tc>
                <a:tc>
                  <a:txBody>
                    <a:bodyPr/>
                    <a:lstStyle/>
                    <a:p>
                      <a:r>
                        <a:rPr lang="it-IT" sz="800" dirty="0"/>
                        <a:t>Auto</a:t>
                      </a:r>
                      <a:endParaRPr lang="it-IT" sz="800" dirty="0">
                        <a:latin typeface="Aptos Narrow" panose="020B0004020202020204" pitchFamily="34" charset="0"/>
                      </a:endParaRPr>
                    </a:p>
                  </a:txBody>
                  <a:tcPr marL="82951" marR="82951" marT="41475" marB="41475"/>
                </a:tc>
                <a:tc>
                  <a:txBody>
                    <a:bodyPr/>
                    <a:lstStyle/>
                    <a:p>
                      <a:r>
                        <a:rPr lang="it-IT" sz="800" dirty="0"/>
                        <a:t>GG959SN</a:t>
                      </a:r>
                      <a:endParaRPr lang="it-IT" sz="800" dirty="0">
                        <a:latin typeface="Aptos Narrow" panose="020B0004020202020204" pitchFamily="34" charset="0"/>
                      </a:endParaRPr>
                    </a:p>
                  </a:txBody>
                  <a:tcPr marL="82951" marR="82951" marT="41475" marB="41475"/>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lang="it-IT" sz="800" dirty="0"/>
                        <a:t>31/3/26</a:t>
                      </a:r>
                      <a:endParaRPr lang="it-IT" sz="800" dirty="0">
                        <a:latin typeface="Aptos Narrow" panose="020B0004020202020204" pitchFamily="34" charset="0"/>
                      </a:endParaRPr>
                    </a:p>
                  </a:txBody>
                  <a:tcPr marL="82951" marR="82951" marT="41475" marB="41475"/>
                </a:tc>
                <a:extLst>
                  <a:ext uri="{0D108BD9-81ED-4DB2-BD59-A6C34878D82A}">
                    <a16:rowId xmlns:a16="http://schemas.microsoft.com/office/drawing/2014/main" val="2384094900"/>
                  </a:ext>
                </a:extLst>
              </a:tr>
            </a:tbl>
          </a:graphicData>
        </a:graphic>
      </p:graphicFrame>
      <p:sp>
        <p:nvSpPr>
          <p:cNvPr id="10" name="CasellaDiTesto 9">
            <a:extLst>
              <a:ext uri="{FF2B5EF4-FFF2-40B4-BE49-F238E27FC236}">
                <a16:creationId xmlns:a16="http://schemas.microsoft.com/office/drawing/2014/main" id="{8839866E-C090-6866-3F00-7EDFC5309279}"/>
              </a:ext>
            </a:extLst>
          </p:cNvPr>
          <p:cNvSpPr txBox="1"/>
          <p:nvPr/>
        </p:nvSpPr>
        <p:spPr>
          <a:xfrm>
            <a:off x="445283" y="5269771"/>
            <a:ext cx="2340760" cy="343427"/>
          </a:xfrm>
          <a:prstGeom prst="rect">
            <a:avLst/>
          </a:prstGeom>
          <a:noFill/>
        </p:spPr>
        <p:txBody>
          <a:bodyPr wrap="square">
            <a:spAutoFit/>
          </a:bodyPr>
          <a:lstStyle/>
          <a:p>
            <a:r>
              <a:rPr lang="it-IT" sz="816" b="1" i="1" dirty="0">
                <a:latin typeface="Aptos Narrow" panose="020B0004020202020204" pitchFamily="34" charset="0"/>
              </a:rPr>
              <a:t>Preventivi </a:t>
            </a:r>
            <a:r>
              <a:rPr lang="it-IT" sz="816" b="1" i="1" dirty="0" err="1">
                <a:latin typeface="Aptos Narrow" panose="020B0004020202020204" pitchFamily="34" charset="0"/>
              </a:rPr>
              <a:t>Deduplicati</a:t>
            </a:r>
            <a:r>
              <a:rPr lang="it-IT" sz="816" b="1" i="1" dirty="0">
                <a:latin typeface="Aptos Narrow" panose="020B0004020202020204" pitchFamily="34" charset="0"/>
              </a:rPr>
              <a:t> dall’Algoritmo Implementato</a:t>
            </a:r>
          </a:p>
        </p:txBody>
      </p:sp>
      <p:sp>
        <p:nvSpPr>
          <p:cNvPr id="12" name="CasellaDiTesto 11">
            <a:extLst>
              <a:ext uri="{FF2B5EF4-FFF2-40B4-BE49-F238E27FC236}">
                <a16:creationId xmlns:a16="http://schemas.microsoft.com/office/drawing/2014/main" id="{543DD3AD-2D69-A7AE-D3A0-61ABE39F588B}"/>
              </a:ext>
            </a:extLst>
          </p:cNvPr>
          <p:cNvSpPr txBox="1"/>
          <p:nvPr/>
        </p:nvSpPr>
        <p:spPr>
          <a:xfrm>
            <a:off x="6203145" y="3154694"/>
            <a:ext cx="4300466" cy="2102627"/>
          </a:xfrm>
          <a:prstGeom prst="rect">
            <a:avLst/>
          </a:prstGeom>
          <a:noFill/>
        </p:spPr>
        <p:txBody>
          <a:bodyPr wrap="square">
            <a:spAutoFit/>
          </a:bodyPr>
          <a:lstStyle/>
          <a:p>
            <a:r>
              <a:rPr lang="it-IT" sz="1633" dirty="0">
                <a:latin typeface="Aptos" panose="020B0004020202020204" pitchFamily="34" charset="0"/>
              </a:rPr>
              <a:t>Conversion sulle Trattative Salesforce: </a:t>
            </a:r>
          </a:p>
          <a:p>
            <a:r>
              <a:rPr lang="it-IT" sz="1633" b="1" dirty="0">
                <a:latin typeface="Aptos" panose="020B0004020202020204" pitchFamily="34" charset="0"/>
              </a:rPr>
              <a:t>50% </a:t>
            </a:r>
            <a:r>
              <a:rPr lang="it-IT" sz="1089" dirty="0">
                <a:latin typeface="Aptos" panose="020B0004020202020204" pitchFamily="34" charset="0"/>
              </a:rPr>
              <a:t>(Trattativa 2 Chiusa, Trattativa 1 Non chiusa)</a:t>
            </a:r>
            <a:endParaRPr lang="it-IT" sz="1633" b="1" dirty="0">
              <a:latin typeface="Aptos" panose="020B0004020202020204" pitchFamily="34" charset="0"/>
            </a:endParaRPr>
          </a:p>
          <a:p>
            <a:endParaRPr lang="it-IT" sz="1633" dirty="0">
              <a:latin typeface="Aptos" panose="020B0004020202020204" pitchFamily="34" charset="0"/>
            </a:endParaRPr>
          </a:p>
          <a:p>
            <a:endParaRPr lang="it-IT" sz="1633" dirty="0">
              <a:latin typeface="Aptos" panose="020B0004020202020204" pitchFamily="34" charset="0"/>
            </a:endParaRPr>
          </a:p>
          <a:p>
            <a:endParaRPr lang="it-IT" sz="1633" dirty="0">
              <a:latin typeface="Aptos" panose="020B0004020202020204" pitchFamily="34" charset="0"/>
            </a:endParaRPr>
          </a:p>
          <a:p>
            <a:endParaRPr lang="it-IT" sz="1633" dirty="0">
              <a:latin typeface="Aptos" panose="020B0004020202020204" pitchFamily="34" charset="0"/>
            </a:endParaRPr>
          </a:p>
          <a:p>
            <a:r>
              <a:rPr lang="it-IT" sz="1633" dirty="0">
                <a:latin typeface="Aptos" panose="020B0004020202020204" pitchFamily="34" charset="0"/>
              </a:rPr>
              <a:t>Conversione calcolata su Tableau: </a:t>
            </a:r>
          </a:p>
          <a:p>
            <a:r>
              <a:rPr lang="it-IT" sz="1633" b="1" dirty="0">
                <a:solidFill>
                  <a:srgbClr val="C00000"/>
                </a:solidFill>
                <a:latin typeface="Aptos" panose="020B0004020202020204" pitchFamily="34" charset="0"/>
              </a:rPr>
              <a:t>100% </a:t>
            </a:r>
            <a:r>
              <a:rPr lang="it-IT" sz="1089" b="1" dirty="0">
                <a:latin typeface="Aptos" panose="020B0004020202020204" pitchFamily="34" charset="0"/>
              </a:rPr>
              <a:t>(</a:t>
            </a:r>
            <a:r>
              <a:rPr lang="it-IT" sz="1089" dirty="0">
                <a:latin typeface="Aptos" panose="020B0004020202020204" pitchFamily="34" charset="0"/>
              </a:rPr>
              <a:t>1 Emissione / 1 preventivo </a:t>
            </a:r>
            <a:r>
              <a:rPr lang="it-IT" sz="1089" dirty="0" err="1">
                <a:latin typeface="Aptos" panose="020B0004020202020204" pitchFamily="34" charset="0"/>
              </a:rPr>
              <a:t>deduplicato</a:t>
            </a:r>
            <a:r>
              <a:rPr lang="it-IT" sz="1089" dirty="0">
                <a:latin typeface="Aptos" panose="020B0004020202020204" pitchFamily="34" charset="0"/>
              </a:rPr>
              <a:t>)</a:t>
            </a:r>
            <a:endParaRPr lang="it-IT" sz="1633" b="1" dirty="0">
              <a:latin typeface="Aptos" panose="020B0004020202020204" pitchFamily="34" charset="0"/>
            </a:endParaRPr>
          </a:p>
        </p:txBody>
      </p:sp>
      <p:sp>
        <p:nvSpPr>
          <p:cNvPr id="13" name="Freccia a destra 12">
            <a:extLst>
              <a:ext uri="{FF2B5EF4-FFF2-40B4-BE49-F238E27FC236}">
                <a16:creationId xmlns:a16="http://schemas.microsoft.com/office/drawing/2014/main" id="{535DB484-E6D9-B9C0-4D0B-5594E8BD99FA}"/>
              </a:ext>
            </a:extLst>
          </p:cNvPr>
          <p:cNvSpPr/>
          <p:nvPr/>
        </p:nvSpPr>
        <p:spPr>
          <a:xfrm>
            <a:off x="5464367" y="3296837"/>
            <a:ext cx="312815" cy="439638"/>
          </a:xfrm>
          <a:prstGeom prst="rightArrow">
            <a:avLst/>
          </a:prstGeom>
          <a:ln/>
        </p:spPr>
        <p:style>
          <a:lnRef idx="0">
            <a:schemeClr val="dk1"/>
          </a:lnRef>
          <a:fillRef idx="3">
            <a:schemeClr val="dk1"/>
          </a:fillRef>
          <a:effectRef idx="3">
            <a:schemeClr val="dk1"/>
          </a:effectRef>
          <a:fontRef idx="minor">
            <a:schemeClr val="lt1"/>
          </a:fontRef>
        </p:style>
        <p:txBody>
          <a:bodyPr lIns="32658" tIns="0" rIns="32658" bIns="0" rtlCol="0" anchor="ctr"/>
          <a:lstStyle/>
          <a:p>
            <a:pPr algn="l"/>
            <a:endParaRPr lang="it-IT" sz="1270" b="1" dirty="0">
              <a:solidFill>
                <a:schemeClr val="tx1"/>
              </a:solidFill>
            </a:endParaRPr>
          </a:p>
        </p:txBody>
      </p:sp>
      <p:sp>
        <p:nvSpPr>
          <p:cNvPr id="14" name="Freccia a destra 13">
            <a:extLst>
              <a:ext uri="{FF2B5EF4-FFF2-40B4-BE49-F238E27FC236}">
                <a16:creationId xmlns:a16="http://schemas.microsoft.com/office/drawing/2014/main" id="{72897A5E-44F3-292B-EE61-D4474F1C7C90}"/>
              </a:ext>
            </a:extLst>
          </p:cNvPr>
          <p:cNvSpPr/>
          <p:nvPr/>
        </p:nvSpPr>
        <p:spPr>
          <a:xfrm>
            <a:off x="5491585" y="4651310"/>
            <a:ext cx="312815" cy="439638"/>
          </a:xfrm>
          <a:prstGeom prst="rightArrow">
            <a:avLst/>
          </a:prstGeom>
          <a:ln/>
        </p:spPr>
        <p:style>
          <a:lnRef idx="0">
            <a:schemeClr val="accent3"/>
          </a:lnRef>
          <a:fillRef idx="3">
            <a:schemeClr val="accent3"/>
          </a:fillRef>
          <a:effectRef idx="3">
            <a:schemeClr val="accent3"/>
          </a:effectRef>
          <a:fontRef idx="minor">
            <a:schemeClr val="lt1"/>
          </a:fontRef>
        </p:style>
        <p:txBody>
          <a:bodyPr lIns="32658" tIns="0" rIns="32658" bIns="0" rtlCol="0" anchor="ctr"/>
          <a:lstStyle/>
          <a:p>
            <a:pPr algn="l"/>
            <a:endParaRPr lang="it-IT" sz="1270" b="1" dirty="0">
              <a:solidFill>
                <a:schemeClr val="tx1"/>
              </a:solidFill>
            </a:endParaRPr>
          </a:p>
        </p:txBody>
      </p:sp>
    </p:spTree>
    <p:extLst>
      <p:ext uri="{BB962C8B-B14F-4D97-AF65-F5344CB8AC3E}">
        <p14:creationId xmlns:p14="http://schemas.microsoft.com/office/powerpoint/2010/main" val="3552525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396CF6D-E844-3D4A-93EE-8D77E51C5244}"/>
              </a:ext>
            </a:extLst>
          </p:cNvPr>
          <p:cNvGraphicFramePr>
            <a:graphicFrameLocks noChangeAspect="1"/>
          </p:cNvGraphicFramePr>
          <p:nvPr>
            <p:custDataLst>
              <p:tags r:id="rId1"/>
            </p:custDataLst>
            <p:extLst>
              <p:ext uri="{D42A27DB-BD31-4B8C-83A1-F6EECF244321}">
                <p14:modId xmlns:p14="http://schemas.microsoft.com/office/powerpoint/2010/main" val="494102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3" imgW="395" imgH="394" progId="TCLayout.ActiveDocument.1">
                  <p:embed/>
                </p:oleObj>
              </mc:Choice>
              <mc:Fallback>
                <p:oleObj name="Diapositiva think-cell" r:id="rId3" imgW="395" imgH="394" progId="TCLayout.ActiveDocument.1">
                  <p:embed/>
                  <p:pic>
                    <p:nvPicPr>
                      <p:cNvPr id="6" name="think-cell data - do not delete" hidden="1">
                        <a:extLst>
                          <a:ext uri="{FF2B5EF4-FFF2-40B4-BE49-F238E27FC236}">
                            <a16:creationId xmlns:a16="http://schemas.microsoft.com/office/drawing/2014/main" id="{D396CF6D-E844-3D4A-93EE-8D77E51C524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olo 1">
            <a:extLst>
              <a:ext uri="{FF2B5EF4-FFF2-40B4-BE49-F238E27FC236}">
                <a16:creationId xmlns:a16="http://schemas.microsoft.com/office/drawing/2014/main" id="{D8D51FD1-B137-46BA-ADD4-508F484F4FF8}"/>
              </a:ext>
            </a:extLst>
          </p:cNvPr>
          <p:cNvSpPr>
            <a:spLocks noGrp="1"/>
          </p:cNvSpPr>
          <p:nvPr>
            <p:ph type="title"/>
          </p:nvPr>
        </p:nvSpPr>
        <p:spPr>
          <a:xfrm>
            <a:off x="2616199" y="2741247"/>
            <a:ext cx="9218851" cy="566222"/>
          </a:xfrm>
        </p:spPr>
        <p:txBody>
          <a:bodyPr vert="horz"/>
          <a:lstStyle/>
          <a:p>
            <a:pPr algn="r"/>
            <a:r>
              <a:rPr kumimoji="0" lang="it-IT" sz="3200" b="1" i="0" u="none" strike="noStrike" kern="1200" cap="none" spc="0" normalizeH="0" baseline="0" noProof="0" dirty="0">
                <a:ln>
                  <a:noFill/>
                </a:ln>
                <a:solidFill>
                  <a:srgbClr val="0F3250"/>
                </a:solidFill>
                <a:effectLst/>
                <a:uLnTx/>
                <a:uFillTx/>
                <a:latin typeface="Calibri"/>
                <a:ea typeface="+mj-ea"/>
                <a:cs typeface="+mj-cs"/>
              </a:rPr>
              <a:t>Pianificazione – Proposta DSI</a:t>
            </a:r>
            <a:endParaRPr lang="it-IT" sz="3200" dirty="0">
              <a:latin typeface="+mn-lt"/>
            </a:endParaRPr>
          </a:p>
        </p:txBody>
      </p:sp>
    </p:spTree>
    <p:extLst>
      <p:ext uri="{BB962C8B-B14F-4D97-AF65-F5344CB8AC3E}">
        <p14:creationId xmlns:p14="http://schemas.microsoft.com/office/powerpoint/2010/main" val="1281451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8FB7-9467-C4FF-8A56-89585ECED6AB}"/>
            </a:ext>
          </a:extLst>
        </p:cNvPr>
        <p:cNvGrpSpPr/>
        <p:nvPr/>
      </p:nvGrpSpPr>
      <p:grpSpPr>
        <a:xfrm>
          <a:off x="0" y="0"/>
          <a:ext cx="0" cy="0"/>
          <a:chOff x="0" y="0"/>
          <a:chExt cx="0" cy="0"/>
        </a:xfrm>
      </p:grpSpPr>
      <p:graphicFrame>
        <p:nvGraphicFramePr>
          <p:cNvPr id="48" name="think-cell data - do not delete" hidden="1">
            <a:extLst>
              <a:ext uri="{FF2B5EF4-FFF2-40B4-BE49-F238E27FC236}">
                <a16:creationId xmlns:a16="http://schemas.microsoft.com/office/drawing/2014/main" id="{3851BB15-A695-D76A-3289-0E28401E95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think-cell" r:id="rId4" imgW="395" imgH="394" progId="TCLayout.ActiveDocument.1">
                  <p:embed/>
                </p:oleObj>
              </mc:Choice>
              <mc:Fallback>
                <p:oleObj name="Diapositiva think-cell" r:id="rId4" imgW="395" imgH="394" progId="TCLayout.ActiveDocument.1">
                  <p:embed/>
                  <p:pic>
                    <p:nvPicPr>
                      <p:cNvPr id="48" name="think-cell data - do not delete" hidden="1">
                        <a:extLst>
                          <a:ext uri="{FF2B5EF4-FFF2-40B4-BE49-F238E27FC236}">
                            <a16:creationId xmlns:a16="http://schemas.microsoft.com/office/drawing/2014/main" id="{3851BB15-A695-D76A-3289-0E28401E95A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0" name="Parallelogramma 29">
            <a:extLst>
              <a:ext uri="{FF2B5EF4-FFF2-40B4-BE49-F238E27FC236}">
                <a16:creationId xmlns:a16="http://schemas.microsoft.com/office/drawing/2014/main" id="{AFAC3410-C95F-5AFA-9BA9-061D04EBA4C9}"/>
              </a:ext>
            </a:extLst>
          </p:cNvPr>
          <p:cNvSpPr/>
          <p:nvPr/>
        </p:nvSpPr>
        <p:spPr>
          <a:xfrm>
            <a:off x="6874986" y="671997"/>
            <a:ext cx="4512778" cy="306697"/>
          </a:xfrm>
          <a:prstGeom prst="parallelogram">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Parallelogramma 27">
            <a:extLst>
              <a:ext uri="{FF2B5EF4-FFF2-40B4-BE49-F238E27FC236}">
                <a16:creationId xmlns:a16="http://schemas.microsoft.com/office/drawing/2014/main" id="{26F742C3-6441-6545-3DC2-EA24C2882195}"/>
              </a:ext>
            </a:extLst>
          </p:cNvPr>
          <p:cNvSpPr/>
          <p:nvPr/>
        </p:nvSpPr>
        <p:spPr>
          <a:xfrm>
            <a:off x="2284439" y="671997"/>
            <a:ext cx="4512778" cy="306697"/>
          </a:xfrm>
          <a:prstGeom prst="parallelogram">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Shape 4">
            <a:extLst>
              <a:ext uri="{FF2B5EF4-FFF2-40B4-BE49-F238E27FC236}">
                <a16:creationId xmlns:a16="http://schemas.microsoft.com/office/drawing/2014/main" id="{DFF52AE1-8D39-79FF-26F1-A3854131C6EB}"/>
              </a:ext>
            </a:extLst>
          </p:cNvPr>
          <p:cNvSpPr/>
          <p:nvPr/>
        </p:nvSpPr>
        <p:spPr>
          <a:xfrm>
            <a:off x="6874986" y="1974212"/>
            <a:ext cx="4496400" cy="4035804"/>
          </a:xfrm>
          <a:prstGeom prst="roundRect">
            <a:avLst>
              <a:gd name="adj" fmla="val 333"/>
            </a:avLst>
          </a:prstGeom>
          <a:solidFill>
            <a:srgbClr val="D3E7F8"/>
          </a:solidFill>
          <a:ln w="7620">
            <a:solidFill>
              <a:srgbClr val="B9CDDE"/>
            </a:solidFill>
            <a:prstDash val="solid"/>
          </a:ln>
        </p:spPr>
        <p:txBody>
          <a:bodyPr/>
          <a:lstStyle/>
          <a:p>
            <a:endParaRPr lang="it-IT"/>
          </a:p>
        </p:txBody>
      </p:sp>
      <p:sp>
        <p:nvSpPr>
          <p:cNvPr id="8" name="Shape 4">
            <a:extLst>
              <a:ext uri="{FF2B5EF4-FFF2-40B4-BE49-F238E27FC236}">
                <a16:creationId xmlns:a16="http://schemas.microsoft.com/office/drawing/2014/main" id="{92522967-A8AB-2FB0-74F7-F94DADF16CA7}"/>
              </a:ext>
            </a:extLst>
          </p:cNvPr>
          <p:cNvSpPr/>
          <p:nvPr/>
        </p:nvSpPr>
        <p:spPr>
          <a:xfrm>
            <a:off x="2284439" y="1974212"/>
            <a:ext cx="4495923" cy="4035804"/>
          </a:xfrm>
          <a:prstGeom prst="roundRect">
            <a:avLst>
              <a:gd name="adj" fmla="val 333"/>
            </a:avLst>
          </a:prstGeom>
          <a:solidFill>
            <a:srgbClr val="D3E7F8"/>
          </a:solidFill>
          <a:ln w="7620">
            <a:solidFill>
              <a:srgbClr val="B9CDDE"/>
            </a:solidFill>
            <a:prstDash val="solid"/>
          </a:ln>
        </p:spPr>
        <p:txBody>
          <a:bodyPr/>
          <a:lstStyle/>
          <a:p>
            <a:endParaRPr lang="it-IT"/>
          </a:p>
        </p:txBody>
      </p:sp>
      <p:sp>
        <p:nvSpPr>
          <p:cNvPr id="71" name="Freccia a destra 70">
            <a:extLst>
              <a:ext uri="{FF2B5EF4-FFF2-40B4-BE49-F238E27FC236}">
                <a16:creationId xmlns:a16="http://schemas.microsoft.com/office/drawing/2014/main" id="{1E224B91-3D17-7B7A-04EB-686C2231F43D}"/>
              </a:ext>
            </a:extLst>
          </p:cNvPr>
          <p:cNvSpPr/>
          <p:nvPr/>
        </p:nvSpPr>
        <p:spPr>
          <a:xfrm>
            <a:off x="605511" y="3189522"/>
            <a:ext cx="10800000" cy="2944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sp>
        <p:nvSpPr>
          <p:cNvPr id="2" name="Titolo 1">
            <a:extLst>
              <a:ext uri="{FF2B5EF4-FFF2-40B4-BE49-F238E27FC236}">
                <a16:creationId xmlns:a16="http://schemas.microsoft.com/office/drawing/2014/main" id="{05EE353F-236C-7E03-BB2E-701ACA102C30}"/>
              </a:ext>
            </a:extLst>
          </p:cNvPr>
          <p:cNvSpPr>
            <a:spLocks noGrp="1"/>
          </p:cNvSpPr>
          <p:nvPr>
            <p:ph type="title"/>
          </p:nvPr>
        </p:nvSpPr>
        <p:spPr>
          <a:xfrm>
            <a:off x="411601" y="83191"/>
            <a:ext cx="10302057" cy="471783"/>
          </a:xfrm>
        </p:spPr>
        <p:txBody>
          <a:bodyPr vert="horz" lIns="91440" tIns="45720" rIns="91440" bIns="45720" anchor="ctr">
            <a:noAutofit/>
          </a:bodyPr>
          <a:lstStyle/>
          <a:p>
            <a:r>
              <a:rPr lang="it-IT" sz="1850" dirty="0">
                <a:ea typeface="Calibri"/>
                <a:cs typeface="Calibri"/>
              </a:rPr>
              <a:t>Macro-pianificazione – Proposta DSI</a:t>
            </a:r>
            <a:endParaRPr lang="it-IT" dirty="0"/>
          </a:p>
        </p:txBody>
      </p:sp>
      <p:sp>
        <p:nvSpPr>
          <p:cNvPr id="5" name="Segnaposto numero diapositiva 4">
            <a:extLst>
              <a:ext uri="{FF2B5EF4-FFF2-40B4-BE49-F238E27FC236}">
                <a16:creationId xmlns:a16="http://schemas.microsoft.com/office/drawing/2014/main" id="{EBBF2A78-5E04-58D9-4377-61A5F9BB5DC2}"/>
              </a:ext>
            </a:extLst>
          </p:cNvPr>
          <p:cNvSpPr>
            <a:spLocks noGrp="1"/>
          </p:cNvSpPr>
          <p:nvPr>
            <p:ph type="sldNum" sz="quarter" idx="12"/>
          </p:nvPr>
        </p:nvSpPr>
        <p:spPr/>
        <p:txBody>
          <a:bodyPr/>
          <a:lstStyle/>
          <a:p>
            <a:fld id="{7998DEE5-5424-45CB-8336-3215AFBD0173}" type="slidenum">
              <a:rPr lang="it-IT" smtClean="0"/>
              <a:pPr/>
              <a:t>16</a:t>
            </a:fld>
            <a:endParaRPr lang="it-IT"/>
          </a:p>
        </p:txBody>
      </p:sp>
      <p:sp>
        <p:nvSpPr>
          <p:cNvPr id="33" name="TextBox 123">
            <a:extLst>
              <a:ext uri="{FF2B5EF4-FFF2-40B4-BE49-F238E27FC236}">
                <a16:creationId xmlns:a16="http://schemas.microsoft.com/office/drawing/2014/main" id="{F6BCA6BC-D4FC-E248-D112-C1907D61BC1A}"/>
              </a:ext>
            </a:extLst>
          </p:cNvPr>
          <p:cNvSpPr txBox="1"/>
          <p:nvPr/>
        </p:nvSpPr>
        <p:spPr>
          <a:xfrm>
            <a:off x="3870069" y="1344291"/>
            <a:ext cx="1324662" cy="335538"/>
          </a:xfrm>
          <a:prstGeom prst="rect">
            <a:avLst/>
          </a:prstGeom>
          <a:noFill/>
        </p:spPr>
        <p:txBody>
          <a:bodyPr wrap="square" lIns="0" tIns="0" rIns="0" bIns="0" rtlCol="0" anchor="ctr">
            <a:noAutofit/>
          </a:bodyPr>
          <a:lstStyle/>
          <a:p>
            <a:pPr algn="ctr" defTabSz="1218081">
              <a:spcBef>
                <a:spcPct val="20000"/>
              </a:spcBef>
              <a:defRPr/>
            </a:pPr>
            <a:r>
              <a:rPr lang="en-US" sz="1600" b="1" i="1" dirty="0">
                <a:highlight>
                  <a:srgbClr val="FFFFCC"/>
                </a:highlight>
                <a:latin typeface="Calibri"/>
              </a:rPr>
              <a:t>Go Live: 30/06</a:t>
            </a:r>
          </a:p>
        </p:txBody>
      </p:sp>
      <p:sp>
        <p:nvSpPr>
          <p:cNvPr id="63" name="Rettangolo 62">
            <a:extLst>
              <a:ext uri="{FF2B5EF4-FFF2-40B4-BE49-F238E27FC236}">
                <a16:creationId xmlns:a16="http://schemas.microsoft.com/office/drawing/2014/main" id="{EB482F46-ADF5-7A34-3F11-41367C55EA64}"/>
              </a:ext>
            </a:extLst>
          </p:cNvPr>
          <p:cNvSpPr/>
          <p:nvPr/>
        </p:nvSpPr>
        <p:spPr>
          <a:xfrm>
            <a:off x="2523131" y="2965612"/>
            <a:ext cx="4032000" cy="742299"/>
          </a:xfrm>
          <a:prstGeom prst="rect">
            <a:avLst/>
          </a:prstGeom>
          <a:solidFill>
            <a:schemeClr val="accent3">
              <a:lumMod val="75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9" name="Text 2">
            <a:extLst>
              <a:ext uri="{FF2B5EF4-FFF2-40B4-BE49-F238E27FC236}">
                <a16:creationId xmlns:a16="http://schemas.microsoft.com/office/drawing/2014/main" id="{F422877F-ADBB-8D96-EF8E-2A0593254596}"/>
              </a:ext>
            </a:extLst>
          </p:cNvPr>
          <p:cNvSpPr/>
          <p:nvPr/>
        </p:nvSpPr>
        <p:spPr>
          <a:xfrm>
            <a:off x="4088921" y="723749"/>
            <a:ext cx="943967" cy="246897"/>
          </a:xfrm>
          <a:prstGeom prst="rect">
            <a:avLst/>
          </a:prstGeom>
          <a:noFill/>
          <a:ln/>
        </p:spPr>
        <p:txBody>
          <a:bodyPr wrap="none" lIns="0" tIns="0" rIns="0" bIns="0" rtlCol="0" anchor="t"/>
          <a:lstStyle/>
          <a:p>
            <a:pPr algn="ctr">
              <a:lnSpc>
                <a:spcPts val="1900"/>
              </a:lnSpc>
            </a:pPr>
            <a:r>
              <a:rPr lang="en-US" sz="2000" b="1" dirty="0"/>
              <a:t>FASE 1</a:t>
            </a:r>
            <a:endParaRPr lang="it-IT" sz="2000" b="1" dirty="0">
              <a:ea typeface="Calibri"/>
              <a:cs typeface="Calibri"/>
            </a:endParaRPr>
          </a:p>
        </p:txBody>
      </p:sp>
      <p:sp>
        <p:nvSpPr>
          <p:cNvPr id="11" name="Text 2">
            <a:extLst>
              <a:ext uri="{FF2B5EF4-FFF2-40B4-BE49-F238E27FC236}">
                <a16:creationId xmlns:a16="http://schemas.microsoft.com/office/drawing/2014/main" id="{D5658A83-3189-E30D-BA36-1D9CEABDE24A}"/>
              </a:ext>
            </a:extLst>
          </p:cNvPr>
          <p:cNvSpPr/>
          <p:nvPr/>
        </p:nvSpPr>
        <p:spPr>
          <a:xfrm>
            <a:off x="8330721" y="723749"/>
            <a:ext cx="1597700" cy="246897"/>
          </a:xfrm>
          <a:prstGeom prst="rect">
            <a:avLst/>
          </a:prstGeom>
          <a:noFill/>
          <a:ln/>
        </p:spPr>
        <p:txBody>
          <a:bodyPr wrap="none" lIns="0" tIns="0" rIns="0" bIns="0" rtlCol="0" anchor="t"/>
          <a:lstStyle/>
          <a:p>
            <a:pPr algn="ctr">
              <a:lnSpc>
                <a:spcPts val="1900"/>
              </a:lnSpc>
            </a:pPr>
            <a:r>
              <a:rPr lang="en-US" sz="2000" b="1" dirty="0"/>
              <a:t>FASE 2</a:t>
            </a:r>
            <a:endParaRPr lang="it-IT" sz="2000" b="1" dirty="0">
              <a:ea typeface="Calibri"/>
              <a:cs typeface="Calibri"/>
            </a:endParaRPr>
          </a:p>
        </p:txBody>
      </p:sp>
      <p:sp>
        <p:nvSpPr>
          <p:cNvPr id="16" name="Freccia a destra 70">
            <a:extLst>
              <a:ext uri="{FF2B5EF4-FFF2-40B4-BE49-F238E27FC236}">
                <a16:creationId xmlns:a16="http://schemas.microsoft.com/office/drawing/2014/main" id="{9959CB4E-B890-7981-59E6-6F33371B23D3}"/>
              </a:ext>
            </a:extLst>
          </p:cNvPr>
          <p:cNvSpPr/>
          <p:nvPr/>
        </p:nvSpPr>
        <p:spPr>
          <a:xfrm>
            <a:off x="605511" y="2270745"/>
            <a:ext cx="10800000" cy="2944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grpSp>
        <p:nvGrpSpPr>
          <p:cNvPr id="18" name="Gruppo 17">
            <a:extLst>
              <a:ext uri="{FF2B5EF4-FFF2-40B4-BE49-F238E27FC236}">
                <a16:creationId xmlns:a16="http://schemas.microsoft.com/office/drawing/2014/main" id="{5686D108-8789-5AB0-E1E0-46BA75664E73}"/>
              </a:ext>
            </a:extLst>
          </p:cNvPr>
          <p:cNvGrpSpPr/>
          <p:nvPr/>
        </p:nvGrpSpPr>
        <p:grpSpPr>
          <a:xfrm>
            <a:off x="2523131" y="2035278"/>
            <a:ext cx="4032000" cy="765412"/>
            <a:chOff x="4005483" y="2306940"/>
            <a:chExt cx="2089578" cy="742299"/>
          </a:xfrm>
          <a:solidFill>
            <a:schemeClr val="accent3">
              <a:lumMod val="75000"/>
            </a:schemeClr>
          </a:solidFill>
        </p:grpSpPr>
        <p:sp>
          <p:nvSpPr>
            <p:cNvPr id="19" name="Rettangolo 18">
              <a:extLst>
                <a:ext uri="{FF2B5EF4-FFF2-40B4-BE49-F238E27FC236}">
                  <a16:creationId xmlns:a16="http://schemas.microsoft.com/office/drawing/2014/main" id="{93C42047-71D0-369A-AED0-E8D8482B3153}"/>
                </a:ext>
              </a:extLst>
            </p:cNvPr>
            <p:cNvSpPr/>
            <p:nvPr/>
          </p:nvSpPr>
          <p:spPr>
            <a:xfrm>
              <a:off x="4005483" y="2306940"/>
              <a:ext cx="2089578" cy="742299"/>
            </a:xfrm>
            <a:prstGeom prst="rect">
              <a:avLst/>
            </a:prstGeom>
            <a:gr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20" name="Rettangolo 19">
              <a:extLst>
                <a:ext uri="{FF2B5EF4-FFF2-40B4-BE49-F238E27FC236}">
                  <a16:creationId xmlns:a16="http://schemas.microsoft.com/office/drawing/2014/main" id="{7F9FF19F-1346-C2A9-3E4D-FFA050CF7928}"/>
                </a:ext>
              </a:extLst>
            </p:cNvPr>
            <p:cNvSpPr/>
            <p:nvPr/>
          </p:nvSpPr>
          <p:spPr>
            <a:xfrm>
              <a:off x="4100273" y="2504212"/>
              <a:ext cx="1819218" cy="440835"/>
            </a:xfrm>
            <a:prstGeom prst="rect">
              <a:avLst/>
            </a:prstGeom>
            <a:grp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b="1" i="1" dirty="0">
                  <a:solidFill>
                    <a:schemeClr val="bg1"/>
                  </a:solidFill>
                  <a:latin typeface="Calibri"/>
                </a:rPr>
                <a:t>Motore geografico</a:t>
              </a:r>
            </a:p>
          </p:txBody>
        </p:sp>
      </p:grpSp>
      <p:sp>
        <p:nvSpPr>
          <p:cNvPr id="21" name="Rettangolo 20">
            <a:extLst>
              <a:ext uri="{FF2B5EF4-FFF2-40B4-BE49-F238E27FC236}">
                <a16:creationId xmlns:a16="http://schemas.microsoft.com/office/drawing/2014/main" id="{770782B2-A02B-952C-086D-B2C55BB12E60}"/>
              </a:ext>
            </a:extLst>
          </p:cNvPr>
          <p:cNvSpPr/>
          <p:nvPr/>
        </p:nvSpPr>
        <p:spPr>
          <a:xfrm>
            <a:off x="7132753" y="2035277"/>
            <a:ext cx="4032000" cy="1672633"/>
          </a:xfrm>
          <a:prstGeom prst="rect">
            <a:avLst/>
          </a:prstGeom>
          <a:solidFill>
            <a:schemeClr val="accent3">
              <a:lumMod val="5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22" name="Rettangolo 21">
            <a:extLst>
              <a:ext uri="{FF2B5EF4-FFF2-40B4-BE49-F238E27FC236}">
                <a16:creationId xmlns:a16="http://schemas.microsoft.com/office/drawing/2014/main" id="{2F10ABCF-2F8D-9CED-8716-FA2854E15B8A}"/>
              </a:ext>
            </a:extLst>
          </p:cNvPr>
          <p:cNvSpPr/>
          <p:nvPr/>
        </p:nvSpPr>
        <p:spPr>
          <a:xfrm>
            <a:off x="8307962" y="2690783"/>
            <a:ext cx="1819218" cy="440835"/>
          </a:xfrm>
          <a:prstGeom prst="rect">
            <a:avLst/>
          </a:prstGeom>
          <a:no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b="1" i="1" dirty="0">
                <a:solidFill>
                  <a:schemeClr val="bg1"/>
                </a:solidFill>
                <a:latin typeface="Calibri"/>
              </a:rPr>
              <a:t>Motore </a:t>
            </a:r>
          </a:p>
          <a:p>
            <a:pPr algn="ctr" defTabSz="414772">
              <a:lnSpc>
                <a:spcPct val="125000"/>
              </a:lnSpc>
              <a:defRPr/>
            </a:pPr>
            <a:r>
              <a:rPr lang="it-IT" b="1" i="1" dirty="0">
                <a:solidFill>
                  <a:schemeClr val="bg1"/>
                </a:solidFill>
                <a:latin typeface="Calibri"/>
              </a:rPr>
              <a:t>geo-meritocratico</a:t>
            </a:r>
            <a:endParaRPr lang="it-IT" i="1" dirty="0">
              <a:solidFill>
                <a:schemeClr val="bg1"/>
              </a:solidFill>
              <a:latin typeface="Calibri"/>
            </a:endParaRPr>
          </a:p>
        </p:txBody>
      </p:sp>
      <p:grpSp>
        <p:nvGrpSpPr>
          <p:cNvPr id="45" name="Gruppo 44">
            <a:extLst>
              <a:ext uri="{FF2B5EF4-FFF2-40B4-BE49-F238E27FC236}">
                <a16:creationId xmlns:a16="http://schemas.microsoft.com/office/drawing/2014/main" id="{ABB938C6-CB8A-D618-525F-EB439A703A4F}"/>
              </a:ext>
            </a:extLst>
          </p:cNvPr>
          <p:cNvGrpSpPr/>
          <p:nvPr/>
        </p:nvGrpSpPr>
        <p:grpSpPr>
          <a:xfrm>
            <a:off x="3029310" y="4928664"/>
            <a:ext cx="8135444" cy="771383"/>
            <a:chOff x="4185229" y="3448113"/>
            <a:chExt cx="2489373" cy="771383"/>
          </a:xfrm>
          <a:solidFill>
            <a:schemeClr val="accent4">
              <a:lumMod val="20000"/>
              <a:lumOff val="80000"/>
            </a:schemeClr>
          </a:solidFill>
        </p:grpSpPr>
        <p:sp>
          <p:nvSpPr>
            <p:cNvPr id="46" name="Rettangolo 45">
              <a:extLst>
                <a:ext uri="{FF2B5EF4-FFF2-40B4-BE49-F238E27FC236}">
                  <a16:creationId xmlns:a16="http://schemas.microsoft.com/office/drawing/2014/main" id="{500BA5C3-F2C0-8B0B-53B2-5439421A7F37}"/>
                </a:ext>
              </a:extLst>
            </p:cNvPr>
            <p:cNvSpPr/>
            <p:nvPr/>
          </p:nvSpPr>
          <p:spPr>
            <a:xfrm>
              <a:off x="4185229" y="3448113"/>
              <a:ext cx="2489373" cy="771383"/>
            </a:xfrm>
            <a:prstGeom prst="rect">
              <a:avLst/>
            </a:prstGeom>
            <a:gr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47" name="Rettangolo 46">
              <a:extLst>
                <a:ext uri="{FF2B5EF4-FFF2-40B4-BE49-F238E27FC236}">
                  <a16:creationId xmlns:a16="http://schemas.microsoft.com/office/drawing/2014/main" id="{7D1FC2B6-2D03-8A6D-2397-BC69CF080D92}"/>
                </a:ext>
              </a:extLst>
            </p:cNvPr>
            <p:cNvSpPr/>
            <p:nvPr/>
          </p:nvSpPr>
          <p:spPr>
            <a:xfrm>
              <a:off x="4320409" y="3629208"/>
              <a:ext cx="2230207" cy="440835"/>
            </a:xfrm>
            <a:prstGeom prst="rect">
              <a:avLst/>
            </a:prstGeom>
            <a:grp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sz="1400" b="1" i="1" dirty="0">
                  <a:solidFill>
                    <a:schemeClr val="tx1"/>
                  </a:solidFill>
                  <a:latin typeface="Calibri"/>
                </a:rPr>
                <a:t>Osservazione KPI per calibrazione modello</a:t>
              </a:r>
              <a:endParaRPr lang="it-IT" sz="1400" b="1" i="1" dirty="0">
                <a:solidFill>
                  <a:schemeClr val="tx1"/>
                </a:solidFill>
                <a:latin typeface="Calibri"/>
                <a:ea typeface="Calibri"/>
                <a:cs typeface="Calibri"/>
              </a:endParaRPr>
            </a:p>
          </p:txBody>
        </p:sp>
      </p:grpSp>
      <p:grpSp>
        <p:nvGrpSpPr>
          <p:cNvPr id="36" name="Gruppo 35">
            <a:extLst>
              <a:ext uri="{FF2B5EF4-FFF2-40B4-BE49-F238E27FC236}">
                <a16:creationId xmlns:a16="http://schemas.microsoft.com/office/drawing/2014/main" id="{ECD8CAB6-615A-D1DF-CA7C-1490BF355472}"/>
              </a:ext>
            </a:extLst>
          </p:cNvPr>
          <p:cNvGrpSpPr/>
          <p:nvPr/>
        </p:nvGrpSpPr>
        <p:grpSpPr>
          <a:xfrm>
            <a:off x="194861" y="4928664"/>
            <a:ext cx="2089578" cy="771383"/>
            <a:chOff x="4005483" y="2306940"/>
            <a:chExt cx="2089578" cy="742299"/>
          </a:xfrm>
          <a:solidFill>
            <a:schemeClr val="accent4"/>
          </a:solidFill>
        </p:grpSpPr>
        <p:sp>
          <p:nvSpPr>
            <p:cNvPr id="39" name="Rettangolo 38">
              <a:extLst>
                <a:ext uri="{FF2B5EF4-FFF2-40B4-BE49-F238E27FC236}">
                  <a16:creationId xmlns:a16="http://schemas.microsoft.com/office/drawing/2014/main" id="{A1798DED-EAE2-298A-0145-99360842E334}"/>
                </a:ext>
              </a:extLst>
            </p:cNvPr>
            <p:cNvSpPr/>
            <p:nvPr/>
          </p:nvSpPr>
          <p:spPr>
            <a:xfrm>
              <a:off x="4005483" y="2306940"/>
              <a:ext cx="2089578" cy="742299"/>
            </a:xfrm>
            <a:prstGeom prst="rect">
              <a:avLst/>
            </a:prstGeom>
            <a:gr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41" name="Rettangolo 40">
              <a:extLst>
                <a:ext uri="{FF2B5EF4-FFF2-40B4-BE49-F238E27FC236}">
                  <a16:creationId xmlns:a16="http://schemas.microsoft.com/office/drawing/2014/main" id="{C2240F56-FA49-1C92-21E2-E57E51AF85BB}"/>
                </a:ext>
              </a:extLst>
            </p:cNvPr>
            <p:cNvSpPr/>
            <p:nvPr/>
          </p:nvSpPr>
          <p:spPr>
            <a:xfrm>
              <a:off x="4100273" y="2504212"/>
              <a:ext cx="1819218" cy="440835"/>
            </a:xfrm>
            <a:prstGeom prst="rect">
              <a:avLst/>
            </a:prstGeom>
            <a:grp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sz="1400" b="1" i="1" dirty="0">
                  <a:solidFill>
                    <a:schemeClr val="tx1"/>
                  </a:solidFill>
                  <a:latin typeface="Calibri"/>
                </a:rPr>
                <a:t>Osservazione KPI</a:t>
              </a:r>
            </a:p>
          </p:txBody>
        </p:sp>
      </p:grpSp>
      <p:sp>
        <p:nvSpPr>
          <p:cNvPr id="43" name="Freccia a destra 42">
            <a:extLst>
              <a:ext uri="{FF2B5EF4-FFF2-40B4-BE49-F238E27FC236}">
                <a16:creationId xmlns:a16="http://schemas.microsoft.com/office/drawing/2014/main" id="{62AA4093-5CC6-E669-FBAA-C547AE0B4A49}"/>
              </a:ext>
            </a:extLst>
          </p:cNvPr>
          <p:cNvSpPr/>
          <p:nvPr/>
        </p:nvSpPr>
        <p:spPr>
          <a:xfrm>
            <a:off x="605511" y="4134397"/>
            <a:ext cx="10800000" cy="2944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sp>
        <p:nvSpPr>
          <p:cNvPr id="42" name="Rettangolo 41">
            <a:extLst>
              <a:ext uri="{FF2B5EF4-FFF2-40B4-BE49-F238E27FC236}">
                <a16:creationId xmlns:a16="http://schemas.microsoft.com/office/drawing/2014/main" id="{87389057-6F32-7075-AC5E-03335C361FDF}"/>
              </a:ext>
            </a:extLst>
          </p:cNvPr>
          <p:cNvSpPr/>
          <p:nvPr/>
        </p:nvSpPr>
        <p:spPr>
          <a:xfrm>
            <a:off x="3100753" y="3136066"/>
            <a:ext cx="2720885" cy="440835"/>
          </a:xfrm>
          <a:prstGeom prst="rect">
            <a:avLst/>
          </a:prstGeom>
          <a:no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b="1" i="1" dirty="0">
                <a:solidFill>
                  <a:schemeClr val="bg1"/>
                </a:solidFill>
                <a:latin typeface="Calibri"/>
              </a:rPr>
              <a:t>Gestione PV </a:t>
            </a:r>
            <a:r>
              <a:rPr lang="it-IT" b="1" i="1" dirty="0" err="1">
                <a:solidFill>
                  <a:schemeClr val="bg1"/>
                </a:solidFill>
                <a:latin typeface="Calibri"/>
              </a:rPr>
              <a:t>subagenziali</a:t>
            </a:r>
            <a:r>
              <a:rPr lang="it-IT" b="1" i="1" dirty="0">
                <a:solidFill>
                  <a:schemeClr val="bg1"/>
                </a:solidFill>
                <a:latin typeface="Calibri"/>
              </a:rPr>
              <a:t> in Locator</a:t>
            </a:r>
          </a:p>
        </p:txBody>
      </p:sp>
      <p:grpSp>
        <p:nvGrpSpPr>
          <p:cNvPr id="49" name="Gruppo 48">
            <a:extLst>
              <a:ext uri="{FF2B5EF4-FFF2-40B4-BE49-F238E27FC236}">
                <a16:creationId xmlns:a16="http://schemas.microsoft.com/office/drawing/2014/main" id="{1CC40002-A7B2-7C74-C24D-D3455C3C5E72}"/>
              </a:ext>
            </a:extLst>
          </p:cNvPr>
          <p:cNvGrpSpPr/>
          <p:nvPr/>
        </p:nvGrpSpPr>
        <p:grpSpPr>
          <a:xfrm>
            <a:off x="2523131" y="3895945"/>
            <a:ext cx="4032000" cy="771383"/>
            <a:chOff x="4185229" y="3448113"/>
            <a:chExt cx="2080800" cy="771383"/>
          </a:xfrm>
          <a:solidFill>
            <a:schemeClr val="accent3">
              <a:lumMod val="75000"/>
            </a:schemeClr>
          </a:solidFill>
        </p:grpSpPr>
        <p:sp>
          <p:nvSpPr>
            <p:cNvPr id="50" name="Rettangolo 49">
              <a:extLst>
                <a:ext uri="{FF2B5EF4-FFF2-40B4-BE49-F238E27FC236}">
                  <a16:creationId xmlns:a16="http://schemas.microsoft.com/office/drawing/2014/main" id="{01ADD596-EFCE-5F48-B1C4-D880593BCA37}"/>
                </a:ext>
              </a:extLst>
            </p:cNvPr>
            <p:cNvSpPr/>
            <p:nvPr/>
          </p:nvSpPr>
          <p:spPr>
            <a:xfrm>
              <a:off x="4185229" y="3448113"/>
              <a:ext cx="2080800" cy="771383"/>
            </a:xfrm>
            <a:prstGeom prst="rect">
              <a:avLst/>
            </a:prstGeom>
            <a:grp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51" name="Rettangolo 50">
              <a:extLst>
                <a:ext uri="{FF2B5EF4-FFF2-40B4-BE49-F238E27FC236}">
                  <a16:creationId xmlns:a16="http://schemas.microsoft.com/office/drawing/2014/main" id="{4BC3C6B5-FF27-52E3-1013-6A9DF1D3D4AD}"/>
                </a:ext>
              </a:extLst>
            </p:cNvPr>
            <p:cNvSpPr/>
            <p:nvPr/>
          </p:nvSpPr>
          <p:spPr>
            <a:xfrm>
              <a:off x="4318825" y="3632853"/>
              <a:ext cx="1813608" cy="440835"/>
            </a:xfrm>
            <a:prstGeom prst="rect">
              <a:avLst/>
            </a:prstGeom>
            <a:grp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b="1" i="1" dirty="0">
                  <a:solidFill>
                    <a:schemeClr val="bg1"/>
                  </a:solidFill>
                  <a:latin typeface="Calibri"/>
                </a:rPr>
                <a:t>Dashboard</a:t>
              </a:r>
            </a:p>
            <a:p>
              <a:pPr algn="ctr" defTabSz="414772">
                <a:lnSpc>
                  <a:spcPct val="125000"/>
                </a:lnSpc>
                <a:defRPr/>
              </a:pPr>
              <a:r>
                <a:rPr lang="it-IT" b="1" i="1" dirty="0">
                  <a:solidFill>
                    <a:schemeClr val="bg1"/>
                  </a:solidFill>
                  <a:latin typeface="Calibri"/>
                </a:rPr>
                <a:t>Visualizzazione contatori</a:t>
              </a:r>
              <a:endParaRPr lang="it-IT" b="1" i="1" dirty="0">
                <a:solidFill>
                  <a:schemeClr val="bg1"/>
                </a:solidFill>
                <a:latin typeface="Calibri"/>
                <a:ea typeface="Calibri"/>
                <a:cs typeface="Calibri"/>
              </a:endParaRPr>
            </a:p>
          </p:txBody>
        </p:sp>
      </p:grpSp>
      <p:sp>
        <p:nvSpPr>
          <p:cNvPr id="53" name="Rettangolo 52">
            <a:extLst>
              <a:ext uri="{FF2B5EF4-FFF2-40B4-BE49-F238E27FC236}">
                <a16:creationId xmlns:a16="http://schemas.microsoft.com/office/drawing/2014/main" id="{5C0094C9-35C8-E915-9A14-613E5AEAC548}"/>
              </a:ext>
            </a:extLst>
          </p:cNvPr>
          <p:cNvSpPr/>
          <p:nvPr/>
        </p:nvSpPr>
        <p:spPr>
          <a:xfrm>
            <a:off x="7169065" y="3890661"/>
            <a:ext cx="3995688" cy="771383"/>
          </a:xfrm>
          <a:prstGeom prst="rect">
            <a:avLst/>
          </a:prstGeom>
          <a:solidFill>
            <a:schemeClr val="accent3">
              <a:lumMod val="5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58" name="Rettangolo 57">
            <a:extLst>
              <a:ext uri="{FF2B5EF4-FFF2-40B4-BE49-F238E27FC236}">
                <a16:creationId xmlns:a16="http://schemas.microsoft.com/office/drawing/2014/main" id="{3FA65483-ACA4-0075-9AC0-C16F4C9D2538}"/>
              </a:ext>
            </a:extLst>
          </p:cNvPr>
          <p:cNvSpPr/>
          <p:nvPr/>
        </p:nvSpPr>
        <p:spPr>
          <a:xfrm>
            <a:off x="8239144" y="4053953"/>
            <a:ext cx="1819218" cy="440835"/>
          </a:xfrm>
          <a:prstGeom prst="rect">
            <a:avLst/>
          </a:prstGeom>
          <a:no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b="1" i="1" dirty="0">
                <a:solidFill>
                  <a:schemeClr val="bg1"/>
                </a:solidFill>
                <a:latin typeface="Calibri"/>
              </a:rPr>
              <a:t>Dashboard </a:t>
            </a:r>
          </a:p>
          <a:p>
            <a:pPr algn="ctr" defTabSz="414772">
              <a:lnSpc>
                <a:spcPct val="125000"/>
              </a:lnSpc>
              <a:defRPr/>
            </a:pPr>
            <a:r>
              <a:rPr lang="it-IT" b="1" i="1" dirty="0">
                <a:solidFill>
                  <a:schemeClr val="bg1"/>
                </a:solidFill>
                <a:latin typeface="Calibri"/>
              </a:rPr>
              <a:t>Modifica contatori </a:t>
            </a:r>
            <a:endParaRPr lang="it-IT" b="1" i="1" dirty="0">
              <a:solidFill>
                <a:schemeClr val="bg1"/>
              </a:solidFill>
              <a:latin typeface="Calibri"/>
              <a:ea typeface="Calibri"/>
              <a:cs typeface="Calibri"/>
            </a:endParaRPr>
          </a:p>
        </p:txBody>
      </p:sp>
      <p:grpSp>
        <p:nvGrpSpPr>
          <p:cNvPr id="59" name="Gruppo 58">
            <a:extLst>
              <a:ext uri="{FF2B5EF4-FFF2-40B4-BE49-F238E27FC236}">
                <a16:creationId xmlns:a16="http://schemas.microsoft.com/office/drawing/2014/main" id="{CE79035B-E0E8-F37C-AAA5-AF404119CC4D}"/>
              </a:ext>
            </a:extLst>
          </p:cNvPr>
          <p:cNvGrpSpPr/>
          <p:nvPr/>
        </p:nvGrpSpPr>
        <p:grpSpPr>
          <a:xfrm>
            <a:off x="194861" y="2035279"/>
            <a:ext cx="2089578" cy="2632050"/>
            <a:chOff x="4005483" y="2306940"/>
            <a:chExt cx="2089578" cy="742299"/>
          </a:xfrm>
        </p:grpSpPr>
        <p:sp>
          <p:nvSpPr>
            <p:cNvPr id="60" name="Rettangolo 59">
              <a:extLst>
                <a:ext uri="{FF2B5EF4-FFF2-40B4-BE49-F238E27FC236}">
                  <a16:creationId xmlns:a16="http://schemas.microsoft.com/office/drawing/2014/main" id="{081FD406-DBFA-4663-51F3-AD8673D47BD3}"/>
                </a:ext>
              </a:extLst>
            </p:cNvPr>
            <p:cNvSpPr/>
            <p:nvPr/>
          </p:nvSpPr>
          <p:spPr>
            <a:xfrm>
              <a:off x="4005483" y="2306940"/>
              <a:ext cx="2089578" cy="742299"/>
            </a:xfrm>
            <a:prstGeom prst="rect">
              <a:avLst/>
            </a:prstGeom>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64" name="Rettangolo 63">
              <a:extLst>
                <a:ext uri="{FF2B5EF4-FFF2-40B4-BE49-F238E27FC236}">
                  <a16:creationId xmlns:a16="http://schemas.microsoft.com/office/drawing/2014/main" id="{51BED68F-5A50-90C6-6DF1-D918E5992E50}"/>
                </a:ext>
              </a:extLst>
            </p:cNvPr>
            <p:cNvSpPr/>
            <p:nvPr/>
          </p:nvSpPr>
          <p:spPr>
            <a:xfrm>
              <a:off x="4100273" y="2504212"/>
              <a:ext cx="1819218" cy="440835"/>
            </a:xfrm>
            <a:prstGeom prst="rect">
              <a:avLst/>
            </a:prstGeom>
            <a:noFill/>
            <a:ln w="19050">
              <a:noFill/>
              <a:prstDash val="solid"/>
            </a:ln>
          </p:spPr>
          <p:style>
            <a:lnRef idx="2">
              <a:schemeClr val="accent1">
                <a:shade val="15000"/>
              </a:schemeClr>
            </a:lnRef>
            <a:fillRef idx="1">
              <a:schemeClr val="accent1"/>
            </a:fillRef>
            <a:effectRef idx="0">
              <a:schemeClr val="accent1"/>
            </a:effectRef>
            <a:fontRef idx="minor">
              <a:schemeClr val="lt1"/>
            </a:fontRef>
          </p:style>
          <p:txBody>
            <a:bodyPr lIns="32658" tIns="0" rIns="32658" bIns="97973" rtlCol="0" anchor="ctr"/>
            <a:lstStyle/>
            <a:p>
              <a:pPr algn="ctr" defTabSz="414772">
                <a:lnSpc>
                  <a:spcPct val="125000"/>
                </a:lnSpc>
                <a:defRPr/>
              </a:pPr>
              <a:r>
                <a:rPr lang="it-IT" sz="1400" b="1" i="1" dirty="0">
                  <a:solidFill>
                    <a:schemeClr val="bg1"/>
                  </a:solidFill>
                  <a:latin typeface="Calibri"/>
                </a:rPr>
                <a:t>Rilascio funzionalità applicative</a:t>
              </a:r>
            </a:p>
          </p:txBody>
        </p:sp>
      </p:grpSp>
      <p:sp>
        <p:nvSpPr>
          <p:cNvPr id="65" name="TextBox 123">
            <a:extLst>
              <a:ext uri="{FF2B5EF4-FFF2-40B4-BE49-F238E27FC236}">
                <a16:creationId xmlns:a16="http://schemas.microsoft.com/office/drawing/2014/main" id="{C84BBC2D-D2DE-28A1-653C-191C4D38527E}"/>
              </a:ext>
            </a:extLst>
          </p:cNvPr>
          <p:cNvSpPr txBox="1"/>
          <p:nvPr/>
        </p:nvSpPr>
        <p:spPr>
          <a:xfrm>
            <a:off x="8460855" y="1342861"/>
            <a:ext cx="1324662" cy="335538"/>
          </a:xfrm>
          <a:prstGeom prst="rect">
            <a:avLst/>
          </a:prstGeom>
          <a:noFill/>
        </p:spPr>
        <p:txBody>
          <a:bodyPr wrap="square" lIns="0" tIns="0" rIns="0" bIns="0" rtlCol="0" anchor="ctr">
            <a:noAutofit/>
          </a:bodyPr>
          <a:lstStyle/>
          <a:p>
            <a:pPr algn="ctr" defTabSz="1218081">
              <a:spcBef>
                <a:spcPct val="20000"/>
              </a:spcBef>
              <a:defRPr/>
            </a:pPr>
            <a:r>
              <a:rPr lang="en-US" sz="1600" b="1" i="1" dirty="0">
                <a:highlight>
                  <a:srgbClr val="FFFFCC"/>
                </a:highlight>
                <a:latin typeface="Calibri"/>
              </a:rPr>
              <a:t>Go Live: 30/11</a:t>
            </a:r>
          </a:p>
        </p:txBody>
      </p:sp>
      <p:sp>
        <p:nvSpPr>
          <p:cNvPr id="74" name="Rettangolo 73">
            <a:extLst>
              <a:ext uri="{FF2B5EF4-FFF2-40B4-BE49-F238E27FC236}">
                <a16:creationId xmlns:a16="http://schemas.microsoft.com/office/drawing/2014/main" id="{60CB3A86-A411-E238-3FBA-A5ECCCE98A5C}"/>
              </a:ext>
            </a:extLst>
          </p:cNvPr>
          <p:cNvSpPr/>
          <p:nvPr/>
        </p:nvSpPr>
        <p:spPr>
          <a:xfrm>
            <a:off x="2523131" y="4928664"/>
            <a:ext cx="105237" cy="771383"/>
          </a:xfrm>
          <a:prstGeom prst="rect">
            <a:avLst/>
          </a:pr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75" name="Rettangolo 74">
            <a:extLst>
              <a:ext uri="{FF2B5EF4-FFF2-40B4-BE49-F238E27FC236}">
                <a16:creationId xmlns:a16="http://schemas.microsoft.com/office/drawing/2014/main" id="{EF203775-3957-8B46-7179-9CF35B2F65DE}"/>
              </a:ext>
            </a:extLst>
          </p:cNvPr>
          <p:cNvSpPr/>
          <p:nvPr/>
        </p:nvSpPr>
        <p:spPr>
          <a:xfrm>
            <a:off x="2688378" y="4928664"/>
            <a:ext cx="105237" cy="771383"/>
          </a:xfrm>
          <a:prstGeom prst="rect">
            <a:avLst/>
          </a:pr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76" name="Rettangolo 75">
            <a:extLst>
              <a:ext uri="{FF2B5EF4-FFF2-40B4-BE49-F238E27FC236}">
                <a16:creationId xmlns:a16="http://schemas.microsoft.com/office/drawing/2014/main" id="{13216472-A6A4-612C-EB88-0248CF07684C}"/>
              </a:ext>
            </a:extLst>
          </p:cNvPr>
          <p:cNvSpPr/>
          <p:nvPr/>
        </p:nvSpPr>
        <p:spPr>
          <a:xfrm>
            <a:off x="2853625" y="4928664"/>
            <a:ext cx="105237" cy="771383"/>
          </a:xfrm>
          <a:prstGeom prst="rect">
            <a:avLst/>
          </a:pr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32658" tIns="0" rIns="32658" bIns="489865" rtlCol="0" anchor="t"/>
          <a:lstStyle/>
          <a:p>
            <a:pPr algn="ctr" defTabSz="414775">
              <a:defRPr/>
            </a:pPr>
            <a:endParaRPr lang="it-IT" sz="1200" b="1">
              <a:solidFill>
                <a:srgbClr val="FFFFFF"/>
              </a:solidFill>
              <a:latin typeface="Calibri"/>
            </a:endParaRPr>
          </a:p>
        </p:txBody>
      </p:sp>
      <p:sp>
        <p:nvSpPr>
          <p:cNvPr id="4" name="CasellaDiTesto 3">
            <a:extLst>
              <a:ext uri="{FF2B5EF4-FFF2-40B4-BE49-F238E27FC236}">
                <a16:creationId xmlns:a16="http://schemas.microsoft.com/office/drawing/2014/main" id="{9BE45190-4863-CFE9-89D6-040C909896EE}"/>
              </a:ext>
            </a:extLst>
          </p:cNvPr>
          <p:cNvSpPr txBox="1"/>
          <p:nvPr/>
        </p:nvSpPr>
        <p:spPr>
          <a:xfrm>
            <a:off x="3257457" y="1661146"/>
            <a:ext cx="2549886" cy="246221"/>
          </a:xfrm>
          <a:prstGeom prst="rect">
            <a:avLst/>
          </a:prstGeom>
          <a:noFill/>
        </p:spPr>
        <p:txBody>
          <a:bodyPr wrap="square" rtlCol="0">
            <a:spAutoFit/>
          </a:bodyPr>
          <a:lstStyle/>
          <a:p>
            <a:r>
              <a:rPr lang="it-IT" sz="1000" dirty="0"/>
              <a:t>Fine sviluppi/avvio certificazione: fine maggio</a:t>
            </a:r>
          </a:p>
        </p:txBody>
      </p:sp>
      <p:cxnSp>
        <p:nvCxnSpPr>
          <p:cNvPr id="7" name="Connettore diritto 6">
            <a:extLst>
              <a:ext uri="{FF2B5EF4-FFF2-40B4-BE49-F238E27FC236}">
                <a16:creationId xmlns:a16="http://schemas.microsoft.com/office/drawing/2014/main" id="{6FB6E28E-3305-D4FF-7057-B5083E74052B}"/>
              </a:ext>
            </a:extLst>
          </p:cNvPr>
          <p:cNvCxnSpPr>
            <a:cxnSpLocks/>
          </p:cNvCxnSpPr>
          <p:nvPr/>
        </p:nvCxnSpPr>
        <p:spPr>
          <a:xfrm flipH="1">
            <a:off x="2407690" y="1146269"/>
            <a:ext cx="23988" cy="4930592"/>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Rombo 13">
            <a:extLst>
              <a:ext uri="{FF2B5EF4-FFF2-40B4-BE49-F238E27FC236}">
                <a16:creationId xmlns:a16="http://schemas.microsoft.com/office/drawing/2014/main" id="{BCFEB0B5-723F-BB0A-BEBE-7FC61E649594}"/>
              </a:ext>
            </a:extLst>
          </p:cNvPr>
          <p:cNvSpPr/>
          <p:nvPr/>
        </p:nvSpPr>
        <p:spPr>
          <a:xfrm>
            <a:off x="2216989" y="5159548"/>
            <a:ext cx="381403" cy="324000"/>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5" name="Fumetto: rettangolo 14">
            <a:extLst>
              <a:ext uri="{FF2B5EF4-FFF2-40B4-BE49-F238E27FC236}">
                <a16:creationId xmlns:a16="http://schemas.microsoft.com/office/drawing/2014/main" id="{72A4F469-7905-C427-E65D-2E3456CB5BC0}"/>
              </a:ext>
            </a:extLst>
          </p:cNvPr>
          <p:cNvSpPr/>
          <p:nvPr/>
        </p:nvSpPr>
        <p:spPr>
          <a:xfrm>
            <a:off x="1337972" y="5636047"/>
            <a:ext cx="1137847" cy="335404"/>
          </a:xfrm>
          <a:prstGeom prst="wedgeRectCallout">
            <a:avLst>
              <a:gd name="adj1" fmla="val 42928"/>
              <a:gd name="adj2" fmla="val -89700"/>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36000" tIns="0" rIns="36000" bIns="0" rtlCol="0" anchor="ctr"/>
          <a:lstStyle/>
          <a:p>
            <a:pPr algn="ctr"/>
            <a:r>
              <a:rPr lang="it-IT" sz="1050" b="1" u="sng" dirty="0">
                <a:solidFill>
                  <a:schemeClr val="tx1"/>
                </a:solidFill>
              </a:rPr>
              <a:t>KPI già disponibili</a:t>
            </a:r>
          </a:p>
        </p:txBody>
      </p:sp>
      <p:sp>
        <p:nvSpPr>
          <p:cNvPr id="17" name="Rettangolo 16">
            <a:extLst>
              <a:ext uri="{FF2B5EF4-FFF2-40B4-BE49-F238E27FC236}">
                <a16:creationId xmlns:a16="http://schemas.microsoft.com/office/drawing/2014/main" id="{49CBEDD6-CEEB-0525-2A40-8C07B17BF9B0}"/>
              </a:ext>
            </a:extLst>
          </p:cNvPr>
          <p:cNvSpPr/>
          <p:nvPr/>
        </p:nvSpPr>
        <p:spPr>
          <a:xfrm>
            <a:off x="2122553" y="6076861"/>
            <a:ext cx="568924" cy="230884"/>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1000" b="1" i="1" dirty="0"/>
              <a:t>TODAY</a:t>
            </a:r>
          </a:p>
        </p:txBody>
      </p:sp>
      <p:sp>
        <p:nvSpPr>
          <p:cNvPr id="23" name="Freccia a destra 22">
            <a:extLst>
              <a:ext uri="{FF2B5EF4-FFF2-40B4-BE49-F238E27FC236}">
                <a16:creationId xmlns:a16="http://schemas.microsoft.com/office/drawing/2014/main" id="{D985D154-DBE8-D644-BD8E-4ADCB17E5BF6}"/>
              </a:ext>
            </a:extLst>
          </p:cNvPr>
          <p:cNvSpPr/>
          <p:nvPr/>
        </p:nvSpPr>
        <p:spPr>
          <a:xfrm>
            <a:off x="2284439" y="989433"/>
            <a:ext cx="9086947" cy="29447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sp>
        <p:nvSpPr>
          <p:cNvPr id="25" name="Triangolo isoscele 24">
            <a:extLst>
              <a:ext uri="{FF2B5EF4-FFF2-40B4-BE49-F238E27FC236}">
                <a16:creationId xmlns:a16="http://schemas.microsoft.com/office/drawing/2014/main" id="{4AFF13A5-D364-84ED-F4E1-1E9C1AD7CE34}"/>
              </a:ext>
            </a:extLst>
          </p:cNvPr>
          <p:cNvSpPr/>
          <p:nvPr/>
        </p:nvSpPr>
        <p:spPr>
          <a:xfrm rot="10800000">
            <a:off x="4371456" y="989669"/>
            <a:ext cx="321889" cy="294478"/>
          </a:xfrm>
          <a:prstGeom prst="triangl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sp>
        <p:nvSpPr>
          <p:cNvPr id="26" name="Triangolo isoscele 25">
            <a:extLst>
              <a:ext uri="{FF2B5EF4-FFF2-40B4-BE49-F238E27FC236}">
                <a16:creationId xmlns:a16="http://schemas.microsoft.com/office/drawing/2014/main" id="{4432D5FD-92E7-98A1-63D6-C79B62DA2513}"/>
              </a:ext>
            </a:extLst>
          </p:cNvPr>
          <p:cNvSpPr/>
          <p:nvPr/>
        </p:nvSpPr>
        <p:spPr>
          <a:xfrm rot="10800000">
            <a:off x="8961894" y="999030"/>
            <a:ext cx="322585" cy="294478"/>
          </a:xfrm>
          <a:prstGeom prst="triangl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14775">
              <a:defRPr/>
            </a:pPr>
            <a:endParaRPr lang="it-IT" sz="1633">
              <a:solidFill>
                <a:srgbClr val="FFFFFF"/>
              </a:solidFill>
              <a:latin typeface="Calibri"/>
            </a:endParaRPr>
          </a:p>
        </p:txBody>
      </p:sp>
      <p:sp>
        <p:nvSpPr>
          <p:cNvPr id="27" name="CasellaDiTesto 26">
            <a:extLst>
              <a:ext uri="{FF2B5EF4-FFF2-40B4-BE49-F238E27FC236}">
                <a16:creationId xmlns:a16="http://schemas.microsoft.com/office/drawing/2014/main" id="{26535ECE-D2ED-C1CB-08D7-90A1EBE9A11E}"/>
              </a:ext>
            </a:extLst>
          </p:cNvPr>
          <p:cNvSpPr txBox="1"/>
          <p:nvPr/>
        </p:nvSpPr>
        <p:spPr>
          <a:xfrm>
            <a:off x="7978700" y="1664177"/>
            <a:ext cx="2288973" cy="246221"/>
          </a:xfrm>
          <a:prstGeom prst="rect">
            <a:avLst/>
          </a:prstGeom>
          <a:noFill/>
        </p:spPr>
        <p:txBody>
          <a:bodyPr wrap="square" rtlCol="0">
            <a:spAutoFit/>
          </a:bodyPr>
          <a:lstStyle/>
          <a:p>
            <a:r>
              <a:rPr lang="it-IT" sz="1000" dirty="0"/>
              <a:t>Fine sviluppi/avvio certificazione: TBD</a:t>
            </a:r>
          </a:p>
        </p:txBody>
      </p:sp>
    </p:spTree>
    <p:extLst>
      <p:ext uri="{BB962C8B-B14F-4D97-AF65-F5344CB8AC3E}">
        <p14:creationId xmlns:p14="http://schemas.microsoft.com/office/powerpoint/2010/main" val="2649258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D51FD1-B137-46BA-ADD4-508F484F4FF8}"/>
              </a:ext>
            </a:extLst>
          </p:cNvPr>
          <p:cNvSpPr>
            <a:spLocks noGrp="1"/>
          </p:cNvSpPr>
          <p:nvPr>
            <p:ph type="title"/>
          </p:nvPr>
        </p:nvSpPr>
        <p:spPr>
          <a:xfrm>
            <a:off x="2616199" y="2741247"/>
            <a:ext cx="9218851" cy="566222"/>
          </a:xfrm>
        </p:spPr>
        <p:txBody>
          <a:bodyPr/>
          <a:lstStyle/>
          <a:p>
            <a:pPr algn="r"/>
            <a:r>
              <a:rPr lang="it-IT" sz="3200" dirty="0">
                <a:latin typeface="+mn-lt"/>
              </a:rPr>
              <a:t>Backup</a:t>
            </a:r>
          </a:p>
        </p:txBody>
      </p:sp>
    </p:spTree>
    <p:extLst>
      <p:ext uri="{BB962C8B-B14F-4D97-AF65-F5344CB8AC3E}">
        <p14:creationId xmlns:p14="http://schemas.microsoft.com/office/powerpoint/2010/main" val="3177772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FCC17-9A72-37B2-32B9-1F68A9E94078}"/>
            </a:ext>
          </a:extLst>
        </p:cNvPr>
        <p:cNvGrpSpPr/>
        <p:nvPr/>
      </p:nvGrpSpPr>
      <p:grpSpPr>
        <a:xfrm>
          <a:off x="0" y="0"/>
          <a:ext cx="0" cy="0"/>
          <a:chOff x="0" y="0"/>
          <a:chExt cx="0" cy="0"/>
        </a:xfrm>
      </p:grpSpPr>
      <p:sp>
        <p:nvSpPr>
          <p:cNvPr id="37" name="Rettangolo 36">
            <a:extLst>
              <a:ext uri="{FF2B5EF4-FFF2-40B4-BE49-F238E27FC236}">
                <a16:creationId xmlns:a16="http://schemas.microsoft.com/office/drawing/2014/main" id="{39764DF9-08E6-4269-B74B-10805C28740D}"/>
              </a:ext>
            </a:extLst>
          </p:cNvPr>
          <p:cNvSpPr/>
          <p:nvPr/>
        </p:nvSpPr>
        <p:spPr>
          <a:xfrm>
            <a:off x="396760" y="1417864"/>
            <a:ext cx="1694335" cy="1198880"/>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sp>
        <p:nvSpPr>
          <p:cNvPr id="2" name="Titolo 1">
            <a:extLst>
              <a:ext uri="{FF2B5EF4-FFF2-40B4-BE49-F238E27FC236}">
                <a16:creationId xmlns:a16="http://schemas.microsoft.com/office/drawing/2014/main" id="{12E64362-0F68-E311-3578-19CD641E036B}"/>
              </a:ext>
            </a:extLst>
          </p:cNvPr>
          <p:cNvSpPr>
            <a:spLocks noGrp="1"/>
          </p:cNvSpPr>
          <p:nvPr>
            <p:ph type="title"/>
          </p:nvPr>
        </p:nvSpPr>
        <p:spPr/>
        <p:txBody>
          <a:bodyPr lIns="91440" tIns="45720" rIns="91440" bIns="45720" anchor="ctr">
            <a:noAutofit/>
          </a:bodyPr>
          <a:lstStyle/>
          <a:p>
            <a:r>
              <a:rPr lang="it-IT" sz="1850">
                <a:ea typeface="Calibri"/>
                <a:cs typeface="Calibri"/>
              </a:rPr>
              <a:t>Architettura della soluzione</a:t>
            </a:r>
            <a:endParaRPr lang="it-IT"/>
          </a:p>
        </p:txBody>
      </p:sp>
      <p:sp>
        <p:nvSpPr>
          <p:cNvPr id="5" name="Segnaposto numero diapositiva 4">
            <a:extLst>
              <a:ext uri="{FF2B5EF4-FFF2-40B4-BE49-F238E27FC236}">
                <a16:creationId xmlns:a16="http://schemas.microsoft.com/office/drawing/2014/main" id="{462255F4-4661-1A3F-2B9D-452FB4CBAC0C}"/>
              </a:ext>
            </a:extLst>
          </p:cNvPr>
          <p:cNvSpPr>
            <a:spLocks noGrp="1"/>
          </p:cNvSpPr>
          <p:nvPr>
            <p:ph type="sldNum" sz="quarter" idx="12"/>
          </p:nvPr>
        </p:nvSpPr>
        <p:spPr/>
        <p:txBody>
          <a:bodyPr/>
          <a:lstStyle/>
          <a:p>
            <a:fld id="{7998DEE5-5424-45CB-8336-3215AFBD0173}" type="slidenum">
              <a:rPr lang="it-IT" smtClean="0"/>
              <a:pPr/>
              <a:t>18</a:t>
            </a:fld>
            <a:endParaRPr lang="it-IT"/>
          </a:p>
        </p:txBody>
      </p:sp>
      <p:sp>
        <p:nvSpPr>
          <p:cNvPr id="7" name="Rettangolo 6">
            <a:extLst>
              <a:ext uri="{FF2B5EF4-FFF2-40B4-BE49-F238E27FC236}">
                <a16:creationId xmlns:a16="http://schemas.microsoft.com/office/drawing/2014/main" id="{2F17AE1B-D050-421E-93F9-122DF2D2C402}"/>
              </a:ext>
            </a:extLst>
          </p:cNvPr>
          <p:cNvSpPr/>
          <p:nvPr/>
        </p:nvSpPr>
        <p:spPr>
          <a:xfrm>
            <a:off x="392739" y="2623029"/>
            <a:ext cx="1694335" cy="2604238"/>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sp>
        <p:nvSpPr>
          <p:cNvPr id="22" name="Rettangolo 21">
            <a:extLst>
              <a:ext uri="{FF2B5EF4-FFF2-40B4-BE49-F238E27FC236}">
                <a16:creationId xmlns:a16="http://schemas.microsoft.com/office/drawing/2014/main" id="{138B3D8A-C15B-4AB6-8958-9854F9D48FC0}"/>
              </a:ext>
            </a:extLst>
          </p:cNvPr>
          <p:cNvSpPr/>
          <p:nvPr/>
        </p:nvSpPr>
        <p:spPr>
          <a:xfrm>
            <a:off x="695312" y="4424931"/>
            <a:ext cx="1081088" cy="582613"/>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200" b="0" i="1" u="none" strike="noStrike" kern="1200" cap="none" spc="0" normalizeH="0" baseline="0" noProof="0">
                <a:ln>
                  <a:noFill/>
                </a:ln>
                <a:solidFill>
                  <a:srgbClr val="0F3250"/>
                </a:solidFill>
                <a:effectLst/>
                <a:uLnTx/>
                <a:uFillTx/>
                <a:latin typeface="Calibri"/>
                <a:ea typeface="+mn-ea"/>
                <a:cs typeface="+mn-cs"/>
              </a:rPr>
              <a:t>Eventuali altri </a:t>
            </a:r>
            <a:r>
              <a:rPr kumimoji="0" lang="it-IT" sz="1200" b="0" i="1" u="none" strike="noStrike" kern="1200" cap="none" spc="0" normalizeH="0" baseline="0" noProof="0" err="1">
                <a:ln>
                  <a:noFill/>
                </a:ln>
                <a:solidFill>
                  <a:srgbClr val="0F3250"/>
                </a:solidFill>
                <a:effectLst/>
                <a:uLnTx/>
                <a:uFillTx/>
                <a:latin typeface="Calibri"/>
                <a:ea typeface="+mn-ea"/>
                <a:cs typeface="+mn-cs"/>
              </a:rPr>
              <a:t>preventivatori</a:t>
            </a:r>
            <a:r>
              <a:rPr kumimoji="0" lang="it-IT" sz="1200" b="0" i="1" u="none" strike="noStrike" kern="1200" cap="none" spc="0" normalizeH="0" baseline="0" noProof="0">
                <a:ln>
                  <a:noFill/>
                </a:ln>
                <a:solidFill>
                  <a:srgbClr val="0F3250"/>
                </a:solidFill>
                <a:effectLst/>
                <a:uLnTx/>
                <a:uFillTx/>
                <a:latin typeface="Calibri"/>
                <a:ea typeface="+mn-ea"/>
                <a:cs typeface="+mn-cs"/>
              </a:rPr>
              <a:t> online (TBD)</a:t>
            </a:r>
          </a:p>
        </p:txBody>
      </p:sp>
      <p:grpSp>
        <p:nvGrpSpPr>
          <p:cNvPr id="23" name="Gruppo 22">
            <a:extLst>
              <a:ext uri="{FF2B5EF4-FFF2-40B4-BE49-F238E27FC236}">
                <a16:creationId xmlns:a16="http://schemas.microsoft.com/office/drawing/2014/main" id="{671C926F-2CF4-46F5-A054-E934C5FF8C03}"/>
              </a:ext>
            </a:extLst>
          </p:cNvPr>
          <p:cNvGrpSpPr/>
          <p:nvPr/>
        </p:nvGrpSpPr>
        <p:grpSpPr>
          <a:xfrm>
            <a:off x="695126" y="3671216"/>
            <a:ext cx="1081274" cy="582109"/>
            <a:chOff x="545340" y="5838233"/>
            <a:chExt cx="1081274" cy="582109"/>
          </a:xfrm>
        </p:grpSpPr>
        <p:sp>
          <p:nvSpPr>
            <p:cNvPr id="24" name="Rettangolo 23">
              <a:extLst>
                <a:ext uri="{FF2B5EF4-FFF2-40B4-BE49-F238E27FC236}">
                  <a16:creationId xmlns:a16="http://schemas.microsoft.com/office/drawing/2014/main" id="{04FEDA5B-A495-4396-BA5F-DBA0E28B9A07}"/>
                </a:ext>
              </a:extLst>
            </p:cNvPr>
            <p:cNvSpPr/>
            <p:nvPr/>
          </p:nvSpPr>
          <p:spPr>
            <a:xfrm>
              <a:off x="545340" y="5838233"/>
              <a:ext cx="1081274" cy="582109"/>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it-IT" sz="1400" b="1" i="0" u="none" strike="noStrike" kern="1200" cap="none" spc="0" normalizeH="0" baseline="0" noProof="0">
                <a:ln>
                  <a:noFill/>
                </a:ln>
                <a:solidFill>
                  <a:srgbClr val="0F3250"/>
                </a:solidFill>
                <a:effectLst/>
                <a:uLnTx/>
                <a:uFillTx/>
                <a:latin typeface="Calibri"/>
                <a:ea typeface="+mn-ea"/>
                <a:cs typeface="+mn-cs"/>
              </a:endParaRPr>
            </a:p>
          </p:txBody>
        </p:sp>
        <p:pic>
          <p:nvPicPr>
            <p:cNvPr id="25" name="Picture 2" descr="logo-unisalute - Pluriass Scuola">
              <a:extLst>
                <a:ext uri="{FF2B5EF4-FFF2-40B4-BE49-F238E27FC236}">
                  <a16:creationId xmlns:a16="http://schemas.microsoft.com/office/drawing/2014/main" id="{F812A7BE-D8D9-4099-AEC1-026C11C97F8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7015" t="21122" r="11654" b="21168"/>
            <a:stretch>
              <a:fillRect/>
            </a:stretch>
          </p:blipFill>
          <p:spPr bwMode="auto">
            <a:xfrm>
              <a:off x="646593" y="5900057"/>
              <a:ext cx="878770" cy="466797"/>
            </a:xfrm>
            <a:prstGeom prst="rect">
              <a:avLst/>
            </a:prstGeom>
            <a:noFill/>
            <a:extLst>
              <a:ext uri="{909E8E84-426E-40DD-AFC4-6F175D3DCCD1}">
                <a14:hiddenFill xmlns:a14="http://schemas.microsoft.com/office/drawing/2010/main">
                  <a:solidFill>
                    <a:srgbClr val="FFFFFF"/>
                  </a:solidFill>
                </a14:hiddenFill>
              </a:ext>
            </a:extLst>
          </p:spPr>
        </p:pic>
      </p:grpSp>
      <p:pic>
        <p:nvPicPr>
          <p:cNvPr id="2050" name="Picture 2" descr="UNIPOL UNICA Presentazione prodotto">
            <a:extLst>
              <a:ext uri="{FF2B5EF4-FFF2-40B4-BE49-F238E27FC236}">
                <a16:creationId xmlns:a16="http://schemas.microsoft.com/office/drawing/2014/main" id="{464F4062-E538-4C98-A09F-D7CA61271F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4455" y="2796331"/>
            <a:ext cx="1082989" cy="72726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0" name="Text 2">
            <a:extLst>
              <a:ext uri="{FF2B5EF4-FFF2-40B4-BE49-F238E27FC236}">
                <a16:creationId xmlns:a16="http://schemas.microsoft.com/office/drawing/2014/main" id="{F677FEE5-B660-4095-95A4-E41D400BD77B}"/>
              </a:ext>
            </a:extLst>
          </p:cNvPr>
          <p:cNvSpPr/>
          <p:nvPr/>
        </p:nvSpPr>
        <p:spPr>
          <a:xfrm>
            <a:off x="447099" y="1505354"/>
            <a:ext cx="1597700" cy="246897"/>
          </a:xfrm>
          <a:prstGeom prst="rect">
            <a:avLst/>
          </a:prstGeom>
          <a:noFill/>
          <a:ln/>
        </p:spPr>
        <p:txBody>
          <a:bodyPr wrap="none" lIns="0" tIns="0" rIns="0" bIns="0" rtlCol="0" anchor="t"/>
          <a:lstStyle/>
          <a:p>
            <a:pPr marL="0" indent="0" algn="ctr">
              <a:lnSpc>
                <a:spcPts val="1900"/>
              </a:lnSpc>
              <a:buNone/>
            </a:pPr>
            <a:r>
              <a:rPr lang="en-US" sz="1550" b="1">
                <a:solidFill>
                  <a:schemeClr val="bg1"/>
                </a:solidFill>
                <a:ea typeface="Nunito Sans Bold" pitchFamily="34" charset="-122"/>
                <a:cs typeface="Nunito Sans Bold" pitchFamily="34" charset="-120"/>
              </a:rPr>
              <a:t>Canali </a:t>
            </a:r>
            <a:r>
              <a:rPr lang="en-US" sz="1550" b="1" err="1">
                <a:solidFill>
                  <a:schemeClr val="bg1"/>
                </a:solidFill>
                <a:ea typeface="Nunito Sans Bold" pitchFamily="34" charset="-122"/>
                <a:cs typeface="Nunito Sans Bold" pitchFamily="34" charset="-120"/>
              </a:rPr>
              <a:t>digitali</a:t>
            </a:r>
            <a:endParaRPr lang="en-US" sz="1550">
              <a:solidFill>
                <a:schemeClr val="bg1"/>
              </a:solidFill>
            </a:endParaRPr>
          </a:p>
        </p:txBody>
      </p:sp>
      <p:sp>
        <p:nvSpPr>
          <p:cNvPr id="31" name="Rettangolo 30">
            <a:extLst>
              <a:ext uri="{FF2B5EF4-FFF2-40B4-BE49-F238E27FC236}">
                <a16:creationId xmlns:a16="http://schemas.microsoft.com/office/drawing/2014/main" id="{C32C27EC-14A8-400C-8114-0E38E349A687}"/>
              </a:ext>
            </a:extLst>
          </p:cNvPr>
          <p:cNvSpPr/>
          <p:nvPr/>
        </p:nvSpPr>
        <p:spPr>
          <a:xfrm>
            <a:off x="4304026" y="1255396"/>
            <a:ext cx="1928511" cy="2604237"/>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pic>
        <p:nvPicPr>
          <p:cNvPr id="2052" name="Picture 4" descr="Pega Media Resource Library | Pega">
            <a:extLst>
              <a:ext uri="{FF2B5EF4-FFF2-40B4-BE49-F238E27FC236}">
                <a16:creationId xmlns:a16="http://schemas.microsoft.com/office/drawing/2014/main" id="{9ADD1E5A-241F-4E9D-832F-5B23870FF7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253" y="3632151"/>
            <a:ext cx="827828" cy="456473"/>
          </a:xfrm>
          <a:prstGeom prst="ellipse">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5" name="Rettangolo 34">
            <a:extLst>
              <a:ext uri="{FF2B5EF4-FFF2-40B4-BE49-F238E27FC236}">
                <a16:creationId xmlns:a16="http://schemas.microsoft.com/office/drawing/2014/main" id="{14F38F77-FCEE-49B7-A825-371CF1181B9F}"/>
              </a:ext>
            </a:extLst>
          </p:cNvPr>
          <p:cNvSpPr/>
          <p:nvPr/>
        </p:nvSpPr>
        <p:spPr>
          <a:xfrm>
            <a:off x="4750131" y="2207797"/>
            <a:ext cx="1081088" cy="582613"/>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200" b="1" u="none" strike="noStrike" kern="1200" cap="none" spc="0" normalizeH="0" baseline="0" noProof="0">
                <a:ln>
                  <a:noFill/>
                </a:ln>
                <a:solidFill>
                  <a:srgbClr val="0F3250"/>
                </a:solidFill>
                <a:effectLst/>
                <a:uLnTx/>
                <a:uFillTx/>
                <a:latin typeface="Calibri"/>
                <a:ea typeface="+mn-ea"/>
                <a:cs typeface="+mn-cs"/>
              </a:rPr>
              <a:t>Algoritmo assegnazione agenzie</a:t>
            </a:r>
          </a:p>
        </p:txBody>
      </p:sp>
      <p:sp>
        <p:nvSpPr>
          <p:cNvPr id="38" name="Text 2">
            <a:extLst>
              <a:ext uri="{FF2B5EF4-FFF2-40B4-BE49-F238E27FC236}">
                <a16:creationId xmlns:a16="http://schemas.microsoft.com/office/drawing/2014/main" id="{AA58FF88-F92D-4687-91BB-5878C035A31A}"/>
              </a:ext>
            </a:extLst>
          </p:cNvPr>
          <p:cNvSpPr/>
          <p:nvPr/>
        </p:nvSpPr>
        <p:spPr>
          <a:xfrm>
            <a:off x="4199429" y="1339581"/>
            <a:ext cx="2137704" cy="299813"/>
          </a:xfrm>
          <a:prstGeom prst="rect">
            <a:avLst/>
          </a:prstGeom>
          <a:noFill/>
          <a:ln/>
        </p:spPr>
        <p:txBody>
          <a:bodyPr wrap="none" lIns="0" tIns="0" rIns="0" bIns="0" rtlCol="0" anchor="t"/>
          <a:lstStyle/>
          <a:p>
            <a:pPr algn="ctr">
              <a:lnSpc>
                <a:spcPts val="1900"/>
              </a:lnSpc>
            </a:pPr>
            <a:r>
              <a:rPr lang="en-US" sz="1550" b="1">
                <a:solidFill>
                  <a:schemeClr val="bg1"/>
                </a:solidFill>
                <a:ea typeface="Nunito Sans Bold" pitchFamily="34" charset="-122"/>
                <a:cs typeface="Nunito Sans Bold" pitchFamily="34" charset="-120"/>
              </a:rPr>
              <a:t>Lead Management</a:t>
            </a:r>
            <a:endParaRPr lang="en-US" sz="1550">
              <a:solidFill>
                <a:schemeClr val="bg1"/>
              </a:solidFill>
              <a:ea typeface="Calibri"/>
              <a:cs typeface="Calibri"/>
            </a:endParaRPr>
          </a:p>
          <a:p>
            <a:pPr algn="ctr">
              <a:lnSpc>
                <a:spcPts val="1900"/>
              </a:lnSpc>
            </a:pPr>
            <a:r>
              <a:rPr lang="en-US" sz="1200" b="1">
                <a:solidFill>
                  <a:schemeClr val="bg1"/>
                </a:solidFill>
                <a:ea typeface="Nunito Sans Bold" pitchFamily="34" charset="-122"/>
                <a:cs typeface="Nunito Sans Bold" pitchFamily="34" charset="-120"/>
              </a:rPr>
              <a:t>(</a:t>
            </a:r>
            <a:r>
              <a:rPr lang="en-US" sz="1200" b="1" err="1">
                <a:solidFill>
                  <a:schemeClr val="bg1"/>
                </a:solidFill>
                <a:ea typeface="Nunito Sans Bold" pitchFamily="34" charset="-122"/>
                <a:cs typeface="Nunito Sans Bold" pitchFamily="34" charset="-120"/>
              </a:rPr>
              <a:t>motore</a:t>
            </a:r>
            <a:r>
              <a:rPr lang="en-US" sz="1200" b="1">
                <a:solidFill>
                  <a:schemeClr val="bg1"/>
                </a:solidFill>
                <a:ea typeface="Nunito Sans Bold" pitchFamily="34" charset="-122"/>
                <a:cs typeface="Nunito Sans Bold" pitchFamily="34" charset="-120"/>
              </a:rPr>
              <a:t> </a:t>
            </a:r>
            <a:r>
              <a:rPr lang="en-US" sz="1200" b="1" err="1">
                <a:solidFill>
                  <a:schemeClr val="bg1"/>
                </a:solidFill>
                <a:ea typeface="Nunito Sans Bold" pitchFamily="34" charset="-122"/>
                <a:cs typeface="Nunito Sans Bold" pitchFamily="34" charset="-120"/>
              </a:rPr>
              <a:t>unico</a:t>
            </a:r>
            <a:r>
              <a:rPr lang="en-US" sz="1200" b="1">
                <a:solidFill>
                  <a:schemeClr val="bg1"/>
                </a:solidFill>
                <a:ea typeface="Nunito Sans Bold" pitchFamily="34" charset="-122"/>
                <a:cs typeface="Nunito Sans Bold" pitchFamily="34" charset="-120"/>
              </a:rPr>
              <a:t> cross </a:t>
            </a:r>
            <a:r>
              <a:rPr lang="en-US" sz="1200" b="1" err="1">
                <a:solidFill>
                  <a:schemeClr val="bg1"/>
                </a:solidFill>
                <a:ea typeface="Nunito Sans Bold" pitchFamily="34" charset="-122"/>
                <a:cs typeface="Nunito Sans Bold" pitchFamily="34" charset="-120"/>
              </a:rPr>
              <a:t>canale</a:t>
            </a:r>
            <a:r>
              <a:rPr lang="en-US" sz="1200" b="1">
                <a:solidFill>
                  <a:schemeClr val="bg1"/>
                </a:solidFill>
                <a:ea typeface="Nunito Sans Bold" pitchFamily="34" charset="-122"/>
                <a:cs typeface="Nunito Sans Bold" pitchFamily="34" charset="-120"/>
              </a:rPr>
              <a:t>/</a:t>
            </a:r>
          </a:p>
          <a:p>
            <a:pPr algn="ctr">
              <a:lnSpc>
                <a:spcPts val="1900"/>
              </a:lnSpc>
            </a:pPr>
            <a:r>
              <a:rPr lang="en-US" sz="1200" b="1">
                <a:solidFill>
                  <a:schemeClr val="bg1"/>
                </a:solidFill>
                <a:ea typeface="Nunito Sans Bold" pitchFamily="34" charset="-122"/>
                <a:cs typeface="Nunito Sans Bold" pitchFamily="34" charset="-120"/>
              </a:rPr>
              <a:t>cross </a:t>
            </a:r>
            <a:r>
              <a:rPr lang="en-US" sz="1200" b="1" err="1">
                <a:solidFill>
                  <a:schemeClr val="bg1"/>
                </a:solidFill>
                <a:ea typeface="Nunito Sans Bold" pitchFamily="34" charset="-122"/>
                <a:cs typeface="Nunito Sans Bold" pitchFamily="34" charset="-120"/>
              </a:rPr>
              <a:t>compagnia</a:t>
            </a:r>
            <a:r>
              <a:rPr lang="en-US" sz="1200" b="1">
                <a:solidFill>
                  <a:schemeClr val="bg1"/>
                </a:solidFill>
                <a:ea typeface="Nunito Sans Bold" pitchFamily="34" charset="-122"/>
                <a:cs typeface="Nunito Sans Bold" pitchFamily="34" charset="-120"/>
              </a:rPr>
              <a:t>)</a:t>
            </a:r>
            <a:endParaRPr lang="en-US" sz="1200">
              <a:solidFill>
                <a:schemeClr val="bg1"/>
              </a:solidFill>
              <a:ea typeface="Calibri"/>
              <a:cs typeface="Calibri"/>
            </a:endParaRPr>
          </a:p>
        </p:txBody>
      </p:sp>
      <p:sp>
        <p:nvSpPr>
          <p:cNvPr id="40" name="Rettangolo 39">
            <a:extLst>
              <a:ext uri="{FF2B5EF4-FFF2-40B4-BE49-F238E27FC236}">
                <a16:creationId xmlns:a16="http://schemas.microsoft.com/office/drawing/2014/main" id="{C45002C9-B589-4529-B241-06A98A0C17BC}"/>
              </a:ext>
            </a:extLst>
          </p:cNvPr>
          <p:cNvSpPr/>
          <p:nvPr/>
        </p:nvSpPr>
        <p:spPr>
          <a:xfrm>
            <a:off x="4304026" y="4806933"/>
            <a:ext cx="1694335" cy="1216737"/>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sp>
        <p:nvSpPr>
          <p:cNvPr id="41" name="Rettangolo 40">
            <a:extLst>
              <a:ext uri="{FF2B5EF4-FFF2-40B4-BE49-F238E27FC236}">
                <a16:creationId xmlns:a16="http://schemas.microsoft.com/office/drawing/2014/main" id="{100E2662-C638-4C66-97FC-EEF6AC70ECCE}"/>
              </a:ext>
            </a:extLst>
          </p:cNvPr>
          <p:cNvSpPr/>
          <p:nvPr/>
        </p:nvSpPr>
        <p:spPr>
          <a:xfrm>
            <a:off x="4610649" y="5206650"/>
            <a:ext cx="1081088" cy="5826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defRPr/>
            </a:pPr>
            <a:r>
              <a:rPr kumimoji="0" lang="it-IT" sz="1200" b="1" u="none" strike="noStrike" kern="1200" cap="none" spc="0" normalizeH="0" baseline="0" noProof="0">
                <a:ln>
                  <a:noFill/>
                </a:ln>
                <a:solidFill>
                  <a:srgbClr val="0F3250"/>
                </a:solidFill>
                <a:effectLst/>
                <a:uLnTx/>
                <a:uFillTx/>
                <a:latin typeface="Calibri"/>
                <a:ea typeface="+mn-ea"/>
                <a:cs typeface="+mn-cs"/>
              </a:rPr>
              <a:t>Preventivi</a:t>
            </a:r>
            <a:r>
              <a:rPr lang="it-IT" sz="1200" b="1">
                <a:solidFill>
                  <a:srgbClr val="0F3250"/>
                </a:solidFill>
                <a:latin typeface="Calibri"/>
              </a:rPr>
              <a:t>/</a:t>
            </a:r>
            <a:endParaRPr lang="it-IT"/>
          </a:p>
          <a:p>
            <a:pPr marL="0" marR="0" lvl="0" indent="0" algn="ctr" defTabSz="457200">
              <a:lnSpc>
                <a:spcPct val="100000"/>
              </a:lnSpc>
              <a:spcBef>
                <a:spcPts val="0"/>
              </a:spcBef>
              <a:spcAft>
                <a:spcPts val="0"/>
              </a:spcAft>
              <a:buClrTx/>
              <a:buSzTx/>
              <a:buFontTx/>
              <a:buNone/>
              <a:tabLst/>
              <a:defRPr/>
            </a:pPr>
            <a:r>
              <a:rPr lang="it-IT" sz="1200" b="1">
                <a:solidFill>
                  <a:srgbClr val="0F3250"/>
                </a:solidFill>
                <a:latin typeface="Calibri"/>
                <a:ea typeface="Calibri"/>
                <a:cs typeface="Calibri"/>
              </a:rPr>
              <a:t>Quotazioni</a:t>
            </a:r>
            <a:endParaRPr lang="it-IT" sz="1200" b="1" u="none" strike="noStrike" kern="1200" cap="none" spc="0" normalizeH="0" baseline="0" noProof="0">
              <a:ln>
                <a:noFill/>
              </a:ln>
              <a:solidFill>
                <a:srgbClr val="0F3250"/>
              </a:solidFill>
              <a:effectLst/>
              <a:uLnTx/>
              <a:uFillTx/>
              <a:latin typeface="Calibri"/>
              <a:ea typeface="Calibri"/>
              <a:cs typeface="Calibri"/>
            </a:endParaRPr>
          </a:p>
        </p:txBody>
      </p:sp>
      <p:sp>
        <p:nvSpPr>
          <p:cNvPr id="42" name="Text 2">
            <a:extLst>
              <a:ext uri="{FF2B5EF4-FFF2-40B4-BE49-F238E27FC236}">
                <a16:creationId xmlns:a16="http://schemas.microsoft.com/office/drawing/2014/main" id="{F7A03D99-972A-422F-8EE8-8D7494732982}"/>
              </a:ext>
            </a:extLst>
          </p:cNvPr>
          <p:cNvSpPr/>
          <p:nvPr/>
        </p:nvSpPr>
        <p:spPr>
          <a:xfrm>
            <a:off x="4364835" y="4842061"/>
            <a:ext cx="1597700" cy="246897"/>
          </a:xfrm>
          <a:prstGeom prst="rect">
            <a:avLst/>
          </a:prstGeom>
          <a:noFill/>
          <a:ln/>
        </p:spPr>
        <p:txBody>
          <a:bodyPr wrap="none" lIns="0" tIns="0" rIns="0" bIns="0" rtlCol="0" anchor="t"/>
          <a:lstStyle/>
          <a:p>
            <a:pPr marL="0" indent="0" algn="ctr">
              <a:lnSpc>
                <a:spcPts val="1900"/>
              </a:lnSpc>
              <a:buNone/>
            </a:pPr>
            <a:r>
              <a:rPr lang="en-US" sz="1550" b="1" err="1">
                <a:solidFill>
                  <a:schemeClr val="bg1"/>
                </a:solidFill>
                <a:ea typeface="Nunito Sans Bold" pitchFamily="34" charset="-122"/>
                <a:cs typeface="Nunito Sans Bold" pitchFamily="34" charset="-120"/>
              </a:rPr>
              <a:t>Portafogli</a:t>
            </a:r>
            <a:endParaRPr lang="en-US" sz="1550">
              <a:solidFill>
                <a:schemeClr val="bg1"/>
              </a:solidFill>
            </a:endParaRPr>
          </a:p>
        </p:txBody>
      </p:sp>
      <p:sp>
        <p:nvSpPr>
          <p:cNvPr id="43" name="Rettangolo 42">
            <a:extLst>
              <a:ext uri="{FF2B5EF4-FFF2-40B4-BE49-F238E27FC236}">
                <a16:creationId xmlns:a16="http://schemas.microsoft.com/office/drawing/2014/main" id="{842C9983-F334-4DDE-B3BE-AE5016B1F72C}"/>
              </a:ext>
            </a:extLst>
          </p:cNvPr>
          <p:cNvSpPr/>
          <p:nvPr/>
        </p:nvSpPr>
        <p:spPr>
          <a:xfrm>
            <a:off x="7326808" y="1832156"/>
            <a:ext cx="3126417" cy="1440371"/>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sp>
        <p:nvSpPr>
          <p:cNvPr id="45" name="Rettangolo 44">
            <a:extLst>
              <a:ext uri="{FF2B5EF4-FFF2-40B4-BE49-F238E27FC236}">
                <a16:creationId xmlns:a16="http://schemas.microsoft.com/office/drawing/2014/main" id="{A0B02472-31A2-42B0-9A81-9A54F152379F}"/>
              </a:ext>
            </a:extLst>
          </p:cNvPr>
          <p:cNvSpPr/>
          <p:nvPr/>
        </p:nvSpPr>
        <p:spPr>
          <a:xfrm>
            <a:off x="7634266" y="2287192"/>
            <a:ext cx="1081088" cy="5826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200" b="1" u="none" strike="noStrike" kern="1200" cap="none" spc="0" normalizeH="0" baseline="0" noProof="0">
                <a:ln>
                  <a:noFill/>
                </a:ln>
                <a:solidFill>
                  <a:srgbClr val="0F3250"/>
                </a:solidFill>
                <a:effectLst/>
                <a:uLnTx/>
                <a:uFillTx/>
                <a:latin typeface="Calibri"/>
                <a:ea typeface="+mn-ea"/>
                <a:cs typeface="+mn-cs"/>
              </a:rPr>
              <a:t>Trattative</a:t>
            </a:r>
          </a:p>
        </p:txBody>
      </p:sp>
      <p:pic>
        <p:nvPicPr>
          <p:cNvPr id="2054" name="Picture 6" descr="Company Logos Archives - Salesforce">
            <a:extLst>
              <a:ext uri="{FF2B5EF4-FFF2-40B4-BE49-F238E27FC236}">
                <a16:creationId xmlns:a16="http://schemas.microsoft.com/office/drawing/2014/main" id="{EB4ED840-DA9D-45F5-A9BB-89A9AA8939B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106" t="11045" r="11317" b="8839"/>
          <a:stretch/>
        </p:blipFill>
        <p:spPr bwMode="auto">
          <a:xfrm>
            <a:off x="8496404" y="3033890"/>
            <a:ext cx="775745" cy="477274"/>
          </a:xfrm>
          <a:prstGeom prst="ellipse">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0" name="Text 2">
            <a:extLst>
              <a:ext uri="{FF2B5EF4-FFF2-40B4-BE49-F238E27FC236}">
                <a16:creationId xmlns:a16="http://schemas.microsoft.com/office/drawing/2014/main" id="{66C40427-C4E7-42CB-AD9F-955FAEECD601}"/>
              </a:ext>
            </a:extLst>
          </p:cNvPr>
          <p:cNvSpPr/>
          <p:nvPr/>
        </p:nvSpPr>
        <p:spPr>
          <a:xfrm>
            <a:off x="8091166" y="1884470"/>
            <a:ext cx="1597700" cy="246897"/>
          </a:xfrm>
          <a:prstGeom prst="rect">
            <a:avLst/>
          </a:prstGeom>
          <a:noFill/>
          <a:ln/>
        </p:spPr>
        <p:txBody>
          <a:bodyPr wrap="none" lIns="0" tIns="0" rIns="0" bIns="0" rtlCol="0" anchor="t"/>
          <a:lstStyle/>
          <a:p>
            <a:pPr marL="0" indent="0" algn="ctr">
              <a:lnSpc>
                <a:spcPts val="1900"/>
              </a:lnSpc>
              <a:buNone/>
            </a:pPr>
            <a:r>
              <a:rPr lang="en-US" sz="1550" b="1">
                <a:solidFill>
                  <a:schemeClr val="bg1"/>
                </a:solidFill>
                <a:ea typeface="Nunito Sans Bold" pitchFamily="34" charset="-122"/>
                <a:cs typeface="Nunito Sans Bold" pitchFamily="34" charset="-120"/>
              </a:rPr>
              <a:t>CRM </a:t>
            </a:r>
            <a:r>
              <a:rPr lang="en-US" sz="1550" b="1" err="1">
                <a:solidFill>
                  <a:schemeClr val="bg1"/>
                </a:solidFill>
                <a:ea typeface="Nunito Sans Bold" pitchFamily="34" charset="-122"/>
                <a:cs typeface="Nunito Sans Bold" pitchFamily="34" charset="-120"/>
              </a:rPr>
              <a:t>Agenzia</a:t>
            </a:r>
            <a:endParaRPr lang="en-US" sz="1550">
              <a:solidFill>
                <a:schemeClr val="bg1"/>
              </a:solidFill>
            </a:endParaRPr>
          </a:p>
        </p:txBody>
      </p:sp>
      <p:sp>
        <p:nvSpPr>
          <p:cNvPr id="52" name="Rettangolo 51">
            <a:extLst>
              <a:ext uri="{FF2B5EF4-FFF2-40B4-BE49-F238E27FC236}">
                <a16:creationId xmlns:a16="http://schemas.microsoft.com/office/drawing/2014/main" id="{8504F2A3-6FE1-4856-B237-7F6A7C1D6A38}"/>
              </a:ext>
            </a:extLst>
          </p:cNvPr>
          <p:cNvSpPr/>
          <p:nvPr/>
        </p:nvSpPr>
        <p:spPr>
          <a:xfrm>
            <a:off x="7287450" y="4801250"/>
            <a:ext cx="3285494" cy="1216737"/>
          </a:xfrm>
          <a:prstGeom prst="rect">
            <a:avLst/>
          </a:prstGeom>
          <a:solidFill>
            <a:schemeClr val="accent2"/>
          </a:solidFill>
          <a:ln w="57150">
            <a:solidFill>
              <a:srgbClr val="FFC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216000" rIns="0" bIns="2448000" rtlCol="0" anchor="ctr"/>
          <a:lstStyle/>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0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a:p>
            <a:pPr marL="0" marR="0" lvl="0" indent="0" algn="ctr" defTabSz="1006098" rtl="0" eaLnBrk="1" fontAlgn="auto" latinLnBrk="0" hangingPunct="1">
              <a:lnSpc>
                <a:spcPct val="100000"/>
              </a:lnSpc>
              <a:spcBef>
                <a:spcPts val="0"/>
              </a:spcBef>
              <a:spcAft>
                <a:spcPts val="0"/>
              </a:spcAft>
              <a:buClrTx/>
              <a:buSzTx/>
              <a:buFontTx/>
              <a:buNone/>
              <a:tabLst/>
              <a:defRPr/>
            </a:pPr>
            <a:endParaRPr kumimoji="0" lang="it-IT" sz="2400" b="1" i="0" u="sng" strike="noStrike" kern="1200" cap="none" spc="0" normalizeH="0" baseline="0" noProof="0">
              <a:ln>
                <a:noFill/>
              </a:ln>
              <a:solidFill>
                <a:srgbClr val="FFFFFF"/>
              </a:solidFill>
              <a:effectLst/>
              <a:uLnTx/>
              <a:uFillTx/>
              <a:latin typeface="Calibri"/>
              <a:ea typeface="+mn-ea"/>
              <a:cs typeface="+mn-cs"/>
            </a:endParaRPr>
          </a:p>
        </p:txBody>
      </p:sp>
      <p:sp>
        <p:nvSpPr>
          <p:cNvPr id="53" name="Rettangolo 52">
            <a:extLst>
              <a:ext uri="{FF2B5EF4-FFF2-40B4-BE49-F238E27FC236}">
                <a16:creationId xmlns:a16="http://schemas.microsoft.com/office/drawing/2014/main" id="{4CBB4D42-4979-4E7F-AF35-300D5A888652}"/>
              </a:ext>
            </a:extLst>
          </p:cNvPr>
          <p:cNvSpPr/>
          <p:nvPr/>
        </p:nvSpPr>
        <p:spPr>
          <a:xfrm>
            <a:off x="7594073" y="5200967"/>
            <a:ext cx="1081088" cy="58261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defTabSz="457200">
              <a:defRPr/>
            </a:pPr>
            <a:r>
              <a:rPr lang="it-IT" sz="1200" b="1">
                <a:solidFill>
                  <a:srgbClr val="0F3250"/>
                </a:solidFill>
                <a:latin typeface="Calibri"/>
              </a:rPr>
              <a:t>TOPIC Preventivi/</a:t>
            </a:r>
          </a:p>
          <a:p>
            <a:pPr marL="0" marR="0" lvl="0" indent="0" algn="ctr" defTabSz="457200">
              <a:lnSpc>
                <a:spcPct val="100000"/>
              </a:lnSpc>
              <a:spcBef>
                <a:spcPts val="0"/>
              </a:spcBef>
              <a:spcAft>
                <a:spcPts val="0"/>
              </a:spcAft>
              <a:buClrTx/>
              <a:buSzTx/>
              <a:buFontTx/>
              <a:buNone/>
              <a:tabLst/>
              <a:defRPr/>
            </a:pPr>
            <a:r>
              <a:rPr lang="it-IT" sz="1200" b="1">
                <a:solidFill>
                  <a:srgbClr val="0F3250"/>
                </a:solidFill>
                <a:latin typeface="Calibri"/>
              </a:rPr>
              <a:t>Quotazioni</a:t>
            </a:r>
            <a:endParaRPr lang="it-IT" sz="1200" b="1" u="none" strike="noStrike" kern="1200" cap="none" spc="0" normalizeH="0" baseline="0" noProof="0">
              <a:ln>
                <a:noFill/>
              </a:ln>
              <a:solidFill>
                <a:srgbClr val="0F3250"/>
              </a:solidFill>
              <a:effectLst/>
              <a:uLnTx/>
              <a:uFillTx/>
              <a:latin typeface="Calibri"/>
              <a:ea typeface="Calibri"/>
              <a:cs typeface="Calibri"/>
            </a:endParaRPr>
          </a:p>
        </p:txBody>
      </p:sp>
      <p:sp>
        <p:nvSpPr>
          <p:cNvPr id="54" name="Text 2">
            <a:extLst>
              <a:ext uri="{FF2B5EF4-FFF2-40B4-BE49-F238E27FC236}">
                <a16:creationId xmlns:a16="http://schemas.microsoft.com/office/drawing/2014/main" id="{F434214E-9CDB-4725-A989-4029523CA908}"/>
              </a:ext>
            </a:extLst>
          </p:cNvPr>
          <p:cNvSpPr/>
          <p:nvPr/>
        </p:nvSpPr>
        <p:spPr>
          <a:xfrm>
            <a:off x="8071936" y="4842061"/>
            <a:ext cx="1597700" cy="246897"/>
          </a:xfrm>
          <a:prstGeom prst="rect">
            <a:avLst/>
          </a:prstGeom>
          <a:noFill/>
          <a:ln/>
        </p:spPr>
        <p:txBody>
          <a:bodyPr wrap="none" lIns="0" tIns="0" rIns="0" bIns="0" rtlCol="0" anchor="t"/>
          <a:lstStyle/>
          <a:p>
            <a:pPr marL="0" indent="0" algn="ctr">
              <a:lnSpc>
                <a:spcPts val="1900"/>
              </a:lnSpc>
              <a:buNone/>
            </a:pPr>
            <a:r>
              <a:rPr lang="en-US" sz="1550" b="1">
                <a:solidFill>
                  <a:schemeClr val="bg1"/>
                </a:solidFill>
                <a:ea typeface="Nunito Sans Bold" pitchFamily="34" charset="-122"/>
                <a:cs typeface="Nunito Sans Bold" pitchFamily="34" charset="-120"/>
              </a:rPr>
              <a:t>NDP</a:t>
            </a:r>
            <a:endParaRPr lang="en-US" sz="1550">
              <a:solidFill>
                <a:schemeClr val="bg1"/>
              </a:solidFill>
            </a:endParaRPr>
          </a:p>
        </p:txBody>
      </p:sp>
      <p:sp>
        <p:nvSpPr>
          <p:cNvPr id="56" name="Rettangolo 55">
            <a:extLst>
              <a:ext uri="{FF2B5EF4-FFF2-40B4-BE49-F238E27FC236}">
                <a16:creationId xmlns:a16="http://schemas.microsoft.com/office/drawing/2014/main" id="{D2BDD691-327A-47ED-8665-078207F99987}"/>
              </a:ext>
            </a:extLst>
          </p:cNvPr>
          <p:cNvSpPr/>
          <p:nvPr/>
        </p:nvSpPr>
        <p:spPr>
          <a:xfrm>
            <a:off x="9099327" y="2202320"/>
            <a:ext cx="1081088" cy="732106"/>
          </a:xfrm>
          <a:prstGeom prst="rect">
            <a:avLst/>
          </a:prstGeom>
          <a:solidFill>
            <a:schemeClr val="bg1"/>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200" b="1" u="none" strike="noStrike" kern="1200" cap="none" spc="0" normalizeH="0" baseline="0" noProof="0">
                <a:ln>
                  <a:noFill/>
                </a:ln>
                <a:solidFill>
                  <a:srgbClr val="0F3250"/>
                </a:solidFill>
                <a:effectLst/>
                <a:uLnTx/>
                <a:uFillTx/>
                <a:latin typeface="Calibri"/>
                <a:ea typeface="+mn-ea"/>
                <a:cs typeface="+mn-cs"/>
              </a:rPr>
              <a:t>Dashboard assegnazioni e modifica contatori</a:t>
            </a:r>
          </a:p>
        </p:txBody>
      </p:sp>
      <p:sp>
        <p:nvSpPr>
          <p:cNvPr id="59" name="Rettangolo 58">
            <a:extLst>
              <a:ext uri="{FF2B5EF4-FFF2-40B4-BE49-F238E27FC236}">
                <a16:creationId xmlns:a16="http://schemas.microsoft.com/office/drawing/2014/main" id="{17FD64F3-9667-4CC1-932D-06266982183B}"/>
              </a:ext>
            </a:extLst>
          </p:cNvPr>
          <p:cNvSpPr/>
          <p:nvPr/>
        </p:nvSpPr>
        <p:spPr>
          <a:xfrm>
            <a:off x="9129092" y="5212075"/>
            <a:ext cx="1081088" cy="582613"/>
          </a:xfrm>
          <a:prstGeom prst="rect">
            <a:avLst/>
          </a:prstGeom>
          <a:solidFill>
            <a:schemeClr val="bg1"/>
          </a:solidFill>
          <a:ln w="381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it-IT" sz="1200" b="1">
                <a:solidFill>
                  <a:srgbClr val="0F3250"/>
                </a:solidFill>
                <a:latin typeface="Calibri"/>
              </a:rPr>
              <a:t>Calcolo KPI</a:t>
            </a:r>
            <a:endParaRPr kumimoji="0" lang="it-IT" sz="1200" b="1" u="none" strike="noStrike" kern="1200" cap="none" spc="0" normalizeH="0" baseline="0" noProof="0">
              <a:ln>
                <a:noFill/>
              </a:ln>
              <a:solidFill>
                <a:srgbClr val="0F3250"/>
              </a:solidFill>
              <a:effectLst/>
              <a:uLnTx/>
              <a:uFillTx/>
              <a:latin typeface="Calibri"/>
              <a:ea typeface="+mn-ea"/>
              <a:cs typeface="+mn-cs"/>
            </a:endParaRPr>
          </a:p>
        </p:txBody>
      </p:sp>
      <p:grpSp>
        <p:nvGrpSpPr>
          <p:cNvPr id="29" name="Gruppo 28">
            <a:extLst>
              <a:ext uri="{FF2B5EF4-FFF2-40B4-BE49-F238E27FC236}">
                <a16:creationId xmlns:a16="http://schemas.microsoft.com/office/drawing/2014/main" id="{5C69547E-3209-405A-979D-179C31635354}"/>
              </a:ext>
            </a:extLst>
          </p:cNvPr>
          <p:cNvGrpSpPr/>
          <p:nvPr/>
        </p:nvGrpSpPr>
        <p:grpSpPr>
          <a:xfrm>
            <a:off x="708311" y="1871588"/>
            <a:ext cx="1081274" cy="599621"/>
            <a:chOff x="550506" y="3486535"/>
            <a:chExt cx="1081274" cy="599621"/>
          </a:xfrm>
        </p:grpSpPr>
        <p:sp>
          <p:nvSpPr>
            <p:cNvPr id="26" name="Rettangolo 25">
              <a:extLst>
                <a:ext uri="{FF2B5EF4-FFF2-40B4-BE49-F238E27FC236}">
                  <a16:creationId xmlns:a16="http://schemas.microsoft.com/office/drawing/2014/main" id="{47FE95A3-732C-49C0-BE00-9AE6358B9EEA}"/>
                </a:ext>
              </a:extLst>
            </p:cNvPr>
            <p:cNvSpPr/>
            <p:nvPr/>
          </p:nvSpPr>
          <p:spPr>
            <a:xfrm>
              <a:off x="550506" y="3504160"/>
              <a:ext cx="1081274" cy="581996"/>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600" b="1" i="1" u="none" strike="noStrike" kern="1200" cap="none" spc="0" normalizeH="0" baseline="0" noProof="0">
                  <a:ln>
                    <a:noFill/>
                  </a:ln>
                  <a:solidFill>
                    <a:srgbClr val="0F3250"/>
                  </a:solidFill>
                  <a:effectLst/>
                  <a:uLnTx/>
                  <a:uFillTx/>
                  <a:latin typeface="Calibri"/>
                  <a:ea typeface="+mn-ea"/>
                  <a:cs typeface="+mn-cs"/>
                </a:rPr>
                <a:t>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it-IT" sz="1400" i="1" u="none" strike="noStrike" kern="1200" cap="none" spc="0" normalizeH="0" baseline="0" noProof="0">
                  <a:ln>
                    <a:noFill/>
                  </a:ln>
                  <a:solidFill>
                    <a:srgbClr val="0F3250"/>
                  </a:solidFill>
                  <a:effectLst/>
                  <a:uLnTx/>
                  <a:uFillTx/>
                  <a:latin typeface="Calibri"/>
                  <a:ea typeface="+mn-ea"/>
                  <a:cs typeface="+mn-cs"/>
                </a:rPr>
                <a:t>Previdenza</a:t>
              </a:r>
              <a:endParaRPr kumimoji="0" lang="it-IT" sz="1600" i="1" u="none" strike="noStrike" kern="1200" cap="none" spc="0" normalizeH="0" baseline="0" noProof="0">
                <a:ln>
                  <a:noFill/>
                </a:ln>
                <a:solidFill>
                  <a:srgbClr val="0F3250"/>
                </a:solidFill>
                <a:effectLst/>
                <a:uLnTx/>
                <a:uFillTx/>
                <a:latin typeface="Calibri"/>
                <a:ea typeface="+mn-ea"/>
                <a:cs typeface="+mn-cs"/>
              </a:endParaRPr>
            </a:p>
          </p:txBody>
        </p:sp>
        <p:pic>
          <p:nvPicPr>
            <p:cNvPr id="27" name="Picture 4" descr="I nostri Partners - Finanza e Previdenza">
              <a:extLst>
                <a:ext uri="{FF2B5EF4-FFF2-40B4-BE49-F238E27FC236}">
                  <a16:creationId xmlns:a16="http://schemas.microsoft.com/office/drawing/2014/main" id="{DF14049B-D213-42EC-BF8D-676C13657A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1709" y="3486535"/>
              <a:ext cx="978869" cy="465324"/>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 name="Connettore a gomito 3">
            <a:extLst>
              <a:ext uri="{FF2B5EF4-FFF2-40B4-BE49-F238E27FC236}">
                <a16:creationId xmlns:a16="http://schemas.microsoft.com/office/drawing/2014/main" id="{5B36DF7A-64A2-449B-A319-50773B6626AA}"/>
              </a:ext>
            </a:extLst>
          </p:cNvPr>
          <p:cNvCxnSpPr>
            <a:cxnSpLocks/>
            <a:stCxn id="7" idx="3"/>
          </p:cNvCxnSpPr>
          <p:nvPr/>
        </p:nvCxnSpPr>
        <p:spPr>
          <a:xfrm flipV="1">
            <a:off x="2087074" y="3033890"/>
            <a:ext cx="2174484" cy="891258"/>
          </a:xfrm>
          <a:prstGeom prst="bentConnector3">
            <a:avLst>
              <a:gd name="adj1" fmla="val 50000"/>
            </a:avLst>
          </a:prstGeom>
          <a:ln w="28575">
            <a:solidFill>
              <a:srgbClr val="FFC000"/>
            </a:solidFill>
            <a:headEnd type="triangle"/>
            <a:tailEnd type="triangle"/>
          </a:ln>
        </p:spPr>
        <p:style>
          <a:lnRef idx="3">
            <a:schemeClr val="accent1"/>
          </a:lnRef>
          <a:fillRef idx="0">
            <a:schemeClr val="accent1"/>
          </a:fillRef>
          <a:effectRef idx="2">
            <a:schemeClr val="accent1"/>
          </a:effectRef>
          <a:fontRef idx="minor">
            <a:schemeClr val="tx1"/>
          </a:fontRef>
        </p:style>
      </p:cxnSp>
      <p:sp>
        <p:nvSpPr>
          <p:cNvPr id="44" name="Rettangolo 43">
            <a:extLst>
              <a:ext uri="{FF2B5EF4-FFF2-40B4-BE49-F238E27FC236}">
                <a16:creationId xmlns:a16="http://schemas.microsoft.com/office/drawing/2014/main" id="{15FBECD5-EC01-4B01-8506-5D20DAF3320F}"/>
              </a:ext>
            </a:extLst>
          </p:cNvPr>
          <p:cNvSpPr/>
          <p:nvPr/>
        </p:nvSpPr>
        <p:spPr>
          <a:xfrm>
            <a:off x="4750131" y="2954309"/>
            <a:ext cx="1081088" cy="582613"/>
          </a:xfrm>
          <a:prstGeom prst="rect">
            <a:avLst/>
          </a:prstGeom>
          <a:solidFill>
            <a:schemeClr val="bg1"/>
          </a:solidFill>
          <a:ln w="285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r>
              <a:rPr lang="it-IT" sz="1200" b="1">
                <a:solidFill>
                  <a:srgbClr val="0F3250"/>
                </a:solidFill>
                <a:latin typeface="Calibri"/>
              </a:rPr>
              <a:t>Integrazione Locator </a:t>
            </a:r>
          </a:p>
        </p:txBody>
      </p:sp>
      <p:cxnSp>
        <p:nvCxnSpPr>
          <p:cNvPr id="48" name="Connettore a gomito 47">
            <a:extLst>
              <a:ext uri="{FF2B5EF4-FFF2-40B4-BE49-F238E27FC236}">
                <a16:creationId xmlns:a16="http://schemas.microsoft.com/office/drawing/2014/main" id="{1EB1C1D6-9B3C-412A-A89A-C6708D725669}"/>
              </a:ext>
            </a:extLst>
          </p:cNvPr>
          <p:cNvCxnSpPr>
            <a:cxnSpLocks/>
            <a:endCxn id="40" idx="1"/>
          </p:cNvCxnSpPr>
          <p:nvPr/>
        </p:nvCxnSpPr>
        <p:spPr>
          <a:xfrm>
            <a:off x="2147883" y="4424931"/>
            <a:ext cx="2156143" cy="990371"/>
          </a:xfrm>
          <a:prstGeom prst="bentConnector3">
            <a:avLst/>
          </a:prstGeom>
          <a:ln w="28575">
            <a:solidFill>
              <a:srgbClr val="FFC000"/>
            </a:solidFill>
            <a:tailEnd type="triangle"/>
          </a:ln>
        </p:spPr>
        <p:style>
          <a:lnRef idx="3">
            <a:schemeClr val="accent1"/>
          </a:lnRef>
          <a:fillRef idx="0">
            <a:schemeClr val="accent1"/>
          </a:fillRef>
          <a:effectRef idx="2">
            <a:schemeClr val="accent1"/>
          </a:effectRef>
          <a:fontRef idx="minor">
            <a:schemeClr val="tx1"/>
          </a:fontRef>
        </p:style>
      </p:cxnSp>
      <p:cxnSp>
        <p:nvCxnSpPr>
          <p:cNvPr id="66" name="Connettore a gomito 65">
            <a:extLst>
              <a:ext uri="{FF2B5EF4-FFF2-40B4-BE49-F238E27FC236}">
                <a16:creationId xmlns:a16="http://schemas.microsoft.com/office/drawing/2014/main" id="{B0DC2C35-B281-43BD-943C-105EEF3866C6}"/>
              </a:ext>
            </a:extLst>
          </p:cNvPr>
          <p:cNvCxnSpPr>
            <a:cxnSpLocks/>
          </p:cNvCxnSpPr>
          <p:nvPr/>
        </p:nvCxnSpPr>
        <p:spPr>
          <a:xfrm>
            <a:off x="2091095" y="2017304"/>
            <a:ext cx="2174484" cy="269888"/>
          </a:xfrm>
          <a:prstGeom prst="bentConnector3">
            <a:avLst>
              <a:gd name="adj1" fmla="val 50000"/>
            </a:avLst>
          </a:prstGeom>
          <a:ln w="28575">
            <a:solidFill>
              <a:srgbClr val="FFC000"/>
            </a:solidFill>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70" name="Connettore a gomito 69">
            <a:extLst>
              <a:ext uri="{FF2B5EF4-FFF2-40B4-BE49-F238E27FC236}">
                <a16:creationId xmlns:a16="http://schemas.microsoft.com/office/drawing/2014/main" id="{689858DD-83F4-43A3-967F-6E33A7BBDB71}"/>
              </a:ext>
            </a:extLst>
          </p:cNvPr>
          <p:cNvCxnSpPr>
            <a:cxnSpLocks/>
            <a:stCxn id="37" idx="0"/>
            <a:endCxn id="43" idx="0"/>
          </p:cNvCxnSpPr>
          <p:nvPr/>
        </p:nvCxnSpPr>
        <p:spPr>
          <a:xfrm rot="16200000" flipH="1">
            <a:off x="4859826" y="-2198034"/>
            <a:ext cx="414292" cy="7646089"/>
          </a:xfrm>
          <a:prstGeom prst="bentConnector3">
            <a:avLst>
              <a:gd name="adj1" fmla="val -100965"/>
            </a:avLst>
          </a:prstGeom>
          <a:ln w="28575">
            <a:solidFill>
              <a:srgbClr val="FFC000"/>
            </a:solidFill>
            <a:tailEnd type="triangle"/>
          </a:ln>
        </p:spPr>
        <p:style>
          <a:lnRef idx="3">
            <a:schemeClr val="accent1"/>
          </a:lnRef>
          <a:fillRef idx="0">
            <a:schemeClr val="accent1"/>
          </a:fillRef>
          <a:effectRef idx="2">
            <a:schemeClr val="accent1"/>
          </a:effectRef>
          <a:fontRef idx="minor">
            <a:schemeClr val="tx1"/>
          </a:fontRef>
        </p:style>
      </p:cxnSp>
      <p:cxnSp>
        <p:nvCxnSpPr>
          <p:cNvPr id="79" name="Connettore a gomito 78">
            <a:extLst>
              <a:ext uri="{FF2B5EF4-FFF2-40B4-BE49-F238E27FC236}">
                <a16:creationId xmlns:a16="http://schemas.microsoft.com/office/drawing/2014/main" id="{14E1A147-498B-4AE3-B1C4-DDC2103FD4B1}"/>
              </a:ext>
            </a:extLst>
          </p:cNvPr>
          <p:cNvCxnSpPr>
            <a:cxnSpLocks/>
            <a:stCxn id="40" idx="3"/>
            <a:endCxn id="52" idx="1"/>
          </p:cNvCxnSpPr>
          <p:nvPr/>
        </p:nvCxnSpPr>
        <p:spPr>
          <a:xfrm flipV="1">
            <a:off x="5998361" y="5409619"/>
            <a:ext cx="1289089" cy="5683"/>
          </a:xfrm>
          <a:prstGeom prst="straightConnector1">
            <a:avLst/>
          </a:prstGeom>
          <a:ln w="28575">
            <a:solidFill>
              <a:srgbClr val="FFC000"/>
            </a:solidFill>
            <a:tailEnd type="triangle"/>
          </a:ln>
        </p:spPr>
        <p:style>
          <a:lnRef idx="3">
            <a:schemeClr val="accent1"/>
          </a:lnRef>
          <a:fillRef idx="0">
            <a:schemeClr val="accent1"/>
          </a:fillRef>
          <a:effectRef idx="2">
            <a:schemeClr val="accent1"/>
          </a:effectRef>
          <a:fontRef idx="minor">
            <a:schemeClr val="tx1"/>
          </a:fontRef>
        </p:style>
      </p:cxnSp>
      <p:cxnSp>
        <p:nvCxnSpPr>
          <p:cNvPr id="87" name="Connettore a gomito 86">
            <a:extLst>
              <a:ext uri="{FF2B5EF4-FFF2-40B4-BE49-F238E27FC236}">
                <a16:creationId xmlns:a16="http://schemas.microsoft.com/office/drawing/2014/main" id="{3D760BA8-2272-4498-BEF8-02AD821748E3}"/>
              </a:ext>
            </a:extLst>
          </p:cNvPr>
          <p:cNvCxnSpPr>
            <a:cxnSpLocks/>
            <a:stCxn id="52" idx="3"/>
            <a:endCxn id="43" idx="3"/>
          </p:cNvCxnSpPr>
          <p:nvPr/>
        </p:nvCxnSpPr>
        <p:spPr>
          <a:xfrm flipH="1" flipV="1">
            <a:off x="10453225" y="2552342"/>
            <a:ext cx="119719" cy="2857277"/>
          </a:xfrm>
          <a:prstGeom prst="bentConnector3">
            <a:avLst>
              <a:gd name="adj1" fmla="val -203893"/>
            </a:avLst>
          </a:prstGeom>
          <a:ln w="28575">
            <a:solidFill>
              <a:srgbClr val="FFC000"/>
            </a:solidFill>
            <a:tailEnd type="triangle"/>
          </a:ln>
        </p:spPr>
        <p:style>
          <a:lnRef idx="3">
            <a:schemeClr val="accent1"/>
          </a:lnRef>
          <a:fillRef idx="0">
            <a:schemeClr val="accent1"/>
          </a:fillRef>
          <a:effectRef idx="2">
            <a:schemeClr val="accent1"/>
          </a:effectRef>
          <a:fontRef idx="minor">
            <a:schemeClr val="tx1"/>
          </a:fontRef>
        </p:style>
      </p:cxnSp>
      <p:sp>
        <p:nvSpPr>
          <p:cNvPr id="91" name="Text 1">
            <a:extLst>
              <a:ext uri="{FF2B5EF4-FFF2-40B4-BE49-F238E27FC236}">
                <a16:creationId xmlns:a16="http://schemas.microsoft.com/office/drawing/2014/main" id="{FA64DD04-2615-4B69-8782-036C468E1A4B}"/>
              </a:ext>
            </a:extLst>
          </p:cNvPr>
          <p:cNvSpPr/>
          <p:nvPr/>
        </p:nvSpPr>
        <p:spPr>
          <a:xfrm>
            <a:off x="5753009" y="6522785"/>
            <a:ext cx="4479926" cy="377904"/>
          </a:xfrm>
          <a:prstGeom prst="rect">
            <a:avLst/>
          </a:prstGeom>
          <a:noFill/>
          <a:ln/>
        </p:spPr>
        <p:txBody>
          <a:bodyPr wrap="square" lIns="0" tIns="0" rIns="0" bIns="0" rtlCol="0" anchor="t"/>
          <a:lstStyle/>
          <a:p>
            <a:pPr marL="0" indent="0" algn="ctr">
              <a:lnSpc>
                <a:spcPts val="1450"/>
              </a:lnSpc>
              <a:buNone/>
            </a:pPr>
            <a:r>
              <a:rPr lang="en-US" sz="1200" i="1" err="1">
                <a:solidFill>
                  <a:schemeClr val="bg1"/>
                </a:solidFill>
              </a:rPr>
              <a:t>Evidenziati</a:t>
            </a:r>
            <a:r>
              <a:rPr lang="en-US" sz="1200" i="1">
                <a:solidFill>
                  <a:schemeClr val="bg1"/>
                </a:solidFill>
              </a:rPr>
              <a:t> in </a:t>
            </a:r>
            <a:r>
              <a:rPr lang="en-US" sz="1200" i="1" err="1">
                <a:solidFill>
                  <a:schemeClr val="bg1"/>
                </a:solidFill>
              </a:rPr>
              <a:t>verde</a:t>
            </a:r>
            <a:r>
              <a:rPr lang="en-US" sz="1200" i="1">
                <a:solidFill>
                  <a:schemeClr val="bg1"/>
                </a:solidFill>
              </a:rPr>
              <a:t> </a:t>
            </a:r>
            <a:r>
              <a:rPr lang="en-US" sz="1200" i="1" err="1">
                <a:solidFill>
                  <a:schemeClr val="bg1"/>
                </a:solidFill>
              </a:rPr>
              <a:t>i</a:t>
            </a:r>
            <a:r>
              <a:rPr lang="en-US" sz="1200" i="1">
                <a:solidFill>
                  <a:schemeClr val="bg1"/>
                </a:solidFill>
              </a:rPr>
              <a:t> </a:t>
            </a:r>
            <a:r>
              <a:rPr lang="en-US" sz="1200" i="1" err="1">
                <a:solidFill>
                  <a:schemeClr val="bg1"/>
                </a:solidFill>
              </a:rPr>
              <a:t>componenti</a:t>
            </a:r>
            <a:r>
              <a:rPr lang="en-US" sz="1200" i="1">
                <a:solidFill>
                  <a:schemeClr val="bg1"/>
                </a:solidFill>
              </a:rPr>
              <a:t> </a:t>
            </a:r>
            <a:r>
              <a:rPr lang="en-US" sz="1200" i="1" err="1">
                <a:solidFill>
                  <a:schemeClr val="bg1"/>
                </a:solidFill>
              </a:rPr>
              <a:t>oggetto</a:t>
            </a:r>
            <a:r>
              <a:rPr lang="en-US" sz="1200" i="1">
                <a:solidFill>
                  <a:schemeClr val="bg1"/>
                </a:solidFill>
              </a:rPr>
              <a:t> di </a:t>
            </a:r>
            <a:r>
              <a:rPr lang="en-US" sz="1200" i="1" err="1">
                <a:solidFill>
                  <a:schemeClr val="bg1"/>
                </a:solidFill>
              </a:rPr>
              <a:t>modifica</a:t>
            </a:r>
            <a:r>
              <a:rPr lang="en-US" sz="1200" i="1">
                <a:solidFill>
                  <a:schemeClr val="bg1"/>
                </a:solidFill>
              </a:rPr>
              <a:t> per la </a:t>
            </a:r>
            <a:r>
              <a:rPr lang="en-US" sz="1200" i="1" err="1">
                <a:solidFill>
                  <a:schemeClr val="bg1"/>
                </a:solidFill>
              </a:rPr>
              <a:t>soluzione</a:t>
            </a:r>
            <a:endParaRPr lang="en-US" sz="1200" i="1">
              <a:solidFill>
                <a:schemeClr val="bg1"/>
              </a:solidFill>
            </a:endParaRPr>
          </a:p>
        </p:txBody>
      </p:sp>
      <p:sp>
        <p:nvSpPr>
          <p:cNvPr id="17" name="Ovale 16">
            <a:extLst>
              <a:ext uri="{FF2B5EF4-FFF2-40B4-BE49-F238E27FC236}">
                <a16:creationId xmlns:a16="http://schemas.microsoft.com/office/drawing/2014/main" id="{8005D8EA-F25D-CCA3-6E47-65412927A85A}"/>
              </a:ext>
            </a:extLst>
          </p:cNvPr>
          <p:cNvSpPr/>
          <p:nvPr/>
        </p:nvSpPr>
        <p:spPr>
          <a:xfrm>
            <a:off x="3029199" y="1869373"/>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1a</a:t>
            </a:r>
          </a:p>
        </p:txBody>
      </p:sp>
      <p:sp>
        <p:nvSpPr>
          <p:cNvPr id="18" name="CasellaDiTesto 17">
            <a:extLst>
              <a:ext uri="{FF2B5EF4-FFF2-40B4-BE49-F238E27FC236}">
                <a16:creationId xmlns:a16="http://schemas.microsoft.com/office/drawing/2014/main" id="{D4E3A2DB-173F-C9B3-E443-50B6E0DD5CF7}"/>
              </a:ext>
            </a:extLst>
          </p:cNvPr>
          <p:cNvSpPr txBox="1"/>
          <p:nvPr/>
        </p:nvSpPr>
        <p:spPr>
          <a:xfrm>
            <a:off x="2665848" y="1627482"/>
            <a:ext cx="1176578" cy="230832"/>
          </a:xfrm>
          <a:prstGeom prst="rect">
            <a:avLst/>
          </a:prstGeom>
          <a:noFill/>
        </p:spPr>
        <p:txBody>
          <a:bodyPr wrap="square" rtlCol="0">
            <a:spAutoFit/>
          </a:bodyPr>
          <a:lstStyle/>
          <a:p>
            <a:r>
              <a:rPr lang="it-IT" sz="900" b="1" dirty="0"/>
              <a:t>Recupero Agenzia</a:t>
            </a:r>
          </a:p>
        </p:txBody>
      </p:sp>
      <p:sp>
        <p:nvSpPr>
          <p:cNvPr id="60" name="Ovale 59">
            <a:extLst>
              <a:ext uri="{FF2B5EF4-FFF2-40B4-BE49-F238E27FC236}">
                <a16:creationId xmlns:a16="http://schemas.microsoft.com/office/drawing/2014/main" id="{42C62A13-83AC-4BFB-9FF5-613B4FF8DBD5}"/>
              </a:ext>
            </a:extLst>
          </p:cNvPr>
          <p:cNvSpPr/>
          <p:nvPr/>
        </p:nvSpPr>
        <p:spPr>
          <a:xfrm>
            <a:off x="3442800" y="865750"/>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2a</a:t>
            </a:r>
          </a:p>
        </p:txBody>
      </p:sp>
      <p:sp>
        <p:nvSpPr>
          <p:cNvPr id="61" name="CasellaDiTesto 60">
            <a:extLst>
              <a:ext uri="{FF2B5EF4-FFF2-40B4-BE49-F238E27FC236}">
                <a16:creationId xmlns:a16="http://schemas.microsoft.com/office/drawing/2014/main" id="{CBCEFFAC-70B3-4935-A78E-2E88C70236D5}"/>
              </a:ext>
            </a:extLst>
          </p:cNvPr>
          <p:cNvSpPr txBox="1"/>
          <p:nvPr/>
        </p:nvSpPr>
        <p:spPr>
          <a:xfrm>
            <a:off x="3677289" y="763628"/>
            <a:ext cx="2137703" cy="230832"/>
          </a:xfrm>
          <a:prstGeom prst="rect">
            <a:avLst/>
          </a:prstGeom>
          <a:noFill/>
        </p:spPr>
        <p:txBody>
          <a:bodyPr wrap="square" rtlCol="0">
            <a:spAutoFit/>
          </a:bodyPr>
          <a:lstStyle/>
          <a:p>
            <a:r>
              <a:rPr lang="it-IT" sz="900" b="1" dirty="0"/>
              <a:t>Generazione Trattativa con simulazione</a:t>
            </a:r>
          </a:p>
        </p:txBody>
      </p:sp>
      <p:sp>
        <p:nvSpPr>
          <p:cNvPr id="62" name="Ovale 61">
            <a:extLst>
              <a:ext uri="{FF2B5EF4-FFF2-40B4-BE49-F238E27FC236}">
                <a16:creationId xmlns:a16="http://schemas.microsoft.com/office/drawing/2014/main" id="{FC9C36C2-21F1-4BFD-B5FA-EE6201AC4181}"/>
              </a:ext>
            </a:extLst>
          </p:cNvPr>
          <p:cNvSpPr/>
          <p:nvPr/>
        </p:nvSpPr>
        <p:spPr>
          <a:xfrm>
            <a:off x="3023463" y="3790724"/>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1b</a:t>
            </a:r>
          </a:p>
        </p:txBody>
      </p:sp>
      <p:sp>
        <p:nvSpPr>
          <p:cNvPr id="63" name="CasellaDiTesto 62">
            <a:extLst>
              <a:ext uri="{FF2B5EF4-FFF2-40B4-BE49-F238E27FC236}">
                <a16:creationId xmlns:a16="http://schemas.microsoft.com/office/drawing/2014/main" id="{8004FD38-8F10-4EA8-A85C-C7E8C33FA415}"/>
              </a:ext>
            </a:extLst>
          </p:cNvPr>
          <p:cNvSpPr txBox="1"/>
          <p:nvPr/>
        </p:nvSpPr>
        <p:spPr>
          <a:xfrm>
            <a:off x="2633343" y="4016412"/>
            <a:ext cx="1176578" cy="230832"/>
          </a:xfrm>
          <a:prstGeom prst="rect">
            <a:avLst/>
          </a:prstGeom>
          <a:noFill/>
        </p:spPr>
        <p:txBody>
          <a:bodyPr wrap="square" rtlCol="0">
            <a:spAutoFit/>
          </a:bodyPr>
          <a:lstStyle/>
          <a:p>
            <a:r>
              <a:rPr lang="it-IT" sz="900" b="1" dirty="0"/>
              <a:t>Recupero Agenzia</a:t>
            </a:r>
          </a:p>
        </p:txBody>
      </p:sp>
      <p:sp>
        <p:nvSpPr>
          <p:cNvPr id="64" name="Ovale 63">
            <a:extLst>
              <a:ext uri="{FF2B5EF4-FFF2-40B4-BE49-F238E27FC236}">
                <a16:creationId xmlns:a16="http://schemas.microsoft.com/office/drawing/2014/main" id="{B1D4EB33-D232-4DF9-BDE7-7E277E7A40D3}"/>
              </a:ext>
            </a:extLst>
          </p:cNvPr>
          <p:cNvSpPr/>
          <p:nvPr/>
        </p:nvSpPr>
        <p:spPr>
          <a:xfrm>
            <a:off x="3084618" y="5280909"/>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2b</a:t>
            </a:r>
          </a:p>
        </p:txBody>
      </p:sp>
      <p:sp>
        <p:nvSpPr>
          <p:cNvPr id="65" name="CasellaDiTesto 64">
            <a:extLst>
              <a:ext uri="{FF2B5EF4-FFF2-40B4-BE49-F238E27FC236}">
                <a16:creationId xmlns:a16="http://schemas.microsoft.com/office/drawing/2014/main" id="{85C25DB6-71AF-4AE2-A448-E970C60AF35C}"/>
              </a:ext>
            </a:extLst>
          </p:cNvPr>
          <p:cNvSpPr txBox="1"/>
          <p:nvPr/>
        </p:nvSpPr>
        <p:spPr>
          <a:xfrm>
            <a:off x="2454608" y="5534628"/>
            <a:ext cx="1515739" cy="369332"/>
          </a:xfrm>
          <a:prstGeom prst="rect">
            <a:avLst/>
          </a:prstGeom>
          <a:noFill/>
        </p:spPr>
        <p:txBody>
          <a:bodyPr wrap="square" rtlCol="0">
            <a:spAutoFit/>
          </a:bodyPr>
          <a:lstStyle/>
          <a:p>
            <a:pPr algn="ctr"/>
            <a:r>
              <a:rPr lang="it-IT" sz="900" b="1" dirty="0"/>
              <a:t>Generazione</a:t>
            </a:r>
          </a:p>
          <a:p>
            <a:pPr algn="ctr"/>
            <a:r>
              <a:rPr lang="it-IT" sz="900" b="1" dirty="0"/>
              <a:t>Preventivo/Quotazione</a:t>
            </a:r>
          </a:p>
        </p:txBody>
      </p:sp>
      <p:sp>
        <p:nvSpPr>
          <p:cNvPr id="67" name="Ovale 66">
            <a:extLst>
              <a:ext uri="{FF2B5EF4-FFF2-40B4-BE49-F238E27FC236}">
                <a16:creationId xmlns:a16="http://schemas.microsoft.com/office/drawing/2014/main" id="{42828774-6BA8-4552-AF67-6E8F6BA04D55}"/>
              </a:ext>
            </a:extLst>
          </p:cNvPr>
          <p:cNvSpPr/>
          <p:nvPr/>
        </p:nvSpPr>
        <p:spPr>
          <a:xfrm>
            <a:off x="6495826" y="5285685"/>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3b</a:t>
            </a:r>
          </a:p>
        </p:txBody>
      </p:sp>
      <p:sp>
        <p:nvSpPr>
          <p:cNvPr id="68" name="CasellaDiTesto 67">
            <a:extLst>
              <a:ext uri="{FF2B5EF4-FFF2-40B4-BE49-F238E27FC236}">
                <a16:creationId xmlns:a16="http://schemas.microsoft.com/office/drawing/2014/main" id="{D6DCA63B-BA1E-4A1F-9E42-8445FF515C74}"/>
              </a:ext>
            </a:extLst>
          </p:cNvPr>
          <p:cNvSpPr txBox="1"/>
          <p:nvPr/>
        </p:nvSpPr>
        <p:spPr>
          <a:xfrm>
            <a:off x="5865816" y="5539404"/>
            <a:ext cx="1515739" cy="369332"/>
          </a:xfrm>
          <a:prstGeom prst="rect">
            <a:avLst/>
          </a:prstGeom>
          <a:noFill/>
        </p:spPr>
        <p:txBody>
          <a:bodyPr wrap="square" rtlCol="0">
            <a:spAutoFit/>
          </a:bodyPr>
          <a:lstStyle/>
          <a:p>
            <a:pPr algn="ctr"/>
            <a:r>
              <a:rPr lang="it-IT" sz="900" b="1" dirty="0"/>
              <a:t>Propagazione</a:t>
            </a:r>
          </a:p>
          <a:p>
            <a:pPr algn="ctr"/>
            <a:r>
              <a:rPr lang="it-IT" sz="900" b="1" dirty="0"/>
              <a:t>Preventivo/Quotazione</a:t>
            </a:r>
          </a:p>
        </p:txBody>
      </p:sp>
      <p:sp>
        <p:nvSpPr>
          <p:cNvPr id="69" name="Ovale 68">
            <a:extLst>
              <a:ext uri="{FF2B5EF4-FFF2-40B4-BE49-F238E27FC236}">
                <a16:creationId xmlns:a16="http://schemas.microsoft.com/office/drawing/2014/main" id="{D2448649-0048-4C30-B018-69885BA80736}"/>
              </a:ext>
            </a:extLst>
          </p:cNvPr>
          <p:cNvSpPr/>
          <p:nvPr/>
        </p:nvSpPr>
        <p:spPr>
          <a:xfrm>
            <a:off x="10680341" y="3704454"/>
            <a:ext cx="278416" cy="24786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lang="it-IT" sz="1000" b="1" dirty="0"/>
              <a:t>4b</a:t>
            </a:r>
          </a:p>
        </p:txBody>
      </p:sp>
      <p:sp>
        <p:nvSpPr>
          <p:cNvPr id="71" name="CasellaDiTesto 70">
            <a:extLst>
              <a:ext uri="{FF2B5EF4-FFF2-40B4-BE49-F238E27FC236}">
                <a16:creationId xmlns:a16="http://schemas.microsoft.com/office/drawing/2014/main" id="{8D05C799-68D1-4729-B2A8-AFA7CAA3985D}"/>
              </a:ext>
            </a:extLst>
          </p:cNvPr>
          <p:cNvSpPr txBox="1"/>
          <p:nvPr/>
        </p:nvSpPr>
        <p:spPr>
          <a:xfrm>
            <a:off x="9303810" y="3675500"/>
            <a:ext cx="1515739" cy="369332"/>
          </a:xfrm>
          <a:prstGeom prst="rect">
            <a:avLst/>
          </a:prstGeom>
          <a:noFill/>
        </p:spPr>
        <p:txBody>
          <a:bodyPr wrap="square" rtlCol="0">
            <a:spAutoFit/>
          </a:bodyPr>
          <a:lstStyle/>
          <a:p>
            <a:pPr algn="ctr"/>
            <a:r>
              <a:rPr lang="it-IT" sz="900" b="1" dirty="0"/>
              <a:t>Propagazione</a:t>
            </a:r>
          </a:p>
          <a:p>
            <a:pPr algn="ctr"/>
            <a:r>
              <a:rPr lang="it-IT" sz="900" b="1" dirty="0"/>
              <a:t>Trattativa con preventivo</a:t>
            </a:r>
          </a:p>
        </p:txBody>
      </p:sp>
    </p:spTree>
    <p:extLst>
      <p:ext uri="{BB962C8B-B14F-4D97-AF65-F5344CB8AC3E}">
        <p14:creationId xmlns:p14="http://schemas.microsoft.com/office/powerpoint/2010/main" val="11143944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i Office">
  <a:themeElements>
    <a:clrScheme name="Personalizzati 4">
      <a:dk1>
        <a:srgbClr val="0F3250"/>
      </a:dk1>
      <a:lt1>
        <a:srgbClr val="FFFFFF"/>
      </a:lt1>
      <a:dk2>
        <a:srgbClr val="329646"/>
      </a:dk2>
      <a:lt2>
        <a:srgbClr val="BE0F19"/>
      </a:lt2>
      <a:accent1>
        <a:srgbClr val="0F3250"/>
      </a:accent1>
      <a:accent2>
        <a:srgbClr val="35547A"/>
      </a:accent2>
      <a:accent3>
        <a:srgbClr val="386DB1"/>
      </a:accent3>
      <a:accent4>
        <a:srgbClr val="83C3EF"/>
      </a:accent4>
      <a:accent5>
        <a:srgbClr val="969696"/>
      </a:accent5>
      <a:accent6>
        <a:srgbClr val="C3C3C3"/>
      </a:accent6>
      <a:hlink>
        <a:srgbClr val="0563C1"/>
      </a:hlink>
      <a:folHlink>
        <a:srgbClr val="954F72"/>
      </a:folHlink>
    </a:clrScheme>
    <a:fontScheme name="Tema di 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i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ello PPT_Unipol.pptx" id="{33226A11-123D-4B76-8C90-529429725B1A}" vid="{EB4D4FDF-E73D-40CE-9C60-06556ADD1A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324</TotalTime>
  <Words>1598</Words>
  <Application>Microsoft Office PowerPoint</Application>
  <PresentationFormat>Widescreen</PresentationFormat>
  <Paragraphs>295</Paragraphs>
  <Slides>18</Slides>
  <Notes>13</Notes>
  <HiddenSlides>0</HiddenSlides>
  <MMClips>0</MMClips>
  <ScaleCrop>false</ScaleCrop>
  <HeadingPairs>
    <vt:vector size="8" baseType="variant">
      <vt:variant>
        <vt:lpstr>Caratteri utilizzati</vt:lpstr>
      </vt:variant>
      <vt:variant>
        <vt:i4>9</vt:i4>
      </vt:variant>
      <vt:variant>
        <vt:lpstr>Tema</vt:lpstr>
      </vt:variant>
      <vt:variant>
        <vt:i4>1</vt:i4>
      </vt:variant>
      <vt:variant>
        <vt:lpstr>Server OLE incorporati</vt:lpstr>
      </vt:variant>
      <vt:variant>
        <vt:i4>1</vt:i4>
      </vt:variant>
      <vt:variant>
        <vt:lpstr>Titoli diapositive</vt:lpstr>
      </vt:variant>
      <vt:variant>
        <vt:i4>18</vt:i4>
      </vt:variant>
    </vt:vector>
  </HeadingPairs>
  <TitlesOfParts>
    <vt:vector size="29" baseType="lpstr">
      <vt:lpstr>Aptos</vt:lpstr>
      <vt:lpstr>Aptos Display</vt:lpstr>
      <vt:lpstr>Aptos Narrow</vt:lpstr>
      <vt:lpstr>Arial</vt:lpstr>
      <vt:lpstr>Calibri</vt:lpstr>
      <vt:lpstr>Nunito Sans</vt:lpstr>
      <vt:lpstr>Nunito Sans Bold</vt:lpstr>
      <vt:lpstr>Wingdings</vt:lpstr>
      <vt:lpstr>Wingdings 2</vt:lpstr>
      <vt:lpstr>Tema di Office</vt:lpstr>
      <vt:lpstr>Diapositiva think-cell</vt:lpstr>
      <vt:lpstr>Lead Management – modello geo-meritocratico</vt:lpstr>
      <vt:lpstr>Presentazione standard di PowerPoint</vt:lpstr>
      <vt:lpstr>Algoritmo assegnazione</vt:lpstr>
      <vt:lpstr>ASSEGNAZIONE LEAD DIGITALI | Perimetro di applicazione del modello</vt:lpstr>
      <vt:lpstr>Algoritmo assegnazione – Verifica se presente agenzia già associata al soggetto</vt:lpstr>
      <vt:lpstr>Algoritmo assegnazione - Prospect</vt:lpstr>
      <vt:lpstr>Modello Geografico</vt:lpstr>
      <vt:lpstr>Modello Geo-meritocratico</vt:lpstr>
      <vt:lpstr>Dashboard di direzione Salesforce</vt:lpstr>
      <vt:lpstr>Dashboard Salesforce per Direzione</vt:lpstr>
      <vt:lpstr>Report Contatori</vt:lpstr>
      <vt:lpstr>Open point</vt:lpstr>
      <vt:lpstr>Presentazione standard di PowerPoint</vt:lpstr>
      <vt:lpstr>Presentazione standard di PowerPoint</vt:lpstr>
      <vt:lpstr>Pianificazione – Proposta DSI</vt:lpstr>
      <vt:lpstr>Macro-pianificazione – Proposta DSI</vt:lpstr>
      <vt:lpstr>Backup</vt:lpstr>
      <vt:lpstr>Architettura della soluzione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Unipol</dc:title>
  <dc:creator>Gianrocco D'Erasmo</dc:creator>
  <cp:lastModifiedBy>Bove Caterina</cp:lastModifiedBy>
  <cp:revision>14</cp:revision>
  <dcterms:created xsi:type="dcterms:W3CDTF">2026-03-09T08:31:58Z</dcterms:created>
  <dcterms:modified xsi:type="dcterms:W3CDTF">2026-03-19T15:39:09Z</dcterms:modified>
</cp:coreProperties>
</file>