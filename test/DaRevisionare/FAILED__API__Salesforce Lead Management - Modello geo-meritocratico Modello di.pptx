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5.xml" ContentType="application/vnd.openxmlformats-officedocument.them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6.xml" ContentType="application/vnd.openxmlformats-officedocument.them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7.xml" ContentType="application/vnd.openxmlformats-officedocument.theme+xml"/>
  <Override PartName="/ppt/tags/tag41.xml" ContentType="application/vnd.openxmlformats-officedocument.presentationml.tags+xml"/>
  <Override PartName="/ppt/theme/theme8.xml" ContentType="application/vnd.openxmlformats-officedocument.theme+xml"/>
  <Override PartName="/ppt/theme/theme9.xml" ContentType="application/vnd.openxmlformats-officedocument.them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.xml" ContentType="application/vnd.openxmlformats-officedocument.presentationml.notesSlide+xml"/>
  <Override PartName="/ppt/tags/tag44.xml" ContentType="application/vnd.openxmlformats-officedocument.presentationml.tags+xml"/>
  <Override PartName="/ppt/notesSlides/notesSlide2.xml" ContentType="application/vnd.openxmlformats-officedocument.presentationml.notesSlide+xml"/>
  <Override PartName="/ppt/tags/tag45.xml" ContentType="application/vnd.openxmlformats-officedocument.presentationml.tags+xml"/>
  <Override PartName="/ppt/notesSlides/notesSlide3.xml" ContentType="application/vnd.openxmlformats-officedocument.presentationml.notesSlide+xml"/>
  <Override PartName="/ppt/tags/tag46.xml" ContentType="application/vnd.openxmlformats-officedocument.presentationml.tags+xml"/>
  <Override PartName="/ppt/notesSlides/notesSlide4.xml" ContentType="application/vnd.openxmlformats-officedocument.presentationml.notesSlide+xml"/>
  <Override PartName="/ppt/tags/tag47.xml" ContentType="application/vnd.openxmlformats-officedocument.presentationml.tags+xml"/>
  <Override PartName="/ppt/notesSlides/notesSlide5.xml" ContentType="application/vnd.openxmlformats-officedocument.presentationml.notesSlide+xml"/>
  <Override PartName="/ppt/tags/tag48.xml" ContentType="application/vnd.openxmlformats-officedocument.presentationml.tags+xml"/>
  <Override PartName="/ppt/notesSlides/notesSlide6.xml" ContentType="application/vnd.openxmlformats-officedocument.presentationml.notesSlide+xml"/>
  <Override PartName="/ppt/tags/tag49.xml" ContentType="application/vnd.openxmlformats-officedocument.presentationml.tags+xml"/>
  <Override PartName="/ppt/notesSlides/notesSlide7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8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9.xml" ContentType="application/vnd.openxmlformats-officedocument.presentationml.notesSlide+xml"/>
  <Override PartName="/ppt/tags/tag54.xml" ContentType="application/vnd.openxmlformats-officedocument.presentationml.tags+xml"/>
  <Override PartName="/ppt/notesSlides/notesSlide10.xml" ContentType="application/vnd.openxmlformats-officedocument.presentationml.notesSlide+xml"/>
  <Override PartName="/ppt/tags/tag55.xml" ContentType="application/vnd.openxmlformats-officedocument.presentationml.tags+xml"/>
  <Override PartName="/ppt/notesSlides/notesSlide11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2.xml" ContentType="application/vnd.openxmlformats-officedocument.presentationml.notesSlide+xml"/>
  <Override PartName="/ppt/tags/tag58.xml" ContentType="application/vnd.openxmlformats-officedocument.presentationml.tags+xml"/>
  <Override PartName="/ppt/notesSlides/notesSlide13.xml" ContentType="application/vnd.openxmlformats-officedocument.presentationml.notesSlide+xml"/>
  <Override PartName="/ppt/tags/tag59.xml" ContentType="application/vnd.openxmlformats-officedocument.presentationml.tags+xml"/>
  <Override PartName="/ppt/notesSlides/notesSlide14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5.xml" ContentType="application/vnd.openxmlformats-officedocument.presentationml.notesSlide+xml"/>
  <Override PartName="/ppt/tags/tag62.xml" ContentType="application/vnd.openxmlformats-officedocument.presentationml.tags+xml"/>
  <Override PartName="/ppt/notesSlides/notesSlide16.xml" ContentType="application/vnd.openxmlformats-officedocument.presentationml.notesSlide+xml"/>
  <Override PartName="/ppt/tags/tag63.xml" ContentType="application/vnd.openxmlformats-officedocument.presentationml.tags+xml"/>
  <Override PartName="/ppt/notesSlides/notesSlide17.xml" ContentType="application/vnd.openxmlformats-officedocument.presentationml.notesSlide+xml"/>
  <Override PartName="/ppt/tags/tag64.xml" ContentType="application/vnd.openxmlformats-officedocument.presentationml.tags+xml"/>
  <Override PartName="/ppt/notesSlides/notesSlide18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9.xml" ContentType="application/vnd.openxmlformats-officedocument.presentationml.notesSlide+xml"/>
  <Override PartName="/ppt/tags/tag67.xml" ContentType="application/vnd.openxmlformats-officedocument.presentationml.tags+xml"/>
  <Override PartName="/ppt/notesSlides/notesSlide20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4"/>
    <p:sldMasterId id="2147483737" r:id="rId5"/>
    <p:sldMasterId id="2147483757" r:id="rId6"/>
    <p:sldMasterId id="2147483779" r:id="rId7"/>
    <p:sldMasterId id="2147483789" r:id="rId8"/>
    <p:sldMasterId id="2147483814" r:id="rId9"/>
    <p:sldMasterId id="2147483824" r:id="rId10"/>
  </p:sldMasterIdLst>
  <p:notesMasterIdLst>
    <p:notesMasterId r:id="rId34"/>
  </p:notesMasterIdLst>
  <p:handoutMasterIdLst>
    <p:handoutMasterId r:id="rId35"/>
  </p:handoutMasterIdLst>
  <p:sldIdLst>
    <p:sldId id="2147483413" r:id="rId11"/>
    <p:sldId id="2147483633" r:id="rId12"/>
    <p:sldId id="2147483617" r:id="rId13"/>
    <p:sldId id="2147483635" r:id="rId14"/>
    <p:sldId id="2147483579" r:id="rId15"/>
    <p:sldId id="2147483624" r:id="rId16"/>
    <p:sldId id="2147483620" r:id="rId17"/>
    <p:sldId id="2147483608" r:id="rId18"/>
    <p:sldId id="2147483636" r:id="rId19"/>
    <p:sldId id="2147483622" r:id="rId20"/>
    <p:sldId id="2147483641" r:id="rId21"/>
    <p:sldId id="2147483637" r:id="rId22"/>
    <p:sldId id="2147483638" r:id="rId23"/>
    <p:sldId id="2147483640" r:id="rId24"/>
    <p:sldId id="2147483627" r:id="rId25"/>
    <p:sldId id="256" r:id="rId26"/>
    <p:sldId id="2147483461" r:id="rId27"/>
    <p:sldId id="2147483441" r:id="rId28"/>
    <p:sldId id="2147483426" r:id="rId29"/>
    <p:sldId id="2147483645" r:id="rId30"/>
    <p:sldId id="2147483532" r:id="rId31"/>
    <p:sldId id="2147483647" r:id="rId32"/>
    <p:sldId id="2147483639" r:id="rId33"/>
  </p:sldIdLst>
  <p:sldSz cx="13439775" cy="7559675"/>
  <p:notesSz cx="6808788" cy="9940925"/>
  <p:custDataLst>
    <p:tags r:id="rId3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ocumento" id="{AB8802A5-F8B8-4354-92E4-BCCB20DF45F9}">
          <p14:sldIdLst>
            <p14:sldId id="2147483413"/>
            <p14:sldId id="2147483633"/>
            <p14:sldId id="2147483617"/>
            <p14:sldId id="2147483635"/>
            <p14:sldId id="2147483579"/>
            <p14:sldId id="2147483624"/>
            <p14:sldId id="2147483620"/>
            <p14:sldId id="2147483608"/>
            <p14:sldId id="2147483636"/>
            <p14:sldId id="2147483622"/>
            <p14:sldId id="2147483641"/>
            <p14:sldId id="2147483637"/>
            <p14:sldId id="2147483638"/>
            <p14:sldId id="2147483640"/>
            <p14:sldId id="2147483627"/>
            <p14:sldId id="256"/>
            <p14:sldId id="2147483461"/>
            <p14:sldId id="2147483441"/>
            <p14:sldId id="2147483426"/>
            <p14:sldId id="2147483645"/>
            <p14:sldId id="2147483532"/>
          </p14:sldIdLst>
        </p14:section>
        <p14:section name="Back-up" id="{6D378F1C-BE48-463E-9E39-EC7E5CB2FA50}">
          <p14:sldIdLst>
            <p14:sldId id="2147483647"/>
            <p14:sldId id="21474836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54" userDrawn="1">
          <p15:clr>
            <a:srgbClr val="A4A3A4"/>
          </p15:clr>
        </p15:guide>
        <p15:guide id="2" pos="4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citi Carmelo" initials="RC" lastIdx="9" clrIdx="0">
    <p:extLst>
      <p:ext uri="{19B8F6BF-5375-455C-9EA6-DF929625EA0E}">
        <p15:presenceInfo xmlns:p15="http://schemas.microsoft.com/office/powerpoint/2012/main" userId="S-1-5-21-2776003779-2796079000-806773148-126560" providerId="AD"/>
      </p:ext>
    </p:extLst>
  </p:cmAuthor>
  <p:cmAuthor id="2" name="Anderloni Matteo" initials="AM" lastIdx="6" clrIdx="1">
    <p:extLst>
      <p:ext uri="{19B8F6BF-5375-455C-9EA6-DF929625EA0E}">
        <p15:presenceInfo xmlns:p15="http://schemas.microsoft.com/office/powerpoint/2012/main" userId="S-1-5-21-2776003779-2796079000-806773148-112152" providerId="AD"/>
      </p:ext>
    </p:extLst>
  </p:cmAuthor>
  <p:cmAuthor id="3" name="Vito Pagliaccio" initials="VP" lastIdx="2" clrIdx="2">
    <p:extLst>
      <p:ext uri="{19B8F6BF-5375-455C-9EA6-DF929625EA0E}">
        <p15:presenceInfo xmlns:p15="http://schemas.microsoft.com/office/powerpoint/2012/main" userId="S::v.pagliaccio@mbsconsulting.it::e76e72d9-edb2-4d5f-a2e3-3fcf0b73d839" providerId="AD"/>
      </p:ext>
    </p:extLst>
  </p:cmAuthor>
  <p:cmAuthor id="4" name="Flamini Lorenzo" initials="FL" lastIdx="4" clrIdx="3">
    <p:extLst>
      <p:ext uri="{19B8F6BF-5375-455C-9EA6-DF929625EA0E}">
        <p15:presenceInfo xmlns:p15="http://schemas.microsoft.com/office/powerpoint/2012/main" userId="S-1-5-21-2776003779-2796079000-806773148-121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FFCC"/>
    <a:srgbClr val="FFF7E1"/>
    <a:srgbClr val="EBF3FB"/>
    <a:srgbClr val="A7251D"/>
    <a:srgbClr val="D5E2F2"/>
    <a:srgbClr val="35547A"/>
    <a:srgbClr val="319BE4"/>
    <a:srgbClr val="F0F6FC"/>
    <a:srgbClr val="BE0F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0CD338-E437-4DB4-84FA-300289154F10}" v="712" dt="2026-02-04T18:57:13.393"/>
    <p1510:client id="{B377C286-B7C4-4694-972B-7E0955E7ED68}" v="155" dt="2026-02-04T16:48:31.1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Stile chiaro 1 - Color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Stile chi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Stile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2" y="84"/>
      </p:cViewPr>
      <p:guideLst>
        <p:guide orient="horz" pos="4354"/>
        <p:guide pos="4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viewProps" Target="viewProps.xml"/><Relationship Id="rId21" Type="http://schemas.openxmlformats.org/officeDocument/2006/relationships/slide" Target="slides/slide11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tags" Target="tags/tag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handoutMaster" Target="handoutMasters/handoutMaster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51162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20EC4-24AE-4EF2-AEB2-610B38F99FFC}" type="datetimeFigureOut">
              <a:rPr lang="it-IT" smtClean="0"/>
              <a:t>17/03/2026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245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6038" y="9442450"/>
            <a:ext cx="2951162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DD00E-45C2-4C1C-A6D0-ADF3543ACA2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07769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C6237E4B-567D-4B2D-8070-D0D5B7D150F1}" type="datetimeFigureOut">
              <a:rPr lang="it-IT" smtClean="0"/>
              <a:pPr/>
              <a:t>17/03/2026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1062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0879" y="4784070"/>
            <a:ext cx="5447030" cy="3914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6737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23E66357-C92E-485E-B7C3-82CCC873D00A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97362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167561" rtl="0" eaLnBrk="1" latinLnBrk="0" hangingPunct="1">
      <a:defRPr sz="1532" kern="1200">
        <a:solidFill>
          <a:schemeClr val="tx1"/>
        </a:solidFill>
        <a:latin typeface="+mn-lt"/>
        <a:ea typeface="+mn-ea"/>
        <a:cs typeface="+mn-cs"/>
      </a:defRPr>
    </a:lvl1pPr>
    <a:lvl2pPr marL="583781" algn="l" defTabSz="1167561" rtl="0" eaLnBrk="1" latinLnBrk="0" hangingPunct="1">
      <a:defRPr sz="1532" kern="1200">
        <a:solidFill>
          <a:schemeClr val="tx1"/>
        </a:solidFill>
        <a:latin typeface="+mn-lt"/>
        <a:ea typeface="+mn-ea"/>
        <a:cs typeface="+mn-cs"/>
      </a:defRPr>
    </a:lvl2pPr>
    <a:lvl3pPr marL="1167561" algn="l" defTabSz="1167561" rtl="0" eaLnBrk="1" latinLnBrk="0" hangingPunct="1">
      <a:defRPr sz="1532" kern="1200">
        <a:solidFill>
          <a:schemeClr val="tx1"/>
        </a:solidFill>
        <a:latin typeface="+mn-lt"/>
        <a:ea typeface="+mn-ea"/>
        <a:cs typeface="+mn-cs"/>
      </a:defRPr>
    </a:lvl3pPr>
    <a:lvl4pPr marL="1751342" algn="l" defTabSz="1167561" rtl="0" eaLnBrk="1" latinLnBrk="0" hangingPunct="1">
      <a:defRPr sz="1532" kern="1200">
        <a:solidFill>
          <a:schemeClr val="tx1"/>
        </a:solidFill>
        <a:latin typeface="+mn-lt"/>
        <a:ea typeface="+mn-ea"/>
        <a:cs typeface="+mn-cs"/>
      </a:defRPr>
    </a:lvl4pPr>
    <a:lvl5pPr marL="2335123" algn="l" defTabSz="1167561" rtl="0" eaLnBrk="1" latinLnBrk="0" hangingPunct="1">
      <a:defRPr sz="1532" kern="1200">
        <a:solidFill>
          <a:schemeClr val="tx1"/>
        </a:solidFill>
        <a:latin typeface="+mn-lt"/>
        <a:ea typeface="+mn-ea"/>
        <a:cs typeface="+mn-cs"/>
      </a:defRPr>
    </a:lvl5pPr>
    <a:lvl6pPr marL="2918904" algn="l" defTabSz="1167561" rtl="0" eaLnBrk="1" latinLnBrk="0" hangingPunct="1">
      <a:defRPr sz="1532" kern="1200">
        <a:solidFill>
          <a:schemeClr val="tx1"/>
        </a:solidFill>
        <a:latin typeface="+mn-lt"/>
        <a:ea typeface="+mn-ea"/>
        <a:cs typeface="+mn-cs"/>
      </a:defRPr>
    </a:lvl6pPr>
    <a:lvl7pPr marL="3502685" algn="l" defTabSz="1167561" rtl="0" eaLnBrk="1" latinLnBrk="0" hangingPunct="1">
      <a:defRPr sz="1532" kern="1200">
        <a:solidFill>
          <a:schemeClr val="tx1"/>
        </a:solidFill>
        <a:latin typeface="+mn-lt"/>
        <a:ea typeface="+mn-ea"/>
        <a:cs typeface="+mn-cs"/>
      </a:defRPr>
    </a:lvl7pPr>
    <a:lvl8pPr marL="4086465" algn="l" defTabSz="1167561" rtl="0" eaLnBrk="1" latinLnBrk="0" hangingPunct="1">
      <a:defRPr sz="1532" kern="1200">
        <a:solidFill>
          <a:schemeClr val="tx1"/>
        </a:solidFill>
        <a:latin typeface="+mn-lt"/>
        <a:ea typeface="+mn-ea"/>
        <a:cs typeface="+mn-cs"/>
      </a:defRPr>
    </a:lvl8pPr>
    <a:lvl9pPr marL="4670246" algn="l" defTabSz="1167561" rtl="0" eaLnBrk="1" latinLnBrk="0" hangingPunct="1">
      <a:defRPr sz="153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423863" y="1243013"/>
            <a:ext cx="5961062" cy="3354387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8385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FB7ED-E18A-1148-7CEF-C60204635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60C0CB4-0E1C-7F69-010E-5CFA93DE9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10129C0-21E8-0F79-BC45-429B9F9BB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3907192-D061-D1C3-FE4D-E72FC0B3C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6E88C1-4F76-4F22-9739-D3AD3AD49DE6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4388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6B8E6-98BA-A8A6-FD35-F4C126D35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31795E6-74DA-F4E7-1DD4-7EB9C73A1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3280342-B0DC-A25C-DA46-42C30B728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BF9A586-050C-46A9-9DF1-8D2394A58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6E88C1-4F76-4F22-9739-D3AD3AD49DE6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4176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38301-1630-A0D9-0306-9A79562C1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116A48B-7EED-281B-40FB-07D10DFCE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095D6F5-651E-527D-3569-9FD11B211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88C8607-E975-1E1C-EC16-605C0604E0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E66357-C92E-485E-B7C3-82CCC873D00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115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19CBC-2A5A-6797-C810-D52B54B15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757AAA3-46D7-3A2B-707F-18F202625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2ECA397-2D33-4928-0DF1-F3F54A122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EE17AEE-78E9-A245-9E03-4937F31B87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E66357-C92E-485E-B7C3-82CCC873D00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327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90755-F0F1-D02F-14AF-9A32C266D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5B14F36-B27B-8BB0-6DFC-A4AA32378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9A5AB1F-09BC-771C-A37A-F1E15D898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51A322E-38D3-862B-2DA1-7D4F88BB8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E66357-C92E-485E-B7C3-82CCC873D00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1914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F24ED-B3BE-1041-C538-A72ED7FB4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5922F83-6FE3-570F-D716-081FB37EB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F812CEB-ACA1-35A6-BECD-B60F1C617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F14676-A407-D2A3-8E69-22D99B39E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E66357-C92E-485E-B7C3-82CCC873D00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8084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7B7B0-F8A3-6DA1-7DFC-97C51CA5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B8109DB-8A53-2B95-CD31-9AFA3F780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2ED8BEC-B77E-0EC8-A3B3-2C61DB291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12C33A-C4ED-11D7-AE89-7F7DDEA1A1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E66357-C92E-485E-B7C3-82CCC873D00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7159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8ABF5-3D54-0A82-DCBE-CED5AED29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A362DD8-8C08-1BF4-6E64-CA4B4CFF2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2CAB6D5-2370-ACA2-5B35-D174636AD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A420111-FBD4-BA60-6756-8B261E61D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E66357-C92E-485E-B7C3-82CCC873D00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7642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A0F3B-EDE2-DCC9-FB48-1397237C7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C224106-5068-B3F9-D74C-8F4AC3243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37981AD-C822-22E2-A36B-157649C11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4702ED3-2468-ABD6-2EC0-58C37F55E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6E88C1-4F76-4F22-9739-D3AD3AD49DE6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9096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8849F-5DCE-FFA3-908E-07F064EDC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B4972E3-26FB-7625-5D2A-1505BEE32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749B2A8-2B6D-2A71-7F20-B48D957D6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BAC8D6A-BE07-5320-FC65-0C0E49D5FC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E66357-C92E-485E-B7C3-82CCC873D00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4271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F0ABE-7A59-B637-11BF-D536EC1C6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C71C9B3-A51D-5281-F1D0-4999290DC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523AEAB-EBDD-A740-94E8-8C75AF394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DAB9E1-B161-CDE7-EB91-6919DADD5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6E88C1-4F76-4F22-9739-D3AD3AD49DE6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30302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6EA0E-9CAF-0653-A2AE-7A4867276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0B5B015-A210-0ED1-81C2-C361BAFE1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45B05E5-B5BD-D92F-CD71-C1A284CD5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E2BE1D-82EA-8499-D515-50AF72A59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6E88C1-4F76-4F22-9739-D3AD3AD49DE6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1669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D5D9D-BA2A-7FB7-200D-75ED9290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8636315-2242-D611-726D-FB7E521A3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E89C815-414D-31D7-ABF6-9FFCF0EA2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2B81972-5A9E-0C50-473F-73B5CD24FD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E66357-C92E-485E-B7C3-82CCC873D00A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47012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2F722-3348-BC7C-D928-2BDFDEE5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1493C76-6EE2-EE3E-C82B-9CC854311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02EDEA7-B370-DD9B-52E8-594817F17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9C8C508-BCCF-186E-CFC6-05E6C4D46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6E88C1-4F76-4F22-9739-D3AD3AD49DE6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8888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4C1E5-52B5-561D-C3DD-37CE7CA71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B3999CE-D643-6FC2-104F-25881EBF6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F1A9DE7-FD2C-FE42-C6C7-4DD708289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30B6425-B0AE-56F6-19D2-2B8175971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6E88C1-4F76-4F22-9739-D3AD3AD49DE6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73058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D22E0-4D02-B258-D2C1-3018C8F24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85A1DE9-5D48-CB19-DA01-F941A938A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C62CE54-4646-6245-6799-E44057F73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7DD75A4-F544-B99E-F610-DD3A0811D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6E88C1-4F76-4F22-9739-D3AD3AD49DE6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12101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4E70-160E-AE35-F557-8A4167A58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1222793-CD8F-F08D-65F1-A47E1603C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4BBE3BC-585A-9EC9-F4EA-2385AD970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84F6E53-C8C7-6614-F984-AE9A152F1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6E88C1-4F76-4F22-9739-D3AD3AD49DE6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20456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7BCC3-300A-7260-CB54-A9C385628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A3AA5EE-12F6-E664-E28F-F4DCDAFDB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59A6FBB-AA34-F741-93C9-8F270537A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74D988-7F2F-8811-814D-F766064FE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6E88C1-4F76-4F22-9739-D3AD3AD49DE6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55396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D8182-E639-4CBE-ECA6-EA48767C3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61F8024-8743-28A1-82F8-14871AD15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101E437-A637-5E53-52AD-017324D42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92AA133-D498-51D3-0711-FE0946579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6E88C1-4F76-4F22-9739-D3AD3AD49DE6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03021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584D9-5EB5-8BCB-1F9D-F99DCEB65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CE9CB56-7DBA-D872-F6D8-5FCFB9654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18CCA57-B82B-7929-78C9-ED58D487B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9BFA8FF-9908-4856-A0EF-14C9C8F20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6E88C1-4F76-4F22-9739-D3AD3AD49DE6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6180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jpe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6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0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0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7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1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8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2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9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3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0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9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6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0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7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21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8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2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9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23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3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0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24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4.bin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26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2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6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28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0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7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29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1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8.bin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30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2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9.bin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31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3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0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32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4.bin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34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35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6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6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36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0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7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3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1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8.bin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38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2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9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39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3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0.bin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40.xml"/><Relationship Id="rId1" Type="http://schemas.openxmlformats.org/officeDocument/2006/relationships/vmlDrawing" Target="../drawings/vmlDrawing38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4.bin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l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ggetto 6" hidden="1">
            <a:extLst>
              <a:ext uri="{FF2B5EF4-FFF2-40B4-BE49-F238E27FC236}">
                <a16:creationId xmlns:a16="http://schemas.microsoft.com/office/drawing/2014/main" id="{8A64CBA3-035F-4867-A659-CA70F69682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71158394"/>
              </p:ext>
            </p:extLst>
          </p:nvPr>
        </p:nvGraphicFramePr>
        <p:xfrm>
          <a:off x="1996" y="1588"/>
          <a:ext cx="1996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Diapositiva think-cell" r:id="rId4" imgW="414" imgH="414" progId="TCLayout.ActiveDocument.1">
                  <p:embed/>
                </p:oleObj>
              </mc:Choice>
              <mc:Fallback>
                <p:oleObj name="Diapositiva think-cell" r:id="rId4" imgW="414" imgH="414" progId="TCLayout.ActiveDocument.1">
                  <p:embed/>
                  <p:pic>
                    <p:nvPicPr>
                      <p:cNvPr id="7" name="Oggetto 6" hidden="1">
                        <a:extLst>
                          <a:ext uri="{FF2B5EF4-FFF2-40B4-BE49-F238E27FC236}">
                            <a16:creationId xmlns:a16="http://schemas.microsoft.com/office/drawing/2014/main" id="{8A64CBA3-035F-4867-A659-CA70F6968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96" y="1588"/>
                        <a:ext cx="1996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magine 3" descr="US_A4_RGB-06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3439775" cy="7559529"/>
          </a:xfrm>
          <a:prstGeom prst="rect">
            <a:avLst/>
          </a:prstGeom>
        </p:spPr>
      </p:pic>
      <p:pic>
        <p:nvPicPr>
          <p:cNvPr id="3" name="Immagine 2" descr="US_A4_RGB-06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3439775" cy="75595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921" y="129646"/>
            <a:ext cx="11355022" cy="518049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17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ECF0A86-51DC-4ECB-BF32-33280A286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455593" y="237612"/>
            <a:ext cx="664990" cy="402482"/>
          </a:xfrm>
          <a:prstGeom prst="rect">
            <a:avLst/>
          </a:prstGeom>
        </p:spPr>
        <p:txBody>
          <a:bodyPr anchor="ctr"/>
          <a:lstStyle>
            <a:lvl1pPr algn="r" rtl="0">
              <a:defRPr sz="935">
                <a:solidFill>
                  <a:schemeClr val="bg1"/>
                </a:solidFill>
                <a:latin typeface="+mn-lt"/>
              </a:defRPr>
            </a:lvl1pPr>
          </a:lstStyle>
          <a:p>
            <a:fld id="{7998DEE5-5424-45CB-8336-3215AFBD0173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Segnaposto piè di pagina 7">
            <a:extLst>
              <a:ext uri="{FF2B5EF4-FFF2-40B4-BE49-F238E27FC236}">
                <a16:creationId xmlns:a16="http://schemas.microsoft.com/office/drawing/2014/main" id="{AD80BBD2-4446-4B94-A7D7-E46FF0E1C48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6180" y="7165460"/>
            <a:ext cx="4535924" cy="402483"/>
          </a:xfrm>
        </p:spPr>
        <p:txBody>
          <a:bodyPr/>
          <a:lstStyle>
            <a:lvl1pPr algn="l" rtl="0">
              <a:defRPr sz="800">
                <a:solidFill>
                  <a:schemeClr val="bg1"/>
                </a:solidFill>
              </a:defRPr>
            </a:lvl1pPr>
          </a:lstStyle>
          <a:p>
            <a:r>
              <a:rPr lang="it-IT"/>
              <a:t>Titolo Presentazione</a:t>
            </a:r>
          </a:p>
        </p:txBody>
      </p:sp>
    </p:spTree>
    <p:extLst>
      <p:ext uri="{BB962C8B-B14F-4D97-AF65-F5344CB8AC3E}">
        <p14:creationId xmlns:p14="http://schemas.microsoft.com/office/powerpoint/2010/main" val="1827519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ggetto 7" hidden="1">
            <a:extLst>
              <a:ext uri="{FF2B5EF4-FFF2-40B4-BE49-F238E27FC236}">
                <a16:creationId xmlns:a16="http://schemas.microsoft.com/office/drawing/2014/main" id="{DE9F1556-8238-4559-89EC-E4A11BE5D48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00478486"/>
              </p:ext>
            </p:extLst>
          </p:nvPr>
        </p:nvGraphicFramePr>
        <p:xfrm>
          <a:off x="1996" y="1588"/>
          <a:ext cx="1996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Diapositiva think-cell" r:id="rId4" imgW="414" imgH="414" progId="TCLayout.ActiveDocument.1">
                  <p:embed/>
                </p:oleObj>
              </mc:Choice>
              <mc:Fallback>
                <p:oleObj name="Diapositiva think-cell" r:id="rId4" imgW="414" imgH="414" progId="TCLayout.ActiveDocument.1">
                  <p:embed/>
                  <p:pic>
                    <p:nvPicPr>
                      <p:cNvPr id="8" name="Oggetto 7" hidden="1">
                        <a:extLst>
                          <a:ext uri="{FF2B5EF4-FFF2-40B4-BE49-F238E27FC236}">
                            <a16:creationId xmlns:a16="http://schemas.microsoft.com/office/drawing/2014/main" id="{DE9F1556-8238-4559-89EC-E4A11BE5D4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96" y="1588"/>
                        <a:ext cx="1996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87DE6118-2437-4B30-8E3C-4D2BE6020583}" type="datetimeFigureOut">
              <a:rPr lang="it-IT" smtClean="0"/>
              <a:pPr/>
              <a:t>17/03/2026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69E57DC2-970A-4B3E-BB1C-7A09969E49DF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7796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to di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7DD069E-02C0-C4D8-F533-4D3CB4108D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48196942"/>
              </p:ext>
            </p:extLst>
          </p:nvPr>
        </p:nvGraphicFramePr>
        <p:xfrm>
          <a:off x="2336" y="2333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DD069E-02C0-C4D8-F533-4D3CB4108D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6" y="2333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magine 6">
            <a:extLst>
              <a:ext uri="{FF2B5EF4-FFF2-40B4-BE49-F238E27FC236}">
                <a16:creationId xmlns:a16="http://schemas.microsoft.com/office/drawing/2014/main" id="{854C2E04-660E-F40A-313D-A6E3C714CD9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"/>
            <a:ext cx="13452221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92" y="87405"/>
            <a:ext cx="11356409" cy="52005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2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983" y="1350172"/>
            <a:ext cx="11591806" cy="4024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761">
                <a:solidFill>
                  <a:srgbClr val="969696"/>
                </a:solidFill>
                <a:latin typeface="+mn-lt"/>
              </a:defRPr>
            </a:lvl1pPr>
            <a:lvl2pPr marL="503049" indent="0">
              <a:buNone/>
              <a:defRPr sz="2201">
                <a:solidFill>
                  <a:schemeClr val="tx1">
                    <a:tint val="75000"/>
                  </a:schemeClr>
                </a:solidFill>
              </a:defRPr>
            </a:lvl2pPr>
            <a:lvl3pPr marL="1006098" indent="0">
              <a:buNone/>
              <a:defRPr sz="1981">
                <a:solidFill>
                  <a:schemeClr val="tx1">
                    <a:tint val="75000"/>
                  </a:schemeClr>
                </a:solidFill>
              </a:defRPr>
            </a:lvl3pPr>
            <a:lvl4pPr marL="1509145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4pPr>
            <a:lvl5pPr marL="2012194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5pPr>
            <a:lvl6pPr marL="2515243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6pPr>
            <a:lvl7pPr marL="3018292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7pPr>
            <a:lvl8pPr marL="3521341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8pPr>
            <a:lvl9pPr marL="4024390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952BF5E0-0A08-4EC0-82B8-F757F04A31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3" y="1879779"/>
            <a:ext cx="11591806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1">
                <a:solidFill>
                  <a:srgbClr val="0F3250"/>
                </a:solidFill>
                <a:latin typeface="+mn-lt"/>
              </a:defRPr>
            </a:lvl1pPr>
            <a:lvl2pPr marL="503049" indent="0">
              <a:buFontTx/>
              <a:buNone/>
              <a:defRPr/>
            </a:lvl2pPr>
            <a:lvl3pPr marL="1006098" indent="0">
              <a:buFontTx/>
              <a:buNone/>
              <a:defRPr/>
            </a:lvl3pPr>
            <a:lvl4pPr marL="1509145" indent="0">
              <a:buFontTx/>
              <a:buNone/>
              <a:defRPr/>
            </a:lvl4pPr>
            <a:lvl5pPr marL="2012194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7C6DC3C-E3D0-4FE1-A5A0-EDF1891629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56828" y="7158183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6">
                <a:solidFill>
                  <a:schemeClr val="bg1"/>
                </a:solidFill>
              </a:defRPr>
            </a:lvl1pPr>
          </a:lstStyle>
          <a:p>
            <a:r>
              <a:rPr lang="en-US" err="1"/>
              <a:t>Titolo</a:t>
            </a:r>
            <a:r>
              <a:rPr lang="en-US"/>
              <a:t> </a:t>
            </a:r>
            <a:r>
              <a:rPr lang="en-US" err="1"/>
              <a:t>Presentazione</a:t>
            </a:r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A4E14CA5-B13B-0CC8-8F71-6211975B4A69}"/>
              </a:ext>
            </a:extLst>
          </p:cNvPr>
          <p:cNvSpPr txBox="1">
            <a:spLocks/>
          </p:cNvSpPr>
          <p:nvPr userDrawn="1"/>
        </p:nvSpPr>
        <p:spPr>
          <a:xfrm>
            <a:off x="6387394" y="7157195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</p:spTree>
    <p:extLst>
      <p:ext uri="{BB962C8B-B14F-4D97-AF65-F5344CB8AC3E}">
        <p14:creationId xmlns:p14="http://schemas.microsoft.com/office/powerpoint/2010/main" val="1896301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presen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40761" y="1371470"/>
            <a:ext cx="10079831" cy="478185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2643" b="1">
                <a:solidFill>
                  <a:srgbClr val="0F3250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0761" y="1849656"/>
            <a:ext cx="10079831" cy="4781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2349">
                <a:solidFill>
                  <a:srgbClr val="0F3250"/>
                </a:solidFill>
              </a:defRPr>
            </a:lvl1pPr>
            <a:lvl2pPr marL="503505" indent="0" algn="ctr">
              <a:buNone/>
              <a:defRPr sz="2202"/>
            </a:lvl2pPr>
            <a:lvl3pPr marL="1007011" indent="0" algn="ctr">
              <a:buNone/>
              <a:defRPr sz="1982"/>
            </a:lvl3pPr>
            <a:lvl4pPr marL="1510516" indent="0" algn="ctr">
              <a:buNone/>
              <a:defRPr sz="1763"/>
            </a:lvl4pPr>
            <a:lvl5pPr marL="2014021" indent="0" algn="ctr">
              <a:buNone/>
              <a:defRPr sz="1763"/>
            </a:lvl5pPr>
            <a:lvl6pPr marL="2517526" indent="0" algn="ctr">
              <a:buNone/>
              <a:defRPr sz="1763"/>
            </a:lvl6pPr>
            <a:lvl7pPr marL="3021033" indent="0" algn="ctr">
              <a:buNone/>
              <a:defRPr sz="1763"/>
            </a:lvl7pPr>
            <a:lvl8pPr marL="3524538" indent="0" algn="ctr">
              <a:buNone/>
              <a:defRPr sz="1763"/>
            </a:lvl8pPr>
            <a:lvl9pPr marL="4028043" indent="0" algn="ctr">
              <a:buNone/>
              <a:defRPr sz="1763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7F738A74-27ED-4AD4-8EC0-C89BD70E0D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9889" y="5192237"/>
            <a:ext cx="5668039" cy="47787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1468">
                <a:solidFill>
                  <a:srgbClr val="0F3250"/>
                </a:solidFill>
                <a:latin typeface="+mn-lt"/>
              </a:defRPr>
            </a:lvl1pPr>
            <a:lvl2pPr>
              <a:defRPr sz="1468">
                <a:latin typeface="+mn-lt"/>
              </a:defRPr>
            </a:lvl2pPr>
            <a:lvl3pPr>
              <a:defRPr sz="1468">
                <a:latin typeface="+mn-lt"/>
              </a:defRPr>
            </a:lvl3pPr>
            <a:lvl4pPr>
              <a:defRPr sz="1468">
                <a:latin typeface="+mn-lt"/>
              </a:defRPr>
            </a:lvl4pPr>
            <a:lvl5pPr>
              <a:defRPr sz="1468">
                <a:latin typeface="+mn-lt"/>
              </a:defRPr>
            </a:lvl5pPr>
          </a:lstStyle>
          <a:p>
            <a:pPr lvl="0"/>
            <a:r>
              <a:rPr lang="it-IT"/>
              <a:t>Luogo, Giorno, Mese, Anno</a:t>
            </a:r>
          </a:p>
        </p:txBody>
      </p:sp>
    </p:spTree>
    <p:extLst>
      <p:ext uri="{BB962C8B-B14F-4D97-AF65-F5344CB8AC3E}">
        <p14:creationId xmlns:p14="http://schemas.microsoft.com/office/powerpoint/2010/main" val="1266021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6727BFB4-4582-B112-DCC6-FA5320800C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497"/>
            <a:ext cx="13446000" cy="75561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3951" y="1734720"/>
            <a:ext cx="10162343" cy="6241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937" b="1">
                <a:solidFill>
                  <a:srgbClr val="0F325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11E6B4A2-9A21-4261-B346-5479C602FC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40" y="2832665"/>
            <a:ext cx="9844654" cy="32779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1007011" rtl="0" eaLnBrk="1" fontAlgn="auto" latinLnBrk="0" hangingPunct="1">
              <a:lnSpc>
                <a:spcPct val="10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None/>
              <a:tabLst/>
              <a:defRPr sz="1542" i="1">
                <a:solidFill>
                  <a:srgbClr val="0F3250"/>
                </a:solidFill>
              </a:defRPr>
            </a:lvl1pPr>
          </a:lstStyle>
          <a:p>
            <a:pPr marL="158585" marR="0" lvl="0" indent="-158585" algn="l" defTabSz="1007011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585" marR="0" lvl="0" indent="-158585" algn="l" defTabSz="1007011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585" marR="0" lvl="0" indent="-158585" algn="l" defTabSz="1007011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585" marR="0" lvl="0" indent="-158585" algn="l" defTabSz="1007011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585" marR="0" lvl="0" indent="-158585" algn="l" defTabSz="1007011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585" marR="0" lvl="0" indent="-158585" algn="l" defTabSz="1007011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endParaRPr lang="it-IT"/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40C1A1A2-0B04-4A5C-99E7-5874469B36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3953" y="2381427"/>
            <a:ext cx="10161497" cy="4494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264307" indent="-264307">
              <a:buClr>
                <a:srgbClr val="0F3250"/>
              </a:buClr>
              <a:buFont typeface="+mj-lt"/>
              <a:buAutoNum type="arabicPeriod"/>
              <a:defRPr sz="1909">
                <a:solidFill>
                  <a:srgbClr val="0F3250"/>
                </a:solidFill>
              </a:defRPr>
            </a:lvl1pPr>
          </a:lstStyle>
          <a:p>
            <a:pPr lvl="0"/>
            <a:r>
              <a:rPr lang="it-IT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0815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di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7DD069E-02C0-C4D8-F533-4D3CB4108D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48196942"/>
              </p:ext>
            </p:extLst>
          </p:nvPr>
        </p:nvGraphicFramePr>
        <p:xfrm>
          <a:off x="2335" y="2333"/>
          <a:ext cx="2334" cy="2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DD069E-02C0-C4D8-F533-4D3CB4108D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5" y="2333"/>
                        <a:ext cx="2334" cy="2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magine 6">
            <a:extLst>
              <a:ext uri="{FF2B5EF4-FFF2-40B4-BE49-F238E27FC236}">
                <a16:creationId xmlns:a16="http://schemas.microsoft.com/office/drawing/2014/main" id="{854C2E04-660E-F40A-313D-A6E3C714CD9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"/>
            <a:ext cx="13452222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92" y="87404"/>
            <a:ext cx="11356408" cy="520053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3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984" y="1350171"/>
            <a:ext cx="11591806" cy="4024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763">
                <a:solidFill>
                  <a:srgbClr val="969696"/>
                </a:solidFill>
                <a:latin typeface="+mn-lt"/>
              </a:defRPr>
            </a:lvl1pPr>
            <a:lvl2pPr marL="503505" indent="0">
              <a:buNone/>
              <a:defRPr sz="2202">
                <a:solidFill>
                  <a:schemeClr val="tx1">
                    <a:tint val="75000"/>
                  </a:schemeClr>
                </a:solidFill>
              </a:defRPr>
            </a:lvl2pPr>
            <a:lvl3pPr marL="1007011" indent="0">
              <a:buNone/>
              <a:defRPr sz="1982">
                <a:solidFill>
                  <a:schemeClr val="tx1">
                    <a:tint val="75000"/>
                  </a:schemeClr>
                </a:solidFill>
              </a:defRPr>
            </a:lvl3pPr>
            <a:lvl4pPr marL="1510516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02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7526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1033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453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8043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952BF5E0-0A08-4EC0-82B8-F757F04A31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4" y="1879778"/>
            <a:ext cx="11591806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3">
                <a:solidFill>
                  <a:srgbClr val="0F3250"/>
                </a:solidFill>
                <a:latin typeface="+mn-lt"/>
              </a:defRPr>
            </a:lvl1pPr>
            <a:lvl2pPr marL="503505" indent="0">
              <a:buFontTx/>
              <a:buNone/>
              <a:defRPr/>
            </a:lvl2pPr>
            <a:lvl3pPr marL="1007011" indent="0">
              <a:buFontTx/>
              <a:buNone/>
              <a:defRPr/>
            </a:lvl3pPr>
            <a:lvl4pPr marL="1510516" indent="0">
              <a:buFontTx/>
              <a:buNone/>
              <a:defRPr/>
            </a:lvl4pPr>
            <a:lvl5pPr marL="2014021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7C6DC3C-E3D0-4FE1-A5A0-EDF1891629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56827" y="7158182"/>
            <a:ext cx="5303724" cy="351120"/>
          </a:xfrm>
          <a:prstGeom prst="rect">
            <a:avLst/>
          </a:prstGeom>
        </p:spPr>
        <p:txBody>
          <a:bodyPr/>
          <a:lstStyle>
            <a:lvl1pPr algn="l">
              <a:defRPr sz="1027">
                <a:solidFill>
                  <a:schemeClr val="bg1"/>
                </a:solidFill>
              </a:defRPr>
            </a:lvl1pPr>
          </a:lstStyle>
          <a:p>
            <a:r>
              <a:rPr lang="en-US" err="1"/>
              <a:t>Titolo</a:t>
            </a:r>
            <a:r>
              <a:rPr lang="en-US"/>
              <a:t> </a:t>
            </a:r>
            <a:r>
              <a:rPr lang="en-US" err="1"/>
              <a:t>Presentazione</a:t>
            </a:r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A4E14CA5-B13B-0CC8-8F71-6211975B4A69}"/>
              </a:ext>
            </a:extLst>
          </p:cNvPr>
          <p:cNvSpPr txBox="1">
            <a:spLocks/>
          </p:cNvSpPr>
          <p:nvPr userDrawn="1"/>
        </p:nvSpPr>
        <p:spPr>
          <a:xfrm>
            <a:off x="6387394" y="7157194"/>
            <a:ext cx="664990" cy="4024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</p:spTree>
    <p:extLst>
      <p:ext uri="{BB962C8B-B14F-4D97-AF65-F5344CB8AC3E}">
        <p14:creationId xmlns:p14="http://schemas.microsoft.com/office/powerpoint/2010/main" val="609145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e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7A2920A-7100-C52B-8817-DA15100E88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60961323"/>
              </p:ext>
            </p:extLst>
          </p:nvPr>
        </p:nvGraphicFramePr>
        <p:xfrm>
          <a:off x="2335" y="2333"/>
          <a:ext cx="2334" cy="2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A2920A-7100-C52B-8817-DA15100E88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5" y="2333"/>
                        <a:ext cx="2334" cy="2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magine 4">
            <a:extLst>
              <a:ext uri="{FF2B5EF4-FFF2-40B4-BE49-F238E27FC236}">
                <a16:creationId xmlns:a16="http://schemas.microsoft.com/office/drawing/2014/main" id="{E2B752D3-4A88-44E0-D1C6-D33A79372A1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"/>
            <a:ext cx="13452222" cy="7559675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401258" y="1928140"/>
            <a:ext cx="4444928" cy="435135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349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err="1"/>
              <a:t>Inserisci</a:t>
            </a:r>
            <a:r>
              <a:rPr lang="en-US"/>
              <a:t> qui </a:t>
            </a:r>
            <a:r>
              <a:rPr lang="en-US" err="1"/>
              <a:t>il</a:t>
            </a:r>
            <a:r>
              <a:rPr lang="en-US"/>
              <a:t> </a:t>
            </a:r>
            <a:r>
              <a:rPr lang="en-US" err="1"/>
              <a:t>grafico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7CD518-EF0F-4B5F-9D5C-FF7A0A28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985" y="1350171"/>
            <a:ext cx="6832561" cy="4024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763">
                <a:solidFill>
                  <a:srgbClr val="969696"/>
                </a:solidFill>
                <a:latin typeface="+mn-lt"/>
              </a:defRPr>
            </a:lvl1pPr>
            <a:lvl2pPr marL="503505" indent="0">
              <a:buNone/>
              <a:defRPr sz="2202">
                <a:solidFill>
                  <a:schemeClr val="tx1">
                    <a:tint val="75000"/>
                  </a:schemeClr>
                </a:solidFill>
              </a:defRPr>
            </a:lvl2pPr>
            <a:lvl3pPr marL="1007011" indent="0">
              <a:buNone/>
              <a:defRPr sz="1982">
                <a:solidFill>
                  <a:schemeClr val="tx1">
                    <a:tint val="75000"/>
                  </a:schemeClr>
                </a:solidFill>
              </a:defRPr>
            </a:lvl3pPr>
            <a:lvl4pPr marL="1510516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02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7526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1033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453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8043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2" name="Segnaposto testo 8">
            <a:extLst>
              <a:ext uri="{FF2B5EF4-FFF2-40B4-BE49-F238E27FC236}">
                <a16:creationId xmlns:a16="http://schemas.microsoft.com/office/drawing/2014/main" id="{C23A30CD-5A95-4485-BE1D-AA8BEF1A4E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5" y="1879778"/>
            <a:ext cx="6832561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3">
                <a:solidFill>
                  <a:srgbClr val="0F3250"/>
                </a:solidFill>
                <a:latin typeface="+mn-lt"/>
              </a:defRPr>
            </a:lvl1pPr>
            <a:lvl2pPr marL="503505" indent="0">
              <a:buFontTx/>
              <a:buNone/>
              <a:defRPr/>
            </a:lvl2pPr>
            <a:lvl3pPr marL="1007011" indent="0">
              <a:buFontTx/>
              <a:buNone/>
              <a:defRPr/>
            </a:lvl3pPr>
            <a:lvl4pPr marL="1510516" indent="0">
              <a:buFontTx/>
              <a:buNone/>
              <a:defRPr/>
            </a:lvl4pPr>
            <a:lvl5pPr marL="2014021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5C413CFE-B928-45F4-B41D-8D42139BA3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260" y="1383261"/>
            <a:ext cx="4366526" cy="3541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FontTx/>
              <a:buNone/>
              <a:defRPr sz="1763"/>
            </a:lvl1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4214B999-2BC8-4CE4-B9B7-84E70337219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0" y="7158182"/>
            <a:ext cx="5303724" cy="351120"/>
          </a:xfrm>
          <a:prstGeom prst="rect">
            <a:avLst/>
          </a:prstGeom>
        </p:spPr>
        <p:txBody>
          <a:bodyPr/>
          <a:lstStyle>
            <a:lvl1pPr algn="l">
              <a:defRPr sz="1027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C1711A9C-99BD-DFF9-5020-B170FCCB2DCA}"/>
              </a:ext>
            </a:extLst>
          </p:cNvPr>
          <p:cNvSpPr txBox="1">
            <a:spLocks/>
          </p:cNvSpPr>
          <p:nvPr userDrawn="1"/>
        </p:nvSpPr>
        <p:spPr>
          <a:xfrm>
            <a:off x="6387394" y="7157194"/>
            <a:ext cx="664990" cy="4024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873D08D-F04D-5E6C-67F0-4021F1B1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2" y="87404"/>
            <a:ext cx="11356408" cy="520053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3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43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27B1F45-E6AF-BFF6-73D3-9E1FC7797C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84272497"/>
              </p:ext>
            </p:extLst>
          </p:nvPr>
        </p:nvGraphicFramePr>
        <p:xfrm>
          <a:off x="2335" y="2333"/>
          <a:ext cx="2334" cy="2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7B1F45-E6AF-BFF6-73D3-9E1FC7797C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5" y="2333"/>
                        <a:ext cx="2334" cy="2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magine 5">
            <a:extLst>
              <a:ext uri="{FF2B5EF4-FFF2-40B4-BE49-F238E27FC236}">
                <a16:creationId xmlns:a16="http://schemas.microsoft.com/office/drawing/2014/main" id="{07658883-0AE9-E616-516D-F7C4A9EC60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0" y="1"/>
            <a:ext cx="13452219" cy="7559675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7CD518-EF0F-4B5F-9D5C-FF7A0A28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985" y="1350171"/>
            <a:ext cx="6832561" cy="4024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763">
                <a:solidFill>
                  <a:srgbClr val="969696"/>
                </a:solidFill>
                <a:latin typeface="+mn-lt"/>
              </a:defRPr>
            </a:lvl1pPr>
            <a:lvl2pPr marL="503505" indent="0">
              <a:buNone/>
              <a:defRPr sz="2202">
                <a:solidFill>
                  <a:schemeClr val="tx1">
                    <a:tint val="75000"/>
                  </a:schemeClr>
                </a:solidFill>
              </a:defRPr>
            </a:lvl2pPr>
            <a:lvl3pPr marL="1007011" indent="0">
              <a:buNone/>
              <a:defRPr sz="1982">
                <a:solidFill>
                  <a:schemeClr val="tx1">
                    <a:tint val="75000"/>
                  </a:schemeClr>
                </a:solidFill>
              </a:defRPr>
            </a:lvl3pPr>
            <a:lvl4pPr marL="1510516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02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7526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1033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453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8043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2" name="Segnaposto testo 8">
            <a:extLst>
              <a:ext uri="{FF2B5EF4-FFF2-40B4-BE49-F238E27FC236}">
                <a16:creationId xmlns:a16="http://schemas.microsoft.com/office/drawing/2014/main" id="{C23A30CD-5A95-4485-BE1D-AA8BEF1A4E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5" y="1879778"/>
            <a:ext cx="6832561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3">
                <a:solidFill>
                  <a:srgbClr val="0F3250"/>
                </a:solidFill>
                <a:latin typeface="+mn-lt"/>
              </a:defRPr>
            </a:lvl1pPr>
            <a:lvl2pPr marL="503505" indent="0">
              <a:buFontTx/>
              <a:buNone/>
              <a:defRPr/>
            </a:lvl2pPr>
            <a:lvl3pPr marL="1007011" indent="0">
              <a:buFontTx/>
              <a:buNone/>
              <a:defRPr/>
            </a:lvl3pPr>
            <a:lvl4pPr marL="1510516" indent="0">
              <a:buFontTx/>
              <a:buNone/>
              <a:defRPr/>
            </a:lvl4pPr>
            <a:lvl5pPr marL="2014021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69D0CFCB-A22C-488D-967A-11DA5F79B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065832" y="678345"/>
            <a:ext cx="3373944" cy="6283083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1615"/>
            </a:lvl1pPr>
          </a:lstStyle>
          <a:p>
            <a:endParaRPr lang="it-IT"/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0D6E770D-BA99-4D8F-8D7F-F6E1B65C62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0" y="7158182"/>
            <a:ext cx="5303724" cy="351120"/>
          </a:xfrm>
          <a:prstGeom prst="rect">
            <a:avLst/>
          </a:prstGeom>
        </p:spPr>
        <p:txBody>
          <a:bodyPr/>
          <a:lstStyle>
            <a:lvl1pPr algn="l">
              <a:defRPr sz="1027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011C3706-DE12-D03A-2B10-2F4F5A15D820}"/>
              </a:ext>
            </a:extLst>
          </p:cNvPr>
          <p:cNvSpPr txBox="1">
            <a:spLocks/>
          </p:cNvSpPr>
          <p:nvPr userDrawn="1"/>
        </p:nvSpPr>
        <p:spPr>
          <a:xfrm>
            <a:off x="6387394" y="7157194"/>
            <a:ext cx="664990" cy="4024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2E1CBA-B540-8F98-A30A-CF2E16108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2" y="87404"/>
            <a:ext cx="11356408" cy="520053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3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5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B87E752-5423-9E19-40F0-651BC2732E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16897707"/>
              </p:ext>
            </p:extLst>
          </p:nvPr>
        </p:nvGraphicFramePr>
        <p:xfrm>
          <a:off x="2335" y="2333"/>
          <a:ext cx="2334" cy="2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87E752-5423-9E19-40F0-651BC2732E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5" y="2333"/>
                        <a:ext cx="2334" cy="2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magine 3">
            <a:extLst>
              <a:ext uri="{FF2B5EF4-FFF2-40B4-BE49-F238E27FC236}">
                <a16:creationId xmlns:a16="http://schemas.microsoft.com/office/drawing/2014/main" id="{73005DAB-912B-3F46-FB84-AD73311AB08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4" y="-1"/>
            <a:ext cx="13452223" cy="7559676"/>
          </a:xfrm>
          <a:prstGeom prst="rect">
            <a:avLst/>
          </a:prstGeom>
        </p:spPr>
      </p:pic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69D0CFCB-A22C-488D-967A-11DA5F79B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flipH="1">
            <a:off x="-6225" y="678344"/>
            <a:ext cx="13445998" cy="6323665"/>
          </a:xfrm>
          <a:prstGeom prst="round2DiagRect">
            <a:avLst>
              <a:gd name="adj1" fmla="val 19504"/>
              <a:gd name="adj2" fmla="val 0"/>
            </a:avLst>
          </a:prstGeom>
          <a:noFill/>
        </p:spPr>
        <p:txBody>
          <a:bodyPr/>
          <a:lstStyle>
            <a:lvl1pPr marL="0" indent="0">
              <a:buFontTx/>
              <a:buNone/>
              <a:defRPr sz="1615"/>
            </a:lvl1pPr>
          </a:lstStyle>
          <a:p>
            <a:endParaRPr lang="it-IT"/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0D6E770D-BA99-4D8F-8D7F-F6E1B65C62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0" y="7158182"/>
            <a:ext cx="5303724" cy="351120"/>
          </a:xfrm>
          <a:prstGeom prst="rect">
            <a:avLst/>
          </a:prstGeom>
        </p:spPr>
        <p:txBody>
          <a:bodyPr/>
          <a:lstStyle>
            <a:lvl1pPr algn="l">
              <a:defRPr sz="1027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22612ACC-83ED-42BD-7545-F7870B49A2E3}"/>
              </a:ext>
            </a:extLst>
          </p:cNvPr>
          <p:cNvSpPr txBox="1">
            <a:spLocks/>
          </p:cNvSpPr>
          <p:nvPr userDrawn="1"/>
        </p:nvSpPr>
        <p:spPr>
          <a:xfrm>
            <a:off x="6387394" y="7157194"/>
            <a:ext cx="664990" cy="4024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396A8B8-B7F5-82A0-3CF7-4862CB81F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2" y="87404"/>
            <a:ext cx="11356408" cy="520053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3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87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0AF5A16-78A4-17EB-D5B0-07E8529A5E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32878980"/>
              </p:ext>
            </p:extLst>
          </p:nvPr>
        </p:nvGraphicFramePr>
        <p:xfrm>
          <a:off x="2335" y="2333"/>
          <a:ext cx="2334" cy="2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0AF5A16-78A4-17EB-D5B0-07E8529A5E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5" y="2333"/>
                        <a:ext cx="2334" cy="2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magine 4">
            <a:extLst>
              <a:ext uri="{FF2B5EF4-FFF2-40B4-BE49-F238E27FC236}">
                <a16:creationId xmlns:a16="http://schemas.microsoft.com/office/drawing/2014/main" id="{D88B3727-896B-392E-2242-988671D31C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1" y="2"/>
            <a:ext cx="13445997" cy="7556177"/>
          </a:xfrm>
          <a:prstGeom prst="rect">
            <a:avLst/>
          </a:prstGeom>
        </p:spPr>
      </p:pic>
      <p:sp>
        <p:nvSpPr>
          <p:cNvPr id="6" name="Segnaposto piè di pagina 7">
            <a:extLst>
              <a:ext uri="{FF2B5EF4-FFF2-40B4-BE49-F238E27FC236}">
                <a16:creationId xmlns:a16="http://schemas.microsoft.com/office/drawing/2014/main" id="{1F2A62E3-081E-4015-9FC1-C560599BE26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0" y="7158182"/>
            <a:ext cx="5303724" cy="351120"/>
          </a:xfrm>
          <a:prstGeom prst="rect">
            <a:avLst/>
          </a:prstGeom>
        </p:spPr>
        <p:txBody>
          <a:bodyPr/>
          <a:lstStyle>
            <a:lvl1pPr algn="l">
              <a:defRPr sz="1027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6F33A3DF-68A8-B55A-981E-381285AF8C9A}"/>
              </a:ext>
            </a:extLst>
          </p:cNvPr>
          <p:cNvSpPr txBox="1">
            <a:spLocks/>
          </p:cNvSpPr>
          <p:nvPr userDrawn="1"/>
        </p:nvSpPr>
        <p:spPr>
          <a:xfrm>
            <a:off x="6387394" y="7157194"/>
            <a:ext cx="664990" cy="4024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A4EF56-F7FF-EEB2-4FE1-81BC76095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2" y="87404"/>
            <a:ext cx="11356408" cy="520053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3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3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Contenu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>
            <a:extLst>
              <a:ext uri="{FF2B5EF4-FFF2-40B4-BE49-F238E27FC236}">
                <a16:creationId xmlns:a16="http://schemas.microsoft.com/office/drawing/2014/main" id="{A900325B-BD48-4F3C-826C-ABA7066461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1659825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3" name="Oggetto 2" hidden="1">
                        <a:extLst>
                          <a:ext uri="{FF2B5EF4-FFF2-40B4-BE49-F238E27FC236}">
                            <a16:creationId xmlns:a16="http://schemas.microsoft.com/office/drawing/2014/main" id="{A900325B-BD48-4F3C-826C-ABA7066461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Immagine 12" descr="US_16_9_RGB-03.jp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1"/>
            <a:ext cx="13436799" cy="7559675"/>
          </a:xfrm>
          <a:prstGeom prst="rect">
            <a:avLst/>
          </a:prstGeom>
        </p:spPr>
      </p:pic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986ABD9A-7EF2-4AB2-B830-F9525F029F29}"/>
              </a:ext>
            </a:extLst>
          </p:cNvPr>
          <p:cNvSpPr txBox="1">
            <a:spLocks/>
          </p:cNvSpPr>
          <p:nvPr userDrawn="1"/>
        </p:nvSpPr>
        <p:spPr>
          <a:xfrm>
            <a:off x="12455594" y="7157194"/>
            <a:ext cx="664990" cy="4024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6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98DEE5-5424-45CB-8336-3215AFBD0173}" type="slidenum">
              <a:rPr kumimoji="0" lang="it-IT" sz="1199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678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‹N›</a:t>
            </a:fld>
            <a:endParaRPr kumimoji="0" lang="it-IT" sz="11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54E1DC5-9D58-41D7-B23E-ECE98AF6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80" y="100761"/>
            <a:ext cx="13066362" cy="517525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1998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1152010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olo presen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ggetto 4" hidden="1">
            <a:extLst>
              <a:ext uri="{FF2B5EF4-FFF2-40B4-BE49-F238E27FC236}">
                <a16:creationId xmlns:a16="http://schemas.microsoft.com/office/drawing/2014/main" id="{34B954B2-5384-40C4-A010-8D8B8BC1BC2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92225213"/>
              </p:ext>
            </p:extLst>
          </p:nvPr>
        </p:nvGraphicFramePr>
        <p:xfrm>
          <a:off x="1998" y="1588"/>
          <a:ext cx="1996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Diapositiva think-cell" r:id="rId4" imgW="414" imgH="414" progId="TCLayout.ActiveDocument.1">
                  <p:embed/>
                </p:oleObj>
              </mc:Choice>
              <mc:Fallback>
                <p:oleObj name="Diapositiva think-cell" r:id="rId4" imgW="414" imgH="414" progId="TCLayout.ActiveDocument.1">
                  <p:embed/>
                  <p:pic>
                    <p:nvPicPr>
                      <p:cNvPr id="5" name="Oggetto 4" hidden="1">
                        <a:extLst>
                          <a:ext uri="{FF2B5EF4-FFF2-40B4-BE49-F238E27FC236}">
                            <a16:creationId xmlns:a16="http://schemas.microsoft.com/office/drawing/2014/main" id="{34B954B2-5384-40C4-A010-8D8B8BC1BC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98" y="1588"/>
                        <a:ext cx="1996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40763" y="1084080"/>
            <a:ext cx="10079832" cy="478185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algn="r" rtl="0">
              <a:defRPr sz="2198" b="1">
                <a:solidFill>
                  <a:srgbClr val="0F3250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0763" y="1466480"/>
            <a:ext cx="10079832" cy="4781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rtl="0">
              <a:buNone/>
              <a:defRPr sz="1898">
                <a:solidFill>
                  <a:srgbClr val="0F3250"/>
                </a:solidFill>
              </a:defRPr>
            </a:lvl1pPr>
            <a:lvl2pPr marL="400586" indent="0" algn="ctr">
              <a:buNone/>
              <a:defRPr sz="1752"/>
            </a:lvl2pPr>
            <a:lvl3pPr marL="801169" indent="0" algn="ctr">
              <a:buNone/>
              <a:defRPr sz="1577"/>
            </a:lvl3pPr>
            <a:lvl4pPr marL="1201755" indent="0" algn="ctr">
              <a:buNone/>
              <a:defRPr sz="1402"/>
            </a:lvl4pPr>
            <a:lvl5pPr marL="1602340" indent="0" algn="ctr">
              <a:buNone/>
              <a:defRPr sz="1402"/>
            </a:lvl5pPr>
            <a:lvl6pPr marL="2002923" indent="0" algn="ctr">
              <a:buNone/>
              <a:defRPr sz="1402"/>
            </a:lvl6pPr>
            <a:lvl7pPr marL="2403508" indent="0" algn="ctr">
              <a:buNone/>
              <a:defRPr sz="1402"/>
            </a:lvl7pPr>
            <a:lvl8pPr marL="2804094" indent="0" algn="ctr">
              <a:buNone/>
              <a:defRPr sz="1402"/>
            </a:lvl8pPr>
            <a:lvl9pPr marL="3204677" indent="0" algn="ctr">
              <a:buNone/>
              <a:defRPr sz="1402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7F738A74-27ED-4AD4-8EC0-C89BD70E0D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87049" y="5111301"/>
            <a:ext cx="5668039" cy="47787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rtl="0">
              <a:buFontTx/>
              <a:buNone/>
              <a:defRPr sz="1199">
                <a:solidFill>
                  <a:srgbClr val="0F3250"/>
                </a:solidFill>
                <a:latin typeface="+mn-lt"/>
              </a:defRPr>
            </a:lvl1pPr>
            <a:lvl2pPr>
              <a:defRPr sz="1168">
                <a:latin typeface="+mn-lt"/>
              </a:defRPr>
            </a:lvl2pPr>
            <a:lvl3pPr>
              <a:defRPr sz="1168">
                <a:latin typeface="+mn-lt"/>
              </a:defRPr>
            </a:lvl3pPr>
            <a:lvl4pPr>
              <a:defRPr sz="1168">
                <a:latin typeface="+mn-lt"/>
              </a:defRPr>
            </a:lvl4pPr>
            <a:lvl5pPr>
              <a:defRPr sz="1168">
                <a:latin typeface="+mn-lt"/>
              </a:defRPr>
            </a:lvl5pPr>
          </a:lstStyle>
          <a:p>
            <a:pPr lvl="0"/>
            <a:r>
              <a:rPr lang="it-IT"/>
              <a:t>Luogo, Giorno, Mese, Anno</a:t>
            </a:r>
          </a:p>
        </p:txBody>
      </p:sp>
    </p:spTree>
    <p:extLst>
      <p:ext uri="{BB962C8B-B14F-4D97-AF65-F5344CB8AC3E}">
        <p14:creationId xmlns:p14="http://schemas.microsoft.com/office/powerpoint/2010/main" val="1768660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di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54C2E04-660E-F40A-313D-A6E3C714CD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"/>
            <a:ext cx="13452222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562" y="215839"/>
            <a:ext cx="11356408" cy="52005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56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984" y="1350171"/>
            <a:ext cx="11591806" cy="4024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763">
                <a:solidFill>
                  <a:srgbClr val="969696"/>
                </a:solidFill>
                <a:latin typeface="+mn-lt"/>
              </a:defRPr>
            </a:lvl1pPr>
            <a:lvl2pPr marL="503505" indent="0">
              <a:buNone/>
              <a:defRPr sz="2202">
                <a:solidFill>
                  <a:schemeClr val="tx1">
                    <a:tint val="75000"/>
                  </a:schemeClr>
                </a:solidFill>
              </a:defRPr>
            </a:lvl2pPr>
            <a:lvl3pPr marL="1007011" indent="0">
              <a:buNone/>
              <a:defRPr sz="1982">
                <a:solidFill>
                  <a:schemeClr val="tx1">
                    <a:tint val="75000"/>
                  </a:schemeClr>
                </a:solidFill>
              </a:defRPr>
            </a:lvl3pPr>
            <a:lvl4pPr marL="1510516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02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7526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1033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453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8043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952BF5E0-0A08-4EC0-82B8-F757F04A31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4" y="1879778"/>
            <a:ext cx="11591806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3">
                <a:solidFill>
                  <a:srgbClr val="0F3250"/>
                </a:solidFill>
                <a:latin typeface="+mn-lt"/>
              </a:defRPr>
            </a:lvl1pPr>
            <a:lvl2pPr marL="503505" indent="0">
              <a:buFontTx/>
              <a:buNone/>
              <a:defRPr/>
            </a:lvl2pPr>
            <a:lvl3pPr marL="1007011" indent="0">
              <a:buFontTx/>
              <a:buNone/>
              <a:defRPr/>
            </a:lvl3pPr>
            <a:lvl4pPr marL="1510516" indent="0">
              <a:buFontTx/>
              <a:buNone/>
              <a:defRPr/>
            </a:lvl4pPr>
            <a:lvl5pPr marL="2014021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5EB157B1-6F16-4A97-99F7-D1F5FB85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455591" y="333410"/>
            <a:ext cx="664990" cy="402483"/>
          </a:xfrm>
          <a:prstGeom prst="rect">
            <a:avLst/>
          </a:prstGeom>
        </p:spPr>
        <p:txBody>
          <a:bodyPr anchor="ctr"/>
          <a:lstStyle>
            <a:lvl1pPr algn="r">
              <a:defRPr sz="1175">
                <a:solidFill>
                  <a:schemeClr val="bg1"/>
                </a:solidFill>
                <a:latin typeface="+mn-lt"/>
              </a:defRPr>
            </a:lvl1pPr>
          </a:lstStyle>
          <a:p>
            <a:fld id="{7998DEE5-5424-45CB-8336-3215AFBD0173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7C6DC3C-E3D0-4FE1-A5A0-EDF1891629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56827" y="7158182"/>
            <a:ext cx="5303724" cy="351120"/>
          </a:xfrm>
          <a:prstGeom prst="rect">
            <a:avLst/>
          </a:prstGeom>
        </p:spPr>
        <p:txBody>
          <a:bodyPr/>
          <a:lstStyle>
            <a:lvl1pPr algn="l">
              <a:defRPr sz="1027">
                <a:solidFill>
                  <a:schemeClr val="bg1"/>
                </a:solidFill>
              </a:defRPr>
            </a:lvl1pPr>
          </a:lstStyle>
          <a:p>
            <a:r>
              <a:rPr lang="en-US" err="1"/>
              <a:t>Titolo</a:t>
            </a:r>
            <a:r>
              <a:rPr lang="en-US"/>
              <a:t> </a:t>
            </a:r>
            <a:r>
              <a:rPr lang="en-US" err="1"/>
              <a:t>Presentazione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13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e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E2B752D3-4A88-44E0-D1C6-D33A79372A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"/>
            <a:ext cx="13452222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920" y="216736"/>
            <a:ext cx="11355023" cy="518049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56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401258" y="1928140"/>
            <a:ext cx="4444928" cy="435135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349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err="1"/>
              <a:t>Inserisci</a:t>
            </a:r>
            <a:r>
              <a:rPr lang="en-US"/>
              <a:t> qui </a:t>
            </a:r>
            <a:r>
              <a:rPr lang="en-US" err="1"/>
              <a:t>il</a:t>
            </a:r>
            <a:r>
              <a:rPr lang="en-US"/>
              <a:t> </a:t>
            </a:r>
            <a:r>
              <a:rPr lang="en-US" err="1"/>
              <a:t>grafico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7CD518-EF0F-4B5F-9D5C-FF7A0A28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985" y="1350171"/>
            <a:ext cx="6832561" cy="4024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763">
                <a:solidFill>
                  <a:srgbClr val="969696"/>
                </a:solidFill>
                <a:latin typeface="+mn-lt"/>
              </a:defRPr>
            </a:lvl1pPr>
            <a:lvl2pPr marL="503505" indent="0">
              <a:buNone/>
              <a:defRPr sz="2202">
                <a:solidFill>
                  <a:schemeClr val="tx1">
                    <a:tint val="75000"/>
                  </a:schemeClr>
                </a:solidFill>
              </a:defRPr>
            </a:lvl2pPr>
            <a:lvl3pPr marL="1007011" indent="0">
              <a:buNone/>
              <a:defRPr sz="1982">
                <a:solidFill>
                  <a:schemeClr val="tx1">
                    <a:tint val="75000"/>
                  </a:schemeClr>
                </a:solidFill>
              </a:defRPr>
            </a:lvl3pPr>
            <a:lvl4pPr marL="1510516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02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7526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1033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453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8043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2" name="Segnaposto testo 8">
            <a:extLst>
              <a:ext uri="{FF2B5EF4-FFF2-40B4-BE49-F238E27FC236}">
                <a16:creationId xmlns:a16="http://schemas.microsoft.com/office/drawing/2014/main" id="{C23A30CD-5A95-4485-BE1D-AA8BEF1A4E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5" y="1879778"/>
            <a:ext cx="6832561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3">
                <a:solidFill>
                  <a:srgbClr val="0F3250"/>
                </a:solidFill>
                <a:latin typeface="+mn-lt"/>
              </a:defRPr>
            </a:lvl1pPr>
            <a:lvl2pPr marL="503505" indent="0">
              <a:buFontTx/>
              <a:buNone/>
              <a:defRPr/>
            </a:lvl2pPr>
            <a:lvl3pPr marL="1007011" indent="0">
              <a:buFontTx/>
              <a:buNone/>
              <a:defRPr/>
            </a:lvl3pPr>
            <a:lvl4pPr marL="1510516" indent="0">
              <a:buFontTx/>
              <a:buNone/>
              <a:defRPr/>
            </a:lvl4pPr>
            <a:lvl5pPr marL="2014021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5C413CFE-B928-45F4-B41D-8D42139BA3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260" y="1383261"/>
            <a:ext cx="4366526" cy="3541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FontTx/>
              <a:buNone/>
              <a:defRPr sz="1763"/>
            </a:lvl1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F74AF1BB-F47A-4202-A0A8-4B6C1BE56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455591" y="333410"/>
            <a:ext cx="664990" cy="402483"/>
          </a:xfrm>
          <a:prstGeom prst="rect">
            <a:avLst/>
          </a:prstGeom>
        </p:spPr>
        <p:txBody>
          <a:bodyPr anchor="ctr"/>
          <a:lstStyle>
            <a:lvl1pPr algn="r">
              <a:defRPr sz="1175">
                <a:solidFill>
                  <a:schemeClr val="bg1"/>
                </a:solidFill>
                <a:latin typeface="+mn-lt"/>
              </a:defRPr>
            </a:lvl1pPr>
          </a:lstStyle>
          <a:p>
            <a:fld id="{7998DEE5-5424-45CB-8336-3215AFBD0173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4214B999-2BC8-4CE4-B9B7-84E70337219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0" y="7158182"/>
            <a:ext cx="5303724" cy="351120"/>
          </a:xfrm>
          <a:prstGeom prst="rect">
            <a:avLst/>
          </a:prstGeom>
        </p:spPr>
        <p:txBody>
          <a:bodyPr/>
          <a:lstStyle>
            <a:lvl1pPr algn="l">
              <a:defRPr sz="1027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</p:spTree>
    <p:extLst>
      <p:ext uri="{BB962C8B-B14F-4D97-AF65-F5344CB8AC3E}">
        <p14:creationId xmlns:p14="http://schemas.microsoft.com/office/powerpoint/2010/main" val="3091843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07658883-0AE9-E616-516D-F7C4A9EC60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0" y="1"/>
            <a:ext cx="13452219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920" y="216736"/>
            <a:ext cx="11355023" cy="518049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56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7CD518-EF0F-4B5F-9D5C-FF7A0A28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985" y="1350171"/>
            <a:ext cx="6832561" cy="4024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763">
                <a:solidFill>
                  <a:srgbClr val="969696"/>
                </a:solidFill>
                <a:latin typeface="+mn-lt"/>
              </a:defRPr>
            </a:lvl1pPr>
            <a:lvl2pPr marL="503505" indent="0">
              <a:buNone/>
              <a:defRPr sz="2202">
                <a:solidFill>
                  <a:schemeClr val="tx1">
                    <a:tint val="75000"/>
                  </a:schemeClr>
                </a:solidFill>
              </a:defRPr>
            </a:lvl2pPr>
            <a:lvl3pPr marL="1007011" indent="0">
              <a:buNone/>
              <a:defRPr sz="1982">
                <a:solidFill>
                  <a:schemeClr val="tx1">
                    <a:tint val="75000"/>
                  </a:schemeClr>
                </a:solidFill>
              </a:defRPr>
            </a:lvl3pPr>
            <a:lvl4pPr marL="1510516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02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7526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1033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453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8043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2" name="Segnaposto testo 8">
            <a:extLst>
              <a:ext uri="{FF2B5EF4-FFF2-40B4-BE49-F238E27FC236}">
                <a16:creationId xmlns:a16="http://schemas.microsoft.com/office/drawing/2014/main" id="{C23A30CD-5A95-4485-BE1D-AA8BEF1A4E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5" y="1879778"/>
            <a:ext cx="6832561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3">
                <a:solidFill>
                  <a:srgbClr val="0F3250"/>
                </a:solidFill>
                <a:latin typeface="+mn-lt"/>
              </a:defRPr>
            </a:lvl1pPr>
            <a:lvl2pPr marL="503505" indent="0">
              <a:buFontTx/>
              <a:buNone/>
              <a:defRPr/>
            </a:lvl2pPr>
            <a:lvl3pPr marL="1007011" indent="0">
              <a:buFontTx/>
              <a:buNone/>
              <a:defRPr/>
            </a:lvl3pPr>
            <a:lvl4pPr marL="1510516" indent="0">
              <a:buFontTx/>
              <a:buNone/>
              <a:defRPr/>
            </a:lvl4pPr>
            <a:lvl5pPr marL="2014021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F74AF1BB-F47A-4202-A0A8-4B6C1BE56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455591" y="333410"/>
            <a:ext cx="664990" cy="402483"/>
          </a:xfrm>
          <a:prstGeom prst="rect">
            <a:avLst/>
          </a:prstGeom>
        </p:spPr>
        <p:txBody>
          <a:bodyPr anchor="ctr"/>
          <a:lstStyle>
            <a:lvl1pPr algn="r">
              <a:defRPr sz="1175">
                <a:solidFill>
                  <a:schemeClr val="bg1"/>
                </a:solidFill>
                <a:latin typeface="+mn-lt"/>
              </a:defRPr>
            </a:lvl1pPr>
          </a:lstStyle>
          <a:p>
            <a:fld id="{7998DEE5-5424-45CB-8336-3215AFBD0173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69D0CFCB-A22C-488D-967A-11DA5F79B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065832" y="678345"/>
            <a:ext cx="3373944" cy="6283083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1615"/>
            </a:lvl1pPr>
          </a:lstStyle>
          <a:p>
            <a:endParaRPr lang="it-IT"/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0D6E770D-BA99-4D8F-8D7F-F6E1B65C62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0" y="7158182"/>
            <a:ext cx="5303724" cy="351120"/>
          </a:xfrm>
          <a:prstGeom prst="rect">
            <a:avLst/>
          </a:prstGeom>
        </p:spPr>
        <p:txBody>
          <a:bodyPr/>
          <a:lstStyle>
            <a:lvl1pPr algn="l">
              <a:defRPr sz="1027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</p:spTree>
    <p:extLst>
      <p:ext uri="{BB962C8B-B14F-4D97-AF65-F5344CB8AC3E}">
        <p14:creationId xmlns:p14="http://schemas.microsoft.com/office/powerpoint/2010/main" val="1039346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3005DAB-912B-3F46-FB84-AD73311AB0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4" y="-1"/>
            <a:ext cx="13452223" cy="75596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920" y="216736"/>
            <a:ext cx="11355023" cy="518049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56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F74AF1BB-F47A-4202-A0A8-4B6C1BE56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455591" y="333410"/>
            <a:ext cx="664990" cy="402483"/>
          </a:xfrm>
          <a:prstGeom prst="rect">
            <a:avLst/>
          </a:prstGeom>
        </p:spPr>
        <p:txBody>
          <a:bodyPr anchor="ctr"/>
          <a:lstStyle>
            <a:lvl1pPr algn="r">
              <a:defRPr sz="1175">
                <a:solidFill>
                  <a:schemeClr val="bg1"/>
                </a:solidFill>
                <a:latin typeface="+mn-lt"/>
              </a:defRPr>
            </a:lvl1pPr>
          </a:lstStyle>
          <a:p>
            <a:fld id="{7998DEE5-5424-45CB-8336-3215AFBD0173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69D0CFCB-A22C-488D-967A-11DA5F79B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flipH="1">
            <a:off x="-6225" y="678344"/>
            <a:ext cx="13445998" cy="6323665"/>
          </a:xfrm>
          <a:prstGeom prst="round2DiagRect">
            <a:avLst>
              <a:gd name="adj1" fmla="val 19504"/>
              <a:gd name="adj2" fmla="val 0"/>
            </a:avLst>
          </a:prstGeom>
          <a:noFill/>
        </p:spPr>
        <p:txBody>
          <a:bodyPr/>
          <a:lstStyle>
            <a:lvl1pPr marL="0" indent="0">
              <a:buFontTx/>
              <a:buNone/>
              <a:defRPr sz="1615"/>
            </a:lvl1pPr>
          </a:lstStyle>
          <a:p>
            <a:endParaRPr lang="it-IT"/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0D6E770D-BA99-4D8F-8D7F-F6E1B65C62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0" y="7158182"/>
            <a:ext cx="5303724" cy="351120"/>
          </a:xfrm>
          <a:prstGeom prst="rect">
            <a:avLst/>
          </a:prstGeom>
        </p:spPr>
        <p:txBody>
          <a:bodyPr/>
          <a:lstStyle>
            <a:lvl1pPr algn="l">
              <a:defRPr sz="1027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</p:spTree>
    <p:extLst>
      <p:ext uri="{BB962C8B-B14F-4D97-AF65-F5344CB8AC3E}">
        <p14:creationId xmlns:p14="http://schemas.microsoft.com/office/powerpoint/2010/main" val="2163451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88B3727-896B-392E-2242-988671D31C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1" y="2"/>
            <a:ext cx="13445997" cy="75561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920" y="216736"/>
            <a:ext cx="11355023" cy="518049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56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ECF0A86-51DC-4ECB-BF32-33280A286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455591" y="333410"/>
            <a:ext cx="664990" cy="402483"/>
          </a:xfrm>
          <a:prstGeom prst="rect">
            <a:avLst/>
          </a:prstGeom>
        </p:spPr>
        <p:txBody>
          <a:bodyPr anchor="ctr"/>
          <a:lstStyle>
            <a:lvl1pPr algn="r">
              <a:defRPr sz="1175">
                <a:solidFill>
                  <a:schemeClr val="bg1"/>
                </a:solidFill>
                <a:latin typeface="+mn-lt"/>
              </a:defRPr>
            </a:lvl1pPr>
          </a:lstStyle>
          <a:p>
            <a:fld id="{7998DEE5-5424-45CB-8336-3215AFBD0173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Segnaposto piè di pagina 7">
            <a:extLst>
              <a:ext uri="{FF2B5EF4-FFF2-40B4-BE49-F238E27FC236}">
                <a16:creationId xmlns:a16="http://schemas.microsoft.com/office/drawing/2014/main" id="{1F2A62E3-081E-4015-9FC1-C560599BE26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0" y="7158182"/>
            <a:ext cx="5303724" cy="351120"/>
          </a:xfrm>
          <a:prstGeom prst="rect">
            <a:avLst/>
          </a:prstGeom>
        </p:spPr>
        <p:txBody>
          <a:bodyPr/>
          <a:lstStyle>
            <a:lvl1pPr algn="l">
              <a:defRPr sz="1027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</p:spTree>
    <p:extLst>
      <p:ext uri="{BB962C8B-B14F-4D97-AF65-F5344CB8AC3E}">
        <p14:creationId xmlns:p14="http://schemas.microsoft.com/office/powerpoint/2010/main" val="30138580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to di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54C2E04-660E-F40A-313D-A6E3C714CD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"/>
            <a:ext cx="13452222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562" y="215839"/>
            <a:ext cx="11356408" cy="52005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56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984" y="1350171"/>
            <a:ext cx="11591806" cy="4024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763">
                <a:solidFill>
                  <a:srgbClr val="969696"/>
                </a:solidFill>
                <a:latin typeface="+mn-lt"/>
              </a:defRPr>
            </a:lvl1pPr>
            <a:lvl2pPr marL="503505" indent="0">
              <a:buNone/>
              <a:defRPr sz="2202">
                <a:solidFill>
                  <a:schemeClr val="tx1">
                    <a:tint val="75000"/>
                  </a:schemeClr>
                </a:solidFill>
              </a:defRPr>
            </a:lvl2pPr>
            <a:lvl3pPr marL="1007011" indent="0">
              <a:buNone/>
              <a:defRPr sz="1982">
                <a:solidFill>
                  <a:schemeClr val="tx1">
                    <a:tint val="75000"/>
                  </a:schemeClr>
                </a:solidFill>
              </a:defRPr>
            </a:lvl3pPr>
            <a:lvl4pPr marL="1510516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02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7526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1033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453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8043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952BF5E0-0A08-4EC0-82B8-F757F04A31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4" y="1879778"/>
            <a:ext cx="11591806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3">
                <a:solidFill>
                  <a:srgbClr val="0F3250"/>
                </a:solidFill>
                <a:latin typeface="+mn-lt"/>
              </a:defRPr>
            </a:lvl1pPr>
            <a:lvl2pPr marL="503505" indent="0">
              <a:buFontTx/>
              <a:buNone/>
              <a:defRPr/>
            </a:lvl2pPr>
            <a:lvl3pPr marL="1007011" indent="0">
              <a:buFontTx/>
              <a:buNone/>
              <a:defRPr/>
            </a:lvl3pPr>
            <a:lvl4pPr marL="1510516" indent="0">
              <a:buFontTx/>
              <a:buNone/>
              <a:defRPr/>
            </a:lvl4pPr>
            <a:lvl5pPr marL="2014021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5EB157B1-6F16-4A97-99F7-D1F5FB85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455591" y="333410"/>
            <a:ext cx="664990" cy="402483"/>
          </a:xfrm>
          <a:prstGeom prst="rect">
            <a:avLst/>
          </a:prstGeom>
        </p:spPr>
        <p:txBody>
          <a:bodyPr anchor="ctr"/>
          <a:lstStyle>
            <a:lvl1pPr algn="r">
              <a:defRPr sz="1175">
                <a:solidFill>
                  <a:schemeClr val="bg1"/>
                </a:solidFill>
                <a:latin typeface="+mn-lt"/>
              </a:defRPr>
            </a:lvl1pPr>
          </a:lstStyle>
          <a:p>
            <a:fld id="{7998DEE5-5424-45CB-8336-3215AFBD0173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7C6DC3C-E3D0-4FE1-A5A0-EDF1891629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56827" y="7158182"/>
            <a:ext cx="5303724" cy="351120"/>
          </a:xfrm>
          <a:prstGeom prst="rect">
            <a:avLst/>
          </a:prstGeom>
        </p:spPr>
        <p:txBody>
          <a:bodyPr/>
          <a:lstStyle>
            <a:lvl1pPr algn="l">
              <a:defRPr sz="1027">
                <a:solidFill>
                  <a:schemeClr val="bg1"/>
                </a:solidFill>
              </a:defRPr>
            </a:lvl1pPr>
          </a:lstStyle>
          <a:p>
            <a:r>
              <a:rPr lang="en-US" err="1"/>
              <a:t>Titolo</a:t>
            </a:r>
            <a:r>
              <a:rPr lang="en-US"/>
              <a:t> </a:t>
            </a:r>
            <a:r>
              <a:rPr lang="en-US" err="1"/>
              <a:t>Presentazione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936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_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40762" y="1371472"/>
            <a:ext cx="10079831" cy="478185"/>
          </a:xfrm>
          <a:prstGeom prst="rect">
            <a:avLst/>
          </a:prstGeom>
        </p:spPr>
        <p:txBody>
          <a:bodyPr anchor="t">
            <a:noAutofit/>
          </a:bodyPr>
          <a:lstStyle>
            <a:lvl1pPr algn="r">
              <a:defRPr sz="2643" b="1">
                <a:solidFill>
                  <a:srgbClr val="0F3250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0762" y="1849658"/>
            <a:ext cx="10079831" cy="4781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349">
                <a:solidFill>
                  <a:srgbClr val="0F3250"/>
                </a:solidFill>
              </a:defRPr>
            </a:lvl1pPr>
            <a:lvl2pPr marL="503512" indent="0" algn="ctr">
              <a:buNone/>
              <a:defRPr sz="2202"/>
            </a:lvl2pPr>
            <a:lvl3pPr marL="1007024" indent="0" algn="ctr">
              <a:buNone/>
              <a:defRPr sz="1982"/>
            </a:lvl3pPr>
            <a:lvl4pPr marL="1510536" indent="0" algn="ctr">
              <a:buNone/>
              <a:defRPr sz="1763"/>
            </a:lvl4pPr>
            <a:lvl5pPr marL="2014048" indent="0" algn="ctr">
              <a:buNone/>
              <a:defRPr sz="1763"/>
            </a:lvl5pPr>
            <a:lvl6pPr marL="2517560" indent="0" algn="ctr">
              <a:buNone/>
              <a:defRPr sz="1763"/>
            </a:lvl6pPr>
            <a:lvl7pPr marL="3021073" indent="0" algn="ctr">
              <a:buNone/>
              <a:defRPr sz="1763"/>
            </a:lvl7pPr>
            <a:lvl8pPr marL="3524584" indent="0" algn="ctr">
              <a:buNone/>
              <a:defRPr sz="1763"/>
            </a:lvl8pPr>
            <a:lvl9pPr marL="4028096" indent="0" algn="ctr">
              <a:buNone/>
              <a:defRPr sz="1763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7F738A74-27ED-4AD4-8EC0-C89BD70E0D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9891" y="5192237"/>
            <a:ext cx="5668039" cy="47787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1468">
                <a:solidFill>
                  <a:srgbClr val="0F3250"/>
                </a:solidFill>
                <a:latin typeface="+mn-lt"/>
              </a:defRPr>
            </a:lvl1pPr>
            <a:lvl2pPr>
              <a:defRPr sz="1468">
                <a:latin typeface="+mn-lt"/>
              </a:defRPr>
            </a:lvl2pPr>
            <a:lvl3pPr>
              <a:defRPr sz="1468">
                <a:latin typeface="+mn-lt"/>
              </a:defRPr>
            </a:lvl3pPr>
            <a:lvl4pPr>
              <a:defRPr sz="1468">
                <a:latin typeface="+mn-lt"/>
              </a:defRPr>
            </a:lvl4pPr>
            <a:lvl5pPr>
              <a:defRPr sz="1468">
                <a:latin typeface="+mn-lt"/>
              </a:defRPr>
            </a:lvl5pPr>
          </a:lstStyle>
          <a:p>
            <a:pPr lvl="0"/>
            <a:r>
              <a:rPr lang="it-IT"/>
              <a:t>Luogo, Giorno, Mese, Anno</a:t>
            </a:r>
          </a:p>
        </p:txBody>
      </p:sp>
    </p:spTree>
    <p:extLst>
      <p:ext uri="{BB962C8B-B14F-4D97-AF65-F5344CB8AC3E}">
        <p14:creationId xmlns:p14="http://schemas.microsoft.com/office/powerpoint/2010/main" val="41511965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to di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7DD069E-02C0-C4D8-F533-4D3CB4108D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48196942"/>
              </p:ext>
            </p:extLst>
          </p:nvPr>
        </p:nvGraphicFramePr>
        <p:xfrm>
          <a:off x="2335" y="2333"/>
          <a:ext cx="2334" cy="2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DD069E-02C0-C4D8-F533-4D3CB4108D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5" y="2333"/>
                        <a:ext cx="2334" cy="2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magine 6">
            <a:extLst>
              <a:ext uri="{FF2B5EF4-FFF2-40B4-BE49-F238E27FC236}">
                <a16:creationId xmlns:a16="http://schemas.microsoft.com/office/drawing/2014/main" id="{854C2E04-660E-F40A-313D-A6E3C714CD9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"/>
            <a:ext cx="13452222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92" y="87404"/>
            <a:ext cx="11356408" cy="520053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3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984" y="1350171"/>
            <a:ext cx="11591806" cy="40248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763">
                <a:solidFill>
                  <a:srgbClr val="969696"/>
                </a:solidFill>
                <a:latin typeface="+mn-lt"/>
              </a:defRPr>
            </a:lvl1pPr>
            <a:lvl2pPr marL="503505" indent="0">
              <a:buNone/>
              <a:defRPr sz="2202">
                <a:solidFill>
                  <a:schemeClr val="tx1">
                    <a:tint val="75000"/>
                  </a:schemeClr>
                </a:solidFill>
              </a:defRPr>
            </a:lvl2pPr>
            <a:lvl3pPr marL="1007011" indent="0">
              <a:buNone/>
              <a:defRPr sz="1982">
                <a:solidFill>
                  <a:schemeClr val="tx1">
                    <a:tint val="75000"/>
                  </a:schemeClr>
                </a:solidFill>
              </a:defRPr>
            </a:lvl3pPr>
            <a:lvl4pPr marL="1510516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02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7526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1033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453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8043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952BF5E0-0A08-4EC0-82B8-F757F04A31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4" y="1879778"/>
            <a:ext cx="11591806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3">
                <a:solidFill>
                  <a:srgbClr val="0F3250"/>
                </a:solidFill>
                <a:latin typeface="+mn-lt"/>
              </a:defRPr>
            </a:lvl1pPr>
            <a:lvl2pPr marL="503505" indent="0">
              <a:buFontTx/>
              <a:buNone/>
              <a:defRPr/>
            </a:lvl2pPr>
            <a:lvl3pPr marL="1007011" indent="0">
              <a:buFontTx/>
              <a:buNone/>
              <a:defRPr/>
            </a:lvl3pPr>
            <a:lvl4pPr marL="1510516" indent="0">
              <a:buFontTx/>
              <a:buNone/>
              <a:defRPr/>
            </a:lvl4pPr>
            <a:lvl5pPr marL="2014021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7C6DC3C-E3D0-4FE1-A5A0-EDF1891629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56827" y="7158182"/>
            <a:ext cx="5303724" cy="351120"/>
          </a:xfrm>
          <a:prstGeom prst="rect">
            <a:avLst/>
          </a:prstGeom>
        </p:spPr>
        <p:txBody>
          <a:bodyPr/>
          <a:lstStyle>
            <a:lvl1pPr algn="l">
              <a:defRPr sz="1027">
                <a:solidFill>
                  <a:schemeClr val="bg1"/>
                </a:solidFill>
              </a:defRPr>
            </a:lvl1pPr>
          </a:lstStyle>
          <a:p>
            <a:r>
              <a:rPr lang="en-US" err="1"/>
              <a:t>Titolo</a:t>
            </a:r>
            <a:r>
              <a:rPr lang="en-US"/>
              <a:t> </a:t>
            </a:r>
            <a:r>
              <a:rPr lang="en-US" err="1"/>
              <a:t>Presentazione</a:t>
            </a:r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A4E14CA5-B13B-0CC8-8F71-6211975B4A69}"/>
              </a:ext>
            </a:extLst>
          </p:cNvPr>
          <p:cNvSpPr txBox="1">
            <a:spLocks/>
          </p:cNvSpPr>
          <p:nvPr userDrawn="1"/>
        </p:nvSpPr>
        <p:spPr>
          <a:xfrm>
            <a:off x="6387394" y="7157194"/>
            <a:ext cx="664990" cy="40248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</p:spTree>
    <p:extLst>
      <p:ext uri="{BB962C8B-B14F-4D97-AF65-F5344CB8AC3E}">
        <p14:creationId xmlns:p14="http://schemas.microsoft.com/office/powerpoint/2010/main" val="1115300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presen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40761" y="1371469"/>
            <a:ext cx="10079831" cy="478185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2643" b="1">
                <a:solidFill>
                  <a:srgbClr val="0F3250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0761" y="1849656"/>
            <a:ext cx="10079831" cy="4781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2349">
                <a:solidFill>
                  <a:srgbClr val="0F3250"/>
                </a:solidFill>
              </a:defRPr>
            </a:lvl1pPr>
            <a:lvl2pPr marL="503514" indent="0" algn="ctr">
              <a:buNone/>
              <a:defRPr sz="2203"/>
            </a:lvl2pPr>
            <a:lvl3pPr marL="1007029" indent="0" algn="ctr">
              <a:buNone/>
              <a:defRPr sz="1982"/>
            </a:lvl3pPr>
            <a:lvl4pPr marL="1510543" indent="0" algn="ctr">
              <a:buNone/>
              <a:defRPr sz="1762"/>
            </a:lvl4pPr>
            <a:lvl5pPr marL="2014057" indent="0" algn="ctr">
              <a:buNone/>
              <a:defRPr sz="1762"/>
            </a:lvl5pPr>
            <a:lvl6pPr marL="2517572" indent="0" algn="ctr">
              <a:buNone/>
              <a:defRPr sz="1762"/>
            </a:lvl6pPr>
            <a:lvl7pPr marL="3021086" indent="0" algn="ctr">
              <a:buNone/>
              <a:defRPr sz="1762"/>
            </a:lvl7pPr>
            <a:lvl8pPr marL="3524601" indent="0" algn="ctr">
              <a:buNone/>
              <a:defRPr sz="1762"/>
            </a:lvl8pPr>
            <a:lvl9pPr marL="4028115" indent="0" algn="ctr">
              <a:buNone/>
              <a:defRPr sz="1762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7F738A74-27ED-4AD4-8EC0-C89BD70E0D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9888" y="5192236"/>
            <a:ext cx="5668038" cy="47787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1468">
                <a:solidFill>
                  <a:srgbClr val="0F3250"/>
                </a:solidFill>
                <a:latin typeface="+mn-lt"/>
              </a:defRPr>
            </a:lvl1pPr>
            <a:lvl2pPr>
              <a:defRPr sz="1468">
                <a:latin typeface="+mn-lt"/>
              </a:defRPr>
            </a:lvl2pPr>
            <a:lvl3pPr>
              <a:defRPr sz="1468">
                <a:latin typeface="+mn-lt"/>
              </a:defRPr>
            </a:lvl3pPr>
            <a:lvl4pPr>
              <a:defRPr sz="1468">
                <a:latin typeface="+mn-lt"/>
              </a:defRPr>
            </a:lvl4pPr>
            <a:lvl5pPr>
              <a:defRPr sz="1468">
                <a:latin typeface="+mn-lt"/>
              </a:defRPr>
            </a:lvl5pPr>
          </a:lstStyle>
          <a:p>
            <a:pPr lvl="0"/>
            <a:r>
              <a:rPr lang="it-IT"/>
              <a:t>Luogo, Giorno, Mese, Anno</a:t>
            </a:r>
          </a:p>
        </p:txBody>
      </p:sp>
    </p:spTree>
    <p:extLst>
      <p:ext uri="{BB962C8B-B14F-4D97-AF65-F5344CB8AC3E}">
        <p14:creationId xmlns:p14="http://schemas.microsoft.com/office/powerpoint/2010/main" val="1629003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6727BFB4-4582-B112-DCC6-FA5320800C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496"/>
            <a:ext cx="13446000" cy="755617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3950" y="1734720"/>
            <a:ext cx="10162342" cy="6241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937" b="1">
                <a:solidFill>
                  <a:srgbClr val="0F325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11E6B4A2-9A21-4261-B346-5479C602FC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39" y="2832665"/>
            <a:ext cx="9844654" cy="32779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1007029" rtl="0" eaLnBrk="1" fontAlgn="auto" latinLnBrk="0" hangingPunct="1">
              <a:lnSpc>
                <a:spcPct val="10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None/>
              <a:tabLst/>
              <a:defRPr sz="1542" i="1">
                <a:solidFill>
                  <a:srgbClr val="0F3250"/>
                </a:solidFill>
              </a:defRPr>
            </a:lvl1pPr>
          </a:lstStyle>
          <a:p>
            <a:pPr marL="158587" marR="0" lvl="0" indent="-158587" algn="l" defTabSz="1007029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587" marR="0" lvl="0" indent="-158587" algn="l" defTabSz="1007029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587" marR="0" lvl="0" indent="-158587" algn="l" defTabSz="1007029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587" marR="0" lvl="0" indent="-158587" algn="l" defTabSz="1007029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587" marR="0" lvl="0" indent="-158587" algn="l" defTabSz="1007029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587" marR="0" lvl="0" indent="-158587" algn="l" defTabSz="1007029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endParaRPr lang="it-IT"/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40C1A1A2-0B04-4A5C-99E7-5874469B36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3953" y="2381427"/>
            <a:ext cx="10161497" cy="4494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264312" indent="-264312">
              <a:buClr>
                <a:srgbClr val="0F3250"/>
              </a:buClr>
              <a:buFont typeface="+mj-lt"/>
              <a:buAutoNum type="arabicPeriod"/>
              <a:defRPr sz="1909">
                <a:solidFill>
                  <a:srgbClr val="0F3250"/>
                </a:solidFill>
              </a:defRPr>
            </a:lvl1pPr>
          </a:lstStyle>
          <a:p>
            <a:pPr lvl="0"/>
            <a:r>
              <a:rPr lang="it-IT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4327892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di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7DD069E-02C0-C4D8-F533-4D3CB4108D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48196942"/>
              </p:ext>
            </p:extLst>
          </p:nvPr>
        </p:nvGraphicFramePr>
        <p:xfrm>
          <a:off x="2334" y="2332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DD069E-02C0-C4D8-F533-4D3CB4108D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4" y="2332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magine 6">
            <a:extLst>
              <a:ext uri="{FF2B5EF4-FFF2-40B4-BE49-F238E27FC236}">
                <a16:creationId xmlns:a16="http://schemas.microsoft.com/office/drawing/2014/main" id="{854C2E04-660E-F40A-313D-A6E3C714CD9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"/>
            <a:ext cx="13452221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91" y="87404"/>
            <a:ext cx="11356409" cy="52005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3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983" y="1350171"/>
            <a:ext cx="11591806" cy="4024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762">
                <a:solidFill>
                  <a:srgbClr val="969696"/>
                </a:solidFill>
                <a:latin typeface="+mn-lt"/>
              </a:defRPr>
            </a:lvl1pPr>
            <a:lvl2pPr marL="503514" indent="0">
              <a:buNone/>
              <a:defRPr sz="2203">
                <a:solidFill>
                  <a:schemeClr val="tx1">
                    <a:tint val="75000"/>
                  </a:schemeClr>
                </a:solidFill>
              </a:defRPr>
            </a:lvl2pPr>
            <a:lvl3pPr marL="1007029" indent="0">
              <a:buNone/>
              <a:defRPr sz="1982">
                <a:solidFill>
                  <a:schemeClr val="tx1">
                    <a:tint val="75000"/>
                  </a:schemeClr>
                </a:solidFill>
              </a:defRPr>
            </a:lvl3pPr>
            <a:lvl4pPr marL="1510543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4pPr>
            <a:lvl5pPr marL="2014057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5pPr>
            <a:lvl6pPr marL="2517572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6pPr>
            <a:lvl7pPr marL="3021086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7pPr>
            <a:lvl8pPr marL="3524601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8pPr>
            <a:lvl9pPr marL="4028115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952BF5E0-0A08-4EC0-82B8-F757F04A31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3" y="1879779"/>
            <a:ext cx="11591806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2">
                <a:solidFill>
                  <a:srgbClr val="0F3250"/>
                </a:solidFill>
                <a:latin typeface="+mn-lt"/>
              </a:defRPr>
            </a:lvl1pPr>
            <a:lvl2pPr marL="503514" indent="0">
              <a:buFontTx/>
              <a:buNone/>
              <a:defRPr/>
            </a:lvl2pPr>
            <a:lvl3pPr marL="1007029" indent="0">
              <a:buFontTx/>
              <a:buNone/>
              <a:defRPr/>
            </a:lvl3pPr>
            <a:lvl4pPr marL="1510543" indent="0">
              <a:buFontTx/>
              <a:buNone/>
              <a:defRPr/>
            </a:lvl4pPr>
            <a:lvl5pPr marL="2014057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7C6DC3C-E3D0-4FE1-A5A0-EDF1891629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56827" y="7158182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8">
                <a:solidFill>
                  <a:schemeClr val="bg1"/>
                </a:solidFill>
              </a:defRPr>
            </a:lvl1pPr>
          </a:lstStyle>
          <a:p>
            <a:r>
              <a:rPr lang="en-US" err="1"/>
              <a:t>Titolo</a:t>
            </a:r>
            <a:r>
              <a:rPr lang="en-US"/>
              <a:t> </a:t>
            </a:r>
            <a:r>
              <a:rPr lang="en-US" err="1"/>
              <a:t>Presentazione</a:t>
            </a:r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A4E14CA5-B13B-0CC8-8F71-6211975B4A69}"/>
              </a:ext>
            </a:extLst>
          </p:cNvPr>
          <p:cNvSpPr txBox="1">
            <a:spLocks/>
          </p:cNvSpPr>
          <p:nvPr userDrawn="1"/>
        </p:nvSpPr>
        <p:spPr>
          <a:xfrm>
            <a:off x="6387393" y="7157194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</p:spTree>
    <p:extLst>
      <p:ext uri="{BB962C8B-B14F-4D97-AF65-F5344CB8AC3E}">
        <p14:creationId xmlns:p14="http://schemas.microsoft.com/office/powerpoint/2010/main" val="1098562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e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7A2920A-7100-C52B-8817-DA15100E88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60961323"/>
              </p:ext>
            </p:extLst>
          </p:nvPr>
        </p:nvGraphicFramePr>
        <p:xfrm>
          <a:off x="2334" y="2332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A2920A-7100-C52B-8817-DA15100E88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4" y="2332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magine 4">
            <a:extLst>
              <a:ext uri="{FF2B5EF4-FFF2-40B4-BE49-F238E27FC236}">
                <a16:creationId xmlns:a16="http://schemas.microsoft.com/office/drawing/2014/main" id="{E2B752D3-4A88-44E0-D1C6-D33A79372A1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"/>
            <a:ext cx="13452221" cy="7559675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401258" y="1928139"/>
            <a:ext cx="4444928" cy="43513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349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err="1"/>
              <a:t>Inserisci</a:t>
            </a:r>
            <a:r>
              <a:rPr lang="en-US"/>
              <a:t> qui </a:t>
            </a:r>
            <a:r>
              <a:rPr lang="en-US" err="1"/>
              <a:t>il</a:t>
            </a:r>
            <a:r>
              <a:rPr lang="en-US"/>
              <a:t> </a:t>
            </a:r>
            <a:r>
              <a:rPr lang="en-US" err="1"/>
              <a:t>grafico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7CD518-EF0F-4B5F-9D5C-FF7A0A28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983" y="1350171"/>
            <a:ext cx="6832562" cy="4024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762">
                <a:solidFill>
                  <a:srgbClr val="969696"/>
                </a:solidFill>
                <a:latin typeface="+mn-lt"/>
              </a:defRPr>
            </a:lvl1pPr>
            <a:lvl2pPr marL="503514" indent="0">
              <a:buNone/>
              <a:defRPr sz="2203">
                <a:solidFill>
                  <a:schemeClr val="tx1">
                    <a:tint val="75000"/>
                  </a:schemeClr>
                </a:solidFill>
              </a:defRPr>
            </a:lvl2pPr>
            <a:lvl3pPr marL="1007029" indent="0">
              <a:buNone/>
              <a:defRPr sz="1982">
                <a:solidFill>
                  <a:schemeClr val="tx1">
                    <a:tint val="75000"/>
                  </a:schemeClr>
                </a:solidFill>
              </a:defRPr>
            </a:lvl3pPr>
            <a:lvl4pPr marL="1510543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4pPr>
            <a:lvl5pPr marL="2014057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5pPr>
            <a:lvl6pPr marL="2517572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6pPr>
            <a:lvl7pPr marL="3021086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7pPr>
            <a:lvl8pPr marL="3524601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8pPr>
            <a:lvl9pPr marL="4028115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2" name="Segnaposto testo 8">
            <a:extLst>
              <a:ext uri="{FF2B5EF4-FFF2-40B4-BE49-F238E27FC236}">
                <a16:creationId xmlns:a16="http://schemas.microsoft.com/office/drawing/2014/main" id="{C23A30CD-5A95-4485-BE1D-AA8BEF1A4E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3" y="1879779"/>
            <a:ext cx="6832562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2">
                <a:solidFill>
                  <a:srgbClr val="0F3250"/>
                </a:solidFill>
                <a:latin typeface="+mn-lt"/>
              </a:defRPr>
            </a:lvl1pPr>
            <a:lvl2pPr marL="503514" indent="0">
              <a:buFontTx/>
              <a:buNone/>
              <a:defRPr/>
            </a:lvl2pPr>
            <a:lvl3pPr marL="1007029" indent="0">
              <a:buFontTx/>
              <a:buNone/>
              <a:defRPr/>
            </a:lvl3pPr>
            <a:lvl4pPr marL="1510543" indent="0">
              <a:buFontTx/>
              <a:buNone/>
              <a:defRPr/>
            </a:lvl4pPr>
            <a:lvl5pPr marL="2014057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5C413CFE-B928-45F4-B41D-8D42139BA3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259" y="1383261"/>
            <a:ext cx="4366526" cy="3541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FontTx/>
              <a:buNone/>
              <a:defRPr sz="1762"/>
            </a:lvl1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4214B999-2BC8-4CE4-B9B7-84E70337219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0" y="7158182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8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C1711A9C-99BD-DFF9-5020-B170FCCB2DCA}"/>
              </a:ext>
            </a:extLst>
          </p:cNvPr>
          <p:cNvSpPr txBox="1">
            <a:spLocks/>
          </p:cNvSpPr>
          <p:nvPr userDrawn="1"/>
        </p:nvSpPr>
        <p:spPr>
          <a:xfrm>
            <a:off x="6387393" y="7157194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873D08D-F04D-5E6C-67F0-4021F1B1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1" y="87404"/>
            <a:ext cx="11356409" cy="52005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3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1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27B1F45-E6AF-BFF6-73D3-9E1FC7797C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84272497"/>
              </p:ext>
            </p:extLst>
          </p:nvPr>
        </p:nvGraphicFramePr>
        <p:xfrm>
          <a:off x="2334" y="2332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7B1F45-E6AF-BFF6-73D3-9E1FC7797C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4" y="2332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magine 5">
            <a:extLst>
              <a:ext uri="{FF2B5EF4-FFF2-40B4-BE49-F238E27FC236}">
                <a16:creationId xmlns:a16="http://schemas.microsoft.com/office/drawing/2014/main" id="{07658883-0AE9-E616-516D-F7C4A9EC60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1" y="1"/>
            <a:ext cx="13452220" cy="7559675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7CD518-EF0F-4B5F-9D5C-FF7A0A28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983" y="1350171"/>
            <a:ext cx="6832562" cy="4024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762">
                <a:solidFill>
                  <a:srgbClr val="969696"/>
                </a:solidFill>
                <a:latin typeface="+mn-lt"/>
              </a:defRPr>
            </a:lvl1pPr>
            <a:lvl2pPr marL="503514" indent="0">
              <a:buNone/>
              <a:defRPr sz="2203">
                <a:solidFill>
                  <a:schemeClr val="tx1">
                    <a:tint val="75000"/>
                  </a:schemeClr>
                </a:solidFill>
              </a:defRPr>
            </a:lvl2pPr>
            <a:lvl3pPr marL="1007029" indent="0">
              <a:buNone/>
              <a:defRPr sz="1982">
                <a:solidFill>
                  <a:schemeClr val="tx1">
                    <a:tint val="75000"/>
                  </a:schemeClr>
                </a:solidFill>
              </a:defRPr>
            </a:lvl3pPr>
            <a:lvl4pPr marL="1510543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4pPr>
            <a:lvl5pPr marL="2014057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5pPr>
            <a:lvl6pPr marL="2517572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6pPr>
            <a:lvl7pPr marL="3021086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7pPr>
            <a:lvl8pPr marL="3524601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8pPr>
            <a:lvl9pPr marL="4028115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2" name="Segnaposto testo 8">
            <a:extLst>
              <a:ext uri="{FF2B5EF4-FFF2-40B4-BE49-F238E27FC236}">
                <a16:creationId xmlns:a16="http://schemas.microsoft.com/office/drawing/2014/main" id="{C23A30CD-5A95-4485-BE1D-AA8BEF1A4E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3" y="1879779"/>
            <a:ext cx="6832562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2">
                <a:solidFill>
                  <a:srgbClr val="0F3250"/>
                </a:solidFill>
                <a:latin typeface="+mn-lt"/>
              </a:defRPr>
            </a:lvl1pPr>
            <a:lvl2pPr marL="503514" indent="0">
              <a:buFontTx/>
              <a:buNone/>
              <a:defRPr/>
            </a:lvl2pPr>
            <a:lvl3pPr marL="1007029" indent="0">
              <a:buFontTx/>
              <a:buNone/>
              <a:defRPr/>
            </a:lvl3pPr>
            <a:lvl4pPr marL="1510543" indent="0">
              <a:buFontTx/>
              <a:buNone/>
              <a:defRPr/>
            </a:lvl4pPr>
            <a:lvl5pPr marL="2014057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69D0CFCB-A22C-488D-967A-11DA5F79B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065832" y="678344"/>
            <a:ext cx="3373944" cy="6283083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1615"/>
            </a:lvl1pPr>
          </a:lstStyle>
          <a:p>
            <a:endParaRPr lang="it-IT"/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0D6E770D-BA99-4D8F-8D7F-F6E1B65C62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0" y="7158182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8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011C3706-DE12-D03A-2B10-2F4F5A15D820}"/>
              </a:ext>
            </a:extLst>
          </p:cNvPr>
          <p:cNvSpPr txBox="1">
            <a:spLocks/>
          </p:cNvSpPr>
          <p:nvPr userDrawn="1"/>
        </p:nvSpPr>
        <p:spPr>
          <a:xfrm>
            <a:off x="6387393" y="7157194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2E1CBA-B540-8F98-A30A-CF2E16108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1" y="87404"/>
            <a:ext cx="11356409" cy="52005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3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12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B87E752-5423-9E19-40F0-651BC2732E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16897707"/>
              </p:ext>
            </p:extLst>
          </p:nvPr>
        </p:nvGraphicFramePr>
        <p:xfrm>
          <a:off x="2334" y="2332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87E752-5423-9E19-40F0-651BC2732E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4" y="2332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magine 3">
            <a:extLst>
              <a:ext uri="{FF2B5EF4-FFF2-40B4-BE49-F238E27FC236}">
                <a16:creationId xmlns:a16="http://schemas.microsoft.com/office/drawing/2014/main" id="{73005DAB-912B-3F46-FB84-AD73311AB08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4" y="-1"/>
            <a:ext cx="13452223" cy="7559676"/>
          </a:xfrm>
          <a:prstGeom prst="rect">
            <a:avLst/>
          </a:prstGeom>
        </p:spPr>
      </p:pic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69D0CFCB-A22C-488D-967A-11DA5F79B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flipH="1">
            <a:off x="-6225" y="678343"/>
            <a:ext cx="13445998" cy="6323665"/>
          </a:xfrm>
          <a:prstGeom prst="round2DiagRect">
            <a:avLst>
              <a:gd name="adj1" fmla="val 19504"/>
              <a:gd name="adj2" fmla="val 0"/>
            </a:avLst>
          </a:prstGeom>
          <a:noFill/>
        </p:spPr>
        <p:txBody>
          <a:bodyPr/>
          <a:lstStyle>
            <a:lvl1pPr marL="0" indent="0">
              <a:buFontTx/>
              <a:buNone/>
              <a:defRPr sz="1615"/>
            </a:lvl1pPr>
          </a:lstStyle>
          <a:p>
            <a:endParaRPr lang="it-IT"/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0D6E770D-BA99-4D8F-8D7F-F6E1B65C62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0" y="7158182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8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22612ACC-83ED-42BD-7545-F7870B49A2E3}"/>
              </a:ext>
            </a:extLst>
          </p:cNvPr>
          <p:cNvSpPr txBox="1">
            <a:spLocks/>
          </p:cNvSpPr>
          <p:nvPr userDrawn="1"/>
        </p:nvSpPr>
        <p:spPr>
          <a:xfrm>
            <a:off x="6387393" y="7157194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396A8B8-B7F5-82A0-3CF7-4862CB81F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1" y="87404"/>
            <a:ext cx="11356409" cy="52005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3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788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0AF5A16-78A4-17EB-D5B0-07E8529A5E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32878980"/>
              </p:ext>
            </p:extLst>
          </p:nvPr>
        </p:nvGraphicFramePr>
        <p:xfrm>
          <a:off x="2334" y="2332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0AF5A16-78A4-17EB-D5B0-07E8529A5E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4" y="2332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magine 4">
            <a:extLst>
              <a:ext uri="{FF2B5EF4-FFF2-40B4-BE49-F238E27FC236}">
                <a16:creationId xmlns:a16="http://schemas.microsoft.com/office/drawing/2014/main" id="{D88B3727-896B-392E-2242-988671D31C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1" y="1"/>
            <a:ext cx="13445997" cy="7556177"/>
          </a:xfrm>
          <a:prstGeom prst="rect">
            <a:avLst/>
          </a:prstGeom>
        </p:spPr>
      </p:pic>
      <p:sp>
        <p:nvSpPr>
          <p:cNvPr id="6" name="Segnaposto piè di pagina 7">
            <a:extLst>
              <a:ext uri="{FF2B5EF4-FFF2-40B4-BE49-F238E27FC236}">
                <a16:creationId xmlns:a16="http://schemas.microsoft.com/office/drawing/2014/main" id="{1F2A62E3-081E-4015-9FC1-C560599BE26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0" y="7158182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8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6F33A3DF-68A8-B55A-981E-381285AF8C9A}"/>
              </a:ext>
            </a:extLst>
          </p:cNvPr>
          <p:cNvSpPr txBox="1">
            <a:spLocks/>
          </p:cNvSpPr>
          <p:nvPr userDrawn="1"/>
        </p:nvSpPr>
        <p:spPr>
          <a:xfrm>
            <a:off x="6387393" y="7157194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A4EF56-F7FF-EEB2-4FE1-81BC76095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1" y="87404"/>
            <a:ext cx="11356409" cy="52005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3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013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Contenu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>
            <a:extLst>
              <a:ext uri="{FF2B5EF4-FFF2-40B4-BE49-F238E27FC236}">
                <a16:creationId xmlns:a16="http://schemas.microsoft.com/office/drawing/2014/main" id="{A900325B-BD48-4F3C-826C-ABA7066461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16598258"/>
              </p:ext>
            </p:extLst>
          </p:nvPr>
        </p:nvGraphicFramePr>
        <p:xfrm>
          <a:off x="1588" y="1587"/>
          <a:ext cx="1589" cy="1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3" name="Oggetto 2" hidden="1">
                        <a:extLst>
                          <a:ext uri="{FF2B5EF4-FFF2-40B4-BE49-F238E27FC236}">
                            <a16:creationId xmlns:a16="http://schemas.microsoft.com/office/drawing/2014/main" id="{A900325B-BD48-4F3C-826C-ABA7066461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7"/>
                        <a:ext cx="1589" cy="1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Immagine 12" descr="US_16_9_RGB-03.jp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" y="1"/>
            <a:ext cx="13436799" cy="7559675"/>
          </a:xfrm>
          <a:prstGeom prst="rect">
            <a:avLst/>
          </a:prstGeom>
        </p:spPr>
      </p:pic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986ABD9A-7EF2-4AB2-B830-F9525F029F29}"/>
              </a:ext>
            </a:extLst>
          </p:cNvPr>
          <p:cNvSpPr txBox="1">
            <a:spLocks/>
          </p:cNvSpPr>
          <p:nvPr userDrawn="1"/>
        </p:nvSpPr>
        <p:spPr>
          <a:xfrm>
            <a:off x="12455593" y="7157194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67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98DEE5-5424-45CB-8336-3215AFBD0173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67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‹N›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54E1DC5-9D58-41D7-B23E-ECE98AF6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80" y="100760"/>
            <a:ext cx="13066361" cy="517525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1998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6321100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olo presen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ggetto 4" hidden="1">
            <a:extLst>
              <a:ext uri="{FF2B5EF4-FFF2-40B4-BE49-F238E27FC236}">
                <a16:creationId xmlns:a16="http://schemas.microsoft.com/office/drawing/2014/main" id="{34B954B2-5384-40C4-A010-8D8B8BC1BC2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55379590"/>
              </p:ext>
            </p:extLst>
          </p:nvPr>
        </p:nvGraphicFramePr>
        <p:xfrm>
          <a:off x="1997" y="1587"/>
          <a:ext cx="1996" cy="1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name="Diapositiva think-cell" r:id="rId4" imgW="414" imgH="414" progId="TCLayout.ActiveDocument.1">
                  <p:embed/>
                </p:oleObj>
              </mc:Choice>
              <mc:Fallback>
                <p:oleObj name="Diapositiva think-cell" r:id="rId4" imgW="414" imgH="414" progId="TCLayout.ActiveDocument.1">
                  <p:embed/>
                  <p:pic>
                    <p:nvPicPr>
                      <p:cNvPr id="5" name="Oggetto 4" hidden="1">
                        <a:extLst>
                          <a:ext uri="{FF2B5EF4-FFF2-40B4-BE49-F238E27FC236}">
                            <a16:creationId xmlns:a16="http://schemas.microsoft.com/office/drawing/2014/main" id="{34B954B2-5384-40C4-A010-8D8B8BC1BC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97" y="1587"/>
                        <a:ext cx="1996" cy="1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40761" y="1084080"/>
            <a:ext cx="10079833" cy="478185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algn="r" rtl="0">
              <a:defRPr sz="2198" b="1">
                <a:solidFill>
                  <a:srgbClr val="0F3250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0761" y="1466479"/>
            <a:ext cx="10079833" cy="4781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rtl="0">
              <a:buNone/>
              <a:defRPr sz="1899">
                <a:solidFill>
                  <a:srgbClr val="0F3250"/>
                </a:solidFill>
              </a:defRPr>
            </a:lvl1pPr>
            <a:lvl2pPr marL="400593" indent="0" algn="ctr">
              <a:buNone/>
              <a:defRPr sz="1752"/>
            </a:lvl2pPr>
            <a:lvl3pPr marL="801184" indent="0" algn="ctr">
              <a:buNone/>
              <a:defRPr sz="1577"/>
            </a:lvl3pPr>
            <a:lvl4pPr marL="1201777" indent="0" algn="ctr">
              <a:buNone/>
              <a:defRPr sz="1402"/>
            </a:lvl4pPr>
            <a:lvl5pPr marL="1602368" indent="0" algn="ctr">
              <a:buNone/>
              <a:defRPr sz="1402"/>
            </a:lvl5pPr>
            <a:lvl6pPr marL="2002959" indent="0" algn="ctr">
              <a:buNone/>
              <a:defRPr sz="1402"/>
            </a:lvl6pPr>
            <a:lvl7pPr marL="2403551" indent="0" algn="ctr">
              <a:buNone/>
              <a:defRPr sz="1402"/>
            </a:lvl7pPr>
            <a:lvl8pPr marL="2804143" indent="0" algn="ctr">
              <a:buNone/>
              <a:defRPr sz="1402"/>
            </a:lvl8pPr>
            <a:lvl9pPr marL="3204735" indent="0" algn="ctr">
              <a:buNone/>
              <a:defRPr sz="1402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7F738A74-27ED-4AD4-8EC0-C89BD70E0D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87049" y="5111300"/>
            <a:ext cx="5668038" cy="47787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rtl="0">
              <a:buFontTx/>
              <a:buNone/>
              <a:defRPr sz="1200">
                <a:solidFill>
                  <a:srgbClr val="0F3250"/>
                </a:solidFill>
                <a:latin typeface="+mn-lt"/>
              </a:defRPr>
            </a:lvl1pPr>
            <a:lvl2pPr>
              <a:defRPr sz="1169">
                <a:latin typeface="+mn-lt"/>
              </a:defRPr>
            </a:lvl2pPr>
            <a:lvl3pPr>
              <a:defRPr sz="1169">
                <a:latin typeface="+mn-lt"/>
              </a:defRPr>
            </a:lvl3pPr>
            <a:lvl4pPr>
              <a:defRPr sz="1169">
                <a:latin typeface="+mn-lt"/>
              </a:defRPr>
            </a:lvl4pPr>
            <a:lvl5pPr>
              <a:defRPr sz="1169">
                <a:latin typeface="+mn-lt"/>
              </a:defRPr>
            </a:lvl5pPr>
          </a:lstStyle>
          <a:p>
            <a:pPr lvl="0"/>
            <a:r>
              <a:rPr lang="it-IT"/>
              <a:t>Luogo, Giorno, Mese, Anno</a:t>
            </a:r>
          </a:p>
        </p:txBody>
      </p:sp>
    </p:spTree>
    <p:extLst>
      <p:ext uri="{BB962C8B-B14F-4D97-AF65-F5344CB8AC3E}">
        <p14:creationId xmlns:p14="http://schemas.microsoft.com/office/powerpoint/2010/main" val="2551800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presen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40761" y="1371469"/>
            <a:ext cx="10079831" cy="478185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2642" b="1">
                <a:solidFill>
                  <a:srgbClr val="0F3250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0761" y="1849656"/>
            <a:ext cx="10079831" cy="4781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2347">
                <a:solidFill>
                  <a:srgbClr val="0F3250"/>
                </a:solidFill>
              </a:defRPr>
            </a:lvl1pPr>
            <a:lvl2pPr marL="503049" indent="0" algn="ctr">
              <a:buNone/>
              <a:defRPr sz="2201"/>
            </a:lvl2pPr>
            <a:lvl3pPr marL="1006098" indent="0" algn="ctr">
              <a:buNone/>
              <a:defRPr sz="1981"/>
            </a:lvl3pPr>
            <a:lvl4pPr marL="1509145" indent="0" algn="ctr">
              <a:buNone/>
              <a:defRPr sz="1761"/>
            </a:lvl4pPr>
            <a:lvl5pPr marL="2012194" indent="0" algn="ctr">
              <a:buNone/>
              <a:defRPr sz="1761"/>
            </a:lvl5pPr>
            <a:lvl6pPr marL="2515243" indent="0" algn="ctr">
              <a:buNone/>
              <a:defRPr sz="1761"/>
            </a:lvl6pPr>
            <a:lvl7pPr marL="3018292" indent="0" algn="ctr">
              <a:buNone/>
              <a:defRPr sz="1761"/>
            </a:lvl7pPr>
            <a:lvl8pPr marL="3521341" indent="0" algn="ctr">
              <a:buNone/>
              <a:defRPr sz="1761"/>
            </a:lvl8pPr>
            <a:lvl9pPr marL="4024390" indent="0" algn="ctr">
              <a:buNone/>
              <a:defRPr sz="1761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7F738A74-27ED-4AD4-8EC0-C89BD70E0D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9890" y="5192238"/>
            <a:ext cx="5668038" cy="47787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1467">
                <a:solidFill>
                  <a:srgbClr val="0F3250"/>
                </a:solidFill>
                <a:latin typeface="+mn-lt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it-IT"/>
              <a:t>Luogo, Giorno, Mese, Anno</a:t>
            </a:r>
          </a:p>
        </p:txBody>
      </p:sp>
    </p:spTree>
    <p:extLst>
      <p:ext uri="{BB962C8B-B14F-4D97-AF65-F5344CB8AC3E}">
        <p14:creationId xmlns:p14="http://schemas.microsoft.com/office/powerpoint/2010/main" val="9684894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6727BFB4-4582-B112-DCC6-FA5320800C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496"/>
            <a:ext cx="13446000" cy="755617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3952" y="1734720"/>
            <a:ext cx="10162342" cy="6241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934" b="1">
                <a:solidFill>
                  <a:srgbClr val="0F325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11E6B4A2-9A21-4261-B346-5479C602FC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41" y="2832665"/>
            <a:ext cx="9844654" cy="32779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1006098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None/>
              <a:tabLst/>
              <a:defRPr sz="1540" i="1">
                <a:solidFill>
                  <a:srgbClr val="0F3250"/>
                </a:solidFill>
              </a:defRPr>
            </a:lvl1pPr>
          </a:lstStyle>
          <a:p>
            <a:pPr marL="158440" marR="0" lvl="0" indent="-158440" algn="l" defTabSz="1006098" rtl="0" eaLnBrk="1" fontAlgn="auto" latinLnBrk="0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440" marR="0" lvl="0" indent="-158440" algn="l" defTabSz="1006098" rtl="0" eaLnBrk="1" fontAlgn="auto" latinLnBrk="0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440" marR="0" lvl="0" indent="-158440" algn="l" defTabSz="1006098" rtl="0" eaLnBrk="1" fontAlgn="auto" latinLnBrk="0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440" marR="0" lvl="0" indent="-158440" algn="l" defTabSz="1006098" rtl="0" eaLnBrk="1" fontAlgn="auto" latinLnBrk="0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440" marR="0" lvl="0" indent="-158440" algn="l" defTabSz="1006098" rtl="0" eaLnBrk="1" fontAlgn="auto" latinLnBrk="0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440" marR="0" lvl="0" indent="-158440" algn="l" defTabSz="1006098" rtl="0" eaLnBrk="1" fontAlgn="auto" latinLnBrk="0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endParaRPr lang="it-IT"/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40C1A1A2-0B04-4A5C-99E7-5874469B36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3954" y="2381427"/>
            <a:ext cx="10161497" cy="4494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264068" indent="-264068">
              <a:buClr>
                <a:srgbClr val="0F3250"/>
              </a:buClr>
              <a:buFont typeface="+mj-lt"/>
              <a:buAutoNum type="arabicPeriod"/>
              <a:defRPr sz="1907">
                <a:solidFill>
                  <a:srgbClr val="0F3250"/>
                </a:solidFill>
              </a:defRPr>
            </a:lvl1pPr>
          </a:lstStyle>
          <a:p>
            <a:pPr lvl="0"/>
            <a:r>
              <a:rPr lang="it-IT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0790303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di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7DD069E-02C0-C4D8-F533-4D3CB4108D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48196942"/>
              </p:ext>
            </p:extLst>
          </p:nvPr>
        </p:nvGraphicFramePr>
        <p:xfrm>
          <a:off x="2336" y="2333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DD069E-02C0-C4D8-F533-4D3CB4108D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6" y="2333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magine 6">
            <a:extLst>
              <a:ext uri="{FF2B5EF4-FFF2-40B4-BE49-F238E27FC236}">
                <a16:creationId xmlns:a16="http://schemas.microsoft.com/office/drawing/2014/main" id="{854C2E04-660E-F40A-313D-A6E3C714CD9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"/>
            <a:ext cx="13452221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92" y="87405"/>
            <a:ext cx="11356409" cy="52005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2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983" y="1350172"/>
            <a:ext cx="11591806" cy="4024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761">
                <a:solidFill>
                  <a:srgbClr val="969696"/>
                </a:solidFill>
                <a:latin typeface="+mn-lt"/>
              </a:defRPr>
            </a:lvl1pPr>
            <a:lvl2pPr marL="503049" indent="0">
              <a:buNone/>
              <a:defRPr sz="2201">
                <a:solidFill>
                  <a:schemeClr val="tx1">
                    <a:tint val="75000"/>
                  </a:schemeClr>
                </a:solidFill>
              </a:defRPr>
            </a:lvl2pPr>
            <a:lvl3pPr marL="1006098" indent="0">
              <a:buNone/>
              <a:defRPr sz="1981">
                <a:solidFill>
                  <a:schemeClr val="tx1">
                    <a:tint val="75000"/>
                  </a:schemeClr>
                </a:solidFill>
              </a:defRPr>
            </a:lvl3pPr>
            <a:lvl4pPr marL="1509145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4pPr>
            <a:lvl5pPr marL="2012194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5pPr>
            <a:lvl6pPr marL="2515243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6pPr>
            <a:lvl7pPr marL="3018292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7pPr>
            <a:lvl8pPr marL="3521341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8pPr>
            <a:lvl9pPr marL="4024390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952BF5E0-0A08-4EC0-82B8-F757F04A31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3" y="1879779"/>
            <a:ext cx="11591806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1">
                <a:solidFill>
                  <a:srgbClr val="0F3250"/>
                </a:solidFill>
                <a:latin typeface="+mn-lt"/>
              </a:defRPr>
            </a:lvl1pPr>
            <a:lvl2pPr marL="503049" indent="0">
              <a:buFontTx/>
              <a:buNone/>
              <a:defRPr/>
            </a:lvl2pPr>
            <a:lvl3pPr marL="1006098" indent="0">
              <a:buFontTx/>
              <a:buNone/>
              <a:defRPr/>
            </a:lvl3pPr>
            <a:lvl4pPr marL="1509145" indent="0">
              <a:buFontTx/>
              <a:buNone/>
              <a:defRPr/>
            </a:lvl4pPr>
            <a:lvl5pPr marL="2012194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7C6DC3C-E3D0-4FE1-A5A0-EDF1891629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56828" y="7158183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6">
                <a:solidFill>
                  <a:schemeClr val="bg1"/>
                </a:solidFill>
              </a:defRPr>
            </a:lvl1pPr>
          </a:lstStyle>
          <a:p>
            <a:r>
              <a:rPr lang="en-US" err="1"/>
              <a:t>Titolo</a:t>
            </a:r>
            <a:r>
              <a:rPr lang="en-US"/>
              <a:t> </a:t>
            </a:r>
            <a:r>
              <a:rPr lang="en-US" err="1"/>
              <a:t>Presentazione</a:t>
            </a:r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A4E14CA5-B13B-0CC8-8F71-6211975B4A69}"/>
              </a:ext>
            </a:extLst>
          </p:cNvPr>
          <p:cNvSpPr txBox="1">
            <a:spLocks/>
          </p:cNvSpPr>
          <p:nvPr userDrawn="1"/>
        </p:nvSpPr>
        <p:spPr>
          <a:xfrm>
            <a:off x="6387394" y="7157195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</p:spTree>
    <p:extLst>
      <p:ext uri="{BB962C8B-B14F-4D97-AF65-F5344CB8AC3E}">
        <p14:creationId xmlns:p14="http://schemas.microsoft.com/office/powerpoint/2010/main" val="31627631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e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7A2920A-7100-C52B-8817-DA15100E88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60961323"/>
              </p:ext>
            </p:extLst>
          </p:nvPr>
        </p:nvGraphicFramePr>
        <p:xfrm>
          <a:off x="2336" y="2333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A2920A-7100-C52B-8817-DA15100E88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6" y="2333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magine 4">
            <a:extLst>
              <a:ext uri="{FF2B5EF4-FFF2-40B4-BE49-F238E27FC236}">
                <a16:creationId xmlns:a16="http://schemas.microsoft.com/office/drawing/2014/main" id="{E2B752D3-4A88-44E0-D1C6-D33A79372A1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"/>
            <a:ext cx="13452221" cy="7559675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401259" y="1928141"/>
            <a:ext cx="4444928" cy="43513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347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err="1"/>
              <a:t>Inserisci</a:t>
            </a:r>
            <a:r>
              <a:rPr lang="en-US"/>
              <a:t> qui </a:t>
            </a:r>
            <a:r>
              <a:rPr lang="en-US" err="1"/>
              <a:t>il</a:t>
            </a:r>
            <a:r>
              <a:rPr lang="en-US"/>
              <a:t> </a:t>
            </a:r>
            <a:r>
              <a:rPr lang="en-US" err="1"/>
              <a:t>grafico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7CD518-EF0F-4B5F-9D5C-FF7A0A28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985" y="1350172"/>
            <a:ext cx="6832562" cy="4024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761">
                <a:solidFill>
                  <a:srgbClr val="969696"/>
                </a:solidFill>
                <a:latin typeface="+mn-lt"/>
              </a:defRPr>
            </a:lvl1pPr>
            <a:lvl2pPr marL="503049" indent="0">
              <a:buNone/>
              <a:defRPr sz="2201">
                <a:solidFill>
                  <a:schemeClr val="tx1">
                    <a:tint val="75000"/>
                  </a:schemeClr>
                </a:solidFill>
              </a:defRPr>
            </a:lvl2pPr>
            <a:lvl3pPr marL="1006098" indent="0">
              <a:buNone/>
              <a:defRPr sz="1981">
                <a:solidFill>
                  <a:schemeClr val="tx1">
                    <a:tint val="75000"/>
                  </a:schemeClr>
                </a:solidFill>
              </a:defRPr>
            </a:lvl3pPr>
            <a:lvl4pPr marL="1509145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4pPr>
            <a:lvl5pPr marL="2012194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5pPr>
            <a:lvl6pPr marL="2515243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6pPr>
            <a:lvl7pPr marL="3018292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7pPr>
            <a:lvl8pPr marL="3521341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8pPr>
            <a:lvl9pPr marL="4024390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2" name="Segnaposto testo 8">
            <a:extLst>
              <a:ext uri="{FF2B5EF4-FFF2-40B4-BE49-F238E27FC236}">
                <a16:creationId xmlns:a16="http://schemas.microsoft.com/office/drawing/2014/main" id="{C23A30CD-5A95-4485-BE1D-AA8BEF1A4E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5" y="1879779"/>
            <a:ext cx="6832562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1">
                <a:solidFill>
                  <a:srgbClr val="0F3250"/>
                </a:solidFill>
                <a:latin typeface="+mn-lt"/>
              </a:defRPr>
            </a:lvl1pPr>
            <a:lvl2pPr marL="503049" indent="0">
              <a:buFontTx/>
              <a:buNone/>
              <a:defRPr/>
            </a:lvl2pPr>
            <a:lvl3pPr marL="1006098" indent="0">
              <a:buFontTx/>
              <a:buNone/>
              <a:defRPr/>
            </a:lvl3pPr>
            <a:lvl4pPr marL="1509145" indent="0">
              <a:buFontTx/>
              <a:buNone/>
              <a:defRPr/>
            </a:lvl4pPr>
            <a:lvl5pPr marL="2012194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5C413CFE-B928-45F4-B41D-8D42139BA3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261" y="1383261"/>
            <a:ext cx="4366526" cy="3541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FontTx/>
              <a:buNone/>
              <a:defRPr sz="1761"/>
            </a:lvl1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4214B999-2BC8-4CE4-B9B7-84E70337219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1" y="7158183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6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C1711A9C-99BD-DFF9-5020-B170FCCB2DCA}"/>
              </a:ext>
            </a:extLst>
          </p:cNvPr>
          <p:cNvSpPr txBox="1">
            <a:spLocks/>
          </p:cNvSpPr>
          <p:nvPr userDrawn="1"/>
        </p:nvSpPr>
        <p:spPr>
          <a:xfrm>
            <a:off x="6387394" y="7157195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873D08D-F04D-5E6C-67F0-4021F1B1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2" y="87405"/>
            <a:ext cx="11356409" cy="52005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2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142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27B1F45-E6AF-BFF6-73D3-9E1FC7797C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84272497"/>
              </p:ext>
            </p:extLst>
          </p:nvPr>
        </p:nvGraphicFramePr>
        <p:xfrm>
          <a:off x="2336" y="2333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7B1F45-E6AF-BFF6-73D3-9E1FC7797C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6" y="2333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magine 5">
            <a:extLst>
              <a:ext uri="{FF2B5EF4-FFF2-40B4-BE49-F238E27FC236}">
                <a16:creationId xmlns:a16="http://schemas.microsoft.com/office/drawing/2014/main" id="{07658883-0AE9-E616-516D-F7C4A9EC60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0" y="2"/>
            <a:ext cx="13452220" cy="7559675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7CD518-EF0F-4B5F-9D5C-FF7A0A28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985" y="1350172"/>
            <a:ext cx="6832562" cy="4024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761">
                <a:solidFill>
                  <a:srgbClr val="969696"/>
                </a:solidFill>
                <a:latin typeface="+mn-lt"/>
              </a:defRPr>
            </a:lvl1pPr>
            <a:lvl2pPr marL="503049" indent="0">
              <a:buNone/>
              <a:defRPr sz="2201">
                <a:solidFill>
                  <a:schemeClr val="tx1">
                    <a:tint val="75000"/>
                  </a:schemeClr>
                </a:solidFill>
              </a:defRPr>
            </a:lvl2pPr>
            <a:lvl3pPr marL="1006098" indent="0">
              <a:buNone/>
              <a:defRPr sz="1981">
                <a:solidFill>
                  <a:schemeClr val="tx1">
                    <a:tint val="75000"/>
                  </a:schemeClr>
                </a:solidFill>
              </a:defRPr>
            </a:lvl3pPr>
            <a:lvl4pPr marL="1509145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4pPr>
            <a:lvl5pPr marL="2012194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5pPr>
            <a:lvl6pPr marL="2515243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6pPr>
            <a:lvl7pPr marL="3018292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7pPr>
            <a:lvl8pPr marL="3521341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8pPr>
            <a:lvl9pPr marL="4024390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2" name="Segnaposto testo 8">
            <a:extLst>
              <a:ext uri="{FF2B5EF4-FFF2-40B4-BE49-F238E27FC236}">
                <a16:creationId xmlns:a16="http://schemas.microsoft.com/office/drawing/2014/main" id="{C23A30CD-5A95-4485-BE1D-AA8BEF1A4E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5" y="1879779"/>
            <a:ext cx="6832562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1">
                <a:solidFill>
                  <a:srgbClr val="0F3250"/>
                </a:solidFill>
                <a:latin typeface="+mn-lt"/>
              </a:defRPr>
            </a:lvl1pPr>
            <a:lvl2pPr marL="503049" indent="0">
              <a:buFontTx/>
              <a:buNone/>
              <a:defRPr/>
            </a:lvl2pPr>
            <a:lvl3pPr marL="1006098" indent="0">
              <a:buFontTx/>
              <a:buNone/>
              <a:defRPr/>
            </a:lvl3pPr>
            <a:lvl4pPr marL="1509145" indent="0">
              <a:buFontTx/>
              <a:buNone/>
              <a:defRPr/>
            </a:lvl4pPr>
            <a:lvl5pPr marL="2012194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69D0CFCB-A22C-488D-967A-11DA5F79B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065833" y="678346"/>
            <a:ext cx="3373944" cy="6283083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1614"/>
            </a:lvl1pPr>
          </a:lstStyle>
          <a:p>
            <a:endParaRPr lang="it-IT"/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0D6E770D-BA99-4D8F-8D7F-F6E1B65C62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1" y="7158183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6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011C3706-DE12-D03A-2B10-2F4F5A15D820}"/>
              </a:ext>
            </a:extLst>
          </p:cNvPr>
          <p:cNvSpPr txBox="1">
            <a:spLocks/>
          </p:cNvSpPr>
          <p:nvPr userDrawn="1"/>
        </p:nvSpPr>
        <p:spPr>
          <a:xfrm>
            <a:off x="6387394" y="7157195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2E1CBA-B540-8F98-A30A-CF2E16108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2" y="87405"/>
            <a:ext cx="11356409" cy="52005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2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624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B87E752-5423-9E19-40F0-651BC2732E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16897707"/>
              </p:ext>
            </p:extLst>
          </p:nvPr>
        </p:nvGraphicFramePr>
        <p:xfrm>
          <a:off x="2336" y="2333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87E752-5423-9E19-40F0-651BC2732E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6" y="2333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magine 3">
            <a:extLst>
              <a:ext uri="{FF2B5EF4-FFF2-40B4-BE49-F238E27FC236}">
                <a16:creationId xmlns:a16="http://schemas.microsoft.com/office/drawing/2014/main" id="{73005DAB-912B-3F46-FB84-AD73311AB08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4" y="-1"/>
            <a:ext cx="13452223" cy="7559676"/>
          </a:xfrm>
          <a:prstGeom prst="rect">
            <a:avLst/>
          </a:prstGeom>
        </p:spPr>
      </p:pic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69D0CFCB-A22C-488D-967A-11DA5F79B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flipH="1">
            <a:off x="-6225" y="678343"/>
            <a:ext cx="13445998" cy="6323665"/>
          </a:xfrm>
          <a:prstGeom prst="round2DiagRect">
            <a:avLst>
              <a:gd name="adj1" fmla="val 19504"/>
              <a:gd name="adj2" fmla="val 0"/>
            </a:avLst>
          </a:prstGeom>
          <a:noFill/>
        </p:spPr>
        <p:txBody>
          <a:bodyPr/>
          <a:lstStyle>
            <a:lvl1pPr marL="0" indent="0">
              <a:buFontTx/>
              <a:buNone/>
              <a:defRPr sz="1614"/>
            </a:lvl1pPr>
          </a:lstStyle>
          <a:p>
            <a:endParaRPr lang="it-IT"/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0D6E770D-BA99-4D8F-8D7F-F6E1B65C62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1" y="7158183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6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22612ACC-83ED-42BD-7545-F7870B49A2E3}"/>
              </a:ext>
            </a:extLst>
          </p:cNvPr>
          <p:cNvSpPr txBox="1">
            <a:spLocks/>
          </p:cNvSpPr>
          <p:nvPr userDrawn="1"/>
        </p:nvSpPr>
        <p:spPr>
          <a:xfrm>
            <a:off x="6387394" y="7157195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396A8B8-B7F5-82A0-3CF7-4862CB81F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2" y="87405"/>
            <a:ext cx="11356409" cy="52005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2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899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0AF5A16-78A4-17EB-D5B0-07E8529A5E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32878980"/>
              </p:ext>
            </p:extLst>
          </p:nvPr>
        </p:nvGraphicFramePr>
        <p:xfrm>
          <a:off x="2336" y="2333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0AF5A16-78A4-17EB-D5B0-07E8529A5E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6" y="2333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magine 4">
            <a:extLst>
              <a:ext uri="{FF2B5EF4-FFF2-40B4-BE49-F238E27FC236}">
                <a16:creationId xmlns:a16="http://schemas.microsoft.com/office/drawing/2014/main" id="{D88B3727-896B-392E-2242-988671D31C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0" y="2"/>
            <a:ext cx="13445997" cy="7556177"/>
          </a:xfrm>
          <a:prstGeom prst="rect">
            <a:avLst/>
          </a:prstGeom>
        </p:spPr>
      </p:pic>
      <p:sp>
        <p:nvSpPr>
          <p:cNvPr id="6" name="Segnaposto piè di pagina 7">
            <a:extLst>
              <a:ext uri="{FF2B5EF4-FFF2-40B4-BE49-F238E27FC236}">
                <a16:creationId xmlns:a16="http://schemas.microsoft.com/office/drawing/2014/main" id="{1F2A62E3-081E-4015-9FC1-C560599BE26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1" y="7158183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6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6F33A3DF-68A8-B55A-981E-381285AF8C9A}"/>
              </a:ext>
            </a:extLst>
          </p:cNvPr>
          <p:cNvSpPr txBox="1">
            <a:spLocks/>
          </p:cNvSpPr>
          <p:nvPr userDrawn="1"/>
        </p:nvSpPr>
        <p:spPr>
          <a:xfrm>
            <a:off x="6387394" y="7157195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A4EF56-F7FF-EEB2-4FE1-81BC76095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2" y="87405"/>
            <a:ext cx="11356409" cy="52005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2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758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Contenu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>
            <a:extLst>
              <a:ext uri="{FF2B5EF4-FFF2-40B4-BE49-F238E27FC236}">
                <a16:creationId xmlns:a16="http://schemas.microsoft.com/office/drawing/2014/main" id="{A900325B-BD48-4F3C-826C-ABA7066461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16598258"/>
              </p:ext>
            </p:extLst>
          </p:nvPr>
        </p:nvGraphicFramePr>
        <p:xfrm>
          <a:off x="1590" y="1587"/>
          <a:ext cx="1589" cy="1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3" name="Oggetto 2" hidden="1">
                        <a:extLst>
                          <a:ext uri="{FF2B5EF4-FFF2-40B4-BE49-F238E27FC236}">
                            <a16:creationId xmlns:a16="http://schemas.microsoft.com/office/drawing/2014/main" id="{A900325B-BD48-4F3C-826C-ABA7066461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0" y="1587"/>
                        <a:ext cx="1589" cy="1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Immagine 12" descr="US_16_9_RGB-03.jp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" y="2"/>
            <a:ext cx="13436799" cy="7559675"/>
          </a:xfrm>
          <a:prstGeom prst="rect">
            <a:avLst/>
          </a:prstGeom>
        </p:spPr>
      </p:pic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986ABD9A-7EF2-4AB2-B830-F9525F029F29}"/>
              </a:ext>
            </a:extLst>
          </p:cNvPr>
          <p:cNvSpPr txBox="1">
            <a:spLocks/>
          </p:cNvSpPr>
          <p:nvPr userDrawn="1"/>
        </p:nvSpPr>
        <p:spPr>
          <a:xfrm>
            <a:off x="12455595" y="7157195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6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98DEE5-5424-45CB-8336-3215AFBD0173}" type="slidenum">
              <a:rPr kumimoji="0" lang="it-IT" sz="1198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6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‹N›</a:t>
            </a:fld>
            <a:endParaRPr kumimoji="0" lang="it-IT" sz="11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54E1DC5-9D58-41D7-B23E-ECE98AF6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82" y="100762"/>
            <a:ext cx="13066361" cy="517525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1997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32623637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olo presen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ggetto 4" hidden="1">
            <a:extLst>
              <a:ext uri="{FF2B5EF4-FFF2-40B4-BE49-F238E27FC236}">
                <a16:creationId xmlns:a16="http://schemas.microsoft.com/office/drawing/2014/main" id="{34B954B2-5384-40C4-A010-8D8B8BC1BC2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55379590"/>
              </p:ext>
            </p:extLst>
          </p:nvPr>
        </p:nvGraphicFramePr>
        <p:xfrm>
          <a:off x="1999" y="1587"/>
          <a:ext cx="1996" cy="1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name="Diapositiva think-cell" r:id="rId4" imgW="414" imgH="414" progId="TCLayout.ActiveDocument.1">
                  <p:embed/>
                </p:oleObj>
              </mc:Choice>
              <mc:Fallback>
                <p:oleObj name="Diapositiva think-cell" r:id="rId4" imgW="414" imgH="414" progId="TCLayout.ActiveDocument.1">
                  <p:embed/>
                  <p:pic>
                    <p:nvPicPr>
                      <p:cNvPr id="5" name="Oggetto 4" hidden="1">
                        <a:extLst>
                          <a:ext uri="{FF2B5EF4-FFF2-40B4-BE49-F238E27FC236}">
                            <a16:creationId xmlns:a16="http://schemas.microsoft.com/office/drawing/2014/main" id="{34B954B2-5384-40C4-A010-8D8B8BC1BC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99" y="1587"/>
                        <a:ext cx="1996" cy="1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40763" y="1084080"/>
            <a:ext cx="10079833" cy="478185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algn="r" rtl="0">
              <a:defRPr sz="2197" b="1">
                <a:solidFill>
                  <a:srgbClr val="0F3250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0763" y="1466480"/>
            <a:ext cx="10079833" cy="4781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rtl="0">
              <a:buNone/>
              <a:defRPr sz="1897">
                <a:solidFill>
                  <a:srgbClr val="0F3250"/>
                </a:solidFill>
              </a:defRPr>
            </a:lvl1pPr>
            <a:lvl2pPr marL="400223" indent="0" algn="ctr">
              <a:buNone/>
              <a:defRPr sz="1750"/>
            </a:lvl2pPr>
            <a:lvl3pPr marL="800442" indent="0" algn="ctr">
              <a:buNone/>
              <a:defRPr sz="1576"/>
            </a:lvl3pPr>
            <a:lvl4pPr marL="1200665" indent="0" algn="ctr">
              <a:buNone/>
              <a:defRPr sz="1401"/>
            </a:lvl4pPr>
            <a:lvl5pPr marL="1600886" indent="0" algn="ctr">
              <a:buNone/>
              <a:defRPr sz="1401"/>
            </a:lvl5pPr>
            <a:lvl6pPr marL="2001106" indent="0" algn="ctr">
              <a:buNone/>
              <a:defRPr sz="1401"/>
            </a:lvl6pPr>
            <a:lvl7pPr marL="2401327" indent="0" algn="ctr">
              <a:buNone/>
              <a:defRPr sz="1401"/>
            </a:lvl7pPr>
            <a:lvl8pPr marL="2801550" indent="0" algn="ctr">
              <a:buNone/>
              <a:defRPr sz="1401"/>
            </a:lvl8pPr>
            <a:lvl9pPr marL="3201770" indent="0" algn="ctr">
              <a:buNone/>
              <a:defRPr sz="1401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7F738A74-27ED-4AD4-8EC0-C89BD70E0D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87050" y="5111301"/>
            <a:ext cx="5668038" cy="47787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rtl="0">
              <a:buFontTx/>
              <a:buNone/>
              <a:defRPr sz="1198">
                <a:solidFill>
                  <a:srgbClr val="0F3250"/>
                </a:solidFill>
                <a:latin typeface="+mn-lt"/>
              </a:defRPr>
            </a:lvl1pPr>
            <a:lvl2pPr>
              <a:defRPr sz="1167">
                <a:latin typeface="+mn-lt"/>
              </a:defRPr>
            </a:lvl2pPr>
            <a:lvl3pPr>
              <a:defRPr sz="1167">
                <a:latin typeface="+mn-lt"/>
              </a:defRPr>
            </a:lvl3pPr>
            <a:lvl4pPr>
              <a:defRPr sz="1167">
                <a:latin typeface="+mn-lt"/>
              </a:defRPr>
            </a:lvl4pPr>
            <a:lvl5pPr>
              <a:defRPr sz="1167">
                <a:latin typeface="+mn-lt"/>
              </a:defRPr>
            </a:lvl5pPr>
          </a:lstStyle>
          <a:p>
            <a:pPr lvl="0"/>
            <a:r>
              <a:rPr lang="it-IT"/>
              <a:t>Luogo, Giorno, Mese, Anno</a:t>
            </a:r>
          </a:p>
        </p:txBody>
      </p:sp>
    </p:spTree>
    <p:extLst>
      <p:ext uri="{BB962C8B-B14F-4D97-AF65-F5344CB8AC3E}">
        <p14:creationId xmlns:p14="http://schemas.microsoft.com/office/powerpoint/2010/main" val="12950318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presen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40762" y="1371470"/>
            <a:ext cx="10079831" cy="478185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2642" b="1">
                <a:solidFill>
                  <a:srgbClr val="0F3250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0762" y="1849657"/>
            <a:ext cx="10079831" cy="4781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2347">
                <a:solidFill>
                  <a:srgbClr val="0F3250"/>
                </a:solidFill>
              </a:defRPr>
            </a:lvl1pPr>
            <a:lvl2pPr marL="503052" indent="0" algn="ctr">
              <a:buNone/>
              <a:defRPr sz="2201"/>
            </a:lvl2pPr>
            <a:lvl3pPr marL="1006104" indent="0" algn="ctr">
              <a:buNone/>
              <a:defRPr sz="1981"/>
            </a:lvl3pPr>
            <a:lvl4pPr marL="1509155" indent="0" algn="ctr">
              <a:buNone/>
              <a:defRPr sz="1761"/>
            </a:lvl4pPr>
            <a:lvl5pPr marL="2012207" indent="0" algn="ctr">
              <a:buNone/>
              <a:defRPr sz="1761"/>
            </a:lvl5pPr>
            <a:lvl6pPr marL="2515259" indent="0" algn="ctr">
              <a:buNone/>
              <a:defRPr sz="1761"/>
            </a:lvl6pPr>
            <a:lvl7pPr marL="3018312" indent="0" algn="ctr">
              <a:buNone/>
              <a:defRPr sz="1761"/>
            </a:lvl7pPr>
            <a:lvl8pPr marL="3521365" indent="0" algn="ctr">
              <a:buNone/>
              <a:defRPr sz="1761"/>
            </a:lvl8pPr>
            <a:lvl9pPr marL="4024417" indent="0" algn="ctr">
              <a:buNone/>
              <a:defRPr sz="1761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7F738A74-27ED-4AD4-8EC0-C89BD70E0D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9890" y="5192238"/>
            <a:ext cx="5668038" cy="47787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1467">
                <a:solidFill>
                  <a:srgbClr val="0F3250"/>
                </a:solidFill>
                <a:latin typeface="+mn-lt"/>
              </a:defRPr>
            </a:lvl1pPr>
            <a:lvl2pPr>
              <a:defRPr sz="1467">
                <a:latin typeface="+mn-lt"/>
              </a:defRPr>
            </a:lvl2pPr>
            <a:lvl3pPr>
              <a:defRPr sz="1467">
                <a:latin typeface="+mn-lt"/>
              </a:defRPr>
            </a:lvl3pPr>
            <a:lvl4pPr>
              <a:defRPr sz="1467">
                <a:latin typeface="+mn-lt"/>
              </a:defRPr>
            </a:lvl4pPr>
            <a:lvl5pPr>
              <a:defRPr sz="1467">
                <a:latin typeface="+mn-lt"/>
              </a:defRPr>
            </a:lvl5pPr>
          </a:lstStyle>
          <a:p>
            <a:pPr lvl="0"/>
            <a:r>
              <a:rPr lang="it-IT"/>
              <a:t>Luogo, Giorno, Mese, Anno</a:t>
            </a:r>
          </a:p>
        </p:txBody>
      </p:sp>
    </p:spTree>
    <p:extLst>
      <p:ext uri="{BB962C8B-B14F-4D97-AF65-F5344CB8AC3E}">
        <p14:creationId xmlns:p14="http://schemas.microsoft.com/office/powerpoint/2010/main" val="35752465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6727BFB4-4582-B112-DCC6-FA5320800C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497"/>
            <a:ext cx="13446000" cy="75561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3952" y="1734720"/>
            <a:ext cx="10162342" cy="6241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934" b="1">
                <a:solidFill>
                  <a:srgbClr val="0F325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11E6B4A2-9A21-4261-B346-5479C602FC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41" y="2832665"/>
            <a:ext cx="9844654" cy="32779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1006104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None/>
              <a:tabLst/>
              <a:defRPr sz="1540" i="1">
                <a:solidFill>
                  <a:srgbClr val="0F3250"/>
                </a:solidFill>
              </a:defRPr>
            </a:lvl1pPr>
          </a:lstStyle>
          <a:p>
            <a:pPr marL="158441" marR="0" lvl="0" indent="-158441" algn="l" defTabSz="1006104" rtl="0" eaLnBrk="1" fontAlgn="auto" latinLnBrk="0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441" marR="0" lvl="0" indent="-158441" algn="l" defTabSz="1006104" rtl="0" eaLnBrk="1" fontAlgn="auto" latinLnBrk="0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441" marR="0" lvl="0" indent="-158441" algn="l" defTabSz="1006104" rtl="0" eaLnBrk="1" fontAlgn="auto" latinLnBrk="0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441" marR="0" lvl="0" indent="-158441" algn="l" defTabSz="1006104" rtl="0" eaLnBrk="1" fontAlgn="auto" latinLnBrk="0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441" marR="0" lvl="0" indent="-158441" algn="l" defTabSz="1006104" rtl="0" eaLnBrk="1" fontAlgn="auto" latinLnBrk="0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441" marR="0" lvl="0" indent="-158441" algn="l" defTabSz="1006104" rtl="0" eaLnBrk="1" fontAlgn="auto" latinLnBrk="0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endParaRPr lang="it-IT"/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40C1A1A2-0B04-4A5C-99E7-5874469B36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3954" y="2381428"/>
            <a:ext cx="10161497" cy="4494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264069" indent="-264069">
              <a:buClr>
                <a:srgbClr val="0F3250"/>
              </a:buClr>
              <a:buFont typeface="+mj-lt"/>
              <a:buAutoNum type="arabicPeriod"/>
              <a:defRPr sz="1907">
                <a:solidFill>
                  <a:srgbClr val="0F3250"/>
                </a:solidFill>
              </a:defRPr>
            </a:lvl1pPr>
          </a:lstStyle>
          <a:p>
            <a:pPr lvl="0"/>
            <a:r>
              <a:rPr lang="it-IT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34046575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di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7DD069E-02C0-C4D8-F533-4D3CB4108D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48196942"/>
              </p:ext>
            </p:extLst>
          </p:nvPr>
        </p:nvGraphicFramePr>
        <p:xfrm>
          <a:off x="2336" y="2333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0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DD069E-02C0-C4D8-F533-4D3CB4108D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6" y="2333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magine 6">
            <a:extLst>
              <a:ext uri="{FF2B5EF4-FFF2-40B4-BE49-F238E27FC236}">
                <a16:creationId xmlns:a16="http://schemas.microsoft.com/office/drawing/2014/main" id="{854C2E04-660E-F40A-313D-A6E3C714CD9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3452220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92" y="87405"/>
            <a:ext cx="11356409" cy="52005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2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983" y="1350172"/>
            <a:ext cx="11591806" cy="4024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761">
                <a:solidFill>
                  <a:srgbClr val="969696"/>
                </a:solidFill>
                <a:latin typeface="+mn-lt"/>
              </a:defRPr>
            </a:lvl1pPr>
            <a:lvl2pPr marL="503052" indent="0">
              <a:buNone/>
              <a:defRPr sz="2201">
                <a:solidFill>
                  <a:schemeClr val="tx1">
                    <a:tint val="75000"/>
                  </a:schemeClr>
                </a:solidFill>
              </a:defRPr>
            </a:lvl2pPr>
            <a:lvl3pPr marL="1006104" indent="0">
              <a:buNone/>
              <a:defRPr sz="1981">
                <a:solidFill>
                  <a:schemeClr val="tx1">
                    <a:tint val="75000"/>
                  </a:schemeClr>
                </a:solidFill>
              </a:defRPr>
            </a:lvl3pPr>
            <a:lvl4pPr marL="1509155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4pPr>
            <a:lvl5pPr marL="2012207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5pPr>
            <a:lvl6pPr marL="2515259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6pPr>
            <a:lvl7pPr marL="3018312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7pPr>
            <a:lvl8pPr marL="3521365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8pPr>
            <a:lvl9pPr marL="4024417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952BF5E0-0A08-4EC0-82B8-F757F04A31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3" y="1879780"/>
            <a:ext cx="11591806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1">
                <a:solidFill>
                  <a:srgbClr val="0F3250"/>
                </a:solidFill>
                <a:latin typeface="+mn-lt"/>
              </a:defRPr>
            </a:lvl1pPr>
            <a:lvl2pPr marL="503052" indent="0">
              <a:buFontTx/>
              <a:buNone/>
              <a:defRPr/>
            </a:lvl2pPr>
            <a:lvl3pPr marL="1006104" indent="0">
              <a:buFontTx/>
              <a:buNone/>
              <a:defRPr/>
            </a:lvl3pPr>
            <a:lvl4pPr marL="1509155" indent="0">
              <a:buFontTx/>
              <a:buNone/>
              <a:defRPr/>
            </a:lvl4pPr>
            <a:lvl5pPr marL="2012207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7C6DC3C-E3D0-4FE1-A5A0-EDF1891629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56828" y="7158184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6">
                <a:solidFill>
                  <a:schemeClr val="bg1"/>
                </a:solidFill>
              </a:defRPr>
            </a:lvl1pPr>
          </a:lstStyle>
          <a:p>
            <a:r>
              <a:rPr lang="en-US" err="1"/>
              <a:t>Titolo</a:t>
            </a:r>
            <a:r>
              <a:rPr lang="en-US"/>
              <a:t> </a:t>
            </a:r>
            <a:r>
              <a:rPr lang="en-US" err="1"/>
              <a:t>Presentazione</a:t>
            </a:r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A4E14CA5-B13B-0CC8-8F71-6211975B4A69}"/>
              </a:ext>
            </a:extLst>
          </p:cNvPr>
          <p:cNvSpPr txBox="1">
            <a:spLocks/>
          </p:cNvSpPr>
          <p:nvPr userDrawn="1"/>
        </p:nvSpPr>
        <p:spPr>
          <a:xfrm>
            <a:off x="6387395" y="7157195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</p:spTree>
    <p:extLst>
      <p:ext uri="{BB962C8B-B14F-4D97-AF65-F5344CB8AC3E}">
        <p14:creationId xmlns:p14="http://schemas.microsoft.com/office/powerpoint/2010/main" val="7004783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e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7A2920A-7100-C52B-8817-DA15100E88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60961323"/>
              </p:ext>
            </p:extLst>
          </p:nvPr>
        </p:nvGraphicFramePr>
        <p:xfrm>
          <a:off x="2336" y="2333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7A2920A-7100-C52B-8817-DA15100E88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6" y="2333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magine 4">
            <a:extLst>
              <a:ext uri="{FF2B5EF4-FFF2-40B4-BE49-F238E27FC236}">
                <a16:creationId xmlns:a16="http://schemas.microsoft.com/office/drawing/2014/main" id="{E2B752D3-4A88-44E0-D1C6-D33A79372A1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3452220" cy="7559675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401259" y="1928142"/>
            <a:ext cx="4444928" cy="435135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347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err="1"/>
              <a:t>Inserisci</a:t>
            </a:r>
            <a:r>
              <a:rPr lang="en-US"/>
              <a:t> qui </a:t>
            </a:r>
            <a:r>
              <a:rPr lang="en-US" err="1"/>
              <a:t>il</a:t>
            </a:r>
            <a:r>
              <a:rPr lang="en-US"/>
              <a:t> </a:t>
            </a:r>
            <a:r>
              <a:rPr lang="en-US" err="1"/>
              <a:t>grafico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7CD518-EF0F-4B5F-9D5C-FF7A0A28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985" y="1350172"/>
            <a:ext cx="6832562" cy="4024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761">
                <a:solidFill>
                  <a:srgbClr val="969696"/>
                </a:solidFill>
                <a:latin typeface="+mn-lt"/>
              </a:defRPr>
            </a:lvl1pPr>
            <a:lvl2pPr marL="503052" indent="0">
              <a:buNone/>
              <a:defRPr sz="2201">
                <a:solidFill>
                  <a:schemeClr val="tx1">
                    <a:tint val="75000"/>
                  </a:schemeClr>
                </a:solidFill>
              </a:defRPr>
            </a:lvl2pPr>
            <a:lvl3pPr marL="1006104" indent="0">
              <a:buNone/>
              <a:defRPr sz="1981">
                <a:solidFill>
                  <a:schemeClr val="tx1">
                    <a:tint val="75000"/>
                  </a:schemeClr>
                </a:solidFill>
              </a:defRPr>
            </a:lvl3pPr>
            <a:lvl4pPr marL="1509155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4pPr>
            <a:lvl5pPr marL="2012207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5pPr>
            <a:lvl6pPr marL="2515259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6pPr>
            <a:lvl7pPr marL="3018312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7pPr>
            <a:lvl8pPr marL="3521365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8pPr>
            <a:lvl9pPr marL="4024417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2" name="Segnaposto testo 8">
            <a:extLst>
              <a:ext uri="{FF2B5EF4-FFF2-40B4-BE49-F238E27FC236}">
                <a16:creationId xmlns:a16="http://schemas.microsoft.com/office/drawing/2014/main" id="{C23A30CD-5A95-4485-BE1D-AA8BEF1A4E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5" y="1879780"/>
            <a:ext cx="6832562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1">
                <a:solidFill>
                  <a:srgbClr val="0F3250"/>
                </a:solidFill>
                <a:latin typeface="+mn-lt"/>
              </a:defRPr>
            </a:lvl1pPr>
            <a:lvl2pPr marL="503052" indent="0">
              <a:buFontTx/>
              <a:buNone/>
              <a:defRPr/>
            </a:lvl2pPr>
            <a:lvl3pPr marL="1006104" indent="0">
              <a:buFontTx/>
              <a:buNone/>
              <a:defRPr/>
            </a:lvl3pPr>
            <a:lvl4pPr marL="1509155" indent="0">
              <a:buFontTx/>
              <a:buNone/>
              <a:defRPr/>
            </a:lvl4pPr>
            <a:lvl5pPr marL="2012207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5C413CFE-B928-45F4-B41D-8D42139BA3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262" y="1383261"/>
            <a:ext cx="4366526" cy="3541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FontTx/>
              <a:buNone/>
              <a:defRPr sz="1761"/>
            </a:lvl1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4214B999-2BC8-4CE4-B9B7-84E70337219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1" y="7158184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6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C1711A9C-99BD-DFF9-5020-B170FCCB2DCA}"/>
              </a:ext>
            </a:extLst>
          </p:cNvPr>
          <p:cNvSpPr txBox="1">
            <a:spLocks/>
          </p:cNvSpPr>
          <p:nvPr userDrawn="1"/>
        </p:nvSpPr>
        <p:spPr>
          <a:xfrm>
            <a:off x="6387395" y="7157195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873D08D-F04D-5E6C-67F0-4021F1B1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2" y="87405"/>
            <a:ext cx="11356409" cy="52005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2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178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27B1F45-E6AF-BFF6-73D3-9E1FC7797C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84272497"/>
              </p:ext>
            </p:extLst>
          </p:nvPr>
        </p:nvGraphicFramePr>
        <p:xfrm>
          <a:off x="2336" y="2333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8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7B1F45-E6AF-BFF6-73D3-9E1FC7797C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6" y="2333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magine 5">
            <a:extLst>
              <a:ext uri="{FF2B5EF4-FFF2-40B4-BE49-F238E27FC236}">
                <a16:creationId xmlns:a16="http://schemas.microsoft.com/office/drawing/2014/main" id="{07658883-0AE9-E616-516D-F7C4A9EC60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0" y="2"/>
            <a:ext cx="13452220" cy="7559675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7CD518-EF0F-4B5F-9D5C-FF7A0A28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985" y="1350172"/>
            <a:ext cx="6832562" cy="4024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761">
                <a:solidFill>
                  <a:srgbClr val="969696"/>
                </a:solidFill>
                <a:latin typeface="+mn-lt"/>
              </a:defRPr>
            </a:lvl1pPr>
            <a:lvl2pPr marL="503052" indent="0">
              <a:buNone/>
              <a:defRPr sz="2201">
                <a:solidFill>
                  <a:schemeClr val="tx1">
                    <a:tint val="75000"/>
                  </a:schemeClr>
                </a:solidFill>
              </a:defRPr>
            </a:lvl2pPr>
            <a:lvl3pPr marL="1006104" indent="0">
              <a:buNone/>
              <a:defRPr sz="1981">
                <a:solidFill>
                  <a:schemeClr val="tx1">
                    <a:tint val="75000"/>
                  </a:schemeClr>
                </a:solidFill>
              </a:defRPr>
            </a:lvl3pPr>
            <a:lvl4pPr marL="1509155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4pPr>
            <a:lvl5pPr marL="2012207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5pPr>
            <a:lvl6pPr marL="2515259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6pPr>
            <a:lvl7pPr marL="3018312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7pPr>
            <a:lvl8pPr marL="3521365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8pPr>
            <a:lvl9pPr marL="4024417" indent="0">
              <a:buNone/>
              <a:defRPr sz="17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2" name="Segnaposto testo 8">
            <a:extLst>
              <a:ext uri="{FF2B5EF4-FFF2-40B4-BE49-F238E27FC236}">
                <a16:creationId xmlns:a16="http://schemas.microsoft.com/office/drawing/2014/main" id="{C23A30CD-5A95-4485-BE1D-AA8BEF1A4E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5" y="1879780"/>
            <a:ext cx="6832562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1">
                <a:solidFill>
                  <a:srgbClr val="0F3250"/>
                </a:solidFill>
                <a:latin typeface="+mn-lt"/>
              </a:defRPr>
            </a:lvl1pPr>
            <a:lvl2pPr marL="503052" indent="0">
              <a:buFontTx/>
              <a:buNone/>
              <a:defRPr/>
            </a:lvl2pPr>
            <a:lvl3pPr marL="1006104" indent="0">
              <a:buFontTx/>
              <a:buNone/>
              <a:defRPr/>
            </a:lvl3pPr>
            <a:lvl4pPr marL="1509155" indent="0">
              <a:buFontTx/>
              <a:buNone/>
              <a:defRPr/>
            </a:lvl4pPr>
            <a:lvl5pPr marL="2012207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69D0CFCB-A22C-488D-967A-11DA5F79B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065833" y="678348"/>
            <a:ext cx="3373944" cy="6283083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1614"/>
            </a:lvl1pPr>
          </a:lstStyle>
          <a:p>
            <a:endParaRPr lang="it-IT"/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0D6E770D-BA99-4D8F-8D7F-F6E1B65C62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1" y="7158184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6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011C3706-DE12-D03A-2B10-2F4F5A15D820}"/>
              </a:ext>
            </a:extLst>
          </p:cNvPr>
          <p:cNvSpPr txBox="1">
            <a:spLocks/>
          </p:cNvSpPr>
          <p:nvPr userDrawn="1"/>
        </p:nvSpPr>
        <p:spPr>
          <a:xfrm>
            <a:off x="6387395" y="7157195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2E1CBA-B540-8F98-A30A-CF2E16108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2" y="87405"/>
            <a:ext cx="11356409" cy="52005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2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343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B87E752-5423-9E19-40F0-651BC2732E5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16897707"/>
              </p:ext>
            </p:extLst>
          </p:nvPr>
        </p:nvGraphicFramePr>
        <p:xfrm>
          <a:off x="2336" y="2333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2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87E752-5423-9E19-40F0-651BC2732E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6" y="2333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magine 3">
            <a:extLst>
              <a:ext uri="{FF2B5EF4-FFF2-40B4-BE49-F238E27FC236}">
                <a16:creationId xmlns:a16="http://schemas.microsoft.com/office/drawing/2014/main" id="{73005DAB-912B-3F46-FB84-AD73311AB08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4" y="-1"/>
            <a:ext cx="13452223" cy="7559676"/>
          </a:xfrm>
          <a:prstGeom prst="rect">
            <a:avLst/>
          </a:prstGeom>
        </p:spPr>
      </p:pic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69D0CFCB-A22C-488D-967A-11DA5F79B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flipH="1">
            <a:off x="-6225" y="678344"/>
            <a:ext cx="13445998" cy="6323665"/>
          </a:xfrm>
          <a:prstGeom prst="round2DiagRect">
            <a:avLst>
              <a:gd name="adj1" fmla="val 19504"/>
              <a:gd name="adj2" fmla="val 0"/>
            </a:avLst>
          </a:prstGeom>
          <a:noFill/>
        </p:spPr>
        <p:txBody>
          <a:bodyPr/>
          <a:lstStyle>
            <a:lvl1pPr marL="0" indent="0">
              <a:buFontTx/>
              <a:buNone/>
              <a:defRPr sz="1614"/>
            </a:lvl1pPr>
          </a:lstStyle>
          <a:p>
            <a:endParaRPr lang="it-IT"/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0D6E770D-BA99-4D8F-8D7F-F6E1B65C62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1" y="7158184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6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22612ACC-83ED-42BD-7545-F7870B49A2E3}"/>
              </a:ext>
            </a:extLst>
          </p:cNvPr>
          <p:cNvSpPr txBox="1">
            <a:spLocks/>
          </p:cNvSpPr>
          <p:nvPr userDrawn="1"/>
        </p:nvSpPr>
        <p:spPr>
          <a:xfrm>
            <a:off x="6387395" y="7157195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396A8B8-B7F5-82A0-3CF7-4862CB81F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2" y="87405"/>
            <a:ext cx="11356409" cy="52005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2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45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0AF5A16-78A4-17EB-D5B0-07E8529A5E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32878980"/>
              </p:ext>
            </p:extLst>
          </p:nvPr>
        </p:nvGraphicFramePr>
        <p:xfrm>
          <a:off x="2336" y="2333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6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0AF5A16-78A4-17EB-D5B0-07E8529A5E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6" y="2333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magine 4">
            <a:extLst>
              <a:ext uri="{FF2B5EF4-FFF2-40B4-BE49-F238E27FC236}">
                <a16:creationId xmlns:a16="http://schemas.microsoft.com/office/drawing/2014/main" id="{D88B3727-896B-392E-2242-988671D31C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0" y="3"/>
            <a:ext cx="13445997" cy="7556177"/>
          </a:xfrm>
          <a:prstGeom prst="rect">
            <a:avLst/>
          </a:prstGeom>
        </p:spPr>
      </p:pic>
      <p:sp>
        <p:nvSpPr>
          <p:cNvPr id="6" name="Segnaposto piè di pagina 7">
            <a:extLst>
              <a:ext uri="{FF2B5EF4-FFF2-40B4-BE49-F238E27FC236}">
                <a16:creationId xmlns:a16="http://schemas.microsoft.com/office/drawing/2014/main" id="{1F2A62E3-081E-4015-9FC1-C560599BE26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1" y="7158184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6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6F33A3DF-68A8-B55A-981E-381285AF8C9A}"/>
              </a:ext>
            </a:extLst>
          </p:cNvPr>
          <p:cNvSpPr txBox="1">
            <a:spLocks/>
          </p:cNvSpPr>
          <p:nvPr userDrawn="1"/>
        </p:nvSpPr>
        <p:spPr>
          <a:xfrm>
            <a:off x="6387395" y="7157195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998DEE5-5424-45CB-8336-3215AFBD0173}" type="slidenum">
              <a:rPr lang="it-IT" sz="1175" smtClean="0"/>
              <a:pPr algn="ctr"/>
              <a:t>‹N›</a:t>
            </a:fld>
            <a:endParaRPr lang="it-IT" sz="1175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A4EF56-F7FF-EEB2-4FE1-81BC76095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2" y="87405"/>
            <a:ext cx="11356409" cy="52005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642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607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Contenu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ggetto 2" hidden="1">
            <a:extLst>
              <a:ext uri="{FF2B5EF4-FFF2-40B4-BE49-F238E27FC236}">
                <a16:creationId xmlns:a16="http://schemas.microsoft.com/office/drawing/2014/main" id="{A900325B-BD48-4F3C-826C-ABA7066461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16598258"/>
              </p:ext>
            </p:extLst>
          </p:nvPr>
        </p:nvGraphicFramePr>
        <p:xfrm>
          <a:off x="1591" y="1587"/>
          <a:ext cx="1588" cy="1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0" name="Diapositiva think-cell" r:id="rId4" imgW="424" imgH="425" progId="TCLayout.ActiveDocument.1">
                  <p:embed/>
                </p:oleObj>
              </mc:Choice>
              <mc:Fallback>
                <p:oleObj name="Diapositiva think-cell" r:id="rId4" imgW="424" imgH="425" progId="TCLayout.ActiveDocument.1">
                  <p:embed/>
                  <p:pic>
                    <p:nvPicPr>
                      <p:cNvPr id="3" name="Oggetto 2" hidden="1">
                        <a:extLst>
                          <a:ext uri="{FF2B5EF4-FFF2-40B4-BE49-F238E27FC236}">
                            <a16:creationId xmlns:a16="http://schemas.microsoft.com/office/drawing/2014/main" id="{A900325B-BD48-4F3C-826C-ABA7066461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1" y="1587"/>
                        <a:ext cx="1588" cy="1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Immagine 12" descr="US_16_9_RGB-03.jp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" y="2"/>
            <a:ext cx="13436799" cy="7559675"/>
          </a:xfrm>
          <a:prstGeom prst="rect">
            <a:avLst/>
          </a:prstGeom>
        </p:spPr>
      </p:pic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986ABD9A-7EF2-4AB2-B830-F9525F029F29}"/>
              </a:ext>
            </a:extLst>
          </p:cNvPr>
          <p:cNvSpPr txBox="1">
            <a:spLocks/>
          </p:cNvSpPr>
          <p:nvPr userDrawn="1"/>
        </p:nvSpPr>
        <p:spPr>
          <a:xfrm>
            <a:off x="12455595" y="7157195"/>
            <a:ext cx="664990" cy="40248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63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98DEE5-5424-45CB-8336-3215AFBD0173}" type="slidenum">
              <a:rPr kumimoji="0" lang="it-IT" sz="1198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63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‹N›</a:t>
            </a:fld>
            <a:endParaRPr kumimoji="0" lang="it-IT" sz="119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54E1DC5-9D58-41D7-B23E-ECE98AF6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83" y="100763"/>
            <a:ext cx="13066360" cy="517525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rtl="0">
              <a:defRPr sz="1997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557119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olo presen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ggetto 4" hidden="1">
            <a:extLst>
              <a:ext uri="{FF2B5EF4-FFF2-40B4-BE49-F238E27FC236}">
                <a16:creationId xmlns:a16="http://schemas.microsoft.com/office/drawing/2014/main" id="{34B954B2-5384-40C4-A010-8D8B8BC1BC2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55379590"/>
              </p:ext>
            </p:extLst>
          </p:nvPr>
        </p:nvGraphicFramePr>
        <p:xfrm>
          <a:off x="1999" y="1587"/>
          <a:ext cx="1996" cy="1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4" name="Diapositiva think-cell" r:id="rId4" imgW="414" imgH="414" progId="TCLayout.ActiveDocument.1">
                  <p:embed/>
                </p:oleObj>
              </mc:Choice>
              <mc:Fallback>
                <p:oleObj name="Diapositiva think-cell" r:id="rId4" imgW="414" imgH="414" progId="TCLayout.ActiveDocument.1">
                  <p:embed/>
                  <p:pic>
                    <p:nvPicPr>
                      <p:cNvPr id="5" name="Oggetto 4" hidden="1">
                        <a:extLst>
                          <a:ext uri="{FF2B5EF4-FFF2-40B4-BE49-F238E27FC236}">
                            <a16:creationId xmlns:a16="http://schemas.microsoft.com/office/drawing/2014/main" id="{34B954B2-5384-40C4-A010-8D8B8BC1BC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99" y="1587"/>
                        <a:ext cx="1996" cy="1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40763" y="1084081"/>
            <a:ext cx="10079833" cy="478185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algn="r" rtl="0">
              <a:defRPr sz="2197" b="1">
                <a:solidFill>
                  <a:srgbClr val="0F3250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0763" y="1466481"/>
            <a:ext cx="10079833" cy="4781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rtl="0">
              <a:buNone/>
              <a:defRPr sz="1897">
                <a:solidFill>
                  <a:srgbClr val="0F3250"/>
                </a:solidFill>
              </a:defRPr>
            </a:lvl1pPr>
            <a:lvl2pPr marL="400225" indent="0" algn="ctr">
              <a:buNone/>
              <a:defRPr sz="1750"/>
            </a:lvl2pPr>
            <a:lvl3pPr marL="800447" indent="0" algn="ctr">
              <a:buNone/>
              <a:defRPr sz="1576"/>
            </a:lvl3pPr>
            <a:lvl4pPr marL="1200673" indent="0" algn="ctr">
              <a:buNone/>
              <a:defRPr sz="1401"/>
            </a:lvl4pPr>
            <a:lvl5pPr marL="1600897" indent="0" algn="ctr">
              <a:buNone/>
              <a:defRPr sz="1401"/>
            </a:lvl5pPr>
            <a:lvl6pPr marL="2001119" indent="0" algn="ctr">
              <a:buNone/>
              <a:defRPr sz="1401"/>
            </a:lvl6pPr>
            <a:lvl7pPr marL="2401343" indent="0" algn="ctr">
              <a:buNone/>
              <a:defRPr sz="1401"/>
            </a:lvl7pPr>
            <a:lvl8pPr marL="2801568" indent="0" algn="ctr">
              <a:buNone/>
              <a:defRPr sz="1401"/>
            </a:lvl8pPr>
            <a:lvl9pPr marL="3201791" indent="0" algn="ctr">
              <a:buNone/>
              <a:defRPr sz="1401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7F738A74-27ED-4AD4-8EC0-C89BD70E0D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87050" y="5111302"/>
            <a:ext cx="5668038" cy="47787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rtl="0">
              <a:buFontTx/>
              <a:buNone/>
              <a:defRPr sz="1198">
                <a:solidFill>
                  <a:srgbClr val="0F3250"/>
                </a:solidFill>
                <a:latin typeface="+mn-lt"/>
              </a:defRPr>
            </a:lvl1pPr>
            <a:lvl2pPr>
              <a:defRPr sz="1167">
                <a:latin typeface="+mn-lt"/>
              </a:defRPr>
            </a:lvl2pPr>
            <a:lvl3pPr>
              <a:defRPr sz="1167">
                <a:latin typeface="+mn-lt"/>
              </a:defRPr>
            </a:lvl3pPr>
            <a:lvl4pPr>
              <a:defRPr sz="1167">
                <a:latin typeface="+mn-lt"/>
              </a:defRPr>
            </a:lvl4pPr>
            <a:lvl5pPr>
              <a:defRPr sz="1167">
                <a:latin typeface="+mn-lt"/>
              </a:defRPr>
            </a:lvl5pPr>
          </a:lstStyle>
          <a:p>
            <a:pPr lvl="0"/>
            <a:r>
              <a:rPr lang="it-IT"/>
              <a:t>Luogo, Giorno, Mese, Anno</a:t>
            </a:r>
          </a:p>
        </p:txBody>
      </p:sp>
    </p:spTree>
    <p:extLst>
      <p:ext uri="{BB962C8B-B14F-4D97-AF65-F5344CB8AC3E}">
        <p14:creationId xmlns:p14="http://schemas.microsoft.com/office/powerpoint/2010/main" val="28440317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presen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40761" y="1371469"/>
            <a:ext cx="10079831" cy="478185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2643" b="1">
                <a:solidFill>
                  <a:srgbClr val="0F3250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0761" y="1849656"/>
            <a:ext cx="10079831" cy="4781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2349">
                <a:solidFill>
                  <a:srgbClr val="0F3250"/>
                </a:solidFill>
              </a:defRPr>
            </a:lvl1pPr>
            <a:lvl2pPr marL="503514" indent="0" algn="ctr">
              <a:buNone/>
              <a:defRPr sz="2203"/>
            </a:lvl2pPr>
            <a:lvl3pPr marL="1007029" indent="0" algn="ctr">
              <a:buNone/>
              <a:defRPr sz="1982"/>
            </a:lvl3pPr>
            <a:lvl4pPr marL="1510543" indent="0" algn="ctr">
              <a:buNone/>
              <a:defRPr sz="1762"/>
            </a:lvl4pPr>
            <a:lvl5pPr marL="2014057" indent="0" algn="ctr">
              <a:buNone/>
              <a:defRPr sz="1762"/>
            </a:lvl5pPr>
            <a:lvl6pPr marL="2517572" indent="0" algn="ctr">
              <a:buNone/>
              <a:defRPr sz="1762"/>
            </a:lvl6pPr>
            <a:lvl7pPr marL="3021086" indent="0" algn="ctr">
              <a:buNone/>
              <a:defRPr sz="1762"/>
            </a:lvl7pPr>
            <a:lvl8pPr marL="3524601" indent="0" algn="ctr">
              <a:buNone/>
              <a:defRPr sz="1762"/>
            </a:lvl8pPr>
            <a:lvl9pPr marL="4028115" indent="0" algn="ctr">
              <a:buNone/>
              <a:defRPr sz="1762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7F738A74-27ED-4AD4-8EC0-C89BD70E0D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9888" y="5192236"/>
            <a:ext cx="5668038" cy="47787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1468">
                <a:solidFill>
                  <a:srgbClr val="0F3250"/>
                </a:solidFill>
                <a:latin typeface="+mn-lt"/>
              </a:defRPr>
            </a:lvl1pPr>
            <a:lvl2pPr>
              <a:defRPr sz="1468">
                <a:latin typeface="+mn-lt"/>
              </a:defRPr>
            </a:lvl2pPr>
            <a:lvl3pPr>
              <a:defRPr sz="1468">
                <a:latin typeface="+mn-lt"/>
              </a:defRPr>
            </a:lvl3pPr>
            <a:lvl4pPr>
              <a:defRPr sz="1468">
                <a:latin typeface="+mn-lt"/>
              </a:defRPr>
            </a:lvl4pPr>
            <a:lvl5pPr>
              <a:defRPr sz="1468">
                <a:latin typeface="+mn-lt"/>
              </a:defRPr>
            </a:lvl5pPr>
          </a:lstStyle>
          <a:p>
            <a:pPr lvl="0"/>
            <a:r>
              <a:rPr lang="it-IT"/>
              <a:t>Luogo, Giorno, Mese, Anno</a:t>
            </a:r>
          </a:p>
        </p:txBody>
      </p:sp>
    </p:spTree>
    <p:extLst>
      <p:ext uri="{BB962C8B-B14F-4D97-AF65-F5344CB8AC3E}">
        <p14:creationId xmlns:p14="http://schemas.microsoft.com/office/powerpoint/2010/main" val="18840858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6727BFB4-4582-B112-DCC6-FA5320800C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496"/>
            <a:ext cx="13446000" cy="755617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3950" y="1734720"/>
            <a:ext cx="10162342" cy="62415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937" b="1">
                <a:solidFill>
                  <a:srgbClr val="0F325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11E6B4A2-9A21-4261-B346-5479C602FC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39" y="2832665"/>
            <a:ext cx="9844654" cy="32779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1007029" rtl="0" eaLnBrk="1" fontAlgn="auto" latinLnBrk="0" hangingPunct="1">
              <a:lnSpc>
                <a:spcPct val="10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None/>
              <a:tabLst/>
              <a:defRPr sz="1542" i="1">
                <a:solidFill>
                  <a:srgbClr val="0F3250"/>
                </a:solidFill>
              </a:defRPr>
            </a:lvl1pPr>
          </a:lstStyle>
          <a:p>
            <a:pPr marL="158587" marR="0" lvl="0" indent="-158587" algn="l" defTabSz="1007029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587" marR="0" lvl="0" indent="-158587" algn="l" defTabSz="1007029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587" marR="0" lvl="0" indent="-158587" algn="l" defTabSz="1007029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587" marR="0" lvl="0" indent="-158587" algn="l" defTabSz="1007029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587" marR="0" lvl="0" indent="-158587" algn="l" defTabSz="1007029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it-IT"/>
              <a:t>Modifica gli stili del testo dello schema</a:t>
            </a:r>
          </a:p>
          <a:p>
            <a:pPr marL="158587" marR="0" lvl="0" indent="-158587" algn="l" defTabSz="1007029" rtl="0" eaLnBrk="1" fontAlgn="auto" latinLnBrk="0" hangingPunct="1">
              <a:lnSpc>
                <a:spcPct val="90000"/>
              </a:lnSpc>
              <a:spcBef>
                <a:spcPts val="1101"/>
              </a:spcBef>
              <a:spcAft>
                <a:spcPts val="0"/>
              </a:spcAft>
              <a:buClr>
                <a:srgbClr val="0F3250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endParaRPr lang="it-IT"/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40C1A1A2-0B04-4A5C-99E7-5874469B36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3953" y="2381427"/>
            <a:ext cx="10161497" cy="4494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264312" indent="-264312">
              <a:buClr>
                <a:srgbClr val="0F3250"/>
              </a:buClr>
              <a:buFont typeface="+mj-lt"/>
              <a:buAutoNum type="arabicPeriod"/>
              <a:defRPr sz="1909">
                <a:solidFill>
                  <a:srgbClr val="0F3250"/>
                </a:solidFill>
              </a:defRPr>
            </a:lvl1pPr>
          </a:lstStyle>
          <a:p>
            <a:pPr lvl="0"/>
            <a:r>
              <a:rPr lang="it-IT"/>
              <a:t>Modifica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806378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di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54C2E04-660E-F40A-313D-A6E3C714CD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"/>
            <a:ext cx="13452221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561" y="215838"/>
            <a:ext cx="11356409" cy="52005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56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983" y="1350171"/>
            <a:ext cx="11591806" cy="4024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1762">
                <a:solidFill>
                  <a:srgbClr val="969696"/>
                </a:solidFill>
                <a:latin typeface="+mn-lt"/>
              </a:defRPr>
            </a:lvl1pPr>
            <a:lvl2pPr marL="503514" indent="0">
              <a:buNone/>
              <a:defRPr sz="2203">
                <a:solidFill>
                  <a:schemeClr val="tx1">
                    <a:tint val="75000"/>
                  </a:schemeClr>
                </a:solidFill>
              </a:defRPr>
            </a:lvl2pPr>
            <a:lvl3pPr marL="1007029" indent="0">
              <a:buNone/>
              <a:defRPr sz="1982">
                <a:solidFill>
                  <a:schemeClr val="tx1">
                    <a:tint val="75000"/>
                  </a:schemeClr>
                </a:solidFill>
              </a:defRPr>
            </a:lvl3pPr>
            <a:lvl4pPr marL="1510543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4pPr>
            <a:lvl5pPr marL="2014057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5pPr>
            <a:lvl6pPr marL="2517572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6pPr>
            <a:lvl7pPr marL="3021086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7pPr>
            <a:lvl8pPr marL="3524601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8pPr>
            <a:lvl9pPr marL="4028115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952BF5E0-0A08-4EC0-82B8-F757F04A31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3" y="1879779"/>
            <a:ext cx="11591806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2">
                <a:solidFill>
                  <a:srgbClr val="0F3250"/>
                </a:solidFill>
                <a:latin typeface="+mn-lt"/>
              </a:defRPr>
            </a:lvl1pPr>
            <a:lvl2pPr marL="503514" indent="0">
              <a:buFontTx/>
              <a:buNone/>
              <a:defRPr/>
            </a:lvl2pPr>
            <a:lvl3pPr marL="1007029" indent="0">
              <a:buFontTx/>
              <a:buNone/>
              <a:defRPr/>
            </a:lvl3pPr>
            <a:lvl4pPr marL="1510543" indent="0">
              <a:buFontTx/>
              <a:buNone/>
              <a:defRPr/>
            </a:lvl4pPr>
            <a:lvl5pPr marL="2014057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5EB157B1-6F16-4A97-99F7-D1F5FB85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455591" y="333410"/>
            <a:ext cx="664990" cy="402482"/>
          </a:xfrm>
          <a:prstGeom prst="rect">
            <a:avLst/>
          </a:prstGeom>
        </p:spPr>
        <p:txBody>
          <a:bodyPr anchor="ctr"/>
          <a:lstStyle>
            <a:lvl1pPr algn="r">
              <a:defRPr sz="1175">
                <a:solidFill>
                  <a:schemeClr val="bg1"/>
                </a:solidFill>
                <a:latin typeface="+mn-lt"/>
              </a:defRPr>
            </a:lvl1pPr>
          </a:lstStyle>
          <a:p>
            <a:fld id="{7998DEE5-5424-45CB-8336-3215AFBD0173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7C6DC3C-E3D0-4FE1-A5A0-EDF1891629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56827" y="7158182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8">
                <a:solidFill>
                  <a:schemeClr val="bg1"/>
                </a:solidFill>
              </a:defRPr>
            </a:lvl1pPr>
          </a:lstStyle>
          <a:p>
            <a:r>
              <a:rPr lang="en-US" err="1"/>
              <a:t>Titolo</a:t>
            </a:r>
            <a:r>
              <a:rPr lang="en-US"/>
              <a:t> </a:t>
            </a:r>
            <a:r>
              <a:rPr lang="en-US" err="1"/>
              <a:t>Presentazione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175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e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E2B752D3-4A88-44E0-D1C6-D33A79372A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"/>
            <a:ext cx="13452221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920" y="216735"/>
            <a:ext cx="11355023" cy="518049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56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401258" y="1928139"/>
            <a:ext cx="4444928" cy="43513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349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err="1"/>
              <a:t>Inserisci</a:t>
            </a:r>
            <a:r>
              <a:rPr lang="en-US"/>
              <a:t> qui </a:t>
            </a:r>
            <a:r>
              <a:rPr lang="en-US" err="1"/>
              <a:t>il</a:t>
            </a:r>
            <a:r>
              <a:rPr lang="en-US"/>
              <a:t> </a:t>
            </a:r>
            <a:r>
              <a:rPr lang="en-US" err="1"/>
              <a:t>grafico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7CD518-EF0F-4B5F-9D5C-FF7A0A28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983" y="1350171"/>
            <a:ext cx="6832562" cy="4024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762">
                <a:solidFill>
                  <a:srgbClr val="969696"/>
                </a:solidFill>
                <a:latin typeface="+mn-lt"/>
              </a:defRPr>
            </a:lvl1pPr>
            <a:lvl2pPr marL="503514" indent="0">
              <a:buNone/>
              <a:defRPr sz="2203">
                <a:solidFill>
                  <a:schemeClr val="tx1">
                    <a:tint val="75000"/>
                  </a:schemeClr>
                </a:solidFill>
              </a:defRPr>
            </a:lvl2pPr>
            <a:lvl3pPr marL="1007029" indent="0">
              <a:buNone/>
              <a:defRPr sz="1982">
                <a:solidFill>
                  <a:schemeClr val="tx1">
                    <a:tint val="75000"/>
                  </a:schemeClr>
                </a:solidFill>
              </a:defRPr>
            </a:lvl3pPr>
            <a:lvl4pPr marL="1510543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4pPr>
            <a:lvl5pPr marL="2014057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5pPr>
            <a:lvl6pPr marL="2517572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6pPr>
            <a:lvl7pPr marL="3021086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7pPr>
            <a:lvl8pPr marL="3524601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8pPr>
            <a:lvl9pPr marL="4028115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2" name="Segnaposto testo 8">
            <a:extLst>
              <a:ext uri="{FF2B5EF4-FFF2-40B4-BE49-F238E27FC236}">
                <a16:creationId xmlns:a16="http://schemas.microsoft.com/office/drawing/2014/main" id="{C23A30CD-5A95-4485-BE1D-AA8BEF1A4E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3" y="1879779"/>
            <a:ext cx="6832562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2">
                <a:solidFill>
                  <a:srgbClr val="0F3250"/>
                </a:solidFill>
                <a:latin typeface="+mn-lt"/>
              </a:defRPr>
            </a:lvl1pPr>
            <a:lvl2pPr marL="503514" indent="0">
              <a:buFontTx/>
              <a:buNone/>
              <a:defRPr/>
            </a:lvl2pPr>
            <a:lvl3pPr marL="1007029" indent="0">
              <a:buFontTx/>
              <a:buNone/>
              <a:defRPr/>
            </a:lvl3pPr>
            <a:lvl4pPr marL="1510543" indent="0">
              <a:buFontTx/>
              <a:buNone/>
              <a:defRPr/>
            </a:lvl4pPr>
            <a:lvl5pPr marL="2014057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5C413CFE-B928-45F4-B41D-8D42139BA3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259" y="1383261"/>
            <a:ext cx="4366526" cy="35417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FontTx/>
              <a:buNone/>
              <a:defRPr sz="1762"/>
            </a:lvl1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F74AF1BB-F47A-4202-A0A8-4B6C1BE56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455591" y="333410"/>
            <a:ext cx="664990" cy="402482"/>
          </a:xfrm>
          <a:prstGeom prst="rect">
            <a:avLst/>
          </a:prstGeom>
        </p:spPr>
        <p:txBody>
          <a:bodyPr anchor="ctr"/>
          <a:lstStyle>
            <a:lvl1pPr algn="r">
              <a:defRPr sz="1175">
                <a:solidFill>
                  <a:schemeClr val="bg1"/>
                </a:solidFill>
                <a:latin typeface="+mn-lt"/>
              </a:defRPr>
            </a:lvl1pPr>
          </a:lstStyle>
          <a:p>
            <a:fld id="{7998DEE5-5424-45CB-8336-3215AFBD0173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4214B999-2BC8-4CE4-B9B7-84E70337219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0" y="7158182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8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</p:spTree>
    <p:extLst>
      <p:ext uri="{BB962C8B-B14F-4D97-AF65-F5344CB8AC3E}">
        <p14:creationId xmlns:p14="http://schemas.microsoft.com/office/powerpoint/2010/main" val="17187291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07658883-0AE9-E616-516D-F7C4A9EC60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1" y="1"/>
            <a:ext cx="13452220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920" y="216735"/>
            <a:ext cx="11355023" cy="518049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56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7CD518-EF0F-4B5F-9D5C-FF7A0A28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983" y="1350171"/>
            <a:ext cx="6832562" cy="40248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762">
                <a:solidFill>
                  <a:srgbClr val="969696"/>
                </a:solidFill>
                <a:latin typeface="+mn-lt"/>
              </a:defRPr>
            </a:lvl1pPr>
            <a:lvl2pPr marL="503514" indent="0">
              <a:buNone/>
              <a:defRPr sz="2203">
                <a:solidFill>
                  <a:schemeClr val="tx1">
                    <a:tint val="75000"/>
                  </a:schemeClr>
                </a:solidFill>
              </a:defRPr>
            </a:lvl2pPr>
            <a:lvl3pPr marL="1007029" indent="0">
              <a:buNone/>
              <a:defRPr sz="1982">
                <a:solidFill>
                  <a:schemeClr val="tx1">
                    <a:tint val="75000"/>
                  </a:schemeClr>
                </a:solidFill>
              </a:defRPr>
            </a:lvl3pPr>
            <a:lvl4pPr marL="1510543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4pPr>
            <a:lvl5pPr marL="2014057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5pPr>
            <a:lvl6pPr marL="2517572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6pPr>
            <a:lvl7pPr marL="3021086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7pPr>
            <a:lvl8pPr marL="3524601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8pPr>
            <a:lvl9pPr marL="4028115" indent="0">
              <a:buNone/>
              <a:defRPr sz="17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12" name="Segnaposto testo 8">
            <a:extLst>
              <a:ext uri="{FF2B5EF4-FFF2-40B4-BE49-F238E27FC236}">
                <a16:creationId xmlns:a16="http://schemas.microsoft.com/office/drawing/2014/main" id="{C23A30CD-5A95-4485-BE1D-AA8BEF1A4E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8983" y="1879779"/>
            <a:ext cx="6832562" cy="500155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762">
                <a:solidFill>
                  <a:srgbClr val="0F3250"/>
                </a:solidFill>
                <a:latin typeface="+mn-lt"/>
              </a:defRPr>
            </a:lvl1pPr>
            <a:lvl2pPr marL="503514" indent="0">
              <a:buFontTx/>
              <a:buNone/>
              <a:defRPr/>
            </a:lvl2pPr>
            <a:lvl3pPr marL="1007029" indent="0">
              <a:buFontTx/>
              <a:buNone/>
              <a:defRPr/>
            </a:lvl3pPr>
            <a:lvl4pPr marL="1510543" indent="0">
              <a:buFontTx/>
              <a:buNone/>
              <a:defRPr/>
            </a:lvl4pPr>
            <a:lvl5pPr marL="2014057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F74AF1BB-F47A-4202-A0A8-4B6C1BE56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455591" y="333410"/>
            <a:ext cx="664990" cy="402482"/>
          </a:xfrm>
          <a:prstGeom prst="rect">
            <a:avLst/>
          </a:prstGeom>
        </p:spPr>
        <p:txBody>
          <a:bodyPr anchor="ctr"/>
          <a:lstStyle>
            <a:lvl1pPr algn="r">
              <a:defRPr sz="1175">
                <a:solidFill>
                  <a:schemeClr val="bg1"/>
                </a:solidFill>
                <a:latin typeface="+mn-lt"/>
              </a:defRPr>
            </a:lvl1pPr>
          </a:lstStyle>
          <a:p>
            <a:fld id="{7998DEE5-5424-45CB-8336-3215AFBD0173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69D0CFCB-A22C-488D-967A-11DA5F79B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065832" y="678344"/>
            <a:ext cx="3373944" cy="6283083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sz="1615"/>
            </a:lvl1pPr>
          </a:lstStyle>
          <a:p>
            <a:endParaRPr lang="it-IT"/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0D6E770D-BA99-4D8F-8D7F-F6E1B65C62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0" y="7158182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8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</p:spTree>
    <p:extLst>
      <p:ext uri="{BB962C8B-B14F-4D97-AF65-F5344CB8AC3E}">
        <p14:creationId xmlns:p14="http://schemas.microsoft.com/office/powerpoint/2010/main" val="384302587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to 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3005DAB-912B-3F46-FB84-AD73311AB0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4" y="-1"/>
            <a:ext cx="13452223" cy="75596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920" y="216735"/>
            <a:ext cx="11355023" cy="518049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56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F74AF1BB-F47A-4202-A0A8-4B6C1BE56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455591" y="333410"/>
            <a:ext cx="664990" cy="402482"/>
          </a:xfrm>
          <a:prstGeom prst="rect">
            <a:avLst/>
          </a:prstGeom>
        </p:spPr>
        <p:txBody>
          <a:bodyPr anchor="ctr"/>
          <a:lstStyle>
            <a:lvl1pPr algn="r">
              <a:defRPr sz="1175">
                <a:solidFill>
                  <a:schemeClr val="bg1"/>
                </a:solidFill>
                <a:latin typeface="+mn-lt"/>
              </a:defRPr>
            </a:lvl1pPr>
          </a:lstStyle>
          <a:p>
            <a:fld id="{7998DEE5-5424-45CB-8336-3215AFBD0173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69D0CFCB-A22C-488D-967A-11DA5F79B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flipH="1">
            <a:off x="-6225" y="678343"/>
            <a:ext cx="13445998" cy="6323665"/>
          </a:xfrm>
          <a:prstGeom prst="round2DiagRect">
            <a:avLst>
              <a:gd name="adj1" fmla="val 19504"/>
              <a:gd name="adj2" fmla="val 0"/>
            </a:avLst>
          </a:prstGeom>
          <a:noFill/>
        </p:spPr>
        <p:txBody>
          <a:bodyPr/>
          <a:lstStyle>
            <a:lvl1pPr marL="0" indent="0">
              <a:buFontTx/>
              <a:buNone/>
              <a:defRPr sz="1615"/>
            </a:lvl1pPr>
          </a:lstStyle>
          <a:p>
            <a:endParaRPr lang="it-IT"/>
          </a:p>
        </p:txBody>
      </p:sp>
      <p:sp>
        <p:nvSpPr>
          <p:cNvPr id="10" name="Segnaposto piè di pagina 7">
            <a:extLst>
              <a:ext uri="{FF2B5EF4-FFF2-40B4-BE49-F238E27FC236}">
                <a16:creationId xmlns:a16="http://schemas.microsoft.com/office/drawing/2014/main" id="{0D6E770D-BA99-4D8F-8D7F-F6E1B65C62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0" y="7158182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8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</p:spTree>
    <p:extLst>
      <p:ext uri="{BB962C8B-B14F-4D97-AF65-F5344CB8AC3E}">
        <p14:creationId xmlns:p14="http://schemas.microsoft.com/office/powerpoint/2010/main" val="237082954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88B3727-896B-392E-2242-988671D31C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21" y="1"/>
            <a:ext cx="13445997" cy="75561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920" y="216735"/>
            <a:ext cx="11355023" cy="518049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056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ECF0A86-51DC-4ECB-BF32-33280A286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455591" y="333410"/>
            <a:ext cx="664990" cy="402482"/>
          </a:xfrm>
          <a:prstGeom prst="rect">
            <a:avLst/>
          </a:prstGeom>
        </p:spPr>
        <p:txBody>
          <a:bodyPr anchor="ctr"/>
          <a:lstStyle>
            <a:lvl1pPr algn="r">
              <a:defRPr sz="1175">
                <a:solidFill>
                  <a:schemeClr val="bg1"/>
                </a:solidFill>
                <a:latin typeface="+mn-lt"/>
              </a:defRPr>
            </a:lvl1pPr>
          </a:lstStyle>
          <a:p>
            <a:fld id="{7998DEE5-5424-45CB-8336-3215AFBD0173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Segnaposto piè di pagina 7">
            <a:extLst>
              <a:ext uri="{FF2B5EF4-FFF2-40B4-BE49-F238E27FC236}">
                <a16:creationId xmlns:a16="http://schemas.microsoft.com/office/drawing/2014/main" id="{1F2A62E3-081E-4015-9FC1-C560599BE26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63050" y="7158182"/>
            <a:ext cx="5303724" cy="351121"/>
          </a:xfrm>
          <a:prstGeom prst="rect">
            <a:avLst/>
          </a:prstGeom>
        </p:spPr>
        <p:txBody>
          <a:bodyPr/>
          <a:lstStyle>
            <a:lvl1pPr algn="l">
              <a:defRPr sz="1028">
                <a:solidFill>
                  <a:schemeClr val="bg1"/>
                </a:solidFill>
              </a:defRPr>
            </a:lvl1pPr>
          </a:lstStyle>
          <a:p>
            <a:r>
              <a:rPr lang="en-US"/>
              <a:t>Titolo Presentazione</a:t>
            </a:r>
          </a:p>
        </p:txBody>
      </p:sp>
    </p:spTree>
    <p:extLst>
      <p:ext uri="{BB962C8B-B14F-4D97-AF65-F5344CB8AC3E}">
        <p14:creationId xmlns:p14="http://schemas.microsoft.com/office/powerpoint/2010/main" val="174570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vmlDrawing" Target="../drawings/vmlDrawing1.vml"/><Relationship Id="rId10" Type="http://schemas.openxmlformats.org/officeDocument/2006/relationships/image" Target="../media/image2.jpeg"/><Relationship Id="rId4" Type="http://schemas.openxmlformats.org/officeDocument/2006/relationships/theme" Target="../theme/theme1.xml"/><Relationship Id="rId9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oleObject" Target="../embeddings/oleObject5.bin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ags" Target="../tags/tag7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vmlDrawing" Target="../drawings/vmlDrawing5.vml"/><Relationship Id="rId5" Type="http://schemas.openxmlformats.org/officeDocument/2006/relationships/slideLayout" Target="../slideLayouts/slideLayout8.xml"/><Relationship Id="rId15" Type="http://schemas.openxmlformats.org/officeDocument/2006/relationships/image" Target="../media/image8.jpeg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7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emf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ags" Target="../tags/tag15.xml"/><Relationship Id="rId5" Type="http://schemas.openxmlformats.org/officeDocument/2006/relationships/slideLayout" Target="../slideLayouts/slideLayout17.xml"/><Relationship Id="rId10" Type="http://schemas.openxmlformats.org/officeDocument/2006/relationships/vmlDrawing" Target="../drawings/vmlDrawing13.v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3.xml"/><Relationship Id="rId14" Type="http://schemas.openxmlformats.org/officeDocument/2006/relationships/image" Target="../media/image8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oleObject" Target="../embeddings/oleObject13.bin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ags" Target="../tags/tag1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vmlDrawing" Target="../drawings/vmlDrawing15.vml"/><Relationship Id="rId5" Type="http://schemas.openxmlformats.org/officeDocument/2006/relationships/slideLayout" Target="../slideLayouts/slideLayout25.xml"/><Relationship Id="rId15" Type="http://schemas.openxmlformats.org/officeDocument/2006/relationships/image" Target="../media/image8.jpeg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image" Target="../media/image7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oleObject" Target="../embeddings/oleObject15.bin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ags" Target="../tags/tag25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vmlDrawing" Target="../drawings/vmlDrawing23.vml"/><Relationship Id="rId5" Type="http://schemas.openxmlformats.org/officeDocument/2006/relationships/slideLayout" Target="../slideLayouts/slideLayout34.xml"/><Relationship Id="rId15" Type="http://schemas.openxmlformats.org/officeDocument/2006/relationships/image" Target="../media/image8.jpeg"/><Relationship Id="rId10" Type="http://schemas.openxmlformats.org/officeDocument/2006/relationships/theme" Target="../theme/theme5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image" Target="../media/image7.em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oleObject" Target="../embeddings/oleObject16.bin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ags" Target="../tags/tag33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vmlDrawing" Target="../drawings/vmlDrawing31.v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8.jpeg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image" Target="../media/image7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image" Target="../media/image14.emf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oleObject" Target="../embeddings/oleObject17.bin"/><Relationship Id="rId5" Type="http://schemas.openxmlformats.org/officeDocument/2006/relationships/slideLayout" Target="../slideLayouts/slideLayout52.xml"/><Relationship Id="rId10" Type="http://schemas.openxmlformats.org/officeDocument/2006/relationships/tags" Target="../tags/tag41.xml"/><Relationship Id="rId4" Type="http://schemas.openxmlformats.org/officeDocument/2006/relationships/slideLayout" Target="../slideLayouts/slideLayout51.xml"/><Relationship Id="rId9" Type="http://schemas.openxmlformats.org/officeDocument/2006/relationships/vmlDrawing" Target="../drawings/vmlDrawing39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ggetto 8" hidden="1"/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126614095"/>
              </p:ext>
            </p:extLst>
          </p:nvPr>
        </p:nvGraphicFramePr>
        <p:xfrm>
          <a:off x="1996" y="1588"/>
          <a:ext cx="1996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iapositiva think-cell" r:id="rId8" imgW="383" imgH="384" progId="TCLayout.ActiveDocument.1">
                  <p:embed/>
                </p:oleObj>
              </mc:Choice>
              <mc:Fallback>
                <p:oleObj name="Diapositiva think-cell" r:id="rId8" imgW="383" imgH="384" progId="TCLayout.ActiveDocument.1">
                  <p:embed/>
                  <p:pic>
                    <p:nvPicPr>
                      <p:cNvPr id="9" name="Oggetto 8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96" y="1588"/>
                        <a:ext cx="1996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ttangolo 6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99551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rtl="0" eaLnBrk="1"/>
            <a:endParaRPr lang="it-IT" sz="485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3985" y="402484"/>
            <a:ext cx="11591806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3985" y="7006701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925" y="7006701"/>
            <a:ext cx="434424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Titolo Presentazione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91841" y="7006701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8" name="Immagine 7" descr="US_A4_RGB-01.jpg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3439775" cy="755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194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35" r:id="rId3"/>
  </p:sldLayoutIdLst>
  <p:hf hdr="0" ft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D68BE11-90EC-92CF-2E69-8370012DFE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961395517"/>
              </p:ext>
            </p:extLst>
          </p:nvPr>
        </p:nvGraphicFramePr>
        <p:xfrm>
          <a:off x="2335" y="2333"/>
          <a:ext cx="2334" cy="2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Diapositiva think-cell" r:id="rId13" imgW="435" imgH="435" progId="TCLayout.ActiveDocument.1">
                  <p:embed/>
                </p:oleObj>
              </mc:Choice>
              <mc:Fallback>
                <p:oleObj name="Diapositiva think-cell" r:id="rId13" imgW="435" imgH="43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68BE11-90EC-92CF-2E69-8370012DFE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35" y="2333"/>
                        <a:ext cx="2334" cy="2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magine 1">
            <a:extLst>
              <a:ext uri="{FF2B5EF4-FFF2-40B4-BE49-F238E27FC236}">
                <a16:creationId xmlns:a16="http://schemas.microsoft.com/office/drawing/2014/main" id="{277484AA-4109-60C9-8117-9F40CE49B28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3452222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48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</p:sldLayoutIdLst>
  <p:hf hdr="0" ftr="0" dt="0"/>
  <p:txStyles>
    <p:titleStyle>
      <a:lvl1pPr algn="l" defTabSz="1007011" rtl="0" eaLnBrk="1" latinLnBrk="0" hangingPunct="1">
        <a:lnSpc>
          <a:spcPct val="90000"/>
        </a:lnSpc>
        <a:spcBef>
          <a:spcPct val="0"/>
        </a:spcBef>
        <a:buNone/>
        <a:defRPr sz="48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753" indent="-251753" algn="l" defTabSz="1007011" rtl="0" eaLnBrk="1" latinLnBrk="0" hangingPunct="1">
        <a:lnSpc>
          <a:spcPct val="90000"/>
        </a:lnSpc>
        <a:spcBef>
          <a:spcPts val="1101"/>
        </a:spcBef>
        <a:buFont typeface="Arial" panose="020B0604020202020204" pitchFamily="34" charset="0"/>
        <a:buChar char="•"/>
        <a:defRPr sz="3083" kern="1200">
          <a:solidFill>
            <a:schemeClr val="tx1"/>
          </a:solidFill>
          <a:latin typeface="+mn-lt"/>
          <a:ea typeface="+mn-ea"/>
          <a:cs typeface="+mn-cs"/>
        </a:defRPr>
      </a:lvl1pPr>
      <a:lvl2pPr marL="755258" indent="-251753" algn="l" defTabSz="1007011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3" kern="1200">
          <a:solidFill>
            <a:schemeClr val="tx1"/>
          </a:solidFill>
          <a:latin typeface="+mn-lt"/>
          <a:ea typeface="+mn-ea"/>
          <a:cs typeface="+mn-cs"/>
        </a:defRPr>
      </a:lvl2pPr>
      <a:lvl3pPr marL="1258764" indent="-251753" algn="l" defTabSz="1007011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3pPr>
      <a:lvl4pPr marL="1762269" indent="-251753" algn="l" defTabSz="1007011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4pPr>
      <a:lvl5pPr marL="2265774" indent="-251753" algn="l" defTabSz="1007011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5pPr>
      <a:lvl6pPr marL="2769280" indent="-251753" algn="l" defTabSz="1007011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6pPr>
      <a:lvl7pPr marL="3272785" indent="-251753" algn="l" defTabSz="1007011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7pPr>
      <a:lvl8pPr marL="3776290" indent="-251753" algn="l" defTabSz="1007011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8pPr>
      <a:lvl9pPr marL="4279795" indent="-251753" algn="l" defTabSz="1007011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1pPr>
      <a:lvl2pPr marL="503505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2pPr>
      <a:lvl3pPr marL="1007011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3pPr>
      <a:lvl4pPr marL="1510516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4pPr>
      <a:lvl5pPr marL="2014021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5pPr>
      <a:lvl6pPr marL="2517526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6pPr>
      <a:lvl7pPr marL="3021033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7pPr>
      <a:lvl8pPr marL="3524538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8pPr>
      <a:lvl9pPr marL="4028043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C6A49CB-C084-E24C-9272-A4030F1284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848510988"/>
              </p:ext>
            </p:extLst>
          </p:nvPr>
        </p:nvGraphicFramePr>
        <p:xfrm>
          <a:off x="2335" y="2333"/>
          <a:ext cx="2334" cy="2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Diapositiva think-cell" r:id="rId12" imgW="424" imgH="425" progId="TCLayout.ActiveDocument.1">
                  <p:embed/>
                </p:oleObj>
              </mc:Choice>
              <mc:Fallback>
                <p:oleObj name="Diapositiva think-cell" r:id="rId12" imgW="424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C6A49CB-C084-E24C-9272-A4030F1284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35" y="2333"/>
                        <a:ext cx="2334" cy="2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magine 1">
            <a:extLst>
              <a:ext uri="{FF2B5EF4-FFF2-40B4-BE49-F238E27FC236}">
                <a16:creationId xmlns:a16="http://schemas.microsoft.com/office/drawing/2014/main" id="{277484AA-4109-60C9-8117-9F40CE49B28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3452222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812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5" r:id="rId7"/>
    <p:sldLayoutId id="2147483766" r:id="rId8"/>
  </p:sldLayoutIdLst>
  <p:hf hdr="0" ftr="0" dt="0"/>
  <p:txStyles>
    <p:titleStyle>
      <a:lvl1pPr algn="l" defTabSz="1007011" rtl="0" eaLnBrk="1" latinLnBrk="0" hangingPunct="1">
        <a:lnSpc>
          <a:spcPct val="90000"/>
        </a:lnSpc>
        <a:spcBef>
          <a:spcPct val="0"/>
        </a:spcBef>
        <a:buNone/>
        <a:defRPr sz="48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753" indent="-251753" algn="l" defTabSz="1007011" rtl="0" eaLnBrk="1" latinLnBrk="0" hangingPunct="1">
        <a:lnSpc>
          <a:spcPct val="90000"/>
        </a:lnSpc>
        <a:spcBef>
          <a:spcPts val="1101"/>
        </a:spcBef>
        <a:buFont typeface="Arial" panose="020B0604020202020204" pitchFamily="34" charset="0"/>
        <a:buChar char="•"/>
        <a:defRPr sz="3083" kern="1200">
          <a:solidFill>
            <a:schemeClr val="tx1"/>
          </a:solidFill>
          <a:latin typeface="+mn-lt"/>
          <a:ea typeface="+mn-ea"/>
          <a:cs typeface="+mn-cs"/>
        </a:defRPr>
      </a:lvl1pPr>
      <a:lvl2pPr marL="755258" indent="-251753" algn="l" defTabSz="1007011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3" kern="1200">
          <a:solidFill>
            <a:schemeClr val="tx1"/>
          </a:solidFill>
          <a:latin typeface="+mn-lt"/>
          <a:ea typeface="+mn-ea"/>
          <a:cs typeface="+mn-cs"/>
        </a:defRPr>
      </a:lvl2pPr>
      <a:lvl3pPr marL="1258764" indent="-251753" algn="l" defTabSz="1007011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3pPr>
      <a:lvl4pPr marL="1762269" indent="-251753" algn="l" defTabSz="1007011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4pPr>
      <a:lvl5pPr marL="2265774" indent="-251753" algn="l" defTabSz="1007011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5pPr>
      <a:lvl6pPr marL="2769280" indent="-251753" algn="l" defTabSz="1007011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6pPr>
      <a:lvl7pPr marL="3272785" indent="-251753" algn="l" defTabSz="1007011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7pPr>
      <a:lvl8pPr marL="3776290" indent="-251753" algn="l" defTabSz="1007011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8pPr>
      <a:lvl9pPr marL="4279795" indent="-251753" algn="l" defTabSz="1007011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1pPr>
      <a:lvl2pPr marL="503505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2pPr>
      <a:lvl3pPr marL="1007011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3pPr>
      <a:lvl4pPr marL="1510516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4pPr>
      <a:lvl5pPr marL="2014021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5pPr>
      <a:lvl6pPr marL="2517526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6pPr>
      <a:lvl7pPr marL="3021033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7pPr>
      <a:lvl8pPr marL="3524538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8pPr>
      <a:lvl9pPr marL="4028043" algn="l" defTabSz="1007011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D68BE11-90EC-92CF-2E69-8370012DFE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498061737"/>
              </p:ext>
            </p:extLst>
          </p:nvPr>
        </p:nvGraphicFramePr>
        <p:xfrm>
          <a:off x="2334" y="2332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Diapositiva think-cell" r:id="rId13" imgW="435" imgH="435" progId="TCLayout.ActiveDocument.1">
                  <p:embed/>
                </p:oleObj>
              </mc:Choice>
              <mc:Fallback>
                <p:oleObj name="Diapositiva think-cell" r:id="rId13" imgW="435" imgH="43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68BE11-90EC-92CF-2E69-8370012DFE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34" y="2332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magine 1">
            <a:extLst>
              <a:ext uri="{FF2B5EF4-FFF2-40B4-BE49-F238E27FC236}">
                <a16:creationId xmlns:a16="http://schemas.microsoft.com/office/drawing/2014/main" id="{277484AA-4109-60C9-8117-9F40CE49B28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3452221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63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</p:sldLayoutIdLst>
  <p:hf hdr="0" ftr="0" dt="0"/>
  <p:txStyles>
    <p:titleStyle>
      <a:lvl1pPr algn="l" defTabSz="1007029" rtl="0" eaLnBrk="1" latinLnBrk="0" hangingPunct="1">
        <a:lnSpc>
          <a:spcPct val="90000"/>
        </a:lnSpc>
        <a:spcBef>
          <a:spcPct val="0"/>
        </a:spcBef>
        <a:buNone/>
        <a:defRPr sz="48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757" indent="-251757" algn="l" defTabSz="1007029" rtl="0" eaLnBrk="1" latinLnBrk="0" hangingPunct="1">
        <a:lnSpc>
          <a:spcPct val="90000"/>
        </a:lnSpc>
        <a:spcBef>
          <a:spcPts val="1101"/>
        </a:spcBef>
        <a:buFont typeface="Arial" panose="020B0604020202020204" pitchFamily="34" charset="0"/>
        <a:buChar char="•"/>
        <a:defRPr sz="3084" kern="1200">
          <a:solidFill>
            <a:schemeClr val="tx1"/>
          </a:solidFill>
          <a:latin typeface="+mn-lt"/>
          <a:ea typeface="+mn-ea"/>
          <a:cs typeface="+mn-cs"/>
        </a:defRPr>
      </a:lvl1pPr>
      <a:lvl2pPr marL="755272" indent="-251757" algn="l" defTabSz="100702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3" kern="1200">
          <a:solidFill>
            <a:schemeClr val="tx1"/>
          </a:solidFill>
          <a:latin typeface="+mn-lt"/>
          <a:ea typeface="+mn-ea"/>
          <a:cs typeface="+mn-cs"/>
        </a:defRPr>
      </a:lvl2pPr>
      <a:lvl3pPr marL="1258786" indent="-251757" algn="l" defTabSz="100702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3" kern="1200">
          <a:solidFill>
            <a:schemeClr val="tx1"/>
          </a:solidFill>
          <a:latin typeface="+mn-lt"/>
          <a:ea typeface="+mn-ea"/>
          <a:cs typeface="+mn-cs"/>
        </a:defRPr>
      </a:lvl3pPr>
      <a:lvl4pPr marL="1762300" indent="-251757" algn="l" defTabSz="100702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4pPr>
      <a:lvl5pPr marL="2265815" indent="-251757" algn="l" defTabSz="100702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5pPr>
      <a:lvl6pPr marL="2769329" indent="-251757" algn="l" defTabSz="100702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6pPr>
      <a:lvl7pPr marL="3272843" indent="-251757" algn="l" defTabSz="100702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7pPr>
      <a:lvl8pPr marL="3776358" indent="-251757" algn="l" defTabSz="100702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8pPr>
      <a:lvl9pPr marL="4279872" indent="-251757" algn="l" defTabSz="100702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1pPr>
      <a:lvl2pPr marL="503514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2pPr>
      <a:lvl3pPr marL="1007029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3pPr>
      <a:lvl4pPr marL="1510543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4pPr>
      <a:lvl5pPr marL="2014057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5pPr>
      <a:lvl6pPr marL="2517572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6pPr>
      <a:lvl7pPr marL="3021086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7pPr>
      <a:lvl8pPr marL="3524601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8pPr>
      <a:lvl9pPr marL="4028115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D68BE11-90EC-92CF-2E69-8370012DFE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4008577219"/>
              </p:ext>
            </p:extLst>
          </p:nvPr>
        </p:nvGraphicFramePr>
        <p:xfrm>
          <a:off x="2336" y="2333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Diapositiva think-cell" r:id="rId13" imgW="435" imgH="435" progId="TCLayout.ActiveDocument.1">
                  <p:embed/>
                </p:oleObj>
              </mc:Choice>
              <mc:Fallback>
                <p:oleObj name="Diapositiva think-cell" r:id="rId13" imgW="435" imgH="43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68BE11-90EC-92CF-2E69-8370012DFE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36" y="2333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magine 1">
            <a:extLst>
              <a:ext uri="{FF2B5EF4-FFF2-40B4-BE49-F238E27FC236}">
                <a16:creationId xmlns:a16="http://schemas.microsoft.com/office/drawing/2014/main" id="{277484AA-4109-60C9-8117-9F40CE49B28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2"/>
            <a:ext cx="13452221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58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</p:sldLayoutIdLst>
  <p:hf hdr="0" ftr="0" dt="0"/>
  <p:txStyles>
    <p:titleStyle>
      <a:lvl1pPr algn="l" defTabSz="1006098" rtl="0" eaLnBrk="1" latinLnBrk="0" hangingPunct="1">
        <a:lnSpc>
          <a:spcPct val="90000"/>
        </a:lnSpc>
        <a:spcBef>
          <a:spcPct val="0"/>
        </a:spcBef>
        <a:buNone/>
        <a:defRPr sz="48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525" indent="-251525" algn="l" defTabSz="1006098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1" kern="1200">
          <a:solidFill>
            <a:schemeClr val="tx1"/>
          </a:solidFill>
          <a:latin typeface="+mn-lt"/>
          <a:ea typeface="+mn-ea"/>
          <a:cs typeface="+mn-cs"/>
        </a:defRPr>
      </a:lvl1pPr>
      <a:lvl2pPr marL="754574" indent="-251525" algn="l" defTabSz="1006098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2" kern="1200">
          <a:solidFill>
            <a:schemeClr val="tx1"/>
          </a:solidFill>
          <a:latin typeface="+mn-lt"/>
          <a:ea typeface="+mn-ea"/>
          <a:cs typeface="+mn-cs"/>
        </a:defRPr>
      </a:lvl2pPr>
      <a:lvl3pPr marL="1257621" indent="-251525" algn="l" defTabSz="1006098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1" kern="1200">
          <a:solidFill>
            <a:schemeClr val="tx1"/>
          </a:solidFill>
          <a:latin typeface="+mn-lt"/>
          <a:ea typeface="+mn-ea"/>
          <a:cs typeface="+mn-cs"/>
        </a:defRPr>
      </a:lvl3pPr>
      <a:lvl4pPr marL="1760670" indent="-251525" algn="l" defTabSz="1006098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1" kern="1200">
          <a:solidFill>
            <a:schemeClr val="tx1"/>
          </a:solidFill>
          <a:latin typeface="+mn-lt"/>
          <a:ea typeface="+mn-ea"/>
          <a:cs typeface="+mn-cs"/>
        </a:defRPr>
      </a:lvl4pPr>
      <a:lvl5pPr marL="2263719" indent="-251525" algn="l" defTabSz="1006098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1" kern="1200">
          <a:solidFill>
            <a:schemeClr val="tx1"/>
          </a:solidFill>
          <a:latin typeface="+mn-lt"/>
          <a:ea typeface="+mn-ea"/>
          <a:cs typeface="+mn-cs"/>
        </a:defRPr>
      </a:lvl5pPr>
      <a:lvl6pPr marL="2766768" indent="-251525" algn="l" defTabSz="1006098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1" kern="1200">
          <a:solidFill>
            <a:schemeClr val="tx1"/>
          </a:solidFill>
          <a:latin typeface="+mn-lt"/>
          <a:ea typeface="+mn-ea"/>
          <a:cs typeface="+mn-cs"/>
        </a:defRPr>
      </a:lvl6pPr>
      <a:lvl7pPr marL="3269815" indent="-251525" algn="l" defTabSz="1006098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1" kern="1200">
          <a:solidFill>
            <a:schemeClr val="tx1"/>
          </a:solidFill>
          <a:latin typeface="+mn-lt"/>
          <a:ea typeface="+mn-ea"/>
          <a:cs typeface="+mn-cs"/>
        </a:defRPr>
      </a:lvl7pPr>
      <a:lvl8pPr marL="3772864" indent="-251525" algn="l" defTabSz="1006098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1" kern="1200">
          <a:solidFill>
            <a:schemeClr val="tx1"/>
          </a:solidFill>
          <a:latin typeface="+mn-lt"/>
          <a:ea typeface="+mn-ea"/>
          <a:cs typeface="+mn-cs"/>
        </a:defRPr>
      </a:lvl8pPr>
      <a:lvl9pPr marL="4275913" indent="-251525" algn="l" defTabSz="1006098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6098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1pPr>
      <a:lvl2pPr marL="503049" algn="l" defTabSz="1006098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2pPr>
      <a:lvl3pPr marL="1006098" algn="l" defTabSz="1006098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3pPr>
      <a:lvl4pPr marL="1509145" algn="l" defTabSz="1006098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4pPr>
      <a:lvl5pPr marL="2012194" algn="l" defTabSz="1006098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5pPr>
      <a:lvl6pPr marL="2515243" algn="l" defTabSz="1006098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6pPr>
      <a:lvl7pPr marL="3018292" algn="l" defTabSz="1006098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7pPr>
      <a:lvl8pPr marL="3521341" algn="l" defTabSz="1006098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8pPr>
      <a:lvl9pPr marL="4024390" algn="l" defTabSz="1006098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D68BE11-90EC-92CF-2E69-8370012DFE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1197484636"/>
              </p:ext>
            </p:extLst>
          </p:nvPr>
        </p:nvGraphicFramePr>
        <p:xfrm>
          <a:off x="2336" y="2333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name="Diapositiva think-cell" r:id="rId13" imgW="435" imgH="435" progId="TCLayout.ActiveDocument.1">
                  <p:embed/>
                </p:oleObj>
              </mc:Choice>
              <mc:Fallback>
                <p:oleObj name="Diapositiva think-cell" r:id="rId13" imgW="435" imgH="43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68BE11-90EC-92CF-2E69-8370012DFE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36" y="2333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magine 1">
            <a:extLst>
              <a:ext uri="{FF2B5EF4-FFF2-40B4-BE49-F238E27FC236}">
                <a16:creationId xmlns:a16="http://schemas.microsoft.com/office/drawing/2014/main" id="{277484AA-4109-60C9-8117-9F40CE49B28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2"/>
            <a:ext cx="13452220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021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</p:sldLayoutIdLst>
  <p:hf hdr="0" ftr="0" dt="0"/>
  <p:txStyles>
    <p:titleStyle>
      <a:lvl1pPr algn="l" defTabSz="1006104" rtl="0" eaLnBrk="1" latinLnBrk="0" hangingPunct="1">
        <a:lnSpc>
          <a:spcPct val="90000"/>
        </a:lnSpc>
        <a:spcBef>
          <a:spcPct val="0"/>
        </a:spcBef>
        <a:buNone/>
        <a:defRPr sz="48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526" indent="-251526" algn="l" defTabSz="1006104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1" kern="1200">
          <a:solidFill>
            <a:schemeClr val="tx1"/>
          </a:solidFill>
          <a:latin typeface="+mn-lt"/>
          <a:ea typeface="+mn-ea"/>
          <a:cs typeface="+mn-cs"/>
        </a:defRPr>
      </a:lvl1pPr>
      <a:lvl2pPr marL="754579" indent="-251526" algn="l" defTabSz="1006104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2" kern="1200">
          <a:solidFill>
            <a:schemeClr val="tx1"/>
          </a:solidFill>
          <a:latin typeface="+mn-lt"/>
          <a:ea typeface="+mn-ea"/>
          <a:cs typeface="+mn-cs"/>
        </a:defRPr>
      </a:lvl2pPr>
      <a:lvl3pPr marL="1257630" indent="-251526" algn="l" defTabSz="1006104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1" kern="1200">
          <a:solidFill>
            <a:schemeClr val="tx1"/>
          </a:solidFill>
          <a:latin typeface="+mn-lt"/>
          <a:ea typeface="+mn-ea"/>
          <a:cs typeface="+mn-cs"/>
        </a:defRPr>
      </a:lvl3pPr>
      <a:lvl4pPr marL="1760682" indent="-251526" algn="l" defTabSz="1006104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1" kern="1200">
          <a:solidFill>
            <a:schemeClr val="tx1"/>
          </a:solidFill>
          <a:latin typeface="+mn-lt"/>
          <a:ea typeface="+mn-ea"/>
          <a:cs typeface="+mn-cs"/>
        </a:defRPr>
      </a:lvl4pPr>
      <a:lvl5pPr marL="2263734" indent="-251526" algn="l" defTabSz="1006104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1" kern="1200">
          <a:solidFill>
            <a:schemeClr val="tx1"/>
          </a:solidFill>
          <a:latin typeface="+mn-lt"/>
          <a:ea typeface="+mn-ea"/>
          <a:cs typeface="+mn-cs"/>
        </a:defRPr>
      </a:lvl5pPr>
      <a:lvl6pPr marL="2766786" indent="-251526" algn="l" defTabSz="1006104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1" kern="1200">
          <a:solidFill>
            <a:schemeClr val="tx1"/>
          </a:solidFill>
          <a:latin typeface="+mn-lt"/>
          <a:ea typeface="+mn-ea"/>
          <a:cs typeface="+mn-cs"/>
        </a:defRPr>
      </a:lvl6pPr>
      <a:lvl7pPr marL="3269836" indent="-251526" algn="l" defTabSz="1006104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1" kern="1200">
          <a:solidFill>
            <a:schemeClr val="tx1"/>
          </a:solidFill>
          <a:latin typeface="+mn-lt"/>
          <a:ea typeface="+mn-ea"/>
          <a:cs typeface="+mn-cs"/>
        </a:defRPr>
      </a:lvl7pPr>
      <a:lvl8pPr marL="3772889" indent="-251526" algn="l" defTabSz="1006104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1" kern="1200">
          <a:solidFill>
            <a:schemeClr val="tx1"/>
          </a:solidFill>
          <a:latin typeface="+mn-lt"/>
          <a:ea typeface="+mn-ea"/>
          <a:cs typeface="+mn-cs"/>
        </a:defRPr>
      </a:lvl8pPr>
      <a:lvl9pPr marL="4275941" indent="-251526" algn="l" defTabSz="1006104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6104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1pPr>
      <a:lvl2pPr marL="503052" algn="l" defTabSz="1006104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2pPr>
      <a:lvl3pPr marL="1006104" algn="l" defTabSz="1006104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3pPr>
      <a:lvl4pPr marL="1509155" algn="l" defTabSz="1006104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4pPr>
      <a:lvl5pPr marL="2012207" algn="l" defTabSz="1006104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5pPr>
      <a:lvl6pPr marL="2515259" algn="l" defTabSz="1006104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6pPr>
      <a:lvl7pPr marL="3018312" algn="l" defTabSz="1006104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7pPr>
      <a:lvl8pPr marL="3521365" algn="l" defTabSz="1006104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8pPr>
      <a:lvl9pPr marL="4024417" algn="l" defTabSz="1006104" rtl="0" eaLnBrk="1" latinLnBrk="0" hangingPunct="1">
        <a:defRPr sz="19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003593-D291-676B-99BC-5043228820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64884123"/>
              </p:ext>
            </p:extLst>
          </p:nvPr>
        </p:nvGraphicFramePr>
        <p:xfrm>
          <a:off x="2334" y="2332"/>
          <a:ext cx="2334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8" name="Diapositiva think-cell" r:id="rId11" imgW="384" imgH="384" progId="TCLayout.ActiveDocument.1">
                  <p:embed/>
                </p:oleObj>
              </mc:Choice>
              <mc:Fallback>
                <p:oleObj name="Diapositiva think-cell" r:id="rId11" imgW="384" imgH="38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003593-D291-676B-99BC-5043228820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34" y="2332"/>
                        <a:ext cx="2334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magine 1">
            <a:extLst>
              <a:ext uri="{FF2B5EF4-FFF2-40B4-BE49-F238E27FC236}">
                <a16:creationId xmlns:a16="http://schemas.microsoft.com/office/drawing/2014/main" id="{277484AA-4109-60C9-8117-9F40CE49B28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3452221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83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</p:sldLayoutIdLst>
  <p:hf hdr="0" ftr="0" dt="0"/>
  <p:txStyles>
    <p:titleStyle>
      <a:lvl1pPr algn="l" defTabSz="1007029" rtl="0" eaLnBrk="1" latinLnBrk="0" hangingPunct="1">
        <a:lnSpc>
          <a:spcPct val="90000"/>
        </a:lnSpc>
        <a:spcBef>
          <a:spcPct val="0"/>
        </a:spcBef>
        <a:buNone/>
        <a:defRPr sz="48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757" indent="-251757" algn="l" defTabSz="1007029" rtl="0" eaLnBrk="1" latinLnBrk="0" hangingPunct="1">
        <a:lnSpc>
          <a:spcPct val="90000"/>
        </a:lnSpc>
        <a:spcBef>
          <a:spcPts val="1101"/>
        </a:spcBef>
        <a:buFont typeface="Arial" panose="020B0604020202020204" pitchFamily="34" charset="0"/>
        <a:buChar char="•"/>
        <a:defRPr sz="3084" kern="1200">
          <a:solidFill>
            <a:schemeClr val="tx1"/>
          </a:solidFill>
          <a:latin typeface="+mn-lt"/>
          <a:ea typeface="+mn-ea"/>
          <a:cs typeface="+mn-cs"/>
        </a:defRPr>
      </a:lvl1pPr>
      <a:lvl2pPr marL="755272" indent="-251757" algn="l" defTabSz="100702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3" kern="1200">
          <a:solidFill>
            <a:schemeClr val="tx1"/>
          </a:solidFill>
          <a:latin typeface="+mn-lt"/>
          <a:ea typeface="+mn-ea"/>
          <a:cs typeface="+mn-cs"/>
        </a:defRPr>
      </a:lvl2pPr>
      <a:lvl3pPr marL="1258786" indent="-251757" algn="l" defTabSz="100702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3" kern="1200">
          <a:solidFill>
            <a:schemeClr val="tx1"/>
          </a:solidFill>
          <a:latin typeface="+mn-lt"/>
          <a:ea typeface="+mn-ea"/>
          <a:cs typeface="+mn-cs"/>
        </a:defRPr>
      </a:lvl3pPr>
      <a:lvl4pPr marL="1762300" indent="-251757" algn="l" defTabSz="100702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4pPr>
      <a:lvl5pPr marL="2265815" indent="-251757" algn="l" defTabSz="100702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5pPr>
      <a:lvl6pPr marL="2769329" indent="-251757" algn="l" defTabSz="100702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6pPr>
      <a:lvl7pPr marL="3272843" indent="-251757" algn="l" defTabSz="100702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7pPr>
      <a:lvl8pPr marL="3776358" indent="-251757" algn="l" defTabSz="100702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8pPr>
      <a:lvl9pPr marL="4279872" indent="-251757" algn="l" defTabSz="100702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1pPr>
      <a:lvl2pPr marL="503514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2pPr>
      <a:lvl3pPr marL="1007029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3pPr>
      <a:lvl4pPr marL="1510543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4pPr>
      <a:lvl5pPr marL="2014057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5pPr>
      <a:lvl6pPr marL="2517572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6pPr>
      <a:lvl7pPr marL="3021086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7pPr>
      <a:lvl8pPr marL="3524601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8pPr>
      <a:lvl9pPr marL="4028115" algn="l" defTabSz="1007029" rtl="0" eaLnBrk="1" latinLnBrk="0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image" Target="../media/image1.emf"/><Relationship Id="rId2" Type="http://schemas.openxmlformats.org/officeDocument/2006/relationships/tags" Target="../tags/tag42.xml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18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microsoft.com/office/2007/relationships/hdphoto" Target="../media/hdphoto1.wdp"/><Relationship Id="rId3" Type="http://schemas.openxmlformats.org/officeDocument/2006/relationships/slideLayout" Target="../slideLayouts/slideLayout32.xml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5.png"/><Relationship Id="rId2" Type="http://schemas.openxmlformats.org/officeDocument/2006/relationships/tags" Target="../tags/tag44.xml"/><Relationship Id="rId16" Type="http://schemas.openxmlformats.org/officeDocument/2006/relationships/image" Target="../media/image24.png"/><Relationship Id="rId1" Type="http://schemas.openxmlformats.org/officeDocument/2006/relationships/vmlDrawing" Target="../drawings/vmlDrawing41.vml"/><Relationship Id="rId6" Type="http://schemas.openxmlformats.org/officeDocument/2006/relationships/image" Target="../media/image5.emf"/><Relationship Id="rId11" Type="http://schemas.openxmlformats.org/officeDocument/2006/relationships/image" Target="../media/image19.png"/><Relationship Id="rId5" Type="http://schemas.openxmlformats.org/officeDocument/2006/relationships/oleObject" Target="../embeddings/oleObject19.bin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19" Type="http://schemas.openxmlformats.org/officeDocument/2006/relationships/image" Target="../media/image26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7.png"/><Relationship Id="rId2" Type="http://schemas.openxmlformats.org/officeDocument/2006/relationships/tags" Target="../tags/tag45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0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slideLayout" Target="../slideLayouts/slideLayout41.xml"/><Relationship Id="rId7" Type="http://schemas.openxmlformats.org/officeDocument/2006/relationships/image" Target="../media/image28.png"/><Relationship Id="rId2" Type="http://schemas.openxmlformats.org/officeDocument/2006/relationships/tags" Target="../tags/tag46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7.emf"/><Relationship Id="rId11" Type="http://schemas.openxmlformats.org/officeDocument/2006/relationships/image" Target="../media/image32.png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31.pn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22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8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22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33.png"/><Relationship Id="rId2" Type="http://schemas.openxmlformats.org/officeDocument/2006/relationships/tags" Target="../tags/tag49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23.bin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tags" Target="../tags/tag51.xml"/><Relationship Id="rId7" Type="http://schemas.openxmlformats.org/officeDocument/2006/relationships/image" Target="../media/image7.emf"/><Relationship Id="rId2" Type="http://schemas.openxmlformats.org/officeDocument/2006/relationships/tags" Target="../tags/tag50.xml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36.jpeg"/><Relationship Id="rId5" Type="http://schemas.openxmlformats.org/officeDocument/2006/relationships/notesSlide" Target="../notesSlides/notesSlide8.xml"/><Relationship Id="rId10" Type="http://schemas.microsoft.com/office/2007/relationships/hdphoto" Target="../media/hdphoto2.wdp"/><Relationship Id="rId4" Type="http://schemas.openxmlformats.org/officeDocument/2006/relationships/slideLayout" Target="../slideLayouts/slideLayout23.xml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tags" Target="../tags/tag53.xml"/><Relationship Id="rId7" Type="http://schemas.openxmlformats.org/officeDocument/2006/relationships/image" Target="../media/image7.emf"/><Relationship Id="rId2" Type="http://schemas.openxmlformats.org/officeDocument/2006/relationships/tags" Target="../tags/tag52.xml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36.jpeg"/><Relationship Id="rId5" Type="http://schemas.openxmlformats.org/officeDocument/2006/relationships/notesSlide" Target="../notesSlides/notesSlide9.xml"/><Relationship Id="rId10" Type="http://schemas.microsoft.com/office/2007/relationships/hdphoto" Target="../media/hdphoto2.wdp"/><Relationship Id="rId4" Type="http://schemas.openxmlformats.org/officeDocument/2006/relationships/slideLayout" Target="../slideLayouts/slideLayout23.xml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7.png"/><Relationship Id="rId2" Type="http://schemas.openxmlformats.org/officeDocument/2006/relationships/tags" Target="../tags/tag54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5.emf"/><Relationship Id="rId11" Type="http://schemas.openxmlformats.org/officeDocument/2006/relationships/image" Target="../media/image41.png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40.sv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55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22.bin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6.xml"/><Relationship Id="rId1" Type="http://schemas.openxmlformats.org/officeDocument/2006/relationships/vmlDrawing" Target="../drawings/vmlDrawing51.vml"/><Relationship Id="rId5" Type="http://schemas.openxmlformats.org/officeDocument/2006/relationships/image" Target="../media/image42.emf"/><Relationship Id="rId4" Type="http://schemas.openxmlformats.org/officeDocument/2006/relationships/oleObject" Target="../embeddings/oleObject2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3.png"/><Relationship Id="rId2" Type="http://schemas.openxmlformats.org/officeDocument/2006/relationships/tags" Target="../tags/tag57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8.bin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6.png"/><Relationship Id="rId2" Type="http://schemas.openxmlformats.org/officeDocument/2006/relationships/tags" Target="../tags/tag58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9.bin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59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22.bin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0.svg"/><Relationship Id="rId3" Type="http://schemas.openxmlformats.org/officeDocument/2006/relationships/tags" Target="../tags/tag61.xml"/><Relationship Id="rId7" Type="http://schemas.openxmlformats.org/officeDocument/2006/relationships/image" Target="../media/image5.emf"/><Relationship Id="rId12" Type="http://schemas.openxmlformats.org/officeDocument/2006/relationships/image" Target="../media/image49.png"/><Relationship Id="rId2" Type="http://schemas.openxmlformats.org/officeDocument/2006/relationships/tags" Target="../tags/tag60.xml"/><Relationship Id="rId1" Type="http://schemas.openxmlformats.org/officeDocument/2006/relationships/vmlDrawing" Target="../drawings/vmlDrawing55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26.png"/><Relationship Id="rId5" Type="http://schemas.openxmlformats.org/officeDocument/2006/relationships/notesSlide" Target="../notesSlides/notesSlide1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3.xml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9.png"/><Relationship Id="rId2" Type="http://schemas.openxmlformats.org/officeDocument/2006/relationships/tags" Target="../tags/tag62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1.bin"/><Relationship Id="rId4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8.png"/><Relationship Id="rId12" Type="http://schemas.openxmlformats.org/officeDocument/2006/relationships/image" Target="../media/image50.svg"/><Relationship Id="rId2" Type="http://schemas.openxmlformats.org/officeDocument/2006/relationships/tags" Target="../tags/tag63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5.emf"/><Relationship Id="rId11" Type="http://schemas.openxmlformats.org/officeDocument/2006/relationships/image" Target="../media/image49.png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26.png"/><Relationship Id="rId4" Type="http://schemas.openxmlformats.org/officeDocument/2006/relationships/notesSlide" Target="../notesSlides/notesSlide17.xml"/><Relationship Id="rId9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9.png"/><Relationship Id="rId2" Type="http://schemas.openxmlformats.org/officeDocument/2006/relationships/tags" Target="../tags/tag64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3.bin"/><Relationship Id="rId4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tags" Target="../tags/tag66.xml"/><Relationship Id="rId7" Type="http://schemas.openxmlformats.org/officeDocument/2006/relationships/image" Target="../media/image5.emf"/><Relationship Id="rId2" Type="http://schemas.openxmlformats.org/officeDocument/2006/relationships/tags" Target="../tags/tag65.xml"/><Relationship Id="rId1" Type="http://schemas.openxmlformats.org/officeDocument/2006/relationships/vmlDrawing" Target="../drawings/vmlDrawing59.vml"/><Relationship Id="rId6" Type="http://schemas.openxmlformats.org/officeDocument/2006/relationships/oleObject" Target="../embeddings/oleObject34.bin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3.xml"/><Relationship Id="rId9" Type="http://schemas.openxmlformats.org/officeDocument/2006/relationships/image" Target="../media/image50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7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5.bin"/><Relationship Id="rId4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2" Type="http://schemas.openxmlformats.org/officeDocument/2006/relationships/tags" Target="../tags/tag68.xml"/><Relationship Id="rId1" Type="http://schemas.openxmlformats.org/officeDocument/2006/relationships/vmlDrawing" Target="../drawings/vmlDrawing61.vml"/><Relationship Id="rId5" Type="http://schemas.openxmlformats.org/officeDocument/2006/relationships/image" Target="../media/image51.emf"/><Relationship Id="rId4" Type="http://schemas.openxmlformats.org/officeDocument/2006/relationships/oleObject" Target="../embeddings/oleObject3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52.png"/><Relationship Id="rId2" Type="http://schemas.openxmlformats.org/officeDocument/2006/relationships/tags" Target="../tags/tag69.xml"/><Relationship Id="rId1" Type="http://schemas.openxmlformats.org/officeDocument/2006/relationships/vmlDrawing" Target="../drawings/vmlDrawing62.vml"/><Relationship Id="rId6" Type="http://schemas.openxmlformats.org/officeDocument/2006/relationships/image" Target="../media/image5.emf"/><Relationship Id="rId11" Type="http://schemas.microsoft.com/office/2007/relationships/hdphoto" Target="../media/hdphoto2.wdp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27.png"/><Relationship Id="rId4" Type="http://schemas.openxmlformats.org/officeDocument/2006/relationships/notesSlide" Target="../notesSlides/notesSlide21.xml"/><Relationship Id="rId9" Type="http://schemas.openxmlformats.org/officeDocument/2006/relationships/image" Target="../media/image5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ggetto 7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35027648"/>
              </p:ext>
            </p:extLst>
          </p:nvPr>
        </p:nvGraphicFramePr>
        <p:xfrm>
          <a:off x="1380656" y="5184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2" name="Diapositiva think-cell" r:id="rId6" imgW="307" imgH="307" progId="TCLayout.ActiveDocument.1">
                  <p:embed/>
                </p:oleObj>
              </mc:Choice>
              <mc:Fallback>
                <p:oleObj name="Diapositiva think-cell" r:id="rId6" imgW="307" imgH="307" progId="TCLayout.ActiveDocument.1">
                  <p:embed/>
                  <p:pic>
                    <p:nvPicPr>
                      <p:cNvPr id="8" name="Oggetto 7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80656" y="5184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ttangolo 6" hidden="1"/>
          <p:cNvSpPr/>
          <p:nvPr>
            <p:custDataLst>
              <p:tags r:id="rId3"/>
            </p:custDataLst>
          </p:nvPr>
        </p:nvSpPr>
        <p:spPr>
          <a:xfrm>
            <a:off x="1379069" y="3598"/>
            <a:ext cx="158598" cy="1585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1007011">
              <a:defRPr/>
            </a:pPr>
            <a:endParaRPr lang="it-IT" sz="2198">
              <a:solidFill>
                <a:srgbClr val="FFFFFF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Segnaposto testo 1">
            <a:extLst>
              <a:ext uri="{FF2B5EF4-FFF2-40B4-BE49-F238E27FC236}">
                <a16:creationId xmlns:a16="http://schemas.microsoft.com/office/drawing/2014/main" id="{9E37E2DA-FE79-48AF-BE2B-9F781D84D5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4154" y="5120413"/>
            <a:ext cx="4504834" cy="477416"/>
          </a:xfrm>
        </p:spPr>
        <p:txBody>
          <a:bodyPr/>
          <a:lstStyle/>
          <a:p>
            <a:r>
              <a:rPr lang="it-IT" sz="1998" dirty="0"/>
              <a:t>04 febbraio 2026</a:t>
            </a:r>
          </a:p>
        </p:txBody>
      </p:sp>
      <p:sp>
        <p:nvSpPr>
          <p:cNvPr id="9" name="Titolo 3">
            <a:extLst>
              <a:ext uri="{FF2B5EF4-FFF2-40B4-BE49-F238E27FC236}">
                <a16:creationId xmlns:a16="http://schemas.microsoft.com/office/drawing/2014/main" id="{9D5F23ED-B47F-489B-A0E2-5B6349655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306" y="1086643"/>
            <a:ext cx="11013684" cy="2755306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it-IT" sz="6607">
                <a:solidFill>
                  <a:schemeClr val="tx1"/>
                </a:solidFill>
              </a:rPr>
              <a:t>Salesforce</a:t>
            </a:r>
            <a:br>
              <a:rPr lang="it-IT" sz="6607">
                <a:solidFill>
                  <a:schemeClr val="tx1"/>
                </a:solidFill>
              </a:rPr>
            </a:br>
            <a:br>
              <a:rPr lang="it-IT" sz="5287">
                <a:solidFill>
                  <a:schemeClr val="tx1"/>
                </a:solidFill>
              </a:rPr>
            </a:br>
            <a:r>
              <a:rPr lang="it-IT" sz="4000" b="0">
                <a:solidFill>
                  <a:schemeClr val="tx1"/>
                </a:solidFill>
              </a:rPr>
              <a:t>Lead Management - Modello geo-meritocratico:</a:t>
            </a:r>
            <a:br>
              <a:rPr lang="it-IT" sz="4000" b="0">
                <a:solidFill>
                  <a:schemeClr val="tx1"/>
                </a:solidFill>
              </a:rPr>
            </a:br>
            <a:r>
              <a:rPr lang="it-IT" sz="3600" b="0" i="1">
                <a:solidFill>
                  <a:schemeClr val="tx1"/>
                </a:solidFill>
              </a:rPr>
              <a:t>Modello di business – Condivisione DSI</a:t>
            </a:r>
            <a:endParaRPr lang="it-IT" sz="1998" b="0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762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57E4E-F273-C36E-8B72-3D6D0EC84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E16A121-C2EF-05D4-031A-9E0F4016529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4351" y="8738"/>
          <a:ext cx="1747" cy="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6" name="Diapositiva think-cell" r:id="rId5" imgW="424" imgH="425" progId="TCLayout.ActiveDocument.1">
                  <p:embed/>
                </p:oleObj>
              </mc:Choice>
              <mc:Fallback>
                <p:oleObj name="Diapositiva think-cell" r:id="rId5" imgW="424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16A121-C2EF-05D4-031A-9E0F401652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351" y="8738"/>
                        <a:ext cx="1747" cy="1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olo 4">
            <a:extLst>
              <a:ext uri="{FF2B5EF4-FFF2-40B4-BE49-F238E27FC236}">
                <a16:creationId xmlns:a16="http://schemas.microsoft.com/office/drawing/2014/main" id="{73A1FFEF-E09A-F63E-67EE-20CFB6168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8" y="87404"/>
            <a:ext cx="11345605" cy="520054"/>
          </a:xfrm>
        </p:spPr>
        <p:txBody>
          <a:bodyPr vert="horz"/>
          <a:lstStyle/>
          <a:p>
            <a:r>
              <a:rPr lang="it-IT" sz="2800"/>
              <a:t>ASSEGNAZIONE LEAD DIGITALI | Perimetro di applicazione del modello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EB7706D2-D3FA-2F8B-791A-18B6D856B859}"/>
              </a:ext>
            </a:extLst>
          </p:cNvPr>
          <p:cNvSpPr/>
          <p:nvPr/>
        </p:nvSpPr>
        <p:spPr>
          <a:xfrm>
            <a:off x="284282" y="1073799"/>
            <a:ext cx="4156661" cy="5697391"/>
          </a:xfrm>
          <a:prstGeom prst="rect">
            <a:avLst/>
          </a:prstGeom>
          <a:solidFill>
            <a:schemeClr val="accent2"/>
          </a:solidFill>
          <a:ln w="5715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16000" rIns="0" bIns="2448000" rtlCol="0" anchor="ctr"/>
          <a:lstStyle/>
          <a:p>
            <a:pPr marL="0" marR="0" lvl="0" indent="0" algn="ctr" defTabSz="10060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OPPORTUNITÀ DI VENDITA </a:t>
            </a:r>
            <a:br>
              <a:rPr kumimoji="0" lang="it-IT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it-IT" sz="20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CANALI DIGITALI</a:t>
            </a:r>
          </a:p>
          <a:p>
            <a:pPr marL="0" marR="0" lvl="0" indent="0" algn="ctr" defTabSz="10060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b="1" i="0" u="sng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10060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1" i="0" u="sng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10060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1" i="0" u="sng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10060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1" i="0" u="sng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10060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1" i="0" u="sng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10060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1" i="0" u="sng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10060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1" i="0" u="sng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F9C4523F-2B08-A516-6C73-49518F71BD4B}"/>
              </a:ext>
            </a:extLst>
          </p:cNvPr>
          <p:cNvSpPr/>
          <p:nvPr/>
        </p:nvSpPr>
        <p:spPr>
          <a:xfrm>
            <a:off x="4827423" y="1073799"/>
            <a:ext cx="5921390" cy="5697391"/>
          </a:xfrm>
          <a:prstGeom prst="rect">
            <a:avLst/>
          </a:prstGeom>
          <a:solidFill>
            <a:srgbClr val="F0F6FC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33" tIns="180000" rIns="35933" rtlCol="0" anchor="t"/>
          <a:lstStyle/>
          <a:p>
            <a:pPr marL="0" marR="0" lvl="0" indent="0" algn="ctr" defTabSz="6707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sng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MODELLO DI ASSOCIAZIONE LEAD ALLE AGENZIE</a:t>
            </a:r>
          </a:p>
        </p:txBody>
      </p:sp>
      <p:grpSp>
        <p:nvGrpSpPr>
          <p:cNvPr id="10" name="Gruppo 203">
            <a:extLst>
              <a:ext uri="{FF2B5EF4-FFF2-40B4-BE49-F238E27FC236}">
                <a16:creationId xmlns:a16="http://schemas.microsoft.com/office/drawing/2014/main" id="{84E2641D-9665-E1E9-8175-D2F197A9F530}"/>
              </a:ext>
            </a:extLst>
          </p:cNvPr>
          <p:cNvGrpSpPr/>
          <p:nvPr/>
        </p:nvGrpSpPr>
        <p:grpSpPr>
          <a:xfrm>
            <a:off x="7195256" y="1784595"/>
            <a:ext cx="3399770" cy="378042"/>
            <a:chOff x="1643063" y="1504137"/>
            <a:chExt cx="2462213" cy="364028"/>
          </a:xfrm>
          <a:noFill/>
        </p:grpSpPr>
        <p:sp>
          <p:nvSpPr>
            <p:cNvPr id="15" name="Rettangolo 204">
              <a:extLst>
                <a:ext uri="{FF2B5EF4-FFF2-40B4-BE49-F238E27FC236}">
                  <a16:creationId xmlns:a16="http://schemas.microsoft.com/office/drawing/2014/main" id="{4F4013CE-8C65-48DB-8FE0-A7535A208DA0}"/>
                </a:ext>
              </a:extLst>
            </p:cNvPr>
            <p:cNvSpPr/>
            <p:nvPr/>
          </p:nvSpPr>
          <p:spPr>
            <a:xfrm>
              <a:off x="1643066" y="1504137"/>
              <a:ext cx="2462210" cy="3289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64" b="1" i="0" u="none" strike="noStrike" kern="1200" cap="none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Logica proposizione Punto Vendita</a:t>
              </a:r>
            </a:p>
          </p:txBody>
        </p:sp>
        <p:cxnSp>
          <p:nvCxnSpPr>
            <p:cNvPr id="25" name="Connettore 1 12">
              <a:extLst>
                <a:ext uri="{FF2B5EF4-FFF2-40B4-BE49-F238E27FC236}">
                  <a16:creationId xmlns:a16="http://schemas.microsoft.com/office/drawing/2014/main" id="{0E098037-BB53-B2A7-450F-D33D8BE960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3063" y="1868165"/>
              <a:ext cx="2462213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uppo 203">
            <a:extLst>
              <a:ext uri="{FF2B5EF4-FFF2-40B4-BE49-F238E27FC236}">
                <a16:creationId xmlns:a16="http://schemas.microsoft.com/office/drawing/2014/main" id="{1940EDD3-3A4D-232B-4364-73448D491313}"/>
              </a:ext>
            </a:extLst>
          </p:cNvPr>
          <p:cNvGrpSpPr/>
          <p:nvPr/>
        </p:nvGrpSpPr>
        <p:grpSpPr>
          <a:xfrm>
            <a:off x="5143415" y="1784595"/>
            <a:ext cx="1879760" cy="378042"/>
            <a:chOff x="1643063" y="1504137"/>
            <a:chExt cx="2462213" cy="364028"/>
          </a:xfrm>
          <a:noFill/>
        </p:grpSpPr>
        <p:sp>
          <p:nvSpPr>
            <p:cNvPr id="35" name="Rettangolo 204">
              <a:extLst>
                <a:ext uri="{FF2B5EF4-FFF2-40B4-BE49-F238E27FC236}">
                  <a16:creationId xmlns:a16="http://schemas.microsoft.com/office/drawing/2014/main" id="{168AE933-F270-7045-0402-FF209954B927}"/>
                </a:ext>
              </a:extLst>
            </p:cNvPr>
            <p:cNvSpPr/>
            <p:nvPr/>
          </p:nvSpPr>
          <p:spPr>
            <a:xfrm>
              <a:off x="1643066" y="1504137"/>
              <a:ext cx="2462210" cy="3289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64" b="1" i="0" u="none" strike="noStrike" kern="1200" cap="none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Tipologia Soggetto</a:t>
              </a:r>
            </a:p>
          </p:txBody>
        </p:sp>
        <p:cxnSp>
          <p:nvCxnSpPr>
            <p:cNvPr id="36" name="Connettore 1 12">
              <a:extLst>
                <a:ext uri="{FF2B5EF4-FFF2-40B4-BE49-F238E27FC236}">
                  <a16:creationId xmlns:a16="http://schemas.microsoft.com/office/drawing/2014/main" id="{B92ACFD7-E78A-E9D1-78F1-29D4E067E0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3063" y="1868165"/>
              <a:ext cx="2462213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ttangolo 10">
            <a:extLst>
              <a:ext uri="{FF2B5EF4-FFF2-40B4-BE49-F238E27FC236}">
                <a16:creationId xmlns:a16="http://schemas.microsoft.com/office/drawing/2014/main" id="{78A7D31D-F190-DDC8-56C0-B3A3767F3560}"/>
              </a:ext>
            </a:extLst>
          </p:cNvPr>
          <p:cNvSpPr/>
          <p:nvPr/>
        </p:nvSpPr>
        <p:spPr>
          <a:xfrm>
            <a:off x="7601103" y="5455448"/>
            <a:ext cx="2577186" cy="3641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tIns="36000" bIns="36000" rtlCol="0" anchor="ctr"/>
          <a:lstStyle/>
          <a:p>
            <a:pPr marL="0" marR="0" lvl="0" indent="0" algn="ctr" defTabSz="6707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1" u="none" strike="noStrike" kern="1200" cap="none" spc="0" normalizeH="0" baseline="0" noProof="0">
                <a:ln>
                  <a:noFill/>
                </a:ln>
                <a:solidFill>
                  <a:srgbClr val="C3C3C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Punto Vendita già associato</a:t>
            </a:r>
          </a:p>
        </p:txBody>
      </p:sp>
      <p:sp>
        <p:nvSpPr>
          <p:cNvPr id="61" name="Freccia a destra 60">
            <a:extLst>
              <a:ext uri="{FF2B5EF4-FFF2-40B4-BE49-F238E27FC236}">
                <a16:creationId xmlns:a16="http://schemas.microsoft.com/office/drawing/2014/main" id="{78BC12E0-4485-D4D9-4757-7FB89193E444}"/>
              </a:ext>
            </a:extLst>
          </p:cNvPr>
          <p:cNvSpPr/>
          <p:nvPr/>
        </p:nvSpPr>
        <p:spPr>
          <a:xfrm>
            <a:off x="7245425" y="5752768"/>
            <a:ext cx="4000801" cy="481623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4" name="Elemento grafico 43" descr="Profilo maschile con riempimento a tinta unita">
            <a:extLst>
              <a:ext uri="{FF2B5EF4-FFF2-40B4-BE49-F238E27FC236}">
                <a16:creationId xmlns:a16="http://schemas.microsoft.com/office/drawing/2014/main" id="{17D40ADA-C642-2567-BD93-954D7A1094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08599" y="5199589"/>
            <a:ext cx="749392" cy="749392"/>
          </a:xfrm>
          <a:prstGeom prst="rect">
            <a:avLst/>
          </a:prstGeom>
        </p:spPr>
      </p:pic>
      <p:sp>
        <p:nvSpPr>
          <p:cNvPr id="18" name="Rettangolo 17">
            <a:extLst>
              <a:ext uri="{FF2B5EF4-FFF2-40B4-BE49-F238E27FC236}">
                <a16:creationId xmlns:a16="http://schemas.microsoft.com/office/drawing/2014/main" id="{953ED6C3-A0BA-2193-9E1E-D773429B4298}"/>
              </a:ext>
            </a:extLst>
          </p:cNvPr>
          <p:cNvSpPr/>
          <p:nvPr/>
        </p:nvSpPr>
        <p:spPr>
          <a:xfrm>
            <a:off x="5345668" y="5908731"/>
            <a:ext cx="1475255" cy="7010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10060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Soggetto</a:t>
            </a:r>
            <a:br>
              <a:rPr kumimoji="0" lang="it-IT" sz="18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it-IT" sz="18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 titolarità assegnata</a:t>
            </a:r>
            <a:r>
              <a:rPr kumimoji="0" lang="it-IT" sz="1800" b="0" i="1" u="none" strike="noStrike" kern="1200" cap="none" spc="0" normalizeH="0" baseline="3000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grpSp>
        <p:nvGrpSpPr>
          <p:cNvPr id="1035" name="Gruppo 1034">
            <a:extLst>
              <a:ext uri="{FF2B5EF4-FFF2-40B4-BE49-F238E27FC236}">
                <a16:creationId xmlns:a16="http://schemas.microsoft.com/office/drawing/2014/main" id="{528811C4-29D3-6A06-EE58-7BA07C8C356B}"/>
              </a:ext>
            </a:extLst>
          </p:cNvPr>
          <p:cNvGrpSpPr/>
          <p:nvPr/>
        </p:nvGrpSpPr>
        <p:grpSpPr>
          <a:xfrm>
            <a:off x="11491776" y="5322464"/>
            <a:ext cx="1309825" cy="1084180"/>
            <a:chOff x="11202792" y="4549469"/>
            <a:chExt cx="1271303" cy="1052295"/>
          </a:xfrm>
        </p:grpSpPr>
        <p:pic>
          <p:nvPicPr>
            <p:cNvPr id="1032" name="Elemento grafico 1031" descr="Lavora da casa con riempimento a tinta unita">
              <a:extLst>
                <a:ext uri="{FF2B5EF4-FFF2-40B4-BE49-F238E27FC236}">
                  <a16:creationId xmlns:a16="http://schemas.microsoft.com/office/drawing/2014/main" id="{E154031A-8E0F-64DA-D714-1CCCCBA4F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414666" y="4549469"/>
              <a:ext cx="847556" cy="847557"/>
            </a:xfrm>
            <a:prstGeom prst="rect">
              <a:avLst/>
            </a:prstGeom>
          </p:spPr>
        </p:pic>
        <p:sp>
          <p:nvSpPr>
            <p:cNvPr id="1033" name="Rettangolo 1032">
              <a:extLst>
                <a:ext uri="{FF2B5EF4-FFF2-40B4-BE49-F238E27FC236}">
                  <a16:creationId xmlns:a16="http://schemas.microsoft.com/office/drawing/2014/main" id="{AB176F76-4C00-35E6-C285-0C8D94FC236F}"/>
                </a:ext>
              </a:extLst>
            </p:cNvPr>
            <p:cNvSpPr/>
            <p:nvPr/>
          </p:nvSpPr>
          <p:spPr>
            <a:xfrm>
              <a:off x="11202792" y="5328328"/>
              <a:ext cx="1271303" cy="2734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71865" rIns="71865" rtlCol="0" anchor="ctr"/>
            <a:lstStyle/>
            <a:p>
              <a:pPr marL="0" marR="0" lvl="0" indent="0" algn="ctr" defTabSz="10060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600" b="0" i="1" u="none" strike="noStrike" kern="1200" cap="none" spc="0" normalizeH="0" baseline="0" noProof="0">
                  <a:ln>
                    <a:noFill/>
                  </a:ln>
                  <a:solidFill>
                    <a:srgbClr val="C3C3C3">
                      <a:lumMod val="50000"/>
                    </a:srgb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Punto Vendita</a:t>
              </a:r>
              <a:endParaRPr kumimoji="0" lang="it-IT" sz="1000" b="0" i="1" u="none" strike="noStrike" kern="1200" cap="none" spc="0" normalizeH="0" baseline="0" noProof="0">
                <a:ln>
                  <a:noFill/>
                </a:ln>
                <a:solidFill>
                  <a:srgbClr val="C3C3C3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43" name="Fumetto: rettangolo con angoli arrotondati 1042">
            <a:extLst>
              <a:ext uri="{FF2B5EF4-FFF2-40B4-BE49-F238E27FC236}">
                <a16:creationId xmlns:a16="http://schemas.microsoft.com/office/drawing/2014/main" id="{88A4A577-CDA3-59C6-6CC2-E3E9C8063A8B}"/>
              </a:ext>
            </a:extLst>
          </p:cNvPr>
          <p:cNvSpPr/>
          <p:nvPr/>
        </p:nvSpPr>
        <p:spPr>
          <a:xfrm>
            <a:off x="10860813" y="1083280"/>
            <a:ext cx="2384339" cy="1096320"/>
          </a:xfrm>
          <a:prstGeom prst="wedgeRoundRectCallout">
            <a:avLst>
              <a:gd name="adj1" fmla="val -57827"/>
              <a:gd name="adj2" fmla="val -19660"/>
              <a:gd name="adj3" fmla="val 16667"/>
            </a:avLst>
          </a:prstGeom>
          <a:solidFill>
            <a:srgbClr val="FFF6D9"/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8366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Logiche di abbinamento del lead funzionali a </a:t>
            </a:r>
            <a:r>
              <a:rPr kumimoji="0" lang="it-IT" sz="1400" b="1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garantire sempre al soggetto un riferimento unico in termini di Punto Vendita</a:t>
            </a:r>
          </a:p>
        </p:txBody>
      </p:sp>
      <p:sp>
        <p:nvSpPr>
          <p:cNvPr id="1046" name="Rettangolo 1045">
            <a:extLst>
              <a:ext uri="{FF2B5EF4-FFF2-40B4-BE49-F238E27FC236}">
                <a16:creationId xmlns:a16="http://schemas.microsoft.com/office/drawing/2014/main" id="{8A10798E-581F-DA0A-3641-89BD220F2412}"/>
              </a:ext>
            </a:extLst>
          </p:cNvPr>
          <p:cNvSpPr/>
          <p:nvPr/>
        </p:nvSpPr>
        <p:spPr>
          <a:xfrm>
            <a:off x="4440943" y="2486515"/>
            <a:ext cx="8766235" cy="2413485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Freccia a gallone 39">
            <a:extLst>
              <a:ext uri="{FF2B5EF4-FFF2-40B4-BE49-F238E27FC236}">
                <a16:creationId xmlns:a16="http://schemas.microsoft.com/office/drawing/2014/main" id="{52EF3648-7291-6A55-8976-144A43697015}"/>
              </a:ext>
            </a:extLst>
          </p:cNvPr>
          <p:cNvSpPr/>
          <p:nvPr/>
        </p:nvSpPr>
        <p:spPr>
          <a:xfrm>
            <a:off x="4563226" y="5602934"/>
            <a:ext cx="178659" cy="594704"/>
          </a:xfrm>
          <a:prstGeom prst="chevron">
            <a:avLst>
              <a:gd name="adj" fmla="val 76973"/>
            </a:avLst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707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40" b="0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52" name="Connettore diritto 51">
            <a:extLst>
              <a:ext uri="{FF2B5EF4-FFF2-40B4-BE49-F238E27FC236}">
                <a16:creationId xmlns:a16="http://schemas.microsoft.com/office/drawing/2014/main" id="{77A0575B-1DE0-137B-F417-AAAA0CE4886E}"/>
              </a:ext>
            </a:extLst>
          </p:cNvPr>
          <p:cNvCxnSpPr>
            <a:cxnSpLocks/>
          </p:cNvCxnSpPr>
          <p:nvPr/>
        </p:nvCxnSpPr>
        <p:spPr>
          <a:xfrm flipH="1">
            <a:off x="4429610" y="2515435"/>
            <a:ext cx="4983" cy="235565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ttangolo 53">
            <a:extLst>
              <a:ext uri="{FF2B5EF4-FFF2-40B4-BE49-F238E27FC236}">
                <a16:creationId xmlns:a16="http://schemas.microsoft.com/office/drawing/2014/main" id="{2A22E613-C5DB-E878-AF48-8732E9AD2635}"/>
              </a:ext>
            </a:extLst>
          </p:cNvPr>
          <p:cNvSpPr/>
          <p:nvPr/>
        </p:nvSpPr>
        <p:spPr>
          <a:xfrm>
            <a:off x="8967261" y="4647232"/>
            <a:ext cx="2412261" cy="449511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713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0" i="1" u="sng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FOCUS MODELLO</a:t>
            </a:r>
          </a:p>
        </p:txBody>
      </p:sp>
      <p:sp>
        <p:nvSpPr>
          <p:cNvPr id="34" name="Freccia a gallone 33">
            <a:extLst>
              <a:ext uri="{FF2B5EF4-FFF2-40B4-BE49-F238E27FC236}">
                <a16:creationId xmlns:a16="http://schemas.microsoft.com/office/drawing/2014/main" id="{414A1C83-B607-D606-1C4E-EF549B55B476}"/>
              </a:ext>
            </a:extLst>
          </p:cNvPr>
          <p:cNvSpPr/>
          <p:nvPr/>
        </p:nvSpPr>
        <p:spPr>
          <a:xfrm>
            <a:off x="4563225" y="3465264"/>
            <a:ext cx="178659" cy="594704"/>
          </a:xfrm>
          <a:prstGeom prst="chevron">
            <a:avLst>
              <a:gd name="adj" fmla="val 76973"/>
            </a:avLst>
          </a:prstGeom>
          <a:solidFill>
            <a:schemeClr val="tx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6707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40" b="0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C0B346D7-0B03-3249-BF80-1FCA91A9B4A6}"/>
              </a:ext>
            </a:extLst>
          </p:cNvPr>
          <p:cNvSpPr/>
          <p:nvPr/>
        </p:nvSpPr>
        <p:spPr>
          <a:xfrm>
            <a:off x="7036002" y="2933468"/>
            <a:ext cx="3718278" cy="6546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tIns="36000" bIns="36000" rtlCol="0" anchor="ctr"/>
          <a:lstStyle/>
          <a:p>
            <a:pPr marL="0" marR="0" lvl="0" indent="0" algn="ctr" defTabSz="6707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Punto Vendita definito da logiche </a:t>
            </a:r>
            <a:r>
              <a:rPr kumimoji="0" lang="it-IT" sz="2000" b="1" i="0" u="sng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modello Geo-meritocratico</a:t>
            </a:r>
            <a:r>
              <a:rPr kumimoji="0" lang="it-IT" sz="20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con possibilità di modifica da locator</a:t>
            </a:r>
          </a:p>
        </p:txBody>
      </p:sp>
      <p:sp>
        <p:nvSpPr>
          <p:cNvPr id="53" name="Freccia a destra 52">
            <a:extLst>
              <a:ext uri="{FF2B5EF4-FFF2-40B4-BE49-F238E27FC236}">
                <a16:creationId xmlns:a16="http://schemas.microsoft.com/office/drawing/2014/main" id="{3986D2C9-0219-5B47-1B7B-084140C19C04}"/>
              </a:ext>
            </a:extLst>
          </p:cNvPr>
          <p:cNvSpPr/>
          <p:nvPr/>
        </p:nvSpPr>
        <p:spPr>
          <a:xfrm>
            <a:off x="7245250" y="3839316"/>
            <a:ext cx="4000972" cy="541306"/>
          </a:xfrm>
          <a:prstGeom prst="rightArrow">
            <a:avLst>
              <a:gd name="adj1" fmla="val 50000"/>
              <a:gd name="adj2" fmla="val 38834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1" name="Elemento grafico 40" descr="Profilo maschile con riempimento a tinta unita">
            <a:extLst>
              <a:ext uri="{FF2B5EF4-FFF2-40B4-BE49-F238E27FC236}">
                <a16:creationId xmlns:a16="http://schemas.microsoft.com/office/drawing/2014/main" id="{01B15612-C497-F1C4-1B3E-6178B59F2BE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59955" y="2641859"/>
            <a:ext cx="1046681" cy="1055954"/>
          </a:xfrm>
          <a:prstGeom prst="rect">
            <a:avLst/>
          </a:prstGeom>
        </p:spPr>
      </p:pic>
      <p:sp>
        <p:nvSpPr>
          <p:cNvPr id="32" name="Rettangolo 31">
            <a:extLst>
              <a:ext uri="{FF2B5EF4-FFF2-40B4-BE49-F238E27FC236}">
                <a16:creationId xmlns:a16="http://schemas.microsoft.com/office/drawing/2014/main" id="{FF2FD1AF-DD52-01F6-B1BF-D88B728CE18E}"/>
              </a:ext>
            </a:extLst>
          </p:cNvPr>
          <p:cNvSpPr/>
          <p:nvPr/>
        </p:nvSpPr>
        <p:spPr>
          <a:xfrm>
            <a:off x="5010712" y="3737026"/>
            <a:ext cx="2145166" cy="841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71865" rIns="71865" rtlCol="0" anchor="ctr"/>
          <a:lstStyle/>
          <a:p>
            <a:pPr marL="0" marR="0" lvl="0" indent="0" algn="ctr" defTabSz="10060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Soggetto SENZA titolarità assegnata</a:t>
            </a: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30" name="Gruppo 1029">
            <a:extLst>
              <a:ext uri="{FF2B5EF4-FFF2-40B4-BE49-F238E27FC236}">
                <a16:creationId xmlns:a16="http://schemas.microsoft.com/office/drawing/2014/main" id="{E27AFF87-41C5-1D79-80BF-3699E1A9699C}"/>
              </a:ext>
            </a:extLst>
          </p:cNvPr>
          <p:cNvGrpSpPr/>
          <p:nvPr/>
        </p:nvGrpSpPr>
        <p:grpSpPr>
          <a:xfrm>
            <a:off x="11246222" y="2947916"/>
            <a:ext cx="1800932" cy="1490682"/>
            <a:chOff x="10937984" y="2579187"/>
            <a:chExt cx="1800932" cy="1490682"/>
          </a:xfrm>
        </p:grpSpPr>
        <p:pic>
          <p:nvPicPr>
            <p:cNvPr id="1028" name="Elemento grafico 1027" descr="Lavora da casa con riempimento a tinta unita">
              <a:extLst>
                <a:ext uri="{FF2B5EF4-FFF2-40B4-BE49-F238E27FC236}">
                  <a16:creationId xmlns:a16="http://schemas.microsoft.com/office/drawing/2014/main" id="{8BA12F09-E903-EA3F-3F98-D2A9DA5D2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238125" y="2579187"/>
              <a:ext cx="1200650" cy="1200650"/>
            </a:xfrm>
            <a:prstGeom prst="rect">
              <a:avLst/>
            </a:prstGeom>
          </p:spPr>
        </p:pic>
        <p:sp>
          <p:nvSpPr>
            <p:cNvPr id="1029" name="Rettangolo 1028">
              <a:extLst>
                <a:ext uri="{FF2B5EF4-FFF2-40B4-BE49-F238E27FC236}">
                  <a16:creationId xmlns:a16="http://schemas.microsoft.com/office/drawing/2014/main" id="{9EA744D6-37CA-EE7D-96A5-239A423DB4E5}"/>
                </a:ext>
              </a:extLst>
            </p:cNvPr>
            <p:cNvSpPr/>
            <p:nvPr/>
          </p:nvSpPr>
          <p:spPr>
            <a:xfrm>
              <a:off x="10937984" y="3682519"/>
              <a:ext cx="1800932" cy="387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71865" rIns="71865" rtlCol="0" anchor="ctr"/>
            <a:lstStyle/>
            <a:p>
              <a:pPr marL="0" marR="0" lvl="0" indent="0" algn="ctr" defTabSz="100609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200" b="1" i="0" u="none" strike="noStrike" kern="1200" cap="none" spc="0" normalizeH="0" baseline="0" noProof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Punto Vendita</a:t>
              </a:r>
              <a:endParaRPr kumimoji="0" lang="it-IT" sz="2200" b="0" i="1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37" name="Gruppo 1036">
            <a:extLst>
              <a:ext uri="{FF2B5EF4-FFF2-40B4-BE49-F238E27FC236}">
                <a16:creationId xmlns:a16="http://schemas.microsoft.com/office/drawing/2014/main" id="{2D360769-A21F-BF3E-2AEF-60BD86779CB9}"/>
              </a:ext>
            </a:extLst>
          </p:cNvPr>
          <p:cNvGrpSpPr/>
          <p:nvPr/>
        </p:nvGrpSpPr>
        <p:grpSpPr>
          <a:xfrm>
            <a:off x="8563138" y="3773926"/>
            <a:ext cx="664007" cy="664007"/>
            <a:chOff x="8559766" y="3773926"/>
            <a:chExt cx="664007" cy="664007"/>
          </a:xfrm>
        </p:grpSpPr>
        <p:sp>
          <p:nvSpPr>
            <p:cNvPr id="51" name="Ovale 50">
              <a:extLst>
                <a:ext uri="{FF2B5EF4-FFF2-40B4-BE49-F238E27FC236}">
                  <a16:creationId xmlns:a16="http://schemas.microsoft.com/office/drawing/2014/main" id="{88F2679A-EC7E-61B7-7CA9-D5B41C6673A7}"/>
                </a:ext>
              </a:extLst>
            </p:cNvPr>
            <p:cNvSpPr/>
            <p:nvPr/>
          </p:nvSpPr>
          <p:spPr>
            <a:xfrm>
              <a:off x="8559766" y="3773926"/>
              <a:ext cx="664007" cy="664007"/>
            </a:xfrm>
            <a:prstGeom prst="ellipse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005E1E00-FE10-024C-8EBF-FC8DBCF4B8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9227" y="3810175"/>
              <a:ext cx="593164" cy="593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1" name="Rettangolo 20">
            <a:extLst>
              <a:ext uri="{FF2B5EF4-FFF2-40B4-BE49-F238E27FC236}">
                <a16:creationId xmlns:a16="http://schemas.microsoft.com/office/drawing/2014/main" id="{6A49B1E3-48AC-74E5-F628-01E103C4389B}"/>
              </a:ext>
            </a:extLst>
          </p:cNvPr>
          <p:cNvSpPr/>
          <p:nvPr/>
        </p:nvSpPr>
        <p:spPr>
          <a:xfrm>
            <a:off x="545340" y="2002412"/>
            <a:ext cx="3634545" cy="30095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504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800" b="0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Previsti da modello i seguenti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momenti di generazione del lead </a:t>
            </a:r>
            <a:r>
              <a:rPr kumimoji="0" lang="it-IT" sz="1800" b="0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(con specifico calore)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5238A6A1-BA19-8081-E32C-C81367804F16}"/>
              </a:ext>
            </a:extLst>
          </p:cNvPr>
          <p:cNvGrpSpPr/>
          <p:nvPr/>
        </p:nvGrpSpPr>
        <p:grpSpPr>
          <a:xfrm>
            <a:off x="1552355" y="2068498"/>
            <a:ext cx="1620514" cy="550421"/>
            <a:chOff x="8709702" y="4334650"/>
            <a:chExt cx="999369" cy="340845"/>
          </a:xfrm>
        </p:grpSpPr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3BF16877-ABF2-4280-9FA9-00659AC32421}"/>
                </a:ext>
              </a:extLst>
            </p:cNvPr>
            <p:cNvSpPr/>
            <p:nvPr/>
          </p:nvSpPr>
          <p:spPr>
            <a:xfrm>
              <a:off x="8709702" y="4334650"/>
              <a:ext cx="999369" cy="34084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9" name="Immagine 8" descr="Schermata 2023-11-11 alle 07.29.07.png">
              <a:extLst>
                <a:ext uri="{FF2B5EF4-FFF2-40B4-BE49-F238E27FC236}">
                  <a16:creationId xmlns:a16="http://schemas.microsoft.com/office/drawing/2014/main" id="{F12EE8D4-D82E-3E7E-EEE7-25151071D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9346" y="4358798"/>
              <a:ext cx="793731" cy="307306"/>
            </a:xfrm>
            <a:prstGeom prst="roundRect">
              <a:avLst>
                <a:gd name="adj" fmla="val 0"/>
              </a:avLst>
            </a:prstGeom>
            <a:ln>
              <a:noFill/>
            </a:ln>
          </p:spPr>
        </p:pic>
      </p:grpSp>
      <p:sp>
        <p:nvSpPr>
          <p:cNvPr id="4" name="Rettangolo 3">
            <a:extLst>
              <a:ext uri="{FF2B5EF4-FFF2-40B4-BE49-F238E27FC236}">
                <a16:creationId xmlns:a16="http://schemas.microsoft.com/office/drawing/2014/main" id="{B2E63314-EA50-009D-8627-2AC6D776FACA}"/>
              </a:ext>
            </a:extLst>
          </p:cNvPr>
          <p:cNvSpPr/>
          <p:nvPr/>
        </p:nvSpPr>
        <p:spPr>
          <a:xfrm>
            <a:off x="727535" y="3470593"/>
            <a:ext cx="3270154" cy="295294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00" b="0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SHOW PRICE (solo qualificati)</a:t>
            </a: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D28E776D-65E7-147E-50E5-E327098775CD}"/>
              </a:ext>
            </a:extLst>
          </p:cNvPr>
          <p:cNvSpPr/>
          <p:nvPr/>
        </p:nvSpPr>
        <p:spPr>
          <a:xfrm>
            <a:off x="727535" y="3848616"/>
            <a:ext cx="3270154" cy="295294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00" b="0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SALVATAGGIO PREVENTIVO</a:t>
            </a:r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A0350A84-CE2E-A2AB-49A2-5C9DE6E881F9}"/>
              </a:ext>
            </a:extLst>
          </p:cNvPr>
          <p:cNvSpPr/>
          <p:nvPr/>
        </p:nvSpPr>
        <p:spPr>
          <a:xfrm>
            <a:off x="727535" y="4215977"/>
            <a:ext cx="3270154" cy="295294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00" b="0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ABBANDONO CARRELLO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BC4FF20B-545A-1B63-B931-D5A0E4D2A104}"/>
              </a:ext>
            </a:extLst>
          </p:cNvPr>
          <p:cNvSpPr/>
          <p:nvPr/>
        </p:nvSpPr>
        <p:spPr>
          <a:xfrm>
            <a:off x="727535" y="4584876"/>
            <a:ext cx="3270154" cy="295294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00" b="0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CALL ME BACK</a:t>
            </a:r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95DA1FAB-7264-044A-FBC2-7ABA891EE23F}"/>
              </a:ext>
            </a:extLst>
          </p:cNvPr>
          <p:cNvSpPr/>
          <p:nvPr/>
        </p:nvSpPr>
        <p:spPr>
          <a:xfrm>
            <a:off x="853668" y="3497868"/>
            <a:ext cx="252000" cy="252000"/>
          </a:xfrm>
          <a:prstGeom prst="ellipse">
            <a:avLst/>
          </a:prstGeom>
          <a:solidFill>
            <a:srgbClr val="FFE2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19B3130A-74FF-1D13-201B-831CA297B777}"/>
              </a:ext>
            </a:extLst>
          </p:cNvPr>
          <p:cNvSpPr/>
          <p:nvPr/>
        </p:nvSpPr>
        <p:spPr>
          <a:xfrm>
            <a:off x="854076" y="3877538"/>
            <a:ext cx="252413" cy="252413"/>
          </a:xfrm>
          <a:prstGeom prst="ellips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e 46">
            <a:extLst>
              <a:ext uri="{FF2B5EF4-FFF2-40B4-BE49-F238E27FC236}">
                <a16:creationId xmlns:a16="http://schemas.microsoft.com/office/drawing/2014/main" id="{8B246A04-D41C-F995-7D93-6E2CE3A02AF6}"/>
              </a:ext>
            </a:extLst>
          </p:cNvPr>
          <p:cNvSpPr/>
          <p:nvPr/>
        </p:nvSpPr>
        <p:spPr>
          <a:xfrm>
            <a:off x="854076" y="4245838"/>
            <a:ext cx="252413" cy="252413"/>
          </a:xfrm>
          <a:prstGeom prst="ellipse">
            <a:avLst/>
          </a:prstGeom>
          <a:solidFill>
            <a:srgbClr val="E76C6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Ovale 54">
            <a:extLst>
              <a:ext uri="{FF2B5EF4-FFF2-40B4-BE49-F238E27FC236}">
                <a16:creationId xmlns:a16="http://schemas.microsoft.com/office/drawing/2014/main" id="{D1BBFEC2-12E8-1D33-ECBC-962F187F024E}"/>
              </a:ext>
            </a:extLst>
          </p:cNvPr>
          <p:cNvSpPr/>
          <p:nvPr/>
        </p:nvSpPr>
        <p:spPr>
          <a:xfrm>
            <a:off x="854076" y="4609375"/>
            <a:ext cx="252413" cy="252413"/>
          </a:xfrm>
          <a:prstGeom prst="ellipse">
            <a:avLst/>
          </a:prstGeom>
          <a:solidFill>
            <a:srgbClr val="E76C6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Ovale 71">
            <a:extLst>
              <a:ext uri="{FF2B5EF4-FFF2-40B4-BE49-F238E27FC236}">
                <a16:creationId xmlns:a16="http://schemas.microsoft.com/office/drawing/2014/main" id="{5DF6479C-3FA0-0AA3-6CDC-1BFFF92F1158}"/>
              </a:ext>
            </a:extLst>
          </p:cNvPr>
          <p:cNvSpPr/>
          <p:nvPr/>
        </p:nvSpPr>
        <p:spPr>
          <a:xfrm>
            <a:off x="2666552" y="7200916"/>
            <a:ext cx="242046" cy="237279"/>
          </a:xfrm>
          <a:prstGeom prst="ellipse">
            <a:avLst/>
          </a:prstGeom>
          <a:solidFill>
            <a:srgbClr val="E76C6C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DCDCDC">
                  <a:lumMod val="1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4" name="Rettangolo 1023">
            <a:extLst>
              <a:ext uri="{FF2B5EF4-FFF2-40B4-BE49-F238E27FC236}">
                <a16:creationId xmlns:a16="http://schemas.microsoft.com/office/drawing/2014/main" id="{A491E8D2-5B79-3690-E571-A6EBDF97C77F}"/>
              </a:ext>
            </a:extLst>
          </p:cNvPr>
          <p:cNvSpPr/>
          <p:nvPr/>
        </p:nvSpPr>
        <p:spPr>
          <a:xfrm>
            <a:off x="2965801" y="7238879"/>
            <a:ext cx="850038" cy="1620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Lead Caldissimo</a:t>
            </a:r>
            <a:endParaRPr kumimoji="0" lang="it-IT" sz="8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6" name="Rettangolo 1025">
            <a:extLst>
              <a:ext uri="{FF2B5EF4-FFF2-40B4-BE49-F238E27FC236}">
                <a16:creationId xmlns:a16="http://schemas.microsoft.com/office/drawing/2014/main" id="{4E85D336-E8CB-2138-ED02-021D55B541AF}"/>
              </a:ext>
            </a:extLst>
          </p:cNvPr>
          <p:cNvSpPr/>
          <p:nvPr/>
        </p:nvSpPr>
        <p:spPr>
          <a:xfrm>
            <a:off x="1850200" y="7238879"/>
            <a:ext cx="715002" cy="1620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Lead Caldo</a:t>
            </a:r>
            <a:endParaRPr kumimoji="0" lang="it-IT" sz="8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7" name="Ovale 67">
            <a:extLst>
              <a:ext uri="{FF2B5EF4-FFF2-40B4-BE49-F238E27FC236}">
                <a16:creationId xmlns:a16="http://schemas.microsoft.com/office/drawing/2014/main" id="{13D3A994-1CAC-9255-2F0A-D60C52EAB611}"/>
              </a:ext>
            </a:extLst>
          </p:cNvPr>
          <p:cNvSpPr/>
          <p:nvPr/>
        </p:nvSpPr>
        <p:spPr>
          <a:xfrm>
            <a:off x="1516982" y="7201272"/>
            <a:ext cx="241648" cy="236923"/>
          </a:xfrm>
          <a:prstGeom prst="ellipse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DCDCDC">
                  <a:lumMod val="1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1" name="Rettangolo 1030">
            <a:extLst>
              <a:ext uri="{FF2B5EF4-FFF2-40B4-BE49-F238E27FC236}">
                <a16:creationId xmlns:a16="http://schemas.microsoft.com/office/drawing/2014/main" id="{DE6F945E-5FE1-4DF1-0A42-38E777777A8C}"/>
              </a:ext>
            </a:extLst>
          </p:cNvPr>
          <p:cNvSpPr/>
          <p:nvPr/>
        </p:nvSpPr>
        <p:spPr>
          <a:xfrm>
            <a:off x="700630" y="7238879"/>
            <a:ext cx="715002" cy="1620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Lead Tiepido</a:t>
            </a:r>
            <a:endParaRPr kumimoji="0" lang="it-IT" sz="8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34" name="Ovale 77">
            <a:extLst>
              <a:ext uri="{FF2B5EF4-FFF2-40B4-BE49-F238E27FC236}">
                <a16:creationId xmlns:a16="http://schemas.microsoft.com/office/drawing/2014/main" id="{634C3821-3959-B709-4CD5-068707D3DBC8}"/>
              </a:ext>
            </a:extLst>
          </p:cNvPr>
          <p:cNvSpPr/>
          <p:nvPr/>
        </p:nvSpPr>
        <p:spPr>
          <a:xfrm>
            <a:off x="367412" y="7201272"/>
            <a:ext cx="241648" cy="236923"/>
          </a:xfrm>
          <a:prstGeom prst="ellipse">
            <a:avLst/>
          </a:prstGeom>
          <a:solidFill>
            <a:srgbClr val="FFE28A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DCDCDC">
                  <a:lumMod val="1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Fumetto: rettangolo con angoli arrotondati 41">
            <a:extLst>
              <a:ext uri="{FF2B5EF4-FFF2-40B4-BE49-F238E27FC236}">
                <a16:creationId xmlns:a16="http://schemas.microsoft.com/office/drawing/2014/main" id="{A066E1D2-CD2A-C7FC-6A2D-A921C471C5EE}"/>
              </a:ext>
            </a:extLst>
          </p:cNvPr>
          <p:cNvSpPr/>
          <p:nvPr/>
        </p:nvSpPr>
        <p:spPr>
          <a:xfrm>
            <a:off x="499646" y="5072690"/>
            <a:ext cx="3738823" cy="545216"/>
          </a:xfrm>
          <a:prstGeom prst="wedgeRoundRectCallout">
            <a:avLst>
              <a:gd name="adj1" fmla="val -20514"/>
              <a:gd name="adj2" fmla="val -76292"/>
              <a:gd name="adj3" fmla="val 16667"/>
            </a:avLst>
          </a:prstGeom>
          <a:solidFill>
            <a:srgbClr val="FFF6D9"/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1" u="sng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corso revisione logiche di prioritizzazione dei lead secondo "calore" su progettualità dedicata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23587942-D7C7-ACD8-FDE2-4A1829158046}"/>
              </a:ext>
            </a:extLst>
          </p:cNvPr>
          <p:cNvSpPr/>
          <p:nvPr/>
        </p:nvSpPr>
        <p:spPr>
          <a:xfrm>
            <a:off x="3098797" y="5837981"/>
            <a:ext cx="1081088" cy="5826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Eventuali altri preventivatori online (TBD)</a:t>
            </a:r>
          </a:p>
        </p:txBody>
      </p:sp>
      <p:grpSp>
        <p:nvGrpSpPr>
          <p:cNvPr id="1052" name="Gruppo 1051">
            <a:extLst>
              <a:ext uri="{FF2B5EF4-FFF2-40B4-BE49-F238E27FC236}">
                <a16:creationId xmlns:a16="http://schemas.microsoft.com/office/drawing/2014/main" id="{0F2B9B80-061B-AFF1-3C7B-D48C6483926B}"/>
              </a:ext>
            </a:extLst>
          </p:cNvPr>
          <p:cNvGrpSpPr/>
          <p:nvPr/>
        </p:nvGrpSpPr>
        <p:grpSpPr>
          <a:xfrm>
            <a:off x="545340" y="5838233"/>
            <a:ext cx="1081274" cy="582109"/>
            <a:chOff x="545340" y="5838233"/>
            <a:chExt cx="1081274" cy="582109"/>
          </a:xfrm>
        </p:grpSpPr>
        <p:sp>
          <p:nvSpPr>
            <p:cNvPr id="1045" name="Rettangolo 1044">
              <a:extLst>
                <a:ext uri="{FF2B5EF4-FFF2-40B4-BE49-F238E27FC236}">
                  <a16:creationId xmlns:a16="http://schemas.microsoft.com/office/drawing/2014/main" id="{FF17B53E-C5AC-3DCB-3D73-569D80320D4A}"/>
                </a:ext>
              </a:extLst>
            </p:cNvPr>
            <p:cNvSpPr/>
            <p:nvPr/>
          </p:nvSpPr>
          <p:spPr>
            <a:xfrm>
              <a:off x="545340" y="5838233"/>
              <a:ext cx="1081274" cy="58210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047" name="Picture 2" descr="logo-unisalute - Pluriass Scuola">
              <a:extLst>
                <a:ext uri="{FF2B5EF4-FFF2-40B4-BE49-F238E27FC236}">
                  <a16:creationId xmlns:a16="http://schemas.microsoft.com/office/drawing/2014/main" id="{BEF8B1B8-4B19-AA19-58E9-16422D4472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15" t="21122" r="11654" b="21168"/>
            <a:stretch>
              <a:fillRect/>
            </a:stretch>
          </p:blipFill>
          <p:spPr bwMode="auto">
            <a:xfrm>
              <a:off x="646593" y="5900057"/>
              <a:ext cx="878770" cy="4667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49" name="Rettangolo 1048">
            <a:extLst>
              <a:ext uri="{FF2B5EF4-FFF2-40B4-BE49-F238E27FC236}">
                <a16:creationId xmlns:a16="http://schemas.microsoft.com/office/drawing/2014/main" id="{39B39BB8-6D41-B69F-8645-A4A20DC5F917}"/>
              </a:ext>
            </a:extLst>
          </p:cNvPr>
          <p:cNvSpPr/>
          <p:nvPr/>
        </p:nvSpPr>
        <p:spPr>
          <a:xfrm>
            <a:off x="1822069" y="5838289"/>
            <a:ext cx="1081274" cy="58199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Previdenza</a:t>
            </a:r>
            <a:endParaRPr kumimoji="0" lang="it-IT" sz="1600" i="1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50" name="Picture 4" descr="I nostri Partners - Finanza e Previdenza">
            <a:extLst>
              <a:ext uri="{FF2B5EF4-FFF2-40B4-BE49-F238E27FC236}">
                <a16:creationId xmlns:a16="http://schemas.microsoft.com/office/drawing/2014/main" id="{B8D31799-280D-270B-A609-7BB4CDC04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72" y="5820664"/>
            <a:ext cx="978869" cy="465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033E81E7-4A65-EA53-C614-17E696ACEC50}"/>
              </a:ext>
            </a:extLst>
          </p:cNvPr>
          <p:cNvSpPr txBox="1"/>
          <p:nvPr/>
        </p:nvSpPr>
        <p:spPr>
          <a:xfrm>
            <a:off x="6928010" y="7106626"/>
            <a:ext cx="38314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1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Nota: 1) Include Clienti e Prospect Anagrafati, soggetti senza polizza attiva ma con anagrafica registrata da Compagnia</a:t>
            </a:r>
          </a:p>
        </p:txBody>
      </p:sp>
    </p:spTree>
    <p:extLst>
      <p:ext uri="{BB962C8B-B14F-4D97-AF65-F5344CB8AC3E}">
        <p14:creationId xmlns:p14="http://schemas.microsoft.com/office/powerpoint/2010/main" val="61130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8A7BA-787E-B339-C081-1DFB0046E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olo isoscele 13">
            <a:extLst>
              <a:ext uri="{FF2B5EF4-FFF2-40B4-BE49-F238E27FC236}">
                <a16:creationId xmlns:a16="http://schemas.microsoft.com/office/drawing/2014/main" id="{4E5D761E-B970-77EB-FE3A-970919DF3FF4}"/>
              </a:ext>
            </a:extLst>
          </p:cNvPr>
          <p:cNvSpPr/>
          <p:nvPr/>
        </p:nvSpPr>
        <p:spPr>
          <a:xfrm>
            <a:off x="8303924" y="5424034"/>
            <a:ext cx="4436919" cy="463119"/>
          </a:xfrm>
          <a:prstGeom prst="triangle">
            <a:avLst/>
          </a:prstGeom>
          <a:solidFill>
            <a:srgbClr val="FFF7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BFB90B0-05D7-B184-F1D9-006559E60DE1}"/>
              </a:ext>
            </a:extLst>
          </p:cNvPr>
          <p:cNvSpPr/>
          <p:nvPr/>
        </p:nvSpPr>
        <p:spPr>
          <a:xfrm>
            <a:off x="457923" y="5739479"/>
            <a:ext cx="12606414" cy="1117096"/>
          </a:xfrm>
          <a:prstGeom prst="rect">
            <a:avLst/>
          </a:prstGeom>
          <a:solidFill>
            <a:srgbClr val="FFF7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45225EA-5433-1202-A0D5-07BBC601887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6223142"/>
              </p:ext>
            </p:extLst>
          </p:nvPr>
        </p:nvGraphicFramePr>
        <p:xfrm>
          <a:off x="14528" y="8838"/>
          <a:ext cx="1747" cy="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0" name="Diapositiva think-cell" r:id="rId5" imgW="424" imgH="425" progId="TCLayout.ActiveDocument.1">
                  <p:embed/>
                </p:oleObj>
              </mc:Choice>
              <mc:Fallback>
                <p:oleObj name="Diapositiva think-cell" r:id="rId5" imgW="424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45225EA-5433-1202-A0D5-07BBC6018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528" y="8838"/>
                        <a:ext cx="1747" cy="1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olo 9">
            <a:extLst>
              <a:ext uri="{FF2B5EF4-FFF2-40B4-BE49-F238E27FC236}">
                <a16:creationId xmlns:a16="http://schemas.microsoft.com/office/drawing/2014/main" id="{077B6B0A-90E3-9876-DB9F-B65BB46F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1" y="87502"/>
            <a:ext cx="12802340" cy="520040"/>
          </a:xfrm>
        </p:spPr>
        <p:txBody>
          <a:bodyPr vert="horz" anchor="ctr">
            <a:noAutofit/>
          </a:bodyPr>
          <a:lstStyle/>
          <a:p>
            <a:r>
              <a:rPr lang="it-IT" sz="2800"/>
              <a:t>ASSEGNAZIONE LEAD DIGITALI | Principali feedback Agenti su modello iniziale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C38372E9-B24E-5DE3-B604-5CA00ADA7C1A}"/>
              </a:ext>
            </a:extLst>
          </p:cNvPr>
          <p:cNvSpPr txBox="1"/>
          <p:nvPr/>
        </p:nvSpPr>
        <p:spPr>
          <a:xfrm rot="16200000">
            <a:off x="5653120" y="-4124543"/>
            <a:ext cx="2108658" cy="12728628"/>
          </a:xfrm>
          <a:prstGeom prst="roundRect">
            <a:avLst>
              <a:gd name="adj" fmla="val 77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108000" rIns="36000" rtlCol="0" anchor="t">
            <a:noAutofit/>
          </a:bodyPr>
          <a:lstStyle/>
          <a:p>
            <a:pPr algn="ctr" defTabSz="457203">
              <a:defRPr/>
            </a:pPr>
            <a:r>
              <a:rPr lang="it-IT" sz="2200" b="1">
                <a:solidFill>
                  <a:srgbClr val="FFFFFF"/>
                </a:solidFill>
                <a:latin typeface="Calibri"/>
              </a:rPr>
              <a:t>MODELLO GEOGRAFICO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85A74D42-0FD8-024D-C704-075B1F4F678C}"/>
              </a:ext>
            </a:extLst>
          </p:cNvPr>
          <p:cNvSpPr txBox="1"/>
          <p:nvPr/>
        </p:nvSpPr>
        <p:spPr>
          <a:xfrm rot="16200000">
            <a:off x="5653505" y="-1908433"/>
            <a:ext cx="2108659" cy="12727859"/>
          </a:xfrm>
          <a:prstGeom prst="roundRect">
            <a:avLst>
              <a:gd name="adj" fmla="val 6533"/>
            </a:avLst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36000" tIns="108000" rIns="36000" rtlCol="0" anchor="t">
            <a:noAutofit/>
          </a:bodyPr>
          <a:lstStyle/>
          <a:p>
            <a:pPr algn="ctr" defTabSz="457203">
              <a:defRPr/>
            </a:pPr>
            <a:r>
              <a:rPr lang="it-IT" sz="2200" b="1">
                <a:solidFill>
                  <a:srgbClr val="FFFFFF"/>
                </a:solidFill>
                <a:latin typeface="Calibri"/>
              </a:rPr>
              <a:t>MODELLO MERITOCRATICO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991EC576-2D0E-C245-DE99-F37E878A4988}"/>
              </a:ext>
            </a:extLst>
          </p:cNvPr>
          <p:cNvSpPr txBox="1"/>
          <p:nvPr/>
        </p:nvSpPr>
        <p:spPr>
          <a:xfrm>
            <a:off x="1252459" y="3511706"/>
            <a:ext cx="5482514" cy="1899237"/>
          </a:xfrm>
          <a:prstGeom prst="roundRect">
            <a:avLst>
              <a:gd name="adj" fmla="val 874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144000" tIns="576000" rIns="144000">
            <a:noAutofit/>
          </a:bodyPr>
          <a:lstStyle>
            <a:defPPr>
              <a:defRPr lang="it-IT"/>
            </a:defPPr>
            <a:lvl1pPr algn="ctr" defTabSz="759026">
              <a:spcAft>
                <a:spcPts val="363"/>
              </a:spcAft>
              <a:defRPr>
                <a:solidFill>
                  <a:srgbClr val="0F3250"/>
                </a:solidFill>
              </a:defRPr>
            </a:lvl1pPr>
          </a:lstStyle>
          <a:p>
            <a:pPr defTabSz="836674">
              <a:spcAft>
                <a:spcPts val="400"/>
              </a:spcAft>
            </a:pPr>
            <a:r>
              <a:rPr lang="it-IT" sz="2000">
                <a:latin typeface="Calibri"/>
              </a:rPr>
              <a:t>Assegnazione </a:t>
            </a:r>
            <a:r>
              <a:rPr lang="it-IT" sz="2000" b="1">
                <a:latin typeface="Calibri"/>
              </a:rPr>
              <a:t>lead all’Agenzia con lo </a:t>
            </a:r>
            <a:r>
              <a:rPr lang="it-IT" sz="2000" b="1"/>
              <a:t>score di performance migliore </a:t>
            </a:r>
            <a:r>
              <a:rPr lang="it-IT" sz="2000" i="1"/>
              <a:t>(sulla base di confronti con Benchmark) </a:t>
            </a:r>
            <a:r>
              <a:rPr lang="it-IT" sz="2000" b="1"/>
              <a:t>tra quelle nel raggio definito</a:t>
            </a:r>
            <a:endParaRPr lang="it-IT" sz="2000" i="1">
              <a:latin typeface="Calibri"/>
            </a:endParaRP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F9FB8646-BC8E-064D-9C66-00F2F8A7795E}"/>
              </a:ext>
            </a:extLst>
          </p:cNvPr>
          <p:cNvSpPr txBox="1"/>
          <p:nvPr/>
        </p:nvSpPr>
        <p:spPr>
          <a:xfrm>
            <a:off x="7379684" y="3511707"/>
            <a:ext cx="5482514" cy="1899236"/>
          </a:xfrm>
          <a:prstGeom prst="roundRect">
            <a:avLst>
              <a:gd name="adj" fmla="val 8747"/>
            </a:avLst>
          </a:prstGeom>
          <a:solidFill>
            <a:srgbClr val="EBF3FB"/>
          </a:solidFill>
          <a:ln>
            <a:solidFill>
              <a:schemeClr val="tx1"/>
            </a:solidFill>
          </a:ln>
        </p:spPr>
        <p:txBody>
          <a:bodyPr wrap="square" lIns="144000" tIns="576000" rIns="144000">
            <a:noAutofit/>
          </a:bodyPr>
          <a:lstStyle>
            <a:defPPr>
              <a:defRPr lang="it-IT"/>
            </a:defPPr>
            <a:lvl1pPr algn="ctr" defTabSz="759026">
              <a:spcAft>
                <a:spcPts val="363"/>
              </a:spcAft>
              <a:defRPr>
                <a:solidFill>
                  <a:srgbClr val="0F3250"/>
                </a:solidFill>
              </a:defRPr>
            </a:lvl1pPr>
          </a:lstStyle>
          <a:p>
            <a:pPr defTabSz="836674">
              <a:spcAft>
                <a:spcPts val="400"/>
              </a:spcAft>
              <a:defRPr/>
            </a:pPr>
            <a:r>
              <a:rPr lang="it-IT" sz="2000" b="1">
                <a:latin typeface="Calibri"/>
              </a:rPr>
              <a:t>Valorizzare le performance di Agenzia </a:t>
            </a:r>
            <a:r>
              <a:rPr lang="it-IT" sz="2000">
                <a:latin typeface="Calibri"/>
              </a:rPr>
              <a:t>mantenendo una </a:t>
            </a:r>
            <a:r>
              <a:rPr lang="it-IT" sz="2000" b="1">
                <a:latin typeface="Calibri"/>
              </a:rPr>
              <a:t>componente di equa distribuzione </a:t>
            </a:r>
            <a:r>
              <a:rPr lang="it-IT" sz="2000">
                <a:latin typeface="Calibri"/>
              </a:rPr>
              <a:t>verso la Rete all'interno</a:t>
            </a:r>
            <a:br>
              <a:rPr lang="it-IT" sz="2000">
                <a:latin typeface="Calibri"/>
              </a:rPr>
            </a:br>
            <a:r>
              <a:rPr lang="it-IT" sz="2000">
                <a:latin typeface="Calibri"/>
              </a:rPr>
              <a:t>dell'area geografica definita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3C05AA21-9D02-C69A-8865-1F11DF5D4F95}"/>
              </a:ext>
            </a:extLst>
          </p:cNvPr>
          <p:cNvSpPr txBox="1"/>
          <p:nvPr/>
        </p:nvSpPr>
        <p:spPr>
          <a:xfrm>
            <a:off x="1253305" y="1294200"/>
            <a:ext cx="5482514" cy="1654461"/>
          </a:xfrm>
          <a:prstGeom prst="roundRect">
            <a:avLst>
              <a:gd name="adj" fmla="val 874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lIns="144000" tIns="576000" rIns="144000">
            <a:noAutofit/>
          </a:bodyPr>
          <a:lstStyle/>
          <a:p>
            <a:pPr algn="ctr" defTabSz="836674">
              <a:spcAft>
                <a:spcPts val="400"/>
              </a:spcAft>
              <a:defRPr/>
            </a:pPr>
            <a:r>
              <a:rPr lang="it-IT" sz="2000">
                <a:solidFill>
                  <a:srgbClr val="0F3250"/>
                </a:solidFill>
                <a:latin typeface="Calibri"/>
              </a:rPr>
              <a:t>Assegnazione all'</a:t>
            </a:r>
            <a:r>
              <a:rPr lang="it-IT" sz="2000" b="1">
                <a:solidFill>
                  <a:srgbClr val="0F3250"/>
                </a:solidFill>
                <a:latin typeface="Calibri"/>
              </a:rPr>
              <a:t>Agenzia più vicina dall'indirizzo del lead all’interno di un raggio parametrico</a:t>
            </a:r>
            <a:endParaRPr lang="it-IT" sz="2400" i="1">
              <a:solidFill>
                <a:srgbClr val="0F3250"/>
              </a:solidFill>
              <a:latin typeface="Calibri"/>
            </a:endParaRP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B840FCEC-5D91-E882-D467-356CA8AB3724}"/>
              </a:ext>
            </a:extLst>
          </p:cNvPr>
          <p:cNvSpPr txBox="1"/>
          <p:nvPr/>
        </p:nvSpPr>
        <p:spPr>
          <a:xfrm>
            <a:off x="7379684" y="1294200"/>
            <a:ext cx="5482514" cy="1654461"/>
          </a:xfrm>
          <a:prstGeom prst="roundRect">
            <a:avLst>
              <a:gd name="adj" fmla="val 8747"/>
            </a:avLst>
          </a:prstGeom>
          <a:solidFill>
            <a:srgbClr val="EBF3FB"/>
          </a:solidFill>
          <a:ln>
            <a:solidFill>
              <a:schemeClr val="tx1"/>
            </a:solidFill>
          </a:ln>
        </p:spPr>
        <p:txBody>
          <a:bodyPr wrap="square" lIns="144000" tIns="576000" rIns="144000">
            <a:noAutofit/>
          </a:bodyPr>
          <a:lstStyle>
            <a:defPPr>
              <a:defRPr lang="it-IT"/>
            </a:defPPr>
            <a:lvl1pPr algn="ctr" defTabSz="759026">
              <a:spcAft>
                <a:spcPts val="363"/>
              </a:spcAft>
              <a:defRPr>
                <a:solidFill>
                  <a:srgbClr val="0F3250"/>
                </a:solidFill>
              </a:defRPr>
            </a:lvl1pPr>
          </a:lstStyle>
          <a:p>
            <a:pPr defTabSz="836674">
              <a:spcAft>
                <a:spcPts val="400"/>
              </a:spcAft>
            </a:pPr>
            <a:r>
              <a:rPr lang="it-IT" sz="2000" b="1"/>
              <a:t>Applicare esclusivamente il concetto di vicinanza </a:t>
            </a:r>
            <a:r>
              <a:rPr lang="it-IT" sz="2000"/>
              <a:t>può comportare </a:t>
            </a:r>
            <a:r>
              <a:rPr lang="it-IT" sz="2000" b="1"/>
              <a:t>rischi di concentra-zione dei lead </a:t>
            </a:r>
            <a:r>
              <a:rPr lang="it-IT" sz="2000"/>
              <a:t>specie in Aree Metropolitane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D7F4B9A5-130E-95F9-40E3-E35CBBE544D2}"/>
              </a:ext>
            </a:extLst>
          </p:cNvPr>
          <p:cNvSpPr/>
          <p:nvPr/>
        </p:nvSpPr>
        <p:spPr>
          <a:xfrm>
            <a:off x="2010470" y="1408741"/>
            <a:ext cx="4596544" cy="46311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0" rIns="0" bIns="0" rtlCol="0" anchor="ctr"/>
          <a:lstStyle/>
          <a:p>
            <a:pPr algn="ctr"/>
            <a:r>
              <a:rPr lang="it-IT" b="1">
                <a:solidFill>
                  <a:schemeClr val="tx1"/>
                </a:solidFill>
                <a:highlight>
                  <a:srgbClr val="FFF2CC"/>
                </a:highlight>
              </a:rPr>
              <a:t>AGENZIA PIÙ VICINA AL SOGGETTO</a:t>
            </a:r>
            <a:endParaRPr lang="it-IT" i="1">
              <a:solidFill>
                <a:schemeClr val="tx1"/>
              </a:solidFill>
              <a:highlight>
                <a:srgbClr val="FFF2CC"/>
              </a:highlight>
            </a:endParaRP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65C4E792-33F6-CF6E-87F6-FC4B92126B63}"/>
              </a:ext>
            </a:extLst>
          </p:cNvPr>
          <p:cNvSpPr/>
          <p:nvPr/>
        </p:nvSpPr>
        <p:spPr>
          <a:xfrm>
            <a:off x="1404527" y="1355079"/>
            <a:ext cx="664907" cy="59471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0" rIns="36000" bIns="0" rtlCol="0" anchor="ctr"/>
          <a:lstStyle/>
          <a:p>
            <a:pPr algn="l"/>
            <a:endParaRPr lang="it-IT" sz="1400" b="1">
              <a:solidFill>
                <a:schemeClr val="tx1"/>
              </a:solidFill>
            </a:endParaRPr>
          </a:p>
        </p:txBody>
      </p:sp>
      <p:pic>
        <p:nvPicPr>
          <p:cNvPr id="44" name="Immagine 43" descr="Immagine che contiene giallo, clipart, cerchio&#10;&#10;Descrizione generata automaticamente">
            <a:extLst>
              <a:ext uri="{FF2B5EF4-FFF2-40B4-BE49-F238E27FC236}">
                <a16:creationId xmlns:a16="http://schemas.microsoft.com/office/drawing/2014/main" id="{F7354CDD-80BD-0F0E-3423-F2E0A1C7A6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703" y="1427663"/>
            <a:ext cx="502603" cy="449543"/>
          </a:xfrm>
          <a:prstGeom prst="rect">
            <a:avLst/>
          </a:prstGeom>
        </p:spPr>
      </p:pic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D20A1685-13AA-C617-4C8C-0E6ADB45310A}"/>
              </a:ext>
            </a:extLst>
          </p:cNvPr>
          <p:cNvSpPr/>
          <p:nvPr/>
        </p:nvSpPr>
        <p:spPr>
          <a:xfrm>
            <a:off x="1905153" y="3614106"/>
            <a:ext cx="4701861" cy="509841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0" rIns="0" bIns="0" rtlCol="0" anchor="ctr"/>
          <a:lstStyle/>
          <a:p>
            <a:pPr algn="ctr"/>
            <a:r>
              <a:rPr lang="it-IT" b="1">
                <a:solidFill>
                  <a:schemeClr val="tx1"/>
                </a:solidFill>
                <a:highlight>
                  <a:srgbClr val="FFF2CC"/>
                </a:highlight>
              </a:rPr>
              <a:t>AGENZIA PIÙ VICINA E PERFORMANTE</a:t>
            </a:r>
          </a:p>
        </p:txBody>
      </p:sp>
      <p:sp>
        <p:nvSpPr>
          <p:cNvPr id="54" name="Ovale 53">
            <a:extLst>
              <a:ext uri="{FF2B5EF4-FFF2-40B4-BE49-F238E27FC236}">
                <a16:creationId xmlns:a16="http://schemas.microsoft.com/office/drawing/2014/main" id="{57EEF214-5F45-38D6-E160-935E847B750D}"/>
              </a:ext>
            </a:extLst>
          </p:cNvPr>
          <p:cNvSpPr/>
          <p:nvPr/>
        </p:nvSpPr>
        <p:spPr>
          <a:xfrm>
            <a:off x="1321399" y="3557345"/>
            <a:ext cx="664907" cy="59471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0" rIns="36000" bIns="0" rtlCol="0" anchor="ctr"/>
          <a:lstStyle/>
          <a:p>
            <a:pPr algn="l"/>
            <a:endParaRPr lang="it-IT" sz="1400" b="1">
              <a:solidFill>
                <a:schemeClr val="tx1"/>
              </a:solidFill>
            </a:endParaRPr>
          </a:p>
        </p:txBody>
      </p:sp>
      <p:pic>
        <p:nvPicPr>
          <p:cNvPr id="56" name="Immagine 55" descr="Immagine che contiene giallo, clipart, cerchio&#10;&#10;Descrizione generata automaticamente">
            <a:extLst>
              <a:ext uri="{FF2B5EF4-FFF2-40B4-BE49-F238E27FC236}">
                <a16:creationId xmlns:a16="http://schemas.microsoft.com/office/drawing/2014/main" id="{52C740E9-828E-A6B5-10A8-63498B86B7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550" y="3618149"/>
            <a:ext cx="502603" cy="449543"/>
          </a:xfrm>
          <a:prstGeom prst="rect">
            <a:avLst/>
          </a:prstGeom>
        </p:spPr>
      </p:pic>
      <p:grpSp>
        <p:nvGrpSpPr>
          <p:cNvPr id="86" name="Gruppo 85">
            <a:extLst>
              <a:ext uri="{FF2B5EF4-FFF2-40B4-BE49-F238E27FC236}">
                <a16:creationId xmlns:a16="http://schemas.microsoft.com/office/drawing/2014/main" id="{56640ECB-F656-70F1-E6CB-41DE2005D2A7}"/>
              </a:ext>
            </a:extLst>
          </p:cNvPr>
          <p:cNvGrpSpPr/>
          <p:nvPr/>
        </p:nvGrpSpPr>
        <p:grpSpPr>
          <a:xfrm>
            <a:off x="7467636" y="1355079"/>
            <a:ext cx="5005058" cy="594713"/>
            <a:chOff x="1501401" y="2973129"/>
            <a:chExt cx="5005058" cy="664907"/>
          </a:xfrm>
        </p:grpSpPr>
        <p:sp>
          <p:nvSpPr>
            <p:cNvPr id="87" name="Rettangolo con angoli arrotondati 86">
              <a:extLst>
                <a:ext uri="{FF2B5EF4-FFF2-40B4-BE49-F238E27FC236}">
                  <a16:creationId xmlns:a16="http://schemas.microsoft.com/office/drawing/2014/main" id="{941419CB-D7A9-B1F7-FEE7-F5B9CF038524}"/>
                </a:ext>
              </a:extLst>
            </p:cNvPr>
            <p:cNvSpPr/>
            <p:nvPr/>
          </p:nvSpPr>
          <p:spPr>
            <a:xfrm>
              <a:off x="1909915" y="3033125"/>
              <a:ext cx="4596544" cy="517781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0" rIns="0" bIns="0" rtlCol="0" anchor="ctr"/>
            <a:lstStyle/>
            <a:p>
              <a:pPr algn="ctr"/>
              <a:r>
                <a:rPr lang="it-IT" b="1">
                  <a:solidFill>
                    <a:schemeClr val="tx1"/>
                  </a:solidFill>
                  <a:highlight>
                    <a:srgbClr val="FFF2CC"/>
                  </a:highlight>
                </a:rPr>
                <a:t>EQUITÀ IN AREA GEOGRAFICA DEFINITA</a:t>
              </a:r>
              <a:endParaRPr lang="it-IT" i="1">
                <a:solidFill>
                  <a:schemeClr val="tx1"/>
                </a:solidFill>
                <a:highlight>
                  <a:srgbClr val="FFF2CC"/>
                </a:highlight>
              </a:endParaRPr>
            </a:p>
          </p:txBody>
        </p:sp>
        <p:sp>
          <p:nvSpPr>
            <p:cNvPr id="88" name="Ovale 87">
              <a:extLst>
                <a:ext uri="{FF2B5EF4-FFF2-40B4-BE49-F238E27FC236}">
                  <a16:creationId xmlns:a16="http://schemas.microsoft.com/office/drawing/2014/main" id="{557EB0D6-87C8-D270-992B-44F8561D4AD9}"/>
                </a:ext>
              </a:extLst>
            </p:cNvPr>
            <p:cNvSpPr/>
            <p:nvPr/>
          </p:nvSpPr>
          <p:spPr>
            <a:xfrm>
              <a:off x="1501401" y="2973129"/>
              <a:ext cx="664907" cy="66490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0" rIns="36000" bIns="0" rtlCol="0" anchor="ctr"/>
            <a:lstStyle/>
            <a:p>
              <a:pPr algn="l"/>
              <a:endParaRPr lang="it-IT" sz="1400" b="1">
                <a:solidFill>
                  <a:schemeClr val="tx1"/>
                </a:solidFill>
              </a:endParaRPr>
            </a:p>
          </p:txBody>
        </p:sp>
        <p:pic>
          <p:nvPicPr>
            <p:cNvPr id="89" name="Immagine 88" descr="Immagine che contiene giallo, clipart, cerchio&#10;&#10;Descrizione generata automaticamente">
              <a:extLst>
                <a:ext uri="{FF2B5EF4-FFF2-40B4-BE49-F238E27FC236}">
                  <a16:creationId xmlns:a16="http://schemas.microsoft.com/office/drawing/2014/main" id="{F346B32E-AF97-EE0E-95F9-52C18EC15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2552" y="3041110"/>
              <a:ext cx="502603" cy="502603"/>
            </a:xfrm>
            <a:prstGeom prst="rect">
              <a:avLst/>
            </a:prstGeom>
          </p:spPr>
        </p:pic>
      </p:grpSp>
      <p:grpSp>
        <p:nvGrpSpPr>
          <p:cNvPr id="90" name="Gruppo 89">
            <a:extLst>
              <a:ext uri="{FF2B5EF4-FFF2-40B4-BE49-F238E27FC236}">
                <a16:creationId xmlns:a16="http://schemas.microsoft.com/office/drawing/2014/main" id="{97626EA8-C081-AAB8-9BD6-6C4A33C40FB7}"/>
              </a:ext>
            </a:extLst>
          </p:cNvPr>
          <p:cNvGrpSpPr/>
          <p:nvPr/>
        </p:nvGrpSpPr>
        <p:grpSpPr>
          <a:xfrm>
            <a:off x="7467636" y="3557345"/>
            <a:ext cx="5005058" cy="594713"/>
            <a:chOff x="1501401" y="2973129"/>
            <a:chExt cx="5005058" cy="664907"/>
          </a:xfrm>
        </p:grpSpPr>
        <p:sp>
          <p:nvSpPr>
            <p:cNvPr id="91" name="Rettangolo con angoli arrotondati 90">
              <a:extLst>
                <a:ext uri="{FF2B5EF4-FFF2-40B4-BE49-F238E27FC236}">
                  <a16:creationId xmlns:a16="http://schemas.microsoft.com/office/drawing/2014/main" id="{D7D87CE6-819A-0DCD-4DC4-3BC3601508E9}"/>
                </a:ext>
              </a:extLst>
            </p:cNvPr>
            <p:cNvSpPr/>
            <p:nvPr/>
          </p:nvSpPr>
          <p:spPr>
            <a:xfrm>
              <a:off x="1909915" y="3033125"/>
              <a:ext cx="4596544" cy="517781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0" rIns="0" bIns="0" rtlCol="0" anchor="ctr"/>
            <a:lstStyle/>
            <a:p>
              <a:pPr algn="ctr"/>
              <a:r>
                <a:rPr lang="it-IT" b="1">
                  <a:solidFill>
                    <a:schemeClr val="tx1"/>
                  </a:solidFill>
                  <a:highlight>
                    <a:srgbClr val="FFF2CC"/>
                  </a:highlight>
                </a:rPr>
                <a:t>BILANCIAMENTO EQUITÀ E PERFORMANCE</a:t>
              </a:r>
              <a:endParaRPr lang="it-IT" i="1">
                <a:solidFill>
                  <a:schemeClr val="tx1"/>
                </a:solidFill>
                <a:highlight>
                  <a:srgbClr val="FFF2CC"/>
                </a:highlight>
              </a:endParaRPr>
            </a:p>
          </p:txBody>
        </p:sp>
        <p:sp>
          <p:nvSpPr>
            <p:cNvPr id="92" name="Ovale 91">
              <a:extLst>
                <a:ext uri="{FF2B5EF4-FFF2-40B4-BE49-F238E27FC236}">
                  <a16:creationId xmlns:a16="http://schemas.microsoft.com/office/drawing/2014/main" id="{D28DC362-D1E5-E809-8BB2-0AAD4473720D}"/>
                </a:ext>
              </a:extLst>
            </p:cNvPr>
            <p:cNvSpPr/>
            <p:nvPr/>
          </p:nvSpPr>
          <p:spPr>
            <a:xfrm>
              <a:off x="1501401" y="2973129"/>
              <a:ext cx="664907" cy="66490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0" rIns="36000" bIns="0" rtlCol="0" anchor="ctr"/>
            <a:lstStyle/>
            <a:p>
              <a:pPr algn="l"/>
              <a:endParaRPr lang="it-IT" sz="1400" b="1">
                <a:solidFill>
                  <a:schemeClr val="tx1"/>
                </a:solidFill>
              </a:endParaRPr>
            </a:p>
          </p:txBody>
        </p:sp>
        <p:pic>
          <p:nvPicPr>
            <p:cNvPr id="93" name="Immagine 92" descr="Immagine che contiene giallo, clipart, cerchio&#10;&#10;Descrizione generata automaticamente">
              <a:extLst>
                <a:ext uri="{FF2B5EF4-FFF2-40B4-BE49-F238E27FC236}">
                  <a16:creationId xmlns:a16="http://schemas.microsoft.com/office/drawing/2014/main" id="{6C30100A-CFE5-98E6-9565-4E3B4EB51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2552" y="3041110"/>
              <a:ext cx="502603" cy="502603"/>
            </a:xfrm>
            <a:prstGeom prst="rect">
              <a:avLst/>
            </a:prstGeom>
          </p:spPr>
        </p:pic>
      </p:grpSp>
      <p:sp>
        <p:nvSpPr>
          <p:cNvPr id="4" name="Figura a mano libera 15">
            <a:extLst>
              <a:ext uri="{FF2B5EF4-FFF2-40B4-BE49-F238E27FC236}">
                <a16:creationId xmlns:a16="http://schemas.microsoft.com/office/drawing/2014/main" id="{15DC19EB-C677-9954-07B9-98195B73653F}"/>
              </a:ext>
            </a:extLst>
          </p:cNvPr>
          <p:cNvSpPr/>
          <p:nvPr/>
        </p:nvSpPr>
        <p:spPr bwMode="auto">
          <a:xfrm rot="5400000">
            <a:off x="6597316" y="4352505"/>
            <a:ext cx="920452" cy="229780"/>
          </a:xfrm>
          <a:custGeom>
            <a:avLst/>
            <a:gdLst>
              <a:gd name="connsiteX0" fmla="*/ 0 w 1086523"/>
              <a:gd name="connsiteY0" fmla="*/ 548640 h 548640"/>
              <a:gd name="connsiteX1" fmla="*/ 548640 w 1086523"/>
              <a:gd name="connsiteY1" fmla="*/ 0 h 548640"/>
              <a:gd name="connsiteX2" fmla="*/ 1086523 w 1086523"/>
              <a:gd name="connsiteY2" fmla="*/ 537883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6523" h="548640">
                <a:moveTo>
                  <a:pt x="0" y="548640"/>
                </a:moveTo>
                <a:lnTo>
                  <a:pt x="548640" y="0"/>
                </a:lnTo>
                <a:lnTo>
                  <a:pt x="1086523" y="537883"/>
                </a:lnTo>
              </a:path>
            </a:pathLst>
          </a:custGeom>
          <a:noFill/>
          <a:ln w="76200" cap="rnd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49847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633062" eaLnBrk="0" hangingPunct="0"/>
            <a:endParaRPr lang="it-IT" sz="7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igura a mano libera 15">
            <a:extLst>
              <a:ext uri="{FF2B5EF4-FFF2-40B4-BE49-F238E27FC236}">
                <a16:creationId xmlns:a16="http://schemas.microsoft.com/office/drawing/2014/main" id="{37B7E7CF-3786-34C4-3B6F-A718E446B05B}"/>
              </a:ext>
            </a:extLst>
          </p:cNvPr>
          <p:cNvSpPr/>
          <p:nvPr/>
        </p:nvSpPr>
        <p:spPr bwMode="auto">
          <a:xfrm rot="5400000">
            <a:off x="6597316" y="2114241"/>
            <a:ext cx="920452" cy="229780"/>
          </a:xfrm>
          <a:custGeom>
            <a:avLst/>
            <a:gdLst>
              <a:gd name="connsiteX0" fmla="*/ 0 w 1086523"/>
              <a:gd name="connsiteY0" fmla="*/ 548640 h 548640"/>
              <a:gd name="connsiteX1" fmla="*/ 548640 w 1086523"/>
              <a:gd name="connsiteY1" fmla="*/ 0 h 548640"/>
              <a:gd name="connsiteX2" fmla="*/ 1086523 w 1086523"/>
              <a:gd name="connsiteY2" fmla="*/ 537883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6523" h="548640">
                <a:moveTo>
                  <a:pt x="0" y="548640"/>
                </a:moveTo>
                <a:lnTo>
                  <a:pt x="548640" y="0"/>
                </a:lnTo>
                <a:lnTo>
                  <a:pt x="1086523" y="537883"/>
                </a:lnTo>
              </a:path>
            </a:pathLst>
          </a:custGeom>
          <a:noFill/>
          <a:ln w="76200" cap="rnd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49847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defTabSz="633062" eaLnBrk="0" hangingPunct="0"/>
            <a:endParaRPr lang="it-IT" sz="76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E5B95F8-40F8-9176-2D0C-B020C0330D89}"/>
              </a:ext>
            </a:extLst>
          </p:cNvPr>
          <p:cNvSpPr txBox="1"/>
          <p:nvPr/>
        </p:nvSpPr>
        <p:spPr>
          <a:xfrm>
            <a:off x="2327565" y="682896"/>
            <a:ext cx="30060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u="sng"/>
              <a:t>MODELLO INIZIALE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7A4A415-C1F7-F064-936D-A03631ADFC93}"/>
              </a:ext>
            </a:extLst>
          </p:cNvPr>
          <p:cNvSpPr txBox="1"/>
          <p:nvPr/>
        </p:nvSpPr>
        <p:spPr>
          <a:xfrm>
            <a:off x="8706359" y="682896"/>
            <a:ext cx="2936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u="sng"/>
              <a:t>FEEDBACK AGENTI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FE5F611-E822-83A5-67C6-48C8ADBE6C35}"/>
              </a:ext>
            </a:extLst>
          </p:cNvPr>
          <p:cNvSpPr txBox="1"/>
          <p:nvPr/>
        </p:nvSpPr>
        <p:spPr>
          <a:xfrm>
            <a:off x="4642361" y="5712471"/>
            <a:ext cx="360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u="sng" dirty="0"/>
              <a:t>Nuovo modello volto ad assicurare: 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5560E5A-C9E2-8382-5B9F-E1973109E5CE}"/>
              </a:ext>
            </a:extLst>
          </p:cNvPr>
          <p:cNvSpPr txBox="1"/>
          <p:nvPr/>
        </p:nvSpPr>
        <p:spPr>
          <a:xfrm>
            <a:off x="563743" y="6288194"/>
            <a:ext cx="6224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0" lang="it-IT" sz="1400" b="1" i="1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Massima equità di distribuzione dei lead nel perimetro definito</a:t>
            </a:r>
            <a:endParaRPr lang="it-IT" sz="1400" noProof="0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ABB713E-2BE1-A04A-3CE0-D1CCC32F8429}"/>
              </a:ext>
            </a:extLst>
          </p:cNvPr>
          <p:cNvSpPr txBox="1"/>
          <p:nvPr/>
        </p:nvSpPr>
        <p:spPr>
          <a:xfrm>
            <a:off x="563630" y="6548798"/>
            <a:ext cx="622458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it-IT" sz="1400" b="1" i="1" noProof="0" dirty="0">
                <a:latin typeface="Calibri"/>
              </a:rPr>
              <a:t>Servizio al cliente in termini di distanza minima dall’indirizzo inserito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810683A-33CB-A0D4-460D-A3F9614A74B0}"/>
              </a:ext>
            </a:extLst>
          </p:cNvPr>
          <p:cNvSpPr txBox="1"/>
          <p:nvPr/>
        </p:nvSpPr>
        <p:spPr>
          <a:xfrm>
            <a:off x="2496627" y="5966318"/>
            <a:ext cx="2358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i="1" dirty="0"/>
              <a:t>MOTORE GEOGRAFICO</a:t>
            </a:r>
          </a:p>
        </p:txBody>
      </p: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1B7734C7-CA81-6A7A-E499-D945C712E370}"/>
              </a:ext>
            </a:extLst>
          </p:cNvPr>
          <p:cNvCxnSpPr>
            <a:cxnSpLocks/>
          </p:cNvCxnSpPr>
          <p:nvPr/>
        </p:nvCxnSpPr>
        <p:spPr>
          <a:xfrm>
            <a:off x="792230" y="6288088"/>
            <a:ext cx="576738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D96B2CE-34FD-E616-BCA2-0BC70230AF20}"/>
              </a:ext>
            </a:extLst>
          </p:cNvPr>
          <p:cNvSpPr txBox="1"/>
          <p:nvPr/>
        </p:nvSpPr>
        <p:spPr>
          <a:xfrm>
            <a:off x="6785448" y="6296041"/>
            <a:ext cx="622458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it-IT" sz="1400" b="1" i="1" noProof="0" dirty="0">
                <a:latin typeface="Calibri"/>
              </a:rPr>
              <a:t>Introduzione della componente di performance agenzia</a:t>
            </a:r>
            <a:endParaRPr lang="it-IT" sz="1400" noProof="0" dirty="0"/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952CC303-1AA5-05A6-5254-9CC2D808526C}"/>
              </a:ext>
            </a:extLst>
          </p:cNvPr>
          <p:cNvCxnSpPr>
            <a:cxnSpLocks/>
          </p:cNvCxnSpPr>
          <p:nvPr/>
        </p:nvCxnSpPr>
        <p:spPr>
          <a:xfrm>
            <a:off x="7014153" y="6288194"/>
            <a:ext cx="57671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16957DF-4382-9806-C02F-7FA39B49AF56}"/>
              </a:ext>
            </a:extLst>
          </p:cNvPr>
          <p:cNvSpPr txBox="1"/>
          <p:nvPr/>
        </p:nvSpPr>
        <p:spPr>
          <a:xfrm>
            <a:off x="8317983" y="5962739"/>
            <a:ext cx="3159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i="1" dirty="0"/>
              <a:t>MOTORE GEO-MERITOCRATICO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25D7AAE1-F20A-49C2-7CFD-367C12BC73B6}"/>
              </a:ext>
            </a:extLst>
          </p:cNvPr>
          <p:cNvSpPr txBox="1"/>
          <p:nvPr/>
        </p:nvSpPr>
        <p:spPr>
          <a:xfrm>
            <a:off x="6785448" y="6548798"/>
            <a:ext cx="622458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it-IT" sz="1400" b="1" i="1" noProof="0" dirty="0">
                <a:latin typeface="Calibri"/>
              </a:rPr>
              <a:t>Distribuzione volume minimi lead anche alle agenzie con score inferiore</a:t>
            </a:r>
            <a:endParaRPr lang="it-IT" sz="1400" noProof="0" dirty="0"/>
          </a:p>
        </p:txBody>
      </p:sp>
    </p:spTree>
    <p:extLst>
      <p:ext uri="{BB962C8B-B14F-4D97-AF65-F5344CB8AC3E}">
        <p14:creationId xmlns:p14="http://schemas.microsoft.com/office/powerpoint/2010/main" val="1351549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A39B4-A915-736B-1E3A-09F1F7949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E7CB09A-D93A-DEF7-D02F-2DC93CB12BA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8901" y="2432"/>
          <a:ext cx="2331" cy="2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4" name="Diapositiva think-cell" r:id="rId5" imgW="435" imgH="435" progId="TCLayout.ActiveDocument.1">
                  <p:embed/>
                </p:oleObj>
              </mc:Choice>
              <mc:Fallback>
                <p:oleObj name="Diapositiva think-cell" r:id="rId5" imgW="435" imgH="43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7CB09A-D93A-DEF7-D02F-2DC93CB12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01" y="2432"/>
                        <a:ext cx="2331" cy="2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olo 9">
            <a:extLst>
              <a:ext uri="{FF2B5EF4-FFF2-40B4-BE49-F238E27FC236}">
                <a16:creationId xmlns:a16="http://schemas.microsoft.com/office/drawing/2014/main" id="{5BA423C1-2FF1-A859-3095-C01054F53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1" y="87502"/>
            <a:ext cx="12802340" cy="520040"/>
          </a:xfrm>
        </p:spPr>
        <p:txBody>
          <a:bodyPr vert="horz" anchor="ctr">
            <a:noAutofit/>
          </a:bodyPr>
          <a:lstStyle/>
          <a:p>
            <a:r>
              <a:rPr lang="it-IT" sz="2800"/>
              <a:t>ASSEGNAZIONE LEAD DIGITALI | Pianificazione rilasci</a:t>
            </a: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49BA1D19-454B-C1F5-9150-D08705CDCC94}"/>
              </a:ext>
            </a:extLst>
          </p:cNvPr>
          <p:cNvSpPr/>
          <p:nvPr/>
        </p:nvSpPr>
        <p:spPr>
          <a:xfrm>
            <a:off x="479732" y="1027529"/>
            <a:ext cx="12480310" cy="5545425"/>
          </a:xfrm>
          <a:prstGeom prst="rect">
            <a:avLst/>
          </a:prstGeom>
          <a:solidFill>
            <a:srgbClr val="F0F6FC"/>
          </a:solidFill>
          <a:ln w="9525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reccia a destra 18">
            <a:extLst>
              <a:ext uri="{FF2B5EF4-FFF2-40B4-BE49-F238E27FC236}">
                <a16:creationId xmlns:a16="http://schemas.microsoft.com/office/drawing/2014/main" id="{ACA485A5-5B98-999D-1EAE-42461FD621FE}"/>
              </a:ext>
            </a:extLst>
          </p:cNvPr>
          <p:cNvSpPr/>
          <p:nvPr/>
        </p:nvSpPr>
        <p:spPr>
          <a:xfrm>
            <a:off x="667480" y="1472039"/>
            <a:ext cx="12139741" cy="324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DC441B7F-DAEC-188A-A18A-1D065B135016}"/>
              </a:ext>
            </a:extLst>
          </p:cNvPr>
          <p:cNvSpPr/>
          <p:nvPr/>
        </p:nvSpPr>
        <p:spPr>
          <a:xfrm>
            <a:off x="1741066" y="2782849"/>
            <a:ext cx="2699601" cy="3579108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540000" rtlCol="0" anchor="ctr"/>
          <a:lstStyle/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Aggancio Salesforce a motore di assegnazione PEGA</a:t>
            </a:r>
          </a:p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riangolo isoscele 29">
            <a:extLst>
              <a:ext uri="{FF2B5EF4-FFF2-40B4-BE49-F238E27FC236}">
                <a16:creationId xmlns:a16="http://schemas.microsoft.com/office/drawing/2014/main" id="{42358A6C-9418-7B7D-9A53-CE4820B59A06}"/>
              </a:ext>
            </a:extLst>
          </p:cNvPr>
          <p:cNvSpPr/>
          <p:nvPr/>
        </p:nvSpPr>
        <p:spPr>
          <a:xfrm rot="10800000">
            <a:off x="2913450" y="1482199"/>
            <a:ext cx="354832" cy="324616"/>
          </a:xfrm>
          <a:prstGeom prst="triangl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4" name="Gruppo 93">
            <a:extLst>
              <a:ext uri="{FF2B5EF4-FFF2-40B4-BE49-F238E27FC236}">
                <a16:creationId xmlns:a16="http://schemas.microsoft.com/office/drawing/2014/main" id="{504FF01F-999B-2F06-8EDF-B842D8CEE107}"/>
              </a:ext>
            </a:extLst>
          </p:cNvPr>
          <p:cNvGrpSpPr/>
          <p:nvPr/>
        </p:nvGrpSpPr>
        <p:grpSpPr>
          <a:xfrm>
            <a:off x="2707498" y="2473461"/>
            <a:ext cx="766737" cy="766737"/>
            <a:chOff x="3873556" y="2367841"/>
            <a:chExt cx="766737" cy="766737"/>
          </a:xfrm>
        </p:grpSpPr>
        <p:sp>
          <p:nvSpPr>
            <p:cNvPr id="40" name="Ovale 39">
              <a:extLst>
                <a:ext uri="{FF2B5EF4-FFF2-40B4-BE49-F238E27FC236}">
                  <a16:creationId xmlns:a16="http://schemas.microsoft.com/office/drawing/2014/main" id="{6C9CA0A8-2BC9-12F6-8A16-A9507F52968A}"/>
                </a:ext>
              </a:extLst>
            </p:cNvPr>
            <p:cNvSpPr/>
            <p:nvPr/>
          </p:nvSpPr>
          <p:spPr>
            <a:xfrm>
              <a:off x="3873556" y="2367841"/>
              <a:ext cx="766737" cy="7667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46" name="Immagine 45" descr="Immagine che contiene Elementi grafici, Carattere, logo, simbolo&#10;&#10;Il contenuto generato dall'IA potrebbe non essere corretto.">
              <a:extLst>
                <a:ext uri="{FF2B5EF4-FFF2-40B4-BE49-F238E27FC236}">
                  <a16:creationId xmlns:a16="http://schemas.microsoft.com/office/drawing/2014/main" id="{4B55BD23-4A8F-A317-A92E-90D137614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0241" y="2421167"/>
              <a:ext cx="660084" cy="660084"/>
            </a:xfrm>
            <a:prstGeom prst="rect">
              <a:avLst/>
            </a:prstGeom>
          </p:spPr>
        </p:pic>
      </p:grpSp>
      <p:sp>
        <p:nvSpPr>
          <p:cNvPr id="54" name="TextBox 123">
            <a:extLst>
              <a:ext uri="{FF2B5EF4-FFF2-40B4-BE49-F238E27FC236}">
                <a16:creationId xmlns:a16="http://schemas.microsoft.com/office/drawing/2014/main" id="{89F95423-690D-F978-1B37-CA27B7E4E48B}"/>
              </a:ext>
            </a:extLst>
          </p:cNvPr>
          <p:cNvSpPr txBox="1"/>
          <p:nvPr/>
        </p:nvSpPr>
        <p:spPr>
          <a:xfrm>
            <a:off x="2360750" y="1883503"/>
            <a:ext cx="1460233" cy="36987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3426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16/03</a:t>
            </a: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DC99D549-4D4D-4AB6-AED3-C300D2B457F2}"/>
              </a:ext>
            </a:extLst>
          </p:cNvPr>
          <p:cNvSpPr/>
          <p:nvPr/>
        </p:nvSpPr>
        <p:spPr>
          <a:xfrm>
            <a:off x="4865846" y="2782849"/>
            <a:ext cx="7698910" cy="3579108"/>
          </a:xfrm>
          <a:prstGeom prst="rect">
            <a:avLst/>
          </a:prstGeom>
          <a:solidFill>
            <a:srgbClr val="319BE4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684000" rtlCol="0" anchor="ctr"/>
          <a:lstStyle/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RILASCIO DEL NUOVO MODELLO</a:t>
            </a:r>
          </a:p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riangolo isoscele 55">
            <a:extLst>
              <a:ext uri="{FF2B5EF4-FFF2-40B4-BE49-F238E27FC236}">
                <a16:creationId xmlns:a16="http://schemas.microsoft.com/office/drawing/2014/main" id="{7976778D-824D-694E-69BA-EA3534A47B98}"/>
              </a:ext>
            </a:extLst>
          </p:cNvPr>
          <p:cNvSpPr/>
          <p:nvPr/>
        </p:nvSpPr>
        <p:spPr>
          <a:xfrm rot="10800000">
            <a:off x="5430433" y="1482199"/>
            <a:ext cx="354832" cy="324616"/>
          </a:xfrm>
          <a:prstGeom prst="triangl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TextBox 123">
            <a:extLst>
              <a:ext uri="{FF2B5EF4-FFF2-40B4-BE49-F238E27FC236}">
                <a16:creationId xmlns:a16="http://schemas.microsoft.com/office/drawing/2014/main" id="{502AB855-88EB-A375-0F98-E1464A3C32B2}"/>
              </a:ext>
            </a:extLst>
          </p:cNvPr>
          <p:cNvSpPr txBox="1"/>
          <p:nvPr/>
        </p:nvSpPr>
        <p:spPr>
          <a:xfrm>
            <a:off x="4877733" y="1883503"/>
            <a:ext cx="1460233" cy="36987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3426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highlight>
                  <a:srgbClr val="FFFFCC"/>
                </a:highlight>
                <a:uLnTx/>
                <a:uFillTx/>
                <a:latin typeface="Calibri"/>
                <a:ea typeface="+mn-ea"/>
                <a:cs typeface="+mn-cs"/>
              </a:rPr>
              <a:t>Q2 '26</a:t>
            </a:r>
          </a:p>
        </p:txBody>
      </p:sp>
      <p:grpSp>
        <p:nvGrpSpPr>
          <p:cNvPr id="92" name="Gruppo 91">
            <a:extLst>
              <a:ext uri="{FF2B5EF4-FFF2-40B4-BE49-F238E27FC236}">
                <a16:creationId xmlns:a16="http://schemas.microsoft.com/office/drawing/2014/main" id="{EBA1B964-FE03-DDC9-EBF5-D40B28626588}"/>
              </a:ext>
            </a:extLst>
          </p:cNvPr>
          <p:cNvGrpSpPr/>
          <p:nvPr/>
        </p:nvGrpSpPr>
        <p:grpSpPr>
          <a:xfrm>
            <a:off x="5224481" y="2473461"/>
            <a:ext cx="766737" cy="766737"/>
            <a:chOff x="5653939" y="2367841"/>
            <a:chExt cx="766737" cy="766737"/>
          </a:xfrm>
        </p:grpSpPr>
        <p:sp>
          <p:nvSpPr>
            <p:cNvPr id="57" name="Ovale 56">
              <a:extLst>
                <a:ext uri="{FF2B5EF4-FFF2-40B4-BE49-F238E27FC236}">
                  <a16:creationId xmlns:a16="http://schemas.microsoft.com/office/drawing/2014/main" id="{1ADE6FF3-AB79-D966-1613-EE17BBBEF9B0}"/>
                </a:ext>
              </a:extLst>
            </p:cNvPr>
            <p:cNvSpPr/>
            <p:nvPr/>
          </p:nvSpPr>
          <p:spPr>
            <a:xfrm>
              <a:off x="5653939" y="2367841"/>
              <a:ext cx="766737" cy="7667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68" name="Immagine 67" descr="Immagine che contiene clipart, Elementi grafici, Cartoni animati, cartone animato&#10;&#10;Il contenuto generato dall'IA potrebbe non essere corretto.">
              <a:extLst>
                <a:ext uri="{FF2B5EF4-FFF2-40B4-BE49-F238E27FC236}">
                  <a16:creationId xmlns:a16="http://schemas.microsoft.com/office/drawing/2014/main" id="{40308379-318A-FAB8-2BF1-C6D7B898A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4901" y="2499409"/>
              <a:ext cx="504812" cy="503600"/>
            </a:xfrm>
            <a:prstGeom prst="rect">
              <a:avLst/>
            </a:prstGeom>
          </p:spPr>
        </p:pic>
      </p:grpSp>
      <p:sp>
        <p:nvSpPr>
          <p:cNvPr id="77" name="TextBox 123">
            <a:extLst>
              <a:ext uri="{FF2B5EF4-FFF2-40B4-BE49-F238E27FC236}">
                <a16:creationId xmlns:a16="http://schemas.microsoft.com/office/drawing/2014/main" id="{46FBB469-D329-CB95-0112-C0D2DAA72F40}"/>
              </a:ext>
            </a:extLst>
          </p:cNvPr>
          <p:cNvSpPr txBox="1"/>
          <p:nvPr/>
        </p:nvSpPr>
        <p:spPr>
          <a:xfrm>
            <a:off x="10757536" y="1883564"/>
            <a:ext cx="1272524" cy="3697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3426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highlight>
                  <a:srgbClr val="FFFFCC"/>
                </a:highlight>
                <a:uLnTx/>
                <a:uFillTx/>
                <a:latin typeface="Calibri"/>
                <a:ea typeface="+mn-ea"/>
                <a:cs typeface="+mn-cs"/>
              </a:rPr>
              <a:t>Q4 '26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0F3250"/>
              </a:solidFill>
              <a:effectLst/>
              <a:highlight>
                <a:srgbClr val="FFFFCC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Triangolo isoscele 77">
            <a:extLst>
              <a:ext uri="{FF2B5EF4-FFF2-40B4-BE49-F238E27FC236}">
                <a16:creationId xmlns:a16="http://schemas.microsoft.com/office/drawing/2014/main" id="{0167AFF6-7B2B-7997-31DE-EDBC01AEBFE4}"/>
              </a:ext>
            </a:extLst>
          </p:cNvPr>
          <p:cNvSpPr/>
          <p:nvPr/>
        </p:nvSpPr>
        <p:spPr>
          <a:xfrm rot="10800000">
            <a:off x="11215998" y="1482725"/>
            <a:ext cx="355600" cy="324616"/>
          </a:xfrm>
          <a:prstGeom prst="triangl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23">
            <a:extLst>
              <a:ext uri="{FF2B5EF4-FFF2-40B4-BE49-F238E27FC236}">
                <a16:creationId xmlns:a16="http://schemas.microsoft.com/office/drawing/2014/main" id="{ECD6E460-68F1-6F4D-2D4B-D02F05716A77}"/>
              </a:ext>
            </a:extLst>
          </p:cNvPr>
          <p:cNvSpPr txBox="1"/>
          <p:nvPr/>
        </p:nvSpPr>
        <p:spPr>
          <a:xfrm>
            <a:off x="6416508" y="1704896"/>
            <a:ext cx="4424541" cy="94892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tIns="540000" rIns="36000" bIns="0" rtlCol="0" anchor="t">
            <a:noAutofit/>
          </a:bodyPr>
          <a:lstStyle/>
          <a:p>
            <a:pPr marL="0" marR="0" lvl="0" indent="0" algn="ctr" defTabSz="13426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Osservazione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performance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Agenzie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per 6-8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mesi</a:t>
            </a:r>
            <a:b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calibrazione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modello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Geo-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meritocratico</a:t>
            </a:r>
            <a:endParaRPr kumimoji="0" lang="en-US" sz="1200" b="0" i="1" u="none" strike="noStrike" kern="1200" cap="none" spc="0" normalizeH="0" baseline="0" noProof="0" dirty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67DB2DC0-2AE4-40E4-B97E-7625CFED7AAE}"/>
              </a:ext>
            </a:extLst>
          </p:cNvPr>
          <p:cNvCxnSpPr/>
          <p:nvPr/>
        </p:nvCxnSpPr>
        <p:spPr>
          <a:xfrm>
            <a:off x="6508513" y="2094724"/>
            <a:ext cx="4021771" cy="0"/>
          </a:xfrm>
          <a:prstGeom prst="straightConnector1">
            <a:avLst/>
          </a:prstGeom>
          <a:ln w="571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mbo 20">
            <a:extLst>
              <a:ext uri="{FF2B5EF4-FFF2-40B4-BE49-F238E27FC236}">
                <a16:creationId xmlns:a16="http://schemas.microsoft.com/office/drawing/2014/main" id="{6847498E-45C9-F90D-6A9A-363E4BE72976}"/>
              </a:ext>
            </a:extLst>
          </p:cNvPr>
          <p:cNvSpPr/>
          <p:nvPr/>
        </p:nvSpPr>
        <p:spPr>
          <a:xfrm>
            <a:off x="8413755" y="1464362"/>
            <a:ext cx="343619" cy="360289"/>
          </a:xfrm>
          <a:prstGeom prst="diamon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ombo 23">
            <a:extLst>
              <a:ext uri="{FF2B5EF4-FFF2-40B4-BE49-F238E27FC236}">
                <a16:creationId xmlns:a16="http://schemas.microsoft.com/office/drawing/2014/main" id="{0C446C66-3718-B9CE-22AD-68DB62D27D23}"/>
              </a:ext>
            </a:extLst>
          </p:cNvPr>
          <p:cNvSpPr/>
          <p:nvPr/>
        </p:nvSpPr>
        <p:spPr>
          <a:xfrm>
            <a:off x="9034320" y="1464362"/>
            <a:ext cx="343619" cy="360289"/>
          </a:xfrm>
          <a:prstGeom prst="diamon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mbo 25">
            <a:extLst>
              <a:ext uri="{FF2B5EF4-FFF2-40B4-BE49-F238E27FC236}">
                <a16:creationId xmlns:a16="http://schemas.microsoft.com/office/drawing/2014/main" id="{2D971DE0-8B45-3073-DAEB-CCEEFA21AEC3}"/>
              </a:ext>
            </a:extLst>
          </p:cNvPr>
          <p:cNvSpPr/>
          <p:nvPr/>
        </p:nvSpPr>
        <p:spPr>
          <a:xfrm>
            <a:off x="9654884" y="1464362"/>
            <a:ext cx="343619" cy="360289"/>
          </a:xfrm>
          <a:prstGeom prst="diamond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123">
            <a:extLst>
              <a:ext uri="{FF2B5EF4-FFF2-40B4-BE49-F238E27FC236}">
                <a16:creationId xmlns:a16="http://schemas.microsoft.com/office/drawing/2014/main" id="{CFA4270C-F171-D7E8-056A-C18BA29F3DEC}"/>
              </a:ext>
            </a:extLst>
          </p:cNvPr>
          <p:cNvSpPr txBox="1"/>
          <p:nvPr/>
        </p:nvSpPr>
        <p:spPr>
          <a:xfrm>
            <a:off x="7278778" y="1179805"/>
            <a:ext cx="3744597" cy="34569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3426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Condivisione</a:t>
            </a: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risultati con </a:t>
            </a:r>
            <a:r>
              <a:rPr kumimoji="0" lang="en-US" sz="1400" b="0" i="1" u="none" strike="noStrike" kern="1200" cap="none" spc="0" normalizeH="0" baseline="0" noProof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Commissione</a:t>
            </a: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400" b="0" i="1" u="none" strike="noStrike" kern="1200" cap="none" spc="0" normalizeH="0" baseline="0" noProof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Agenti</a:t>
            </a:r>
            <a:endParaRPr kumimoji="0" lang="en-US" sz="1400" b="0" i="1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6A342EB-27B5-103C-E22E-B7E3CCF3F569}"/>
              </a:ext>
            </a:extLst>
          </p:cNvPr>
          <p:cNvSpPr/>
          <p:nvPr/>
        </p:nvSpPr>
        <p:spPr>
          <a:xfrm>
            <a:off x="5544622" y="3744206"/>
            <a:ext cx="5872480" cy="1073568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108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Modello Geografico</a:t>
            </a:r>
            <a:endParaRPr kumimoji="0" lang="it-IT" sz="24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3" name="Immagine 72" descr="Immagine che contiene Elementi grafici, grafica, clipart, design&#10;&#10;Il contenuto generato dall'IA potrebbe non essere corretto.">
            <a:extLst>
              <a:ext uri="{FF2B5EF4-FFF2-40B4-BE49-F238E27FC236}">
                <a16:creationId xmlns:a16="http://schemas.microsoft.com/office/drawing/2014/main" id="{E926A001-DC31-FE1F-1870-B1BB74FE45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353" y="4009665"/>
            <a:ext cx="548748" cy="52362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F84150FF-A66C-D59C-64EF-65818DF46A58}"/>
              </a:ext>
            </a:extLst>
          </p:cNvPr>
          <p:cNvSpPr/>
          <p:nvPr/>
        </p:nvSpPr>
        <p:spPr>
          <a:xfrm>
            <a:off x="5544622" y="4890352"/>
            <a:ext cx="5872480" cy="10735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108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1" u="none" strike="noStrike" kern="1200" cap="none" spc="0" normalizeH="0" baseline="0" noProof="0">
                <a:ln>
                  <a:noFill/>
                </a:ln>
                <a:solidFill>
                  <a:srgbClr val="969696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Modello Geo-meritocratico</a:t>
            </a:r>
            <a:endParaRPr kumimoji="0" lang="it-IT" sz="2400" b="0" i="1" u="none" strike="noStrike" kern="1200" cap="none" spc="0" normalizeH="0" baseline="0" noProof="0">
              <a:ln>
                <a:noFill/>
              </a:ln>
              <a:solidFill>
                <a:srgbClr val="969696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2" name="Immagine 81" descr="Immagine che contiene simbolo, Elementi grafici, clipart, logo&#10;&#10;Il contenuto generato dall'IA potrebbe non essere corretto.">
            <a:extLst>
              <a:ext uri="{FF2B5EF4-FFF2-40B4-BE49-F238E27FC236}">
                <a16:creationId xmlns:a16="http://schemas.microsoft.com/office/drawing/2014/main" id="{1E962ADD-6110-8172-90A2-6892C5DD407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132" y="5100234"/>
            <a:ext cx="494499" cy="653806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654C6061-A781-4EBF-0BC9-E9E2821230B4}"/>
              </a:ext>
            </a:extLst>
          </p:cNvPr>
          <p:cNvSpPr/>
          <p:nvPr/>
        </p:nvSpPr>
        <p:spPr>
          <a:xfrm>
            <a:off x="11412225" y="4878984"/>
            <a:ext cx="658174" cy="1073568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108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1" name="Immagine 80" descr="Immagine che contiene Elementi grafici, grafica, clipart, design&#10;&#10;Il contenuto generato dall'IA potrebbe non essere corretto.">
            <a:extLst>
              <a:ext uri="{FF2B5EF4-FFF2-40B4-BE49-F238E27FC236}">
                <a16:creationId xmlns:a16="http://schemas.microsoft.com/office/drawing/2014/main" id="{D762587A-12AC-68A0-E878-8792EAFFCE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9028" y="5155811"/>
            <a:ext cx="548748" cy="523629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B89E9EDB-CD74-FEA7-C470-F2346030EBA9}"/>
              </a:ext>
            </a:extLst>
          </p:cNvPr>
          <p:cNvSpPr/>
          <p:nvPr/>
        </p:nvSpPr>
        <p:spPr>
          <a:xfrm>
            <a:off x="12119501" y="4878984"/>
            <a:ext cx="143238" cy="1073568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108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593E166-4A16-421F-A151-012993D8C4D6}"/>
              </a:ext>
            </a:extLst>
          </p:cNvPr>
          <p:cNvSpPr/>
          <p:nvPr/>
        </p:nvSpPr>
        <p:spPr>
          <a:xfrm>
            <a:off x="12309505" y="4878984"/>
            <a:ext cx="143238" cy="1073568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108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1" name="Gruppo 90">
            <a:extLst>
              <a:ext uri="{FF2B5EF4-FFF2-40B4-BE49-F238E27FC236}">
                <a16:creationId xmlns:a16="http://schemas.microsoft.com/office/drawing/2014/main" id="{388BBFEF-CAD4-2479-9F28-2CF1023200C0}"/>
              </a:ext>
            </a:extLst>
          </p:cNvPr>
          <p:cNvGrpSpPr/>
          <p:nvPr/>
        </p:nvGrpSpPr>
        <p:grpSpPr>
          <a:xfrm>
            <a:off x="11010430" y="2473461"/>
            <a:ext cx="766737" cy="766737"/>
            <a:chOff x="11552754" y="2262001"/>
            <a:chExt cx="766737" cy="766737"/>
          </a:xfrm>
        </p:grpSpPr>
        <p:sp>
          <p:nvSpPr>
            <p:cNvPr id="89" name="Ovale 88">
              <a:extLst>
                <a:ext uri="{FF2B5EF4-FFF2-40B4-BE49-F238E27FC236}">
                  <a16:creationId xmlns:a16="http://schemas.microsoft.com/office/drawing/2014/main" id="{BCB64E94-535C-6EDB-6447-6502C5AA9F02}"/>
                </a:ext>
              </a:extLst>
            </p:cNvPr>
            <p:cNvSpPr/>
            <p:nvPr/>
          </p:nvSpPr>
          <p:spPr>
            <a:xfrm>
              <a:off x="11552754" y="2262001"/>
              <a:ext cx="766737" cy="7667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8" name="Immagine 87" descr="Immagine che contiene nero, oscurità&#10;&#10;Il contenuto generato dall'IA potrebbe non essere corretto.">
              <a:extLst>
                <a:ext uri="{FF2B5EF4-FFF2-40B4-BE49-F238E27FC236}">
                  <a16:creationId xmlns:a16="http://schemas.microsoft.com/office/drawing/2014/main" id="{831F18B6-AFE2-9013-532C-61079F1EF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649"/>
            <a:stretch>
              <a:fillRect/>
            </a:stretch>
          </p:blipFill>
          <p:spPr>
            <a:xfrm>
              <a:off x="11628286" y="2345989"/>
              <a:ext cx="615673" cy="537800"/>
            </a:xfrm>
            <a:prstGeom prst="rect">
              <a:avLst/>
            </a:prstGeom>
          </p:spPr>
        </p:pic>
      </p:grpSp>
      <p:sp>
        <p:nvSpPr>
          <p:cNvPr id="9" name="TextBox 123">
            <a:extLst>
              <a:ext uri="{FF2B5EF4-FFF2-40B4-BE49-F238E27FC236}">
                <a16:creationId xmlns:a16="http://schemas.microsoft.com/office/drawing/2014/main" id="{AF5A8E2F-E3B0-6F76-CFAC-08833E9BCF6A}"/>
              </a:ext>
            </a:extLst>
          </p:cNvPr>
          <p:cNvSpPr txBox="1"/>
          <p:nvPr/>
        </p:nvSpPr>
        <p:spPr>
          <a:xfrm>
            <a:off x="2169599" y="4853784"/>
            <a:ext cx="1857072" cy="10307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Assegnazione dei lead secondo logica del round-</a:t>
            </a:r>
            <a:r>
              <a:rPr kumimoji="0" lang="it-IT" sz="1600" b="0" i="1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robin</a:t>
            </a:r>
            <a:r>
              <a:rPr kumimoji="0" lang="it-IT" sz="16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 Cap</a:t>
            </a:r>
            <a:r>
              <a:rPr kumimoji="0" lang="it-IT" sz="1600" b="0" i="1" u="none" strike="noStrike" kern="1200" cap="none" spc="0" normalizeH="0" baseline="3000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579E95D-46AD-74FE-2E29-5A76777F60FF}"/>
              </a:ext>
            </a:extLst>
          </p:cNvPr>
          <p:cNvSpPr/>
          <p:nvPr/>
        </p:nvSpPr>
        <p:spPr>
          <a:xfrm>
            <a:off x="1420498" y="2782849"/>
            <a:ext cx="249819" cy="35791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540000" rtlCol="0" anchor="ctr"/>
          <a:lstStyle/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B2C2689-BAC7-247D-0EC5-164BA19194A3}"/>
              </a:ext>
            </a:extLst>
          </p:cNvPr>
          <p:cNvSpPr/>
          <p:nvPr/>
        </p:nvSpPr>
        <p:spPr>
          <a:xfrm>
            <a:off x="1110761" y="2782849"/>
            <a:ext cx="249819" cy="35791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540000" rtlCol="0" anchor="ctr"/>
          <a:lstStyle/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90F2FAE8-F402-9390-455A-A20EC92C4CBB}"/>
              </a:ext>
            </a:extLst>
          </p:cNvPr>
          <p:cNvSpPr/>
          <p:nvPr/>
        </p:nvSpPr>
        <p:spPr>
          <a:xfrm>
            <a:off x="801024" y="2782849"/>
            <a:ext cx="249819" cy="35791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540000" rtlCol="0" anchor="ctr"/>
          <a:lstStyle/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123">
            <a:extLst>
              <a:ext uri="{FF2B5EF4-FFF2-40B4-BE49-F238E27FC236}">
                <a16:creationId xmlns:a16="http://schemas.microsoft.com/office/drawing/2014/main" id="{086894D3-5F66-2B54-D16D-0FE39125650B}"/>
              </a:ext>
            </a:extLst>
          </p:cNvPr>
          <p:cNvSpPr txBox="1"/>
          <p:nvPr/>
        </p:nvSpPr>
        <p:spPr>
          <a:xfrm>
            <a:off x="9354136" y="140752"/>
            <a:ext cx="3787468" cy="36987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34268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highlight>
                  <a:srgbClr val="FFFFCC"/>
                </a:highlight>
                <a:uLnTx/>
                <a:uFillTx/>
                <a:latin typeface="Calibri"/>
                <a:ea typeface="+mn-ea"/>
                <a:cs typeface="+mn-cs"/>
              </a:rPr>
              <a:t> Date rilasci in attesa di conferma DSI</a:t>
            </a:r>
            <a:r>
              <a:rPr kumimoji="0" lang="it-IT" sz="1800" b="0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800" b="0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highlight>
                  <a:srgbClr val="FFFFCC"/>
                </a:highlight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ED52F60-E559-1E78-5637-3036D89D62A6}"/>
              </a:ext>
            </a:extLst>
          </p:cNvPr>
          <p:cNvSpPr txBox="1"/>
          <p:nvPr/>
        </p:nvSpPr>
        <p:spPr>
          <a:xfrm>
            <a:off x="189822" y="7090662"/>
            <a:ext cx="6530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Nota: 1) Logica assegnazione casuale nello stesso CAP del lead secondo contatori (0-1): in caso di CAP non coperto da Agenzie, assegnazione all'Agenzia in assoluto più vicina senza impatti su contatori </a:t>
            </a:r>
          </a:p>
        </p:txBody>
      </p:sp>
    </p:spTree>
    <p:extLst>
      <p:ext uri="{BB962C8B-B14F-4D97-AF65-F5344CB8AC3E}">
        <p14:creationId xmlns:p14="http://schemas.microsoft.com/office/powerpoint/2010/main" val="1201157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6D805-293F-45F4-2CE4-C779FE966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442A9C4-0D1A-060A-B1BD-ABDED85F35A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19946779"/>
              </p:ext>
            </p:extLst>
          </p:nvPr>
        </p:nvGraphicFramePr>
        <p:xfrm>
          <a:off x="8725" y="2333"/>
          <a:ext cx="2331" cy="2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8" name="Diapositiva think-cell" r:id="rId5" imgW="435" imgH="435" progId="TCLayout.ActiveDocument.1">
                  <p:embed/>
                </p:oleObj>
              </mc:Choice>
              <mc:Fallback>
                <p:oleObj name="Diapositiva think-cell" r:id="rId5" imgW="435" imgH="43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42A9C4-0D1A-060A-B1BD-ABDED85F35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25" y="2333"/>
                        <a:ext cx="2331" cy="2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olo 4">
            <a:extLst>
              <a:ext uri="{FF2B5EF4-FFF2-40B4-BE49-F238E27FC236}">
                <a16:creationId xmlns:a16="http://schemas.microsoft.com/office/drawing/2014/main" id="{7DF3817E-5444-6EB8-C8D8-B978259F5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8" y="87404"/>
            <a:ext cx="12055941" cy="520054"/>
          </a:xfrm>
        </p:spPr>
        <p:txBody>
          <a:bodyPr vert="horz"/>
          <a:lstStyle/>
          <a:p>
            <a:r>
              <a:rPr lang="it-IT" sz="2800"/>
              <a:t>ASSEGNAZIONE LEAD DIGITALI | Agenda</a:t>
            </a:r>
            <a:endParaRPr lang="it-IT" sz="2800" b="0"/>
          </a:p>
        </p:txBody>
      </p:sp>
      <p:sp>
        <p:nvSpPr>
          <p:cNvPr id="9" name="Freccia a pentagono 8">
            <a:extLst>
              <a:ext uri="{FF2B5EF4-FFF2-40B4-BE49-F238E27FC236}">
                <a16:creationId xmlns:a16="http://schemas.microsoft.com/office/drawing/2014/main" id="{E7E4AC2F-BDB2-7827-6920-B64AD0028098}"/>
              </a:ext>
            </a:extLst>
          </p:cNvPr>
          <p:cNvSpPr/>
          <p:nvPr/>
        </p:nvSpPr>
        <p:spPr>
          <a:xfrm>
            <a:off x="639135" y="1370397"/>
            <a:ext cx="4478776" cy="5078170"/>
          </a:xfrm>
          <a:prstGeom prst="homePlate">
            <a:avLst>
              <a:gd name="adj" fmla="val 0"/>
            </a:avLst>
          </a:prstGeom>
          <a:solidFill>
            <a:srgbClr val="F0F6FC"/>
          </a:solidFill>
          <a:ln w="190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algn="ctr">
              <a:spcAft>
                <a:spcPts val="1200"/>
              </a:spcAft>
            </a:pPr>
            <a:r>
              <a:rPr lang="it-IT" sz="4800" b="1">
                <a:solidFill>
                  <a:schemeClr val="tx1"/>
                </a:solidFill>
              </a:rPr>
              <a:t>3</a:t>
            </a:r>
            <a:r>
              <a:rPr lang="it-IT" sz="4400" b="1">
                <a:solidFill>
                  <a:schemeClr val="tx1"/>
                </a:solidFill>
              </a:rPr>
              <a:t> aree principali per la definizione del modello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B8979669-102C-5BFC-BCDA-30B56E0D5C88}"/>
              </a:ext>
            </a:extLst>
          </p:cNvPr>
          <p:cNvSpPr/>
          <p:nvPr/>
        </p:nvSpPr>
        <p:spPr>
          <a:xfrm>
            <a:off x="5813078" y="1501226"/>
            <a:ext cx="7081966" cy="1005276"/>
          </a:xfrm>
          <a:prstGeom prst="roundRect">
            <a:avLst>
              <a:gd name="adj" fmla="val 10375"/>
            </a:avLst>
          </a:prstGeom>
          <a:solidFill>
            <a:schemeClr val="tx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/>
              <a:t>LOGICHE DI ASSEGNAZIONE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B2561E98-B6D2-9F84-9FC1-102A3130C199}"/>
              </a:ext>
            </a:extLst>
          </p:cNvPr>
          <p:cNvSpPr/>
          <p:nvPr/>
        </p:nvSpPr>
        <p:spPr>
          <a:xfrm>
            <a:off x="5691806" y="1812893"/>
            <a:ext cx="334016" cy="381943"/>
          </a:xfrm>
          <a:prstGeom prst="rect">
            <a:avLst/>
          </a:prstGeom>
          <a:solidFill>
            <a:srgbClr val="EBF3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Rettangolo con angoli arrotondati 42">
            <a:extLst>
              <a:ext uri="{FF2B5EF4-FFF2-40B4-BE49-F238E27FC236}">
                <a16:creationId xmlns:a16="http://schemas.microsoft.com/office/drawing/2014/main" id="{E1646427-7903-6143-18FE-3938F1F48C96}"/>
              </a:ext>
            </a:extLst>
          </p:cNvPr>
          <p:cNvSpPr/>
          <p:nvPr/>
        </p:nvSpPr>
        <p:spPr>
          <a:xfrm>
            <a:off x="5813078" y="2879194"/>
            <a:ext cx="7081966" cy="2047638"/>
          </a:xfrm>
          <a:prstGeom prst="roundRect">
            <a:avLst>
              <a:gd name="adj" fmla="val 10375"/>
            </a:avLst>
          </a:prstGeom>
          <a:solidFill>
            <a:schemeClr val="tx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828000" rtlCol="0" anchor="ctr"/>
          <a:lstStyle/>
          <a:p>
            <a:pPr algn="ctr"/>
            <a:r>
              <a:rPr lang="it-IT" sz="2800" b="1"/>
              <a:t>PERIMETRO DI APPLICAZIONE SU RETE</a:t>
            </a:r>
          </a:p>
          <a:p>
            <a:pPr algn="ctr"/>
            <a:endParaRPr lang="it-IT" sz="2800" b="1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33A75AF8-5267-20B9-BB28-39544B0F79B5}"/>
              </a:ext>
            </a:extLst>
          </p:cNvPr>
          <p:cNvSpPr/>
          <p:nvPr/>
        </p:nvSpPr>
        <p:spPr>
          <a:xfrm>
            <a:off x="5813078" y="5326421"/>
            <a:ext cx="7081966" cy="1005276"/>
          </a:xfrm>
          <a:prstGeom prst="roundRect">
            <a:avLst>
              <a:gd name="adj" fmla="val 10375"/>
            </a:avLst>
          </a:prstGeom>
          <a:solidFill>
            <a:schemeClr val="tx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/>
              <a:t>KPI E SCORE DI AGENZIA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9ACDDA8C-FA55-664E-5503-022D228A97A6}"/>
              </a:ext>
            </a:extLst>
          </p:cNvPr>
          <p:cNvSpPr/>
          <p:nvPr/>
        </p:nvSpPr>
        <p:spPr>
          <a:xfrm>
            <a:off x="5691806" y="5638088"/>
            <a:ext cx="334016" cy="381943"/>
          </a:xfrm>
          <a:prstGeom prst="rect">
            <a:avLst/>
          </a:prstGeom>
          <a:solidFill>
            <a:srgbClr val="EBF3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3F4F00CB-E95D-B198-AC98-78B6F9D568B9}"/>
              </a:ext>
            </a:extLst>
          </p:cNvPr>
          <p:cNvSpPr/>
          <p:nvPr/>
        </p:nvSpPr>
        <p:spPr>
          <a:xfrm>
            <a:off x="9488184" y="3637817"/>
            <a:ext cx="3218482" cy="1005277"/>
          </a:xfrm>
          <a:prstGeom prst="roundRect">
            <a:avLst>
              <a:gd name="adj" fmla="val 10375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200" b="1">
                <a:solidFill>
                  <a:schemeClr val="tx1"/>
                </a:solidFill>
              </a:rPr>
              <a:t>GESTIONE</a:t>
            </a:r>
          </a:p>
          <a:p>
            <a:pPr algn="ctr"/>
            <a:r>
              <a:rPr lang="it-IT" sz="2200" b="1">
                <a:solidFill>
                  <a:schemeClr val="tx1"/>
                </a:solidFill>
              </a:rPr>
              <a:t>ECCEZIONI: BLACKIST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5ACF4BE9-1B81-5A65-8EEA-04EF556FB080}"/>
              </a:ext>
            </a:extLst>
          </p:cNvPr>
          <p:cNvSpPr/>
          <p:nvPr/>
        </p:nvSpPr>
        <p:spPr>
          <a:xfrm>
            <a:off x="6012014" y="3637817"/>
            <a:ext cx="3218482" cy="1005277"/>
          </a:xfrm>
          <a:prstGeom prst="roundRect">
            <a:avLst>
              <a:gd name="adj" fmla="val 10375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it-IT" sz="2200" b="1">
                <a:solidFill>
                  <a:schemeClr val="tx1"/>
                </a:solidFill>
              </a:rPr>
              <a:t>GESTIONE</a:t>
            </a:r>
            <a:br>
              <a:rPr lang="it-IT" sz="2200" b="1">
                <a:solidFill>
                  <a:schemeClr val="tx1"/>
                </a:solidFill>
              </a:rPr>
            </a:br>
            <a:r>
              <a:rPr lang="it-IT" sz="2200" b="1">
                <a:solidFill>
                  <a:schemeClr val="tx1"/>
                </a:solidFill>
              </a:rPr>
              <a:t>PUNTI VENDITA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F7C41AEC-ABE7-9F82-4503-2044294FAEC7}"/>
              </a:ext>
            </a:extLst>
          </p:cNvPr>
          <p:cNvSpPr/>
          <p:nvPr/>
        </p:nvSpPr>
        <p:spPr>
          <a:xfrm>
            <a:off x="5691806" y="3111434"/>
            <a:ext cx="334016" cy="381943"/>
          </a:xfrm>
          <a:prstGeom prst="rect">
            <a:avLst/>
          </a:prstGeom>
          <a:solidFill>
            <a:srgbClr val="EBF3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6A2D8D21-BE96-BAA5-C6C8-47BC570126B8}"/>
              </a:ext>
            </a:extLst>
          </p:cNvPr>
          <p:cNvSpPr/>
          <p:nvPr/>
        </p:nvSpPr>
        <p:spPr>
          <a:xfrm>
            <a:off x="8920670" y="3588865"/>
            <a:ext cx="404160" cy="381943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it-IT" sz="2400" b="1">
                <a:solidFill>
                  <a:schemeClr val="bg1"/>
                </a:solidFill>
              </a:rPr>
              <a:t>2a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2B306270-B846-E02E-CE03-E1276604628F}"/>
              </a:ext>
            </a:extLst>
          </p:cNvPr>
          <p:cNvSpPr/>
          <p:nvPr/>
        </p:nvSpPr>
        <p:spPr>
          <a:xfrm>
            <a:off x="12402395" y="3588865"/>
            <a:ext cx="404160" cy="381943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it-IT" sz="2400" b="1">
                <a:solidFill>
                  <a:schemeClr val="bg1"/>
                </a:solidFill>
              </a:rPr>
              <a:t>2b</a:t>
            </a:r>
          </a:p>
        </p:txBody>
      </p:sp>
    </p:spTree>
    <p:extLst>
      <p:ext uri="{BB962C8B-B14F-4D97-AF65-F5344CB8AC3E}">
        <p14:creationId xmlns:p14="http://schemas.microsoft.com/office/powerpoint/2010/main" val="3234365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E3513-4831-9650-EB70-855B87451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18C784D-B4CE-B2FE-1BA3-DD8E95AF306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8725" y="2333"/>
          <a:ext cx="2331" cy="2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2" name="Diapositiva think-cell" r:id="rId5" imgW="435" imgH="435" progId="TCLayout.ActiveDocument.1">
                  <p:embed/>
                </p:oleObj>
              </mc:Choice>
              <mc:Fallback>
                <p:oleObj name="Diapositiva think-cell" r:id="rId5" imgW="435" imgH="43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8C784D-B4CE-B2FE-1BA3-DD8E95AF30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25" y="2333"/>
                        <a:ext cx="2331" cy="2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olo 4">
            <a:extLst>
              <a:ext uri="{FF2B5EF4-FFF2-40B4-BE49-F238E27FC236}">
                <a16:creationId xmlns:a16="http://schemas.microsoft.com/office/drawing/2014/main" id="{21C1C630-DBC7-D345-6523-F90E2B605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8" y="87404"/>
            <a:ext cx="12055941" cy="520054"/>
          </a:xfrm>
        </p:spPr>
        <p:txBody>
          <a:bodyPr vert="horz"/>
          <a:lstStyle/>
          <a:p>
            <a:r>
              <a:rPr lang="it-IT" sz="2800"/>
              <a:t>ASSEGNAZIONE LEAD DIGITALI | Agenda</a:t>
            </a:r>
            <a:endParaRPr lang="it-IT" sz="2800" b="0"/>
          </a:p>
        </p:txBody>
      </p:sp>
      <p:sp>
        <p:nvSpPr>
          <p:cNvPr id="9" name="Freccia a pentagono 8">
            <a:extLst>
              <a:ext uri="{FF2B5EF4-FFF2-40B4-BE49-F238E27FC236}">
                <a16:creationId xmlns:a16="http://schemas.microsoft.com/office/drawing/2014/main" id="{0008280D-3D06-DDA7-6F96-97CFC1FBD26A}"/>
              </a:ext>
            </a:extLst>
          </p:cNvPr>
          <p:cNvSpPr/>
          <p:nvPr/>
        </p:nvSpPr>
        <p:spPr>
          <a:xfrm>
            <a:off x="639135" y="1370397"/>
            <a:ext cx="4478776" cy="5078170"/>
          </a:xfrm>
          <a:prstGeom prst="homePlate">
            <a:avLst>
              <a:gd name="adj" fmla="val 0"/>
            </a:avLst>
          </a:prstGeom>
          <a:solidFill>
            <a:srgbClr val="F0F6FC"/>
          </a:solidFill>
          <a:ln w="190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algn="ctr">
              <a:spcAft>
                <a:spcPts val="1200"/>
              </a:spcAft>
            </a:pPr>
            <a:r>
              <a:rPr lang="it-IT" sz="4800" b="1" dirty="0">
                <a:solidFill>
                  <a:schemeClr val="tx1"/>
                </a:solidFill>
              </a:rPr>
              <a:t>3</a:t>
            </a:r>
            <a:r>
              <a:rPr lang="it-IT" sz="4400" b="1" dirty="0">
                <a:solidFill>
                  <a:schemeClr val="tx1"/>
                </a:solidFill>
              </a:rPr>
              <a:t> aree principali per la definizione del modello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F37D6FCB-9226-304E-A9B0-136957474729}"/>
              </a:ext>
            </a:extLst>
          </p:cNvPr>
          <p:cNvSpPr/>
          <p:nvPr/>
        </p:nvSpPr>
        <p:spPr>
          <a:xfrm>
            <a:off x="5813078" y="1501226"/>
            <a:ext cx="7081966" cy="1005276"/>
          </a:xfrm>
          <a:prstGeom prst="roundRect">
            <a:avLst>
              <a:gd name="adj" fmla="val 10375"/>
            </a:avLst>
          </a:prstGeom>
          <a:solidFill>
            <a:schemeClr val="tx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/>
              <a:t>LOGICHE DI ASSEGNAZIONE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DC5864AA-5376-0CD4-5966-7FB5218B2487}"/>
              </a:ext>
            </a:extLst>
          </p:cNvPr>
          <p:cNvSpPr/>
          <p:nvPr/>
        </p:nvSpPr>
        <p:spPr>
          <a:xfrm>
            <a:off x="5691806" y="1812893"/>
            <a:ext cx="334016" cy="381943"/>
          </a:xfrm>
          <a:prstGeom prst="rect">
            <a:avLst/>
          </a:prstGeom>
          <a:solidFill>
            <a:srgbClr val="EBF3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Rettangolo con angoli arrotondati 42">
            <a:extLst>
              <a:ext uri="{FF2B5EF4-FFF2-40B4-BE49-F238E27FC236}">
                <a16:creationId xmlns:a16="http://schemas.microsoft.com/office/drawing/2014/main" id="{EF4E60A1-07F0-371A-34A6-04FA289DF848}"/>
              </a:ext>
            </a:extLst>
          </p:cNvPr>
          <p:cNvSpPr/>
          <p:nvPr/>
        </p:nvSpPr>
        <p:spPr>
          <a:xfrm>
            <a:off x="5813078" y="2879194"/>
            <a:ext cx="7081966" cy="2047638"/>
          </a:xfrm>
          <a:prstGeom prst="roundRect">
            <a:avLst>
              <a:gd name="adj" fmla="val 10375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828000"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PERIMETRO DI APPLICAZIONE SU RETE</a:t>
            </a:r>
          </a:p>
          <a:p>
            <a:pPr algn="ctr"/>
            <a:endParaRPr lang="it-IT" sz="2800" b="1">
              <a:solidFill>
                <a:schemeClr val="tx1"/>
              </a:solidFill>
            </a:endParaRPr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228445A7-0129-12F9-456F-7FED21FC98D9}"/>
              </a:ext>
            </a:extLst>
          </p:cNvPr>
          <p:cNvSpPr/>
          <p:nvPr/>
        </p:nvSpPr>
        <p:spPr>
          <a:xfrm>
            <a:off x="5813078" y="5326421"/>
            <a:ext cx="7081966" cy="1005276"/>
          </a:xfrm>
          <a:prstGeom prst="roundRect">
            <a:avLst>
              <a:gd name="adj" fmla="val 10375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KPI E SCORE DI AGENZIA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099A1482-C9C8-A318-BCA2-EE8D6AF552F9}"/>
              </a:ext>
            </a:extLst>
          </p:cNvPr>
          <p:cNvSpPr/>
          <p:nvPr/>
        </p:nvSpPr>
        <p:spPr>
          <a:xfrm>
            <a:off x="5691806" y="5638088"/>
            <a:ext cx="334016" cy="381943"/>
          </a:xfrm>
          <a:prstGeom prst="rect">
            <a:avLst/>
          </a:prstGeom>
          <a:solidFill>
            <a:srgbClr val="EBF3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0A358504-958E-6DE5-3283-F1864833A384}"/>
              </a:ext>
            </a:extLst>
          </p:cNvPr>
          <p:cNvSpPr/>
          <p:nvPr/>
        </p:nvSpPr>
        <p:spPr>
          <a:xfrm>
            <a:off x="9488184" y="3637817"/>
            <a:ext cx="3218482" cy="1005277"/>
          </a:xfrm>
          <a:prstGeom prst="roundRect">
            <a:avLst>
              <a:gd name="adj" fmla="val 10375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200" b="1">
                <a:solidFill>
                  <a:schemeClr val="tx1"/>
                </a:solidFill>
              </a:rPr>
              <a:t>GESTIONE</a:t>
            </a:r>
          </a:p>
          <a:p>
            <a:pPr algn="ctr"/>
            <a:r>
              <a:rPr lang="it-IT" sz="2200" b="1">
                <a:solidFill>
                  <a:schemeClr val="tx1"/>
                </a:solidFill>
              </a:rPr>
              <a:t>ECCEZIONI: BLACKIST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4037FF8D-80F6-AD2B-4F64-035467A83BE7}"/>
              </a:ext>
            </a:extLst>
          </p:cNvPr>
          <p:cNvSpPr/>
          <p:nvPr/>
        </p:nvSpPr>
        <p:spPr>
          <a:xfrm>
            <a:off x="6012014" y="3637817"/>
            <a:ext cx="3218482" cy="1005277"/>
          </a:xfrm>
          <a:prstGeom prst="roundRect">
            <a:avLst>
              <a:gd name="adj" fmla="val 10375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it-IT" sz="2200" b="1" dirty="0">
                <a:solidFill>
                  <a:schemeClr val="tx1"/>
                </a:solidFill>
              </a:rPr>
              <a:t>GESTIONE</a:t>
            </a:r>
            <a:br>
              <a:rPr lang="it-IT" sz="2200" b="1" dirty="0">
                <a:solidFill>
                  <a:schemeClr val="tx1"/>
                </a:solidFill>
              </a:rPr>
            </a:br>
            <a:r>
              <a:rPr lang="it-IT" sz="2200" b="1" dirty="0">
                <a:solidFill>
                  <a:schemeClr val="tx1"/>
                </a:solidFill>
              </a:rPr>
              <a:t>PUNTI VENDITA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F64A463-180B-1A97-602D-CBE167D0F6B9}"/>
              </a:ext>
            </a:extLst>
          </p:cNvPr>
          <p:cNvSpPr/>
          <p:nvPr/>
        </p:nvSpPr>
        <p:spPr>
          <a:xfrm>
            <a:off x="5691806" y="3111434"/>
            <a:ext cx="334016" cy="381943"/>
          </a:xfrm>
          <a:prstGeom prst="rect">
            <a:avLst/>
          </a:prstGeom>
          <a:solidFill>
            <a:srgbClr val="EBF3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BBE771EF-A3C9-A3A1-EF4D-844C3852F6BC}"/>
              </a:ext>
            </a:extLst>
          </p:cNvPr>
          <p:cNvSpPr/>
          <p:nvPr/>
        </p:nvSpPr>
        <p:spPr>
          <a:xfrm>
            <a:off x="8920670" y="3588865"/>
            <a:ext cx="404160" cy="381943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it-IT" sz="2400" b="1">
                <a:solidFill>
                  <a:schemeClr val="bg1"/>
                </a:solidFill>
              </a:rPr>
              <a:t>2a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CD681CEF-3E98-320B-7448-E7CADA66E873}"/>
              </a:ext>
            </a:extLst>
          </p:cNvPr>
          <p:cNvSpPr/>
          <p:nvPr/>
        </p:nvSpPr>
        <p:spPr>
          <a:xfrm>
            <a:off x="12402395" y="3588865"/>
            <a:ext cx="404160" cy="381943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it-IT" sz="2400" b="1">
                <a:solidFill>
                  <a:schemeClr val="bg1"/>
                </a:solidFill>
              </a:rPr>
              <a:t>2b</a:t>
            </a:r>
          </a:p>
        </p:txBody>
      </p:sp>
    </p:spTree>
    <p:extLst>
      <p:ext uri="{BB962C8B-B14F-4D97-AF65-F5344CB8AC3E}">
        <p14:creationId xmlns:p14="http://schemas.microsoft.com/office/powerpoint/2010/main" val="2428082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DE773-C76F-F577-E7AE-CAA504D2F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536E800-75FF-C64A-18F2-B8B5853275C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96712641"/>
              </p:ext>
            </p:extLst>
          </p:nvPr>
        </p:nvGraphicFramePr>
        <p:xfrm>
          <a:off x="8724" y="2332"/>
          <a:ext cx="2332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6" name="Diapositiva think-cell" r:id="rId5" imgW="435" imgH="435" progId="TCLayout.ActiveDocument.1">
                  <p:embed/>
                </p:oleObj>
              </mc:Choice>
              <mc:Fallback>
                <p:oleObj name="Diapositiva think-cell" r:id="rId5" imgW="435" imgH="43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36E800-75FF-C64A-18F2-B8B5853275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24" y="2332"/>
                        <a:ext cx="2332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Freccia a pentagono 49">
            <a:extLst>
              <a:ext uri="{FF2B5EF4-FFF2-40B4-BE49-F238E27FC236}">
                <a16:creationId xmlns:a16="http://schemas.microsoft.com/office/drawing/2014/main" id="{05D38CDE-4FC9-437F-6F01-89D46A185348}"/>
              </a:ext>
            </a:extLst>
          </p:cNvPr>
          <p:cNvSpPr/>
          <p:nvPr/>
        </p:nvSpPr>
        <p:spPr>
          <a:xfrm>
            <a:off x="3511695" y="1659971"/>
            <a:ext cx="4789218" cy="1075299"/>
          </a:xfrm>
          <a:prstGeom prst="homePlate">
            <a:avLst>
              <a:gd name="adj" fmla="val 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9" rIns="35999" rtlCol="0" anchor="ctr"/>
          <a:lstStyle/>
          <a:p>
            <a:pPr marL="97994"/>
            <a:r>
              <a:rPr lang="it-IT" sz="1764" b="1" dirty="0">
                <a:solidFill>
                  <a:schemeClr val="tx1"/>
                </a:solidFill>
              </a:rPr>
              <a:t>Associazione automatica al PV </a:t>
            </a:r>
            <a:r>
              <a:rPr lang="it-IT" sz="1764" dirty="0">
                <a:solidFill>
                  <a:schemeClr val="tx1"/>
                </a:solidFill>
              </a:rPr>
              <a:t>secondo modello di assegnazione </a:t>
            </a:r>
            <a:r>
              <a:rPr lang="it-IT" sz="1764" i="1" dirty="0">
                <a:solidFill>
                  <a:schemeClr val="tx1"/>
                </a:solidFill>
              </a:rPr>
              <a:t>(geografico in partenza e successivamente geo-meritocratico)</a:t>
            </a:r>
            <a:r>
              <a:rPr lang="it-IT" sz="1764" dirty="0">
                <a:solidFill>
                  <a:schemeClr val="tx1"/>
                </a:solidFill>
              </a:rPr>
              <a:t> </a:t>
            </a:r>
            <a:endParaRPr lang="it-IT" sz="1213" i="1" strike="sngStrike" dirty="0">
              <a:solidFill>
                <a:schemeClr val="tx1"/>
              </a:solidFill>
            </a:endParaRPr>
          </a:p>
        </p:txBody>
      </p:sp>
      <p:sp>
        <p:nvSpPr>
          <p:cNvPr id="24" name="Fumetto: rettangolo con angoli arrotondati 23">
            <a:extLst>
              <a:ext uri="{FF2B5EF4-FFF2-40B4-BE49-F238E27FC236}">
                <a16:creationId xmlns:a16="http://schemas.microsoft.com/office/drawing/2014/main" id="{E8D7CF26-F946-25FE-F083-02E822493851}"/>
              </a:ext>
            </a:extLst>
          </p:cNvPr>
          <p:cNvSpPr/>
          <p:nvPr/>
        </p:nvSpPr>
        <p:spPr>
          <a:xfrm>
            <a:off x="8537923" y="1714658"/>
            <a:ext cx="4644973" cy="1099771"/>
          </a:xfrm>
          <a:prstGeom prst="wedgeRoundRectCallout">
            <a:avLst>
              <a:gd name="adj1" fmla="val -57365"/>
              <a:gd name="adj2" fmla="val 27602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400" i="1">
                <a:solidFill>
                  <a:schemeClr val="tx1"/>
                </a:solidFill>
              </a:rPr>
              <a:t>NB. Il Lead dovrà essere attribuito al PV solo a seguito della presenza di un contatto qualificato (CF + nr. Telefono o mail) e solo a fronte dell’effettiva visualizzazione del prezzo (no in caso di abbandono prima dello show price)</a:t>
            </a:r>
          </a:p>
        </p:txBody>
      </p:sp>
      <p:sp>
        <p:nvSpPr>
          <p:cNvPr id="52" name="Titolo 4">
            <a:extLst>
              <a:ext uri="{FF2B5EF4-FFF2-40B4-BE49-F238E27FC236}">
                <a16:creationId xmlns:a16="http://schemas.microsoft.com/office/drawing/2014/main" id="{F5A56207-75C9-58E8-7CAF-C6D2258F9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8" y="87404"/>
            <a:ext cx="12055941" cy="520054"/>
          </a:xfrm>
        </p:spPr>
        <p:txBody>
          <a:bodyPr vert="horz"/>
          <a:lstStyle/>
          <a:p>
            <a:pPr indent="450850"/>
            <a:r>
              <a:rPr lang="it-IT" sz="2800" dirty="0"/>
              <a:t>LOGICHE DI ASSEGNAZIONE | Premessa: </a:t>
            </a:r>
            <a:r>
              <a:rPr lang="it-IT" sz="2800" b="0" dirty="0" err="1"/>
              <a:t>funnel</a:t>
            </a:r>
            <a:r>
              <a:rPr lang="it-IT" sz="2800" b="0" dirty="0"/>
              <a:t> Unica</a:t>
            </a:r>
            <a:endParaRPr lang="it-IT" sz="2800" b="0" i="1" dirty="0"/>
          </a:p>
        </p:txBody>
      </p:sp>
      <p:sp>
        <p:nvSpPr>
          <p:cNvPr id="80" name="Rettangolo 79">
            <a:extLst>
              <a:ext uri="{FF2B5EF4-FFF2-40B4-BE49-F238E27FC236}">
                <a16:creationId xmlns:a16="http://schemas.microsoft.com/office/drawing/2014/main" id="{83126BB0-9CC5-F148-CA6B-29D8EA4EE1EA}"/>
              </a:ext>
            </a:extLst>
          </p:cNvPr>
          <p:cNvSpPr/>
          <p:nvPr/>
        </p:nvSpPr>
        <p:spPr>
          <a:xfrm>
            <a:off x="116539" y="127320"/>
            <a:ext cx="367807" cy="439410"/>
          </a:xfrm>
          <a:prstGeom prst="rect">
            <a:avLst/>
          </a:prstGeom>
          <a:solidFill>
            <a:srgbClr val="EBF3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5C320ED1-3C2A-2D48-3003-E5109EB99AB2}"/>
              </a:ext>
            </a:extLst>
          </p:cNvPr>
          <p:cNvSpPr/>
          <p:nvPr/>
        </p:nvSpPr>
        <p:spPr>
          <a:xfrm>
            <a:off x="487766" y="1669417"/>
            <a:ext cx="46424" cy="10658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b="1">
              <a:solidFill>
                <a:schemeClr val="bg1"/>
              </a:solidFill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DE9F6B7F-D97B-0A6E-4B17-33188DF7368E}"/>
              </a:ext>
            </a:extLst>
          </p:cNvPr>
          <p:cNvSpPr/>
          <p:nvPr/>
        </p:nvSpPr>
        <p:spPr>
          <a:xfrm>
            <a:off x="574509" y="1669417"/>
            <a:ext cx="2937046" cy="1065854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7994"/>
            <a:r>
              <a:rPr lang="it-IT" b="1">
                <a:solidFill>
                  <a:schemeClr val="bg1"/>
                </a:solidFill>
              </a:rPr>
              <a:t>Abbandono post show price</a:t>
            </a:r>
          </a:p>
        </p:txBody>
      </p:sp>
      <p:sp>
        <p:nvSpPr>
          <p:cNvPr id="48" name="Ovale 47">
            <a:extLst>
              <a:ext uri="{FF2B5EF4-FFF2-40B4-BE49-F238E27FC236}">
                <a16:creationId xmlns:a16="http://schemas.microsoft.com/office/drawing/2014/main" id="{D8C43616-34AE-EA8A-1122-C49BEE58A53A}"/>
              </a:ext>
            </a:extLst>
          </p:cNvPr>
          <p:cNvSpPr/>
          <p:nvPr/>
        </p:nvSpPr>
        <p:spPr>
          <a:xfrm>
            <a:off x="256878" y="1985562"/>
            <a:ext cx="423714" cy="424118"/>
          </a:xfrm>
          <a:prstGeom prst="ellipse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643">
                <a:solidFill>
                  <a:schemeClr val="accent6">
                    <a:lumMod val="10000"/>
                  </a:schemeClr>
                </a:solidFill>
                <a:sym typeface="Wingdings" panose="05000000000000000000" pitchFamily="2" charset="2"/>
              </a:rPr>
              <a:t></a:t>
            </a:r>
            <a:endParaRPr lang="it-IT" sz="2643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B7E75F15-EEF5-3C81-E075-6CEA97047A84}"/>
              </a:ext>
            </a:extLst>
          </p:cNvPr>
          <p:cNvSpPr txBox="1"/>
          <p:nvPr/>
        </p:nvSpPr>
        <p:spPr>
          <a:xfrm>
            <a:off x="673350" y="2735292"/>
            <a:ext cx="9989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i="1"/>
              <a:t>Calore Tiepido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CB708FC7-5B78-F1E8-CEA3-BC87ABA719BC}"/>
              </a:ext>
            </a:extLst>
          </p:cNvPr>
          <p:cNvSpPr/>
          <p:nvPr/>
        </p:nvSpPr>
        <p:spPr>
          <a:xfrm>
            <a:off x="445513" y="3081611"/>
            <a:ext cx="46446" cy="10658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b="1">
              <a:solidFill>
                <a:schemeClr val="bg1"/>
              </a:solidFill>
            </a:endParaRPr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A9D1C38A-9073-B1FC-2C05-F7D01B4473E8}"/>
              </a:ext>
            </a:extLst>
          </p:cNvPr>
          <p:cNvSpPr/>
          <p:nvPr/>
        </p:nvSpPr>
        <p:spPr>
          <a:xfrm>
            <a:off x="574509" y="3081611"/>
            <a:ext cx="2937046" cy="10658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3541" indent="-187326">
              <a:buFont typeface="Wingdings" panose="05000000000000000000" pitchFamily="2" charset="2"/>
              <a:buChar char="§"/>
            </a:pPr>
            <a:r>
              <a:rPr lang="it-IT" b="1">
                <a:solidFill>
                  <a:schemeClr val="bg1"/>
                </a:solidFill>
              </a:rPr>
              <a:t>Salva preventivo</a:t>
            </a:r>
          </a:p>
          <a:p>
            <a:pPr marL="363541" indent="-187326">
              <a:buFont typeface="Wingdings" panose="05000000000000000000" pitchFamily="2" charset="2"/>
              <a:buChar char="§"/>
            </a:pPr>
            <a:r>
              <a:rPr lang="it-IT" b="1">
                <a:solidFill>
                  <a:schemeClr val="bg1"/>
                </a:solidFill>
              </a:rPr>
              <a:t>Abbandono post carrello</a:t>
            </a:r>
          </a:p>
          <a:p>
            <a:pPr marL="363541" indent="-187326">
              <a:buFont typeface="Wingdings" panose="05000000000000000000" pitchFamily="2" charset="2"/>
              <a:buChar char="§"/>
            </a:pPr>
            <a:r>
              <a:rPr lang="it-IT" b="1">
                <a:solidFill>
                  <a:schemeClr val="bg1"/>
                </a:solidFill>
              </a:rPr>
              <a:t>Call Me Back</a:t>
            </a: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283B6A68-4C4E-AB37-26FE-144C0E6F92E8}"/>
              </a:ext>
            </a:extLst>
          </p:cNvPr>
          <p:cNvSpPr txBox="1"/>
          <p:nvPr/>
        </p:nvSpPr>
        <p:spPr>
          <a:xfrm>
            <a:off x="673350" y="4135158"/>
            <a:ext cx="15664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100" i="1"/>
              <a:t>Calore Caldo/Caldissimo</a:t>
            </a:r>
          </a:p>
        </p:txBody>
      </p:sp>
      <p:sp>
        <p:nvSpPr>
          <p:cNvPr id="61" name="Freccia a pentagono 60">
            <a:extLst>
              <a:ext uri="{FF2B5EF4-FFF2-40B4-BE49-F238E27FC236}">
                <a16:creationId xmlns:a16="http://schemas.microsoft.com/office/drawing/2014/main" id="{935017A8-E289-6633-406C-96AD58855458}"/>
              </a:ext>
            </a:extLst>
          </p:cNvPr>
          <p:cNvSpPr/>
          <p:nvPr/>
        </p:nvSpPr>
        <p:spPr>
          <a:xfrm>
            <a:off x="3511555" y="3081612"/>
            <a:ext cx="9055363" cy="1050371"/>
          </a:xfrm>
          <a:prstGeom prst="homePlate">
            <a:avLst>
              <a:gd name="adj" fmla="val 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999" rIns="35999" rtlCol="0" anchor="ctr"/>
          <a:lstStyle/>
          <a:p>
            <a:pPr marL="97994"/>
            <a:r>
              <a:rPr lang="it-IT" sz="1764" b="1" dirty="0">
                <a:solidFill>
                  <a:schemeClr val="tx1"/>
                </a:solidFill>
              </a:rPr>
              <a:t>Proposta di abbinamento al PV </a:t>
            </a:r>
            <a:r>
              <a:rPr lang="it-IT" sz="1764" dirty="0">
                <a:solidFill>
                  <a:schemeClr val="tx1"/>
                </a:solidFill>
              </a:rPr>
              <a:t>basata sul modello geografico</a:t>
            </a:r>
            <a:r>
              <a:rPr lang="it-IT" sz="1764" i="1" dirty="0">
                <a:solidFill>
                  <a:schemeClr val="tx1"/>
                </a:solidFill>
              </a:rPr>
              <a:t> (e successivamente geo-meritocratico)</a:t>
            </a:r>
            <a:r>
              <a:rPr lang="it-IT" sz="1764" dirty="0">
                <a:solidFill>
                  <a:schemeClr val="tx1"/>
                </a:solidFill>
              </a:rPr>
              <a:t> eventualmente </a:t>
            </a:r>
            <a:r>
              <a:rPr lang="it-IT" sz="1764" b="1" dirty="0">
                <a:solidFill>
                  <a:schemeClr val="tx1"/>
                </a:solidFill>
              </a:rPr>
              <a:t>modificabile dal cliente tramite locator, </a:t>
            </a:r>
            <a:r>
              <a:rPr lang="it-IT" sz="1764" dirty="0">
                <a:solidFill>
                  <a:schemeClr val="tx1"/>
                </a:solidFill>
              </a:rPr>
              <a:t>con ricerca del PV di interesse secondo le logiche evidenziate nel capitolo "Black List"</a:t>
            </a: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AE0BB9BC-FEE9-DBFB-F20C-D82A3C61270C}"/>
              </a:ext>
            </a:extLst>
          </p:cNvPr>
          <p:cNvSpPr txBox="1"/>
          <p:nvPr/>
        </p:nvSpPr>
        <p:spPr>
          <a:xfrm>
            <a:off x="7373432" y="4780865"/>
            <a:ext cx="4619504" cy="2025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endParaRPr lang="it-IT"/>
          </a:p>
        </p:txBody>
      </p:sp>
      <p:cxnSp>
        <p:nvCxnSpPr>
          <p:cNvPr id="63" name="Connettore diritto 62">
            <a:extLst>
              <a:ext uri="{FF2B5EF4-FFF2-40B4-BE49-F238E27FC236}">
                <a16:creationId xmlns:a16="http://schemas.microsoft.com/office/drawing/2014/main" id="{A1FE6837-196D-2F92-87C9-92D9173AB68F}"/>
              </a:ext>
            </a:extLst>
          </p:cNvPr>
          <p:cNvCxnSpPr>
            <a:cxnSpLocks/>
          </p:cNvCxnSpPr>
          <p:nvPr/>
        </p:nvCxnSpPr>
        <p:spPr>
          <a:xfrm flipV="1">
            <a:off x="7373432" y="4694901"/>
            <a:ext cx="4619504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8FB82612-FD3C-36D6-D7FE-97ADFBEF2F78}"/>
              </a:ext>
            </a:extLst>
          </p:cNvPr>
          <p:cNvGrpSpPr/>
          <p:nvPr/>
        </p:nvGrpSpPr>
        <p:grpSpPr>
          <a:xfrm>
            <a:off x="574509" y="4408612"/>
            <a:ext cx="10926227" cy="2399061"/>
            <a:chOff x="1114890" y="4194526"/>
            <a:chExt cx="9912075" cy="2176385"/>
          </a:xfrm>
        </p:grpSpPr>
        <p:pic>
          <p:nvPicPr>
            <p:cNvPr id="66" name="Picture 2" descr="immagine">
              <a:extLst>
                <a:ext uri="{FF2B5EF4-FFF2-40B4-BE49-F238E27FC236}">
                  <a16:creationId xmlns:a16="http://schemas.microsoft.com/office/drawing/2014/main" id="{46B68F60-1C0C-2CD3-6EDA-8BC7CA383C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1393" y="4532228"/>
              <a:ext cx="3898817" cy="183868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8" name="Gruppo 67">
              <a:extLst>
                <a:ext uri="{FF2B5EF4-FFF2-40B4-BE49-F238E27FC236}">
                  <a16:creationId xmlns:a16="http://schemas.microsoft.com/office/drawing/2014/main" id="{66C56BF6-4B29-2755-7532-E8A06B3EC157}"/>
                </a:ext>
              </a:extLst>
            </p:cNvPr>
            <p:cNvGrpSpPr/>
            <p:nvPr/>
          </p:nvGrpSpPr>
          <p:grpSpPr>
            <a:xfrm>
              <a:off x="2901393" y="4194526"/>
              <a:ext cx="3898817" cy="259637"/>
              <a:chOff x="3025835" y="4194526"/>
              <a:chExt cx="4190323" cy="259637"/>
            </a:xfrm>
          </p:grpSpPr>
          <p:sp>
            <p:nvSpPr>
              <p:cNvPr id="81" name="CasellaDiTesto 80">
                <a:extLst>
                  <a:ext uri="{FF2B5EF4-FFF2-40B4-BE49-F238E27FC236}">
                    <a16:creationId xmlns:a16="http://schemas.microsoft.com/office/drawing/2014/main" id="{3BEE3B3B-A06C-E5C4-A25F-4F9A428A2C62}"/>
                  </a:ext>
                </a:extLst>
              </p:cNvPr>
              <p:cNvSpPr txBox="1"/>
              <p:nvPr/>
            </p:nvSpPr>
            <p:spPr>
              <a:xfrm>
                <a:off x="4000589" y="4194526"/>
                <a:ext cx="2240816" cy="199189"/>
              </a:xfrm>
              <a:prstGeom prst="rect">
                <a:avLst/>
              </a:prstGeom>
              <a:noFill/>
            </p:spPr>
            <p:txBody>
              <a:bodyPr wrap="none" rtlCol="0" anchor="ctr">
                <a:noAutofit/>
              </a:bodyPr>
              <a:lstStyle/>
              <a:p>
                <a:pPr algn="ctr"/>
                <a:r>
                  <a:rPr lang="it-IT" sz="1764" b="1"/>
                  <a:t>ASSOCIAZIONE AUTOMATICA</a:t>
                </a:r>
              </a:p>
            </p:txBody>
          </p:sp>
          <p:cxnSp>
            <p:nvCxnSpPr>
              <p:cNvPr id="82" name="Connettore diritto 81">
                <a:extLst>
                  <a:ext uri="{FF2B5EF4-FFF2-40B4-BE49-F238E27FC236}">
                    <a16:creationId xmlns:a16="http://schemas.microsoft.com/office/drawing/2014/main" id="{F3CD5D48-1F56-823B-8520-EBAF52F496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25835" y="4454163"/>
                <a:ext cx="4190323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" name="CasellaDiTesto 71">
              <a:extLst>
                <a:ext uri="{FF2B5EF4-FFF2-40B4-BE49-F238E27FC236}">
                  <a16:creationId xmlns:a16="http://schemas.microsoft.com/office/drawing/2014/main" id="{DFD20D5E-60C8-E36D-9AB7-990BE05CEC65}"/>
                </a:ext>
              </a:extLst>
            </p:cNvPr>
            <p:cNvSpPr txBox="1"/>
            <p:nvPr/>
          </p:nvSpPr>
          <p:spPr>
            <a:xfrm>
              <a:off x="7729265" y="4194715"/>
              <a:ext cx="3297700" cy="198944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it-IT" sz="1764" b="1"/>
                <a:t>MODIFICA PUNTO VENDITA</a:t>
              </a:r>
            </a:p>
          </p:txBody>
        </p:sp>
        <p:pic>
          <p:nvPicPr>
            <p:cNvPr id="77" name="Immagine 76">
              <a:extLst>
                <a:ext uri="{FF2B5EF4-FFF2-40B4-BE49-F238E27FC236}">
                  <a16:creationId xmlns:a16="http://schemas.microsoft.com/office/drawing/2014/main" id="{CD5B7FA9-66F9-B63D-BDCB-75BF4C4FD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24144" y="4618076"/>
              <a:ext cx="2507943" cy="1665542"/>
            </a:xfrm>
            <a:prstGeom prst="rect">
              <a:avLst/>
            </a:prstGeom>
          </p:spPr>
        </p:pic>
        <p:cxnSp>
          <p:nvCxnSpPr>
            <p:cNvPr id="78" name="Connettore a gomito 77">
              <a:extLst>
                <a:ext uri="{FF2B5EF4-FFF2-40B4-BE49-F238E27FC236}">
                  <a16:creationId xmlns:a16="http://schemas.microsoft.com/office/drawing/2014/main" id="{970BF62B-A0C2-05F6-F0BE-7C1ABA5394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3850" y="4874936"/>
              <a:ext cx="3800167" cy="1404281"/>
            </a:xfrm>
            <a:prstGeom prst="bentConnector3">
              <a:avLst>
                <a:gd name="adj1" fmla="val 86501"/>
              </a:avLst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Fumetto: rettangolo con angoli arrotondati 78">
              <a:extLst>
                <a:ext uri="{FF2B5EF4-FFF2-40B4-BE49-F238E27FC236}">
                  <a16:creationId xmlns:a16="http://schemas.microsoft.com/office/drawing/2014/main" id="{F43DDF5F-2912-E303-9A17-C05AF9F8DDB4}"/>
                </a:ext>
              </a:extLst>
            </p:cNvPr>
            <p:cNvSpPr/>
            <p:nvPr/>
          </p:nvSpPr>
          <p:spPr>
            <a:xfrm>
              <a:off x="1114890" y="5723223"/>
              <a:ext cx="2003191" cy="465800"/>
            </a:xfrm>
            <a:prstGeom prst="wedgeRoundRectCallout">
              <a:avLst>
                <a:gd name="adj1" fmla="val 64400"/>
                <a:gd name="adj2" fmla="val 3139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5999" rIns="35999" rtlCol="0" anchor="ctr"/>
            <a:lstStyle/>
            <a:p>
              <a:pPr algn="ctr"/>
              <a:r>
                <a:rPr lang="it-IT" sz="1400" b="1" i="1">
                  <a:solidFill>
                    <a:schemeClr val="tx1"/>
                  </a:solidFill>
                </a:rPr>
                <a:t>Agenzia </a:t>
              </a:r>
              <a:br>
                <a:rPr lang="it-IT" sz="1400" b="1" i="1">
                  <a:solidFill>
                    <a:schemeClr val="tx1"/>
                  </a:solidFill>
                </a:rPr>
              </a:br>
              <a:r>
                <a:rPr lang="it-IT" sz="1400" b="1" i="1">
                  <a:solidFill>
                    <a:schemeClr val="tx1"/>
                  </a:solidFill>
                </a:rPr>
                <a:t>proposta da modello</a:t>
              </a:r>
            </a:p>
          </p:txBody>
        </p:sp>
      </p:grpSp>
      <p:sp>
        <p:nvSpPr>
          <p:cNvPr id="83" name="Rettangolo con angoli arrotondati 82">
            <a:extLst>
              <a:ext uri="{FF2B5EF4-FFF2-40B4-BE49-F238E27FC236}">
                <a16:creationId xmlns:a16="http://schemas.microsoft.com/office/drawing/2014/main" id="{42A248FA-3F78-20FB-FE21-AAB3D924E37A}"/>
              </a:ext>
            </a:extLst>
          </p:cNvPr>
          <p:cNvSpPr/>
          <p:nvPr/>
        </p:nvSpPr>
        <p:spPr>
          <a:xfrm>
            <a:off x="735874" y="735751"/>
            <a:ext cx="11764827" cy="78497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8" rIns="35999" rtlCol="0" anchor="ctr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it-IT" sz="2200" b="1" dirty="0">
                <a:solidFill>
                  <a:schemeClr val="tx1"/>
                </a:solidFill>
              </a:rPr>
              <a:t>Visibilità del Punto Vendita proposto dal modello in funzione dello specifico </a:t>
            </a:r>
            <a:r>
              <a:rPr lang="it-IT" sz="2200" b="1" dirty="0" err="1">
                <a:solidFill>
                  <a:schemeClr val="tx1"/>
                </a:solidFill>
              </a:rPr>
              <a:t>funnel</a:t>
            </a:r>
            <a:r>
              <a:rPr lang="it-IT" sz="2200" b="1" dirty="0">
                <a:solidFill>
                  <a:schemeClr val="tx1"/>
                </a:solidFill>
              </a:rPr>
              <a:t> commerciale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t-IT" sz="2200" b="1" dirty="0">
                <a:solidFill>
                  <a:schemeClr val="tx1"/>
                </a:solidFill>
              </a:rPr>
              <a:t>Per Unica solo a partire dal Salvataggio del preventivo, con possibilità di modifica tramite locator</a:t>
            </a:r>
            <a:endParaRPr lang="it-IT" sz="2200" i="1" dirty="0">
              <a:solidFill>
                <a:schemeClr val="tx1"/>
              </a:solidFill>
            </a:endParaRPr>
          </a:p>
        </p:txBody>
      </p:sp>
      <p:sp>
        <p:nvSpPr>
          <p:cNvPr id="84" name="Ovale 83">
            <a:extLst>
              <a:ext uri="{FF2B5EF4-FFF2-40B4-BE49-F238E27FC236}">
                <a16:creationId xmlns:a16="http://schemas.microsoft.com/office/drawing/2014/main" id="{11879E5D-C5FE-D119-B94A-CC63837159FE}"/>
              </a:ext>
            </a:extLst>
          </p:cNvPr>
          <p:cNvSpPr/>
          <p:nvPr/>
        </p:nvSpPr>
        <p:spPr>
          <a:xfrm>
            <a:off x="256676" y="3161139"/>
            <a:ext cx="424118" cy="424118"/>
          </a:xfrm>
          <a:prstGeom prst="ellipse">
            <a:avLst/>
          </a:prstGeom>
          <a:solidFill>
            <a:srgbClr val="EE4329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>
                <a:solidFill>
                  <a:schemeClr val="accent6">
                    <a:lumMod val="10000"/>
                  </a:schemeClr>
                </a:solidFill>
                <a:sym typeface="Wingdings" panose="05000000000000000000" pitchFamily="2" charset="2"/>
              </a:rPr>
              <a:t></a:t>
            </a:r>
            <a:endParaRPr lang="it-IT" sz="240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85" name="Ovale 84">
            <a:extLst>
              <a:ext uri="{FF2B5EF4-FFF2-40B4-BE49-F238E27FC236}">
                <a16:creationId xmlns:a16="http://schemas.microsoft.com/office/drawing/2014/main" id="{E5BEA181-B51D-2F9C-8DDC-CF6170635E1E}"/>
              </a:ext>
            </a:extLst>
          </p:cNvPr>
          <p:cNvSpPr/>
          <p:nvPr/>
        </p:nvSpPr>
        <p:spPr>
          <a:xfrm>
            <a:off x="256676" y="3640897"/>
            <a:ext cx="424118" cy="424118"/>
          </a:xfrm>
          <a:prstGeom prst="ellipse">
            <a:avLst/>
          </a:prstGeom>
          <a:solidFill>
            <a:srgbClr val="C10E1A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>
                <a:solidFill>
                  <a:schemeClr val="accent6">
                    <a:lumMod val="10000"/>
                  </a:schemeClr>
                </a:solidFill>
                <a:sym typeface="Wingdings" panose="05000000000000000000" pitchFamily="2" charset="2"/>
              </a:rPr>
              <a:t></a:t>
            </a:r>
            <a:endParaRPr lang="it-IT" sz="240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331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0A2C9-ABA8-A31E-7419-FFFD08D18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8817CD7-3184-BA39-99D8-88EBCBE13E0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8724" y="2332"/>
          <a:ext cx="2332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0" name="Diapositiva think-cell" r:id="rId6" imgW="435" imgH="435" progId="TCLayout.ActiveDocument.1">
                  <p:embed/>
                </p:oleObj>
              </mc:Choice>
              <mc:Fallback>
                <p:oleObj name="Diapositiva think-cell" r:id="rId6" imgW="435" imgH="43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817CD7-3184-BA39-99D8-88EBCBE13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724" y="2332"/>
                        <a:ext cx="2332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Gruppo 44">
            <a:extLst>
              <a:ext uri="{FF2B5EF4-FFF2-40B4-BE49-F238E27FC236}">
                <a16:creationId xmlns:a16="http://schemas.microsoft.com/office/drawing/2014/main" id="{24A9C2CD-A83F-4976-F220-B58F11B9E0DA}"/>
              </a:ext>
            </a:extLst>
          </p:cNvPr>
          <p:cNvGrpSpPr/>
          <p:nvPr/>
        </p:nvGrpSpPr>
        <p:grpSpPr>
          <a:xfrm>
            <a:off x="8892575" y="4617885"/>
            <a:ext cx="2870200" cy="1025525"/>
            <a:chOff x="8892575" y="4617885"/>
            <a:chExt cx="2870200" cy="1025525"/>
          </a:xfrm>
        </p:grpSpPr>
        <p:pic>
          <p:nvPicPr>
            <p:cNvPr id="120" name="Immagine 119">
              <a:extLst>
                <a:ext uri="{FF2B5EF4-FFF2-40B4-BE49-F238E27FC236}">
                  <a16:creationId xmlns:a16="http://schemas.microsoft.com/office/drawing/2014/main" id="{BD3F28C1-C670-CBEA-ABA7-65A649319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" t="21014" r="30026" b="-633"/>
            <a:stretch>
              <a:fillRect/>
            </a:stretch>
          </p:blipFill>
          <p:spPr>
            <a:xfrm>
              <a:off x="8892575" y="4617885"/>
              <a:ext cx="2870200" cy="1025525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</p:pic>
        <p:pic>
          <p:nvPicPr>
            <p:cNvPr id="34" name="Immagine 33">
              <a:extLst>
                <a:ext uri="{FF2B5EF4-FFF2-40B4-BE49-F238E27FC236}">
                  <a16:creationId xmlns:a16="http://schemas.microsoft.com/office/drawing/2014/main" id="{26AA76C0-CD8B-AF77-1F5C-778C963AC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92" t="64948" r="84459" b="23816"/>
            <a:stretch>
              <a:fillRect/>
            </a:stretch>
          </p:blipFill>
          <p:spPr>
            <a:xfrm>
              <a:off x="9264482" y="5184329"/>
              <a:ext cx="137447" cy="144722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0138E584-6C30-DF51-34C8-6B080F7320A6}"/>
              </a:ext>
            </a:extLst>
          </p:cNvPr>
          <p:cNvGrpSpPr/>
          <p:nvPr/>
        </p:nvGrpSpPr>
        <p:grpSpPr>
          <a:xfrm>
            <a:off x="8892575" y="3507181"/>
            <a:ext cx="2870200" cy="1025525"/>
            <a:chOff x="8892575" y="3507181"/>
            <a:chExt cx="2870200" cy="1025525"/>
          </a:xfrm>
        </p:grpSpPr>
        <p:pic>
          <p:nvPicPr>
            <p:cNvPr id="119" name="Immagine 118">
              <a:extLst>
                <a:ext uri="{FF2B5EF4-FFF2-40B4-BE49-F238E27FC236}">
                  <a16:creationId xmlns:a16="http://schemas.microsoft.com/office/drawing/2014/main" id="{B8EC9DBF-E328-3936-0BA6-C4743198C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" t="21014" r="30026" b="-633"/>
            <a:stretch>
              <a:fillRect/>
            </a:stretch>
          </p:blipFill>
          <p:spPr>
            <a:xfrm>
              <a:off x="8892575" y="3507181"/>
              <a:ext cx="2870200" cy="1025525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</p:pic>
        <p:pic>
          <p:nvPicPr>
            <p:cNvPr id="35" name="Immagine 34">
              <a:extLst>
                <a:ext uri="{FF2B5EF4-FFF2-40B4-BE49-F238E27FC236}">
                  <a16:creationId xmlns:a16="http://schemas.microsoft.com/office/drawing/2014/main" id="{B5519C8E-1A5B-DE62-AD29-40B3922B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92" t="64948" r="84459" b="23816"/>
            <a:stretch>
              <a:fillRect/>
            </a:stretch>
          </p:blipFill>
          <p:spPr>
            <a:xfrm>
              <a:off x="9264482" y="4073822"/>
              <a:ext cx="137447" cy="144722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3" name="Gruppo 42">
            <a:extLst>
              <a:ext uri="{FF2B5EF4-FFF2-40B4-BE49-F238E27FC236}">
                <a16:creationId xmlns:a16="http://schemas.microsoft.com/office/drawing/2014/main" id="{3B5D8975-E929-74EB-E7D8-8155E89255CA}"/>
              </a:ext>
            </a:extLst>
          </p:cNvPr>
          <p:cNvGrpSpPr/>
          <p:nvPr/>
        </p:nvGrpSpPr>
        <p:grpSpPr>
          <a:xfrm>
            <a:off x="8892575" y="2396478"/>
            <a:ext cx="2870200" cy="1025525"/>
            <a:chOff x="8892575" y="2396478"/>
            <a:chExt cx="2870200" cy="1025525"/>
          </a:xfrm>
        </p:grpSpPr>
        <p:pic>
          <p:nvPicPr>
            <p:cNvPr id="118" name="Immagine 117">
              <a:extLst>
                <a:ext uri="{FF2B5EF4-FFF2-40B4-BE49-F238E27FC236}">
                  <a16:creationId xmlns:a16="http://schemas.microsoft.com/office/drawing/2014/main" id="{E1A63494-9E53-7E58-7D86-1669D457B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" t="21014" r="30026" b="-633"/>
            <a:stretch>
              <a:fillRect/>
            </a:stretch>
          </p:blipFill>
          <p:spPr>
            <a:xfrm>
              <a:off x="8892575" y="2396478"/>
              <a:ext cx="2870200" cy="1025525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</p:pic>
        <p:pic>
          <p:nvPicPr>
            <p:cNvPr id="37" name="Immagine 36">
              <a:extLst>
                <a:ext uri="{FF2B5EF4-FFF2-40B4-BE49-F238E27FC236}">
                  <a16:creationId xmlns:a16="http://schemas.microsoft.com/office/drawing/2014/main" id="{12067F9E-B0F0-229A-F285-CEA8267B4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92" t="64948" r="84459" b="23816"/>
            <a:stretch>
              <a:fillRect/>
            </a:stretch>
          </p:blipFill>
          <p:spPr>
            <a:xfrm>
              <a:off x="9264085" y="2960749"/>
              <a:ext cx="137447" cy="144722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41" name="Gruppo 40">
            <a:extLst>
              <a:ext uri="{FF2B5EF4-FFF2-40B4-BE49-F238E27FC236}">
                <a16:creationId xmlns:a16="http://schemas.microsoft.com/office/drawing/2014/main" id="{9D437E38-F674-1757-F9FC-0E54C4DD2085}"/>
              </a:ext>
            </a:extLst>
          </p:cNvPr>
          <p:cNvGrpSpPr/>
          <p:nvPr/>
        </p:nvGrpSpPr>
        <p:grpSpPr>
          <a:xfrm>
            <a:off x="8892575" y="1285775"/>
            <a:ext cx="2870200" cy="1025525"/>
            <a:chOff x="8892575" y="1285775"/>
            <a:chExt cx="2870200" cy="1025525"/>
          </a:xfrm>
        </p:grpSpPr>
        <p:pic>
          <p:nvPicPr>
            <p:cNvPr id="116" name="Immagine 115">
              <a:extLst>
                <a:ext uri="{FF2B5EF4-FFF2-40B4-BE49-F238E27FC236}">
                  <a16:creationId xmlns:a16="http://schemas.microsoft.com/office/drawing/2014/main" id="{4005C3DD-FFDA-2119-4453-69A3F9386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" t="21014" r="30026" b="-633"/>
            <a:stretch>
              <a:fillRect/>
            </a:stretch>
          </p:blipFill>
          <p:spPr>
            <a:xfrm>
              <a:off x="8892575" y="1285775"/>
              <a:ext cx="2870200" cy="1025525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</p:pic>
        <p:pic>
          <p:nvPicPr>
            <p:cNvPr id="39" name="Immagine 38">
              <a:extLst>
                <a:ext uri="{FF2B5EF4-FFF2-40B4-BE49-F238E27FC236}">
                  <a16:creationId xmlns:a16="http://schemas.microsoft.com/office/drawing/2014/main" id="{61A7BC1B-94CE-B2D0-051D-8C7D2179B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92" t="64948" r="84459" b="23816"/>
            <a:stretch>
              <a:fillRect/>
            </a:stretch>
          </p:blipFill>
          <p:spPr>
            <a:xfrm>
              <a:off x="9259514" y="1851816"/>
              <a:ext cx="137447" cy="144722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8" name="TextBox 123">
            <a:extLst>
              <a:ext uri="{FF2B5EF4-FFF2-40B4-BE49-F238E27FC236}">
                <a16:creationId xmlns:a16="http://schemas.microsoft.com/office/drawing/2014/main" id="{FF418618-D39B-CC58-F272-927090F35F64}"/>
              </a:ext>
            </a:extLst>
          </p:cNvPr>
          <p:cNvSpPr txBox="1"/>
          <p:nvPr/>
        </p:nvSpPr>
        <p:spPr>
          <a:xfrm>
            <a:off x="688723" y="6156481"/>
            <a:ext cx="12430824" cy="6340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342900" indent="-342900" defTabSz="1342673">
              <a:spcBef>
                <a:spcPct val="200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en-US" sz="2200" b="1" i="1">
                <a:solidFill>
                  <a:srgbClr val="0F3250"/>
                </a:solidFill>
              </a:rPr>
              <a:t>PRIVILEGIATO SERVIZIO AL CLIENTE IN TERMINI DI DISTANZA MINIMA DALL’INDIRIZZO INSERITO</a:t>
            </a:r>
          </a:p>
          <a:p>
            <a:pPr marL="342900" marR="0" lvl="0" indent="-342900" defTabSz="134267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200" b="1" i="1">
                <a:solidFill>
                  <a:srgbClr val="0F3250"/>
                </a:solidFill>
                <a:latin typeface="Calibri"/>
              </a:rPr>
              <a:t>PRESENZA DEI CONTATORI GARANTISCE </a:t>
            </a:r>
            <a:r>
              <a:rPr kumimoji="0" lang="en-US" sz="2200" b="1" i="1" u="sng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MASSIMA EQUITA' DI DISTRIBUZIONE DEI LEAD NEL PERIMETRO</a:t>
            </a:r>
          </a:p>
        </p:txBody>
      </p:sp>
      <p:sp>
        <p:nvSpPr>
          <p:cNvPr id="52" name="Titolo 4">
            <a:extLst>
              <a:ext uri="{FF2B5EF4-FFF2-40B4-BE49-F238E27FC236}">
                <a16:creationId xmlns:a16="http://schemas.microsoft.com/office/drawing/2014/main" id="{FB662213-81C9-79E8-DC6A-42011D0DB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8" y="87404"/>
            <a:ext cx="12055941" cy="520054"/>
          </a:xfrm>
        </p:spPr>
        <p:txBody>
          <a:bodyPr vert="horz"/>
          <a:lstStyle/>
          <a:p>
            <a:pPr indent="450850"/>
            <a:r>
              <a:rPr lang="it-IT" sz="2800" dirty="0"/>
              <a:t>LOGICHE DI ASSEGNAZIONE | Modello Geografico</a:t>
            </a:r>
          </a:p>
        </p:txBody>
      </p:sp>
      <p:sp>
        <p:nvSpPr>
          <p:cNvPr id="80" name="Rettangolo 79">
            <a:extLst>
              <a:ext uri="{FF2B5EF4-FFF2-40B4-BE49-F238E27FC236}">
                <a16:creationId xmlns:a16="http://schemas.microsoft.com/office/drawing/2014/main" id="{CB1EB882-D94A-054E-A01C-0B9F4DC8796C}"/>
              </a:ext>
            </a:extLst>
          </p:cNvPr>
          <p:cNvSpPr/>
          <p:nvPr/>
        </p:nvSpPr>
        <p:spPr>
          <a:xfrm>
            <a:off x="116539" y="127320"/>
            <a:ext cx="367807" cy="439410"/>
          </a:xfrm>
          <a:prstGeom prst="rect">
            <a:avLst/>
          </a:prstGeom>
          <a:solidFill>
            <a:srgbClr val="EBF3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7" name="CasellaDiTesto 96">
            <a:extLst>
              <a:ext uri="{FF2B5EF4-FFF2-40B4-BE49-F238E27FC236}">
                <a16:creationId xmlns:a16="http://schemas.microsoft.com/office/drawing/2014/main" id="{ACC2642C-E95F-F79B-033A-73379F3DA73C}"/>
              </a:ext>
            </a:extLst>
          </p:cNvPr>
          <p:cNvSpPr txBox="1"/>
          <p:nvPr/>
        </p:nvSpPr>
        <p:spPr>
          <a:xfrm>
            <a:off x="59194" y="7128398"/>
            <a:ext cx="9937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i="1">
                <a:solidFill>
                  <a:schemeClr val="bg1"/>
                </a:solidFill>
              </a:rPr>
              <a:t>Nota: - Per ambiti Unica che prevedono solo inserimento CAP (Pet, Viaggi) necessario utilizzare centro del CAP come indirizzo</a:t>
            </a:r>
            <a:br>
              <a:rPr lang="it-IT" sz="1100" i="1">
                <a:solidFill>
                  <a:schemeClr val="bg1"/>
                </a:solidFill>
              </a:rPr>
            </a:br>
            <a:r>
              <a:rPr lang="it-IT" sz="1100" i="1">
                <a:solidFill>
                  <a:schemeClr val="bg1"/>
                </a:solidFill>
              </a:rPr>
              <a:t>           - Per lead </a:t>
            </a:r>
            <a:r>
              <a:rPr lang="it-IT" sz="1100" i="1" err="1">
                <a:solidFill>
                  <a:schemeClr val="bg1"/>
                </a:solidFill>
              </a:rPr>
              <a:t>UniSalute</a:t>
            </a:r>
            <a:r>
              <a:rPr lang="it-IT" sz="1100" i="1">
                <a:solidFill>
                  <a:schemeClr val="bg1"/>
                </a:solidFill>
              </a:rPr>
              <a:t> con salvataggio preventivo previsto solo inserimento del CAP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74B3FF2A-F0B6-CFB4-3066-E69EBBF440C0}"/>
              </a:ext>
            </a:extLst>
          </p:cNvPr>
          <p:cNvSpPr/>
          <p:nvPr/>
        </p:nvSpPr>
        <p:spPr>
          <a:xfrm>
            <a:off x="875990" y="1291627"/>
            <a:ext cx="7007594" cy="43544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108000" tIns="211449" rIns="108000" bIns="0" rtlCol="0" anchor="t"/>
          <a:lstStyle/>
          <a:p>
            <a:pPr lvl="1" algn="ctr" defTabSz="1007029">
              <a:spcAft>
                <a:spcPts val="661"/>
              </a:spcAft>
              <a:defRPr/>
            </a:pPr>
            <a:endParaRPr kumimoji="0" lang="it-IT" sz="2000" b="0" i="1" u="none" strike="noStrike" kern="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A3A01250-BBDE-8C73-FF08-33DB7EE2E65F}"/>
              </a:ext>
            </a:extLst>
          </p:cNvPr>
          <p:cNvSpPr/>
          <p:nvPr/>
        </p:nvSpPr>
        <p:spPr>
          <a:xfrm>
            <a:off x="1231543" y="917411"/>
            <a:ext cx="6364728" cy="476576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 anchorCtr="0">
            <a:noAutofit/>
          </a:bodyPr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0" cap="none" spc="0" normalizeH="0" baseline="0" noProof="0">
                <a:ln>
                  <a:noFill/>
                </a:ln>
                <a:effectLst/>
                <a:highlight>
                  <a:srgbClr val="FFF2CC"/>
                </a:highlight>
                <a:uLnTx/>
                <a:uFillTx/>
                <a:latin typeface="Calibri"/>
                <a:ea typeface="+mn-ea"/>
                <a:cs typeface="+mn-cs"/>
              </a:rPr>
              <a:t>PV più vicino – </a:t>
            </a:r>
            <a:r>
              <a:rPr kumimoji="0" lang="it-IT" sz="2400" i="1" u="none" strike="noStrike" kern="0" cap="none" spc="0" normalizeH="0" baseline="0" noProof="0">
                <a:ln>
                  <a:noFill/>
                </a:ln>
                <a:effectLst/>
                <a:highlight>
                  <a:srgbClr val="FFF2CC"/>
                </a:highlight>
                <a:uLnTx/>
                <a:uFillTx/>
                <a:latin typeface="Calibri"/>
                <a:ea typeface="+mn-ea"/>
                <a:cs typeface="+mn-cs"/>
              </a:rPr>
              <a:t>con equa distribuzione</a:t>
            </a:r>
            <a:endParaRPr kumimoji="0" lang="it-IT" sz="2000" i="1" u="none" strike="noStrike" kern="0" cap="none" spc="0" normalizeH="0" baseline="0" noProof="0">
              <a:ln>
                <a:noFill/>
              </a:ln>
              <a:effectLst/>
              <a:highlight>
                <a:srgbClr val="FFF2CC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123">
            <a:extLst>
              <a:ext uri="{FF2B5EF4-FFF2-40B4-BE49-F238E27FC236}">
                <a16:creationId xmlns:a16="http://schemas.microsoft.com/office/drawing/2014/main" id="{E8DB6BE6-E2DB-65A1-E976-486EA034F969}"/>
              </a:ext>
            </a:extLst>
          </p:cNvPr>
          <p:cNvSpPr txBox="1"/>
          <p:nvPr/>
        </p:nvSpPr>
        <p:spPr>
          <a:xfrm rot="16200000">
            <a:off x="-1550215" y="3188655"/>
            <a:ext cx="4354420" cy="56036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34267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MOTORE GEOGRAFICO</a:t>
            </a:r>
          </a:p>
        </p:txBody>
      </p:sp>
      <p:sp>
        <p:nvSpPr>
          <p:cNvPr id="5" name="Triangolo isoscele 4">
            <a:extLst>
              <a:ext uri="{FF2B5EF4-FFF2-40B4-BE49-F238E27FC236}">
                <a16:creationId xmlns:a16="http://schemas.microsoft.com/office/drawing/2014/main" id="{E7F5EF82-2AC7-CF5A-5958-5AE68F506A9D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 rot="16200000">
            <a:off x="5715934" y="2948133"/>
            <a:ext cx="4638378" cy="757449"/>
          </a:xfrm>
          <a:prstGeom prst="triangle">
            <a:avLst>
              <a:gd name="adj" fmla="val 10775"/>
            </a:avLst>
          </a:prstGeom>
          <a:gradFill>
            <a:gsLst>
              <a:gs pos="0">
                <a:srgbClr val="BFBFBF"/>
              </a:gs>
              <a:gs pos="40000">
                <a:srgbClr val="EAEAEA"/>
              </a:gs>
              <a:gs pos="77000">
                <a:srgbClr val="B2B2B2">
                  <a:lumMod val="20000"/>
                  <a:lumOff val="80000"/>
                </a:srgbClr>
              </a:gs>
              <a:gs pos="19000">
                <a:srgbClr val="D5D5D5"/>
              </a:gs>
              <a:gs pos="93000">
                <a:srgbClr val="FFFFFF"/>
              </a:gs>
            </a:gsLst>
            <a:lin ang="5400000" scaled="1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grpSp>
        <p:nvGrpSpPr>
          <p:cNvPr id="76" name="Gruppo 75">
            <a:extLst>
              <a:ext uri="{FF2B5EF4-FFF2-40B4-BE49-F238E27FC236}">
                <a16:creationId xmlns:a16="http://schemas.microsoft.com/office/drawing/2014/main" id="{C1EDD5FE-C30E-AC6E-982B-EDE908A9B311}"/>
              </a:ext>
            </a:extLst>
          </p:cNvPr>
          <p:cNvGrpSpPr/>
          <p:nvPr/>
        </p:nvGrpSpPr>
        <p:grpSpPr>
          <a:xfrm>
            <a:off x="1133514" y="823403"/>
            <a:ext cx="664907" cy="664907"/>
            <a:chOff x="1133514" y="775635"/>
            <a:chExt cx="664907" cy="664907"/>
          </a:xfrm>
        </p:grpSpPr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8BD8A9CB-37BE-FC43-AAC7-EA3A334825C8}"/>
                </a:ext>
              </a:extLst>
            </p:cNvPr>
            <p:cNvSpPr/>
            <p:nvPr/>
          </p:nvSpPr>
          <p:spPr>
            <a:xfrm>
              <a:off x="1133514" y="775635"/>
              <a:ext cx="664907" cy="66490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tIns="0" rIns="36000" bIns="0" rtlCol="0" anchor="ctr"/>
            <a:lstStyle/>
            <a:p>
              <a:pPr algn="l"/>
              <a:endParaRPr lang="it-IT" sz="1400" b="1">
                <a:solidFill>
                  <a:schemeClr val="tx1"/>
                </a:solidFill>
              </a:endParaRPr>
            </a:p>
          </p:txBody>
        </p:sp>
        <p:pic>
          <p:nvPicPr>
            <p:cNvPr id="15" name="Immagine 14" descr="Immagine che contiene giallo, clipart, cerchio&#10;&#10;Descrizione generata automaticamente">
              <a:extLst>
                <a:ext uri="{FF2B5EF4-FFF2-40B4-BE49-F238E27FC236}">
                  <a16:creationId xmlns:a16="http://schemas.microsoft.com/office/drawing/2014/main" id="{79841DB1-15AD-D084-F7C8-7901F084A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4665" y="843616"/>
              <a:ext cx="502603" cy="502603"/>
            </a:xfrm>
            <a:prstGeom prst="rect">
              <a:avLst/>
            </a:prstGeom>
          </p:spPr>
        </p:pic>
      </p:grp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5198D2AA-1A7B-7164-51B5-7BFA49B645C4}"/>
              </a:ext>
            </a:extLst>
          </p:cNvPr>
          <p:cNvSpPr txBox="1"/>
          <p:nvPr/>
        </p:nvSpPr>
        <p:spPr>
          <a:xfrm rot="16200000">
            <a:off x="7391130" y="4172605"/>
            <a:ext cx="1468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i="1" u="sng"/>
              <a:t>Esempio</a:t>
            </a:r>
          </a:p>
        </p:txBody>
      </p:sp>
      <p:grpSp>
        <p:nvGrpSpPr>
          <p:cNvPr id="69" name="Gruppo 68">
            <a:extLst>
              <a:ext uri="{FF2B5EF4-FFF2-40B4-BE49-F238E27FC236}">
                <a16:creationId xmlns:a16="http://schemas.microsoft.com/office/drawing/2014/main" id="{DC8DA73C-D068-B59E-B7BE-59186A7DC428}"/>
              </a:ext>
            </a:extLst>
          </p:cNvPr>
          <p:cNvGrpSpPr/>
          <p:nvPr/>
        </p:nvGrpSpPr>
        <p:grpSpPr>
          <a:xfrm>
            <a:off x="1194177" y="1563477"/>
            <a:ext cx="1120560" cy="3870097"/>
            <a:chOff x="662880" y="1292162"/>
            <a:chExt cx="1529962" cy="2220430"/>
          </a:xfrm>
        </p:grpSpPr>
        <p:sp>
          <p:nvSpPr>
            <p:cNvPr id="70" name="Freeform 5">
              <a:extLst>
                <a:ext uri="{FF2B5EF4-FFF2-40B4-BE49-F238E27FC236}">
                  <a16:creationId xmlns:a16="http://schemas.microsoft.com/office/drawing/2014/main" id="{BCCFC74D-1785-D2FA-25EF-0FE928895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880" y="1292162"/>
              <a:ext cx="615851" cy="2220430"/>
            </a:xfrm>
            <a:custGeom>
              <a:avLst/>
              <a:gdLst>
                <a:gd name="T0" fmla="*/ 0 w 446"/>
                <a:gd name="T1" fmla="*/ 0 h 2796"/>
                <a:gd name="T2" fmla="*/ 446 w 446"/>
                <a:gd name="T3" fmla="*/ 2796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6" h="2796">
                  <a:moveTo>
                    <a:pt x="0" y="0"/>
                  </a:moveTo>
                  <a:cubicBezTo>
                    <a:pt x="269" y="444"/>
                    <a:pt x="446" y="1556"/>
                    <a:pt x="446" y="2796"/>
                  </a:cubicBez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00">
                <a:latin typeface="BNPP Sans "/>
              </a:endParaRPr>
            </a:p>
          </p:txBody>
        </p:sp>
        <p:sp>
          <p:nvSpPr>
            <p:cNvPr id="71" name="Freeform 6">
              <a:extLst>
                <a:ext uri="{FF2B5EF4-FFF2-40B4-BE49-F238E27FC236}">
                  <a16:creationId xmlns:a16="http://schemas.microsoft.com/office/drawing/2014/main" id="{80498E36-0F1B-0A25-E2B1-D9A755E26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991" y="1292162"/>
              <a:ext cx="615851" cy="2220430"/>
            </a:xfrm>
            <a:custGeom>
              <a:avLst/>
              <a:gdLst>
                <a:gd name="T0" fmla="*/ 446 w 446"/>
                <a:gd name="T1" fmla="*/ 0 h 2796"/>
                <a:gd name="T2" fmla="*/ 0 w 446"/>
                <a:gd name="T3" fmla="*/ 2796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6" h="2796">
                  <a:moveTo>
                    <a:pt x="446" y="0"/>
                  </a:moveTo>
                  <a:cubicBezTo>
                    <a:pt x="178" y="444"/>
                    <a:pt x="0" y="1556"/>
                    <a:pt x="0" y="2796"/>
                  </a:cubicBez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00">
                <a:latin typeface="BNPP Sans "/>
              </a:endParaRPr>
            </a:p>
          </p:txBody>
        </p:sp>
      </p:grp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9B08887C-51E7-4D6E-04ED-F776F8134C24}"/>
              </a:ext>
            </a:extLst>
          </p:cNvPr>
          <p:cNvSpPr/>
          <p:nvPr/>
        </p:nvSpPr>
        <p:spPr>
          <a:xfrm>
            <a:off x="1053895" y="1859865"/>
            <a:ext cx="1411210" cy="586132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90000" rIns="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it-IT" sz="1600" i="1" u="sng" kern="0">
                <a:latin typeface="BNPP Sans Light"/>
              </a:rPr>
              <a:t>CRITERIO DI</a:t>
            </a:r>
          </a:p>
          <a:p>
            <a:pPr algn="ctr">
              <a:defRPr/>
            </a:pPr>
            <a:r>
              <a:rPr lang="it-IT" sz="1600" i="1" u="sng" kern="0">
                <a:latin typeface="BNPP Sans Light"/>
              </a:rPr>
              <a:t>ASSEGNAZIONE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A235C2F9-CDA5-E860-DFC0-97F100539206}"/>
              </a:ext>
            </a:extLst>
          </p:cNvPr>
          <p:cNvSpPr/>
          <p:nvPr/>
        </p:nvSpPr>
        <p:spPr>
          <a:xfrm>
            <a:off x="1053895" y="4536499"/>
            <a:ext cx="1411210" cy="585788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90000" rIns="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it-IT" sz="1600" i="1" u="sng" kern="0">
                <a:latin typeface="BNPP Sans Light"/>
              </a:rPr>
              <a:t>PERIMETRO DI RIFERIMENTO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C95FB424-ADA1-118E-C0A2-699920C349A6}"/>
              </a:ext>
            </a:extLst>
          </p:cNvPr>
          <p:cNvSpPr/>
          <p:nvPr/>
        </p:nvSpPr>
        <p:spPr>
          <a:xfrm>
            <a:off x="1053895" y="3198012"/>
            <a:ext cx="1411210" cy="586132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90000" rIns="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r>
              <a:rPr lang="it-IT" sz="1600" i="1" u="sng" kern="0">
                <a:latin typeface="BNPP Sans Light"/>
              </a:rPr>
              <a:t>MECCANISMO EQUA DISTRIB.</a:t>
            </a:r>
          </a:p>
        </p:txBody>
      </p:sp>
      <p:grpSp>
        <p:nvGrpSpPr>
          <p:cNvPr id="88" name="Gruppo 87">
            <a:extLst>
              <a:ext uri="{FF2B5EF4-FFF2-40B4-BE49-F238E27FC236}">
                <a16:creationId xmlns:a16="http://schemas.microsoft.com/office/drawing/2014/main" id="{F68D6151-F6F4-3193-6F84-1D304D842961}"/>
              </a:ext>
            </a:extLst>
          </p:cNvPr>
          <p:cNvGrpSpPr/>
          <p:nvPr/>
        </p:nvGrpSpPr>
        <p:grpSpPr>
          <a:xfrm>
            <a:off x="601984" y="5809522"/>
            <a:ext cx="12235805" cy="218247"/>
            <a:chOff x="831461" y="5821473"/>
            <a:chExt cx="12235805" cy="218247"/>
          </a:xfrm>
        </p:grpSpPr>
        <p:sp>
          <p:nvSpPr>
            <p:cNvPr id="89" name="Isosceles Triangle 49">
              <a:extLst>
                <a:ext uri="{FF2B5EF4-FFF2-40B4-BE49-F238E27FC236}">
                  <a16:creationId xmlns:a16="http://schemas.microsoft.com/office/drawing/2014/main" id="{6ECCDE97-03DD-8D17-9118-AC9EDA3DC727}"/>
                </a:ext>
              </a:extLst>
            </p:cNvPr>
            <p:cNvSpPr/>
            <p:nvPr/>
          </p:nvSpPr>
          <p:spPr>
            <a:xfrm rot="10800000">
              <a:off x="6521311" y="5821473"/>
              <a:ext cx="856100" cy="218247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l"/>
              <a:endParaRPr lang="it-IT" sz="1400" b="1">
                <a:solidFill>
                  <a:schemeClr val="tx1"/>
                </a:solidFill>
              </a:endParaRPr>
            </a:p>
          </p:txBody>
        </p:sp>
        <p:grpSp>
          <p:nvGrpSpPr>
            <p:cNvPr id="90" name="Gruppo 89">
              <a:extLst>
                <a:ext uri="{FF2B5EF4-FFF2-40B4-BE49-F238E27FC236}">
                  <a16:creationId xmlns:a16="http://schemas.microsoft.com/office/drawing/2014/main" id="{301F1FC0-BA48-3F31-2E22-098207F6B82D}"/>
                </a:ext>
              </a:extLst>
            </p:cNvPr>
            <p:cNvGrpSpPr/>
            <p:nvPr/>
          </p:nvGrpSpPr>
          <p:grpSpPr>
            <a:xfrm>
              <a:off x="831461" y="5872312"/>
              <a:ext cx="12235805" cy="56575"/>
              <a:chOff x="3126303" y="5827592"/>
              <a:chExt cx="2105996" cy="46756"/>
            </a:xfrm>
          </p:grpSpPr>
          <p:cxnSp>
            <p:nvCxnSpPr>
              <p:cNvPr id="92" name="Straight Connector 48">
                <a:extLst>
                  <a:ext uri="{FF2B5EF4-FFF2-40B4-BE49-F238E27FC236}">
                    <a16:creationId xmlns:a16="http://schemas.microsoft.com/office/drawing/2014/main" id="{EECEF8A5-6014-E482-8F6F-2189457D89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6303" y="5874348"/>
                <a:ext cx="2105996" cy="0"/>
              </a:xfrm>
              <a:prstGeom prst="lin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48">
                <a:extLst>
                  <a:ext uri="{FF2B5EF4-FFF2-40B4-BE49-F238E27FC236}">
                    <a16:creationId xmlns:a16="http://schemas.microsoft.com/office/drawing/2014/main" id="{E5C09C48-BD05-F139-42AB-0A39709F14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6303" y="5827592"/>
                <a:ext cx="2105996" cy="0"/>
              </a:xfrm>
              <a:prstGeom prst="lin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TextBox 123">
            <a:extLst>
              <a:ext uri="{FF2B5EF4-FFF2-40B4-BE49-F238E27FC236}">
                <a16:creationId xmlns:a16="http://schemas.microsoft.com/office/drawing/2014/main" id="{A39D88B9-09F2-699F-BCA9-2A8B63CF8C6D}"/>
              </a:ext>
            </a:extLst>
          </p:cNvPr>
          <p:cNvSpPr txBox="1"/>
          <p:nvPr/>
        </p:nvSpPr>
        <p:spPr>
          <a:xfrm>
            <a:off x="11891894" y="1282011"/>
            <a:ext cx="1102743" cy="10261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8000" tIns="0" rIns="0" bIns="0" numCol="1" rtlCol="0" anchor="ctr">
            <a:noAutofit/>
          </a:bodyPr>
          <a:lstStyle/>
          <a:p>
            <a:pPr marR="0" lvl="0" defTabSz="1342673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kumimoji="0" lang="en-US" sz="1400" i="1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77800" marR="0" lvl="0" indent="-177800" defTabSz="1342673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1" strike="noStrike" kern="1200" cap="none" spc="0" normalizeH="0" baseline="0" noProof="0">
                <a:ln>
                  <a:noFill/>
                </a:ln>
                <a:effectLst/>
                <a:highlight>
                  <a:srgbClr val="DEF1CA"/>
                </a:highlight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1400" i="1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1400" i="1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1 0</a:t>
            </a:r>
          </a:p>
          <a:p>
            <a:pPr marL="177800" marR="0" lvl="0" indent="-177800" defTabSz="1342673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i="1">
                <a:latin typeface="Calibri"/>
                <a:sym typeface="Wingdings" panose="05000000000000000000" pitchFamily="2" charset="2"/>
              </a:rPr>
              <a:t>B</a:t>
            </a:r>
            <a:r>
              <a:rPr lang="en-US" sz="1400" i="1">
                <a:latin typeface="Calibri"/>
                <a:sym typeface="Wingdings" panose="05000000000000000000" pitchFamily="2" charset="2"/>
              </a:rPr>
              <a:t>: 1</a:t>
            </a: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sym typeface="Wingdings" panose="05000000000000000000" pitchFamily="2" charset="2"/>
              </a:rPr>
              <a:t>C</a:t>
            </a:r>
            <a:r>
              <a:rPr lang="en-US" sz="1400" i="1">
                <a:sym typeface="Wingdings" panose="05000000000000000000" pitchFamily="2" charset="2"/>
              </a:rPr>
              <a:t>: 1</a:t>
            </a: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latin typeface="Calibri"/>
                <a:sym typeface="Wingdings" panose="05000000000000000000" pitchFamily="2" charset="2"/>
              </a:rPr>
              <a:t>D</a:t>
            </a:r>
            <a:r>
              <a:rPr lang="en-US" sz="1400" i="1">
                <a:latin typeface="Calibri"/>
                <a:sym typeface="Wingdings" panose="05000000000000000000" pitchFamily="2" charset="2"/>
              </a:rPr>
              <a:t>: 1</a:t>
            </a:r>
          </a:p>
          <a:p>
            <a:pPr marR="0" lvl="0" defTabSz="1342673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1400" b="1" i="1">
              <a:latin typeface="Calibri"/>
              <a:sym typeface="Wingdings" panose="05000000000000000000" pitchFamily="2" charset="2"/>
            </a:endParaRPr>
          </a:p>
        </p:txBody>
      </p:sp>
      <p:sp>
        <p:nvSpPr>
          <p:cNvPr id="8" name="TextBox 123">
            <a:extLst>
              <a:ext uri="{FF2B5EF4-FFF2-40B4-BE49-F238E27FC236}">
                <a16:creationId xmlns:a16="http://schemas.microsoft.com/office/drawing/2014/main" id="{8550FF03-D658-B6A0-EE40-54293911BFAC}"/>
              </a:ext>
            </a:extLst>
          </p:cNvPr>
          <p:cNvSpPr txBox="1"/>
          <p:nvPr/>
        </p:nvSpPr>
        <p:spPr>
          <a:xfrm>
            <a:off x="11891857" y="2394679"/>
            <a:ext cx="1102743" cy="10261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8000" tIns="0" rIns="0" bIns="0" numCol="1" rtlCol="0" anchor="ctr">
            <a:noAutofit/>
          </a:bodyPr>
          <a:lstStyle/>
          <a:p>
            <a:pPr lvl="0" defTabSz="1342673">
              <a:defRPr/>
            </a:pPr>
            <a:endParaRPr lang="en-US" sz="1400" b="1" i="1">
              <a:highlight>
                <a:srgbClr val="DEF1CA"/>
              </a:highlight>
              <a:latin typeface="Calibri"/>
              <a:sym typeface="Wingdings" panose="05000000000000000000" pitchFamily="2" charset="2"/>
            </a:endParaRPr>
          </a:p>
          <a:p>
            <a:pPr marL="177800" lvl="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highlight>
                  <a:srgbClr val="F8AEB2"/>
                </a:highlight>
              </a:rPr>
              <a:t>A</a:t>
            </a:r>
            <a:r>
              <a:rPr lang="en-US" sz="1400" i="1"/>
              <a:t>: </a:t>
            </a:r>
            <a:r>
              <a:rPr lang="en-US" sz="1400" i="1">
                <a:sym typeface="Wingdings" panose="05000000000000000000" pitchFamily="2" charset="2"/>
              </a:rPr>
              <a:t>0</a:t>
            </a: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highlight>
                  <a:srgbClr val="DEF1CA"/>
                </a:highlight>
                <a:sym typeface="Wingdings" panose="05000000000000000000" pitchFamily="2" charset="2"/>
              </a:rPr>
              <a:t>B</a:t>
            </a:r>
            <a:r>
              <a:rPr lang="en-US" sz="1400" i="1">
                <a:sym typeface="Wingdings" panose="05000000000000000000" pitchFamily="2" charset="2"/>
              </a:rPr>
              <a:t>: 1 0</a:t>
            </a: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sym typeface="Wingdings" panose="05000000000000000000" pitchFamily="2" charset="2"/>
              </a:rPr>
              <a:t>C</a:t>
            </a:r>
            <a:r>
              <a:rPr lang="en-US" sz="1400" i="1">
                <a:sym typeface="Wingdings" panose="05000000000000000000" pitchFamily="2" charset="2"/>
              </a:rPr>
              <a:t>: 1</a:t>
            </a: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sym typeface="Wingdings" panose="05000000000000000000" pitchFamily="2" charset="2"/>
              </a:rPr>
              <a:t>D</a:t>
            </a:r>
            <a:r>
              <a:rPr lang="en-US" sz="1400" i="1">
                <a:sym typeface="Wingdings" panose="05000000000000000000" pitchFamily="2" charset="2"/>
              </a:rPr>
              <a:t>: 1</a:t>
            </a:r>
          </a:p>
          <a:p>
            <a:pPr defTabSz="1342673">
              <a:defRPr/>
            </a:pPr>
            <a:endParaRPr lang="en-US" sz="1400" i="1">
              <a:latin typeface="Calibri"/>
              <a:sym typeface="Wingdings" panose="05000000000000000000" pitchFamily="2" charset="2"/>
            </a:endParaRPr>
          </a:p>
        </p:txBody>
      </p:sp>
      <p:sp>
        <p:nvSpPr>
          <p:cNvPr id="46" name="TextBox 123">
            <a:extLst>
              <a:ext uri="{FF2B5EF4-FFF2-40B4-BE49-F238E27FC236}">
                <a16:creationId xmlns:a16="http://schemas.microsoft.com/office/drawing/2014/main" id="{7936C542-E75D-8337-28E3-ED2D55EC89EE}"/>
              </a:ext>
            </a:extLst>
          </p:cNvPr>
          <p:cNvSpPr txBox="1"/>
          <p:nvPr/>
        </p:nvSpPr>
        <p:spPr>
          <a:xfrm>
            <a:off x="11891857" y="3507346"/>
            <a:ext cx="1102743" cy="10261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8000" tIns="0" rIns="0" bIns="0" numCol="1" rtlCol="0" anchor="ctr">
            <a:noAutofit/>
          </a:bodyPr>
          <a:lstStyle/>
          <a:p>
            <a:pPr marR="0" lvl="0" defTabSz="1342673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kumimoji="0" lang="en-US" sz="1400" i="1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77800" marR="0" lvl="0" indent="-177800" defTabSz="1342673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1" strike="noStrike" kern="1200" cap="none" spc="0" normalizeH="0" baseline="0" noProof="0">
                <a:ln>
                  <a:noFill/>
                </a:ln>
                <a:effectLst/>
                <a:highlight>
                  <a:srgbClr val="F8AEB2"/>
                </a:highlight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1400" i="1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1400" i="1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0</a:t>
            </a:r>
          </a:p>
          <a:p>
            <a:pPr marL="177800" lvl="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highlight>
                  <a:srgbClr val="F8AEB2"/>
                </a:highlight>
                <a:latin typeface="Calibri"/>
                <a:sym typeface="Wingdings" panose="05000000000000000000" pitchFamily="2" charset="2"/>
              </a:rPr>
              <a:t>B</a:t>
            </a:r>
            <a:r>
              <a:rPr lang="en-US" sz="1400" i="1">
                <a:latin typeface="Calibri"/>
                <a:sym typeface="Wingdings" panose="05000000000000000000" pitchFamily="2" charset="2"/>
              </a:rPr>
              <a:t>: </a:t>
            </a:r>
            <a:r>
              <a:rPr lang="en-US" sz="1400" i="1">
                <a:sym typeface="Wingdings" panose="05000000000000000000" pitchFamily="2" charset="2"/>
              </a:rPr>
              <a:t>0</a:t>
            </a: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highlight>
                  <a:srgbClr val="DEF1CA"/>
                </a:highlight>
                <a:sym typeface="Wingdings" panose="05000000000000000000" pitchFamily="2" charset="2"/>
              </a:rPr>
              <a:t>C</a:t>
            </a:r>
            <a:r>
              <a:rPr lang="en-US" sz="1400" i="1">
                <a:sym typeface="Wingdings" panose="05000000000000000000" pitchFamily="2" charset="2"/>
              </a:rPr>
              <a:t>: 1 0</a:t>
            </a: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sym typeface="Wingdings" panose="05000000000000000000" pitchFamily="2" charset="2"/>
              </a:rPr>
              <a:t>D</a:t>
            </a:r>
            <a:r>
              <a:rPr lang="en-US" sz="1400" i="1">
                <a:sym typeface="Wingdings" panose="05000000000000000000" pitchFamily="2" charset="2"/>
              </a:rPr>
              <a:t>: 1</a:t>
            </a:r>
          </a:p>
          <a:p>
            <a:pPr lvl="0" defTabSz="1342673">
              <a:defRPr/>
            </a:pPr>
            <a:endParaRPr lang="en-US" sz="1400" i="1">
              <a:latin typeface="Calibri"/>
              <a:sym typeface="Wingdings" panose="05000000000000000000" pitchFamily="2" charset="2"/>
            </a:endParaRP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DC3314D4-CB21-09FD-E85E-ECF929167B99}"/>
              </a:ext>
            </a:extLst>
          </p:cNvPr>
          <p:cNvSpPr/>
          <p:nvPr/>
        </p:nvSpPr>
        <p:spPr>
          <a:xfrm>
            <a:off x="8460715" y="1279485"/>
            <a:ext cx="426780" cy="1037634"/>
          </a:xfrm>
          <a:prstGeom prst="rect">
            <a:avLst/>
          </a:prstGeom>
          <a:solidFill>
            <a:schemeClr val="tx1"/>
          </a:solidFill>
          <a:ln>
            <a:solidFill>
              <a:srgbClr val="741709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1342673">
              <a:spcBef>
                <a:spcPct val="20000"/>
              </a:spcBef>
            </a:pPr>
            <a:r>
              <a:rPr lang="it-IT" sz="2400" b="1" i="1" kern="0">
                <a:solidFill>
                  <a:srgbClr val="FFFFFF"/>
                </a:solidFill>
              </a:rPr>
              <a:t>T0</a:t>
            </a:r>
          </a:p>
        </p:txBody>
      </p:sp>
      <p:sp>
        <p:nvSpPr>
          <p:cNvPr id="73" name="Rettangolo 72">
            <a:extLst>
              <a:ext uri="{FF2B5EF4-FFF2-40B4-BE49-F238E27FC236}">
                <a16:creationId xmlns:a16="http://schemas.microsoft.com/office/drawing/2014/main" id="{869DE3B1-4AA5-3CBA-843A-81CBBD77BAC3}"/>
              </a:ext>
            </a:extLst>
          </p:cNvPr>
          <p:cNvSpPr/>
          <p:nvPr/>
        </p:nvSpPr>
        <p:spPr>
          <a:xfrm>
            <a:off x="8460715" y="2390706"/>
            <a:ext cx="426780" cy="1037634"/>
          </a:xfrm>
          <a:prstGeom prst="rect">
            <a:avLst/>
          </a:prstGeom>
          <a:solidFill>
            <a:schemeClr val="tx1"/>
          </a:solidFill>
          <a:ln>
            <a:solidFill>
              <a:srgbClr val="741709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1342673">
              <a:spcBef>
                <a:spcPct val="20000"/>
              </a:spcBef>
            </a:pPr>
            <a:r>
              <a:rPr lang="it-IT" sz="2400" b="1" i="1" kern="0">
                <a:solidFill>
                  <a:srgbClr val="FFFFFF"/>
                </a:solidFill>
              </a:rPr>
              <a:t>T1</a:t>
            </a:r>
          </a:p>
        </p:txBody>
      </p:sp>
      <p:sp>
        <p:nvSpPr>
          <p:cNvPr id="74" name="Rettangolo 73">
            <a:extLst>
              <a:ext uri="{FF2B5EF4-FFF2-40B4-BE49-F238E27FC236}">
                <a16:creationId xmlns:a16="http://schemas.microsoft.com/office/drawing/2014/main" id="{FE26CED4-8085-654B-DF78-84DF2D97FB9E}"/>
              </a:ext>
            </a:extLst>
          </p:cNvPr>
          <p:cNvSpPr/>
          <p:nvPr/>
        </p:nvSpPr>
        <p:spPr>
          <a:xfrm>
            <a:off x="8460715" y="3501928"/>
            <a:ext cx="426780" cy="1037634"/>
          </a:xfrm>
          <a:prstGeom prst="rect">
            <a:avLst/>
          </a:prstGeom>
          <a:solidFill>
            <a:schemeClr val="tx1"/>
          </a:solidFill>
          <a:ln>
            <a:solidFill>
              <a:srgbClr val="741709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1342673">
              <a:spcBef>
                <a:spcPct val="20000"/>
              </a:spcBef>
            </a:pPr>
            <a:r>
              <a:rPr lang="it-IT" sz="2400" b="1" i="1" kern="0">
                <a:solidFill>
                  <a:srgbClr val="FFFFFF"/>
                </a:solidFill>
              </a:rPr>
              <a:t>T2</a:t>
            </a:r>
          </a:p>
        </p:txBody>
      </p:sp>
      <p:sp>
        <p:nvSpPr>
          <p:cNvPr id="75" name="Rettangolo 74">
            <a:extLst>
              <a:ext uri="{FF2B5EF4-FFF2-40B4-BE49-F238E27FC236}">
                <a16:creationId xmlns:a16="http://schemas.microsoft.com/office/drawing/2014/main" id="{A6F775DD-261A-0A93-DDC2-1B23B6B1D242}"/>
              </a:ext>
            </a:extLst>
          </p:cNvPr>
          <p:cNvSpPr/>
          <p:nvPr/>
        </p:nvSpPr>
        <p:spPr>
          <a:xfrm>
            <a:off x="8460715" y="4612200"/>
            <a:ext cx="426780" cy="1036235"/>
          </a:xfrm>
          <a:prstGeom prst="rect">
            <a:avLst/>
          </a:prstGeom>
          <a:solidFill>
            <a:schemeClr val="tx1"/>
          </a:solidFill>
          <a:ln>
            <a:solidFill>
              <a:srgbClr val="741709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1342673">
              <a:spcBef>
                <a:spcPct val="20000"/>
              </a:spcBef>
            </a:pPr>
            <a:r>
              <a:rPr lang="it-IT" sz="2400" b="1" i="1" kern="0">
                <a:solidFill>
                  <a:srgbClr val="FFFFFF"/>
                </a:solidFill>
              </a:rPr>
              <a:t>T3</a:t>
            </a:r>
          </a:p>
        </p:txBody>
      </p:sp>
      <p:sp>
        <p:nvSpPr>
          <p:cNvPr id="115" name="TextBox 123">
            <a:extLst>
              <a:ext uri="{FF2B5EF4-FFF2-40B4-BE49-F238E27FC236}">
                <a16:creationId xmlns:a16="http://schemas.microsoft.com/office/drawing/2014/main" id="{8E613DEE-06B8-640C-086F-8795E7671C9C}"/>
              </a:ext>
            </a:extLst>
          </p:cNvPr>
          <p:cNvSpPr txBox="1"/>
          <p:nvPr/>
        </p:nvSpPr>
        <p:spPr>
          <a:xfrm>
            <a:off x="11891857" y="4617224"/>
            <a:ext cx="1102743" cy="10261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8000" tIns="0" rIns="0" bIns="0" numCol="1" rtlCol="0" anchor="ctr">
            <a:noAutofit/>
          </a:bodyPr>
          <a:lstStyle/>
          <a:p>
            <a:pPr marR="0" lvl="0" defTabSz="1342673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kumimoji="0" lang="en-US" sz="1400" i="1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77800" marR="0" lvl="0" indent="-177800" defTabSz="1342673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i="1">
                <a:highlight>
                  <a:srgbClr val="F8AEB2"/>
                </a:highlight>
                <a:latin typeface="Calibri"/>
              </a:rPr>
              <a:t>A</a:t>
            </a:r>
            <a:r>
              <a:rPr kumimoji="0" lang="en-US" sz="1400" i="1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1400" i="1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0</a:t>
            </a:r>
          </a:p>
          <a:p>
            <a:pPr marL="177800" lvl="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highlight>
                  <a:srgbClr val="DEF1CA"/>
                </a:highlight>
                <a:sym typeface="Wingdings" panose="05000000000000000000" pitchFamily="2" charset="2"/>
              </a:rPr>
              <a:t>B</a:t>
            </a:r>
            <a:r>
              <a:rPr lang="en-US" sz="1400" i="1">
                <a:latin typeface="Calibri"/>
                <a:sym typeface="Wingdings" panose="05000000000000000000" pitchFamily="2" charset="2"/>
              </a:rPr>
              <a:t>: 1</a:t>
            </a:r>
            <a:r>
              <a:rPr lang="en-US" sz="1400" i="1">
                <a:sym typeface="Wingdings" panose="05000000000000000000" pitchFamily="2" charset="2"/>
              </a:rPr>
              <a:t> 0</a:t>
            </a:r>
            <a:r>
              <a:rPr lang="en-US" sz="1400" i="1">
                <a:latin typeface="Calibri"/>
                <a:sym typeface="Wingdings" panose="05000000000000000000" pitchFamily="2" charset="2"/>
              </a:rPr>
              <a:t> </a:t>
            </a:r>
            <a:endParaRPr lang="en-US" sz="1400" i="1">
              <a:sym typeface="Wingdings" panose="05000000000000000000" pitchFamily="2" charset="2"/>
            </a:endParaRP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sym typeface="Wingdings" panose="05000000000000000000" pitchFamily="2" charset="2"/>
              </a:rPr>
              <a:t>C</a:t>
            </a:r>
            <a:r>
              <a:rPr lang="en-US" sz="1400" i="1">
                <a:sym typeface="Wingdings" panose="05000000000000000000" pitchFamily="2" charset="2"/>
              </a:rPr>
              <a:t>: 1</a:t>
            </a: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sym typeface="Wingdings" panose="05000000000000000000" pitchFamily="2" charset="2"/>
              </a:rPr>
              <a:t>D</a:t>
            </a:r>
            <a:r>
              <a:rPr lang="en-US" sz="1400" i="1">
                <a:sym typeface="Wingdings" panose="05000000000000000000" pitchFamily="2" charset="2"/>
              </a:rPr>
              <a:t>: 1</a:t>
            </a:r>
          </a:p>
          <a:p>
            <a:pPr lvl="0" defTabSz="1342673">
              <a:defRPr/>
            </a:pPr>
            <a:endParaRPr lang="en-US" sz="1400" i="1">
              <a:latin typeface="Calibri"/>
              <a:sym typeface="Wingdings" panose="05000000000000000000" pitchFamily="2" charset="2"/>
            </a:endParaRPr>
          </a:p>
        </p:txBody>
      </p:sp>
      <p:grpSp>
        <p:nvGrpSpPr>
          <p:cNvPr id="121" name="Gruppo 120">
            <a:extLst>
              <a:ext uri="{FF2B5EF4-FFF2-40B4-BE49-F238E27FC236}">
                <a16:creationId xmlns:a16="http://schemas.microsoft.com/office/drawing/2014/main" id="{5C068E5B-765C-A1AE-33D2-A6C4EE15B074}"/>
              </a:ext>
            </a:extLst>
          </p:cNvPr>
          <p:cNvGrpSpPr/>
          <p:nvPr/>
        </p:nvGrpSpPr>
        <p:grpSpPr>
          <a:xfrm>
            <a:off x="9946212" y="1325496"/>
            <a:ext cx="282125" cy="259045"/>
            <a:chOff x="2603873" y="2684586"/>
            <a:chExt cx="361806" cy="361875"/>
          </a:xfrm>
        </p:grpSpPr>
        <p:sp>
          <p:nvSpPr>
            <p:cNvPr id="122" name="Rettangolo con angoli arrotondati 121">
              <a:extLst>
                <a:ext uri="{FF2B5EF4-FFF2-40B4-BE49-F238E27FC236}">
                  <a16:creationId xmlns:a16="http://schemas.microsoft.com/office/drawing/2014/main" id="{4114A326-ABBE-2A08-AB13-5A3E4EAE2695}"/>
                </a:ext>
              </a:extLst>
            </p:cNvPr>
            <p:cNvSpPr/>
            <p:nvPr/>
          </p:nvSpPr>
          <p:spPr>
            <a:xfrm>
              <a:off x="2603873" y="2684586"/>
              <a:ext cx="361806" cy="361875"/>
            </a:xfrm>
            <a:prstGeom prst="roundRect">
              <a:avLst/>
            </a:prstGeom>
            <a:solidFill>
              <a:srgbClr val="C94F1C"/>
            </a:solidFill>
            <a:ln w="28575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23" name="Picture 3">
              <a:extLst>
                <a:ext uri="{FF2B5EF4-FFF2-40B4-BE49-F238E27FC236}">
                  <a16:creationId xmlns:a16="http://schemas.microsoft.com/office/drawing/2014/main" id="{5330E355-D423-77F0-82DF-667FE9D9EB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0482" y="2759563"/>
              <a:ext cx="209970" cy="210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4" name="Gruppo 123">
            <a:extLst>
              <a:ext uri="{FF2B5EF4-FFF2-40B4-BE49-F238E27FC236}">
                <a16:creationId xmlns:a16="http://schemas.microsoft.com/office/drawing/2014/main" id="{482A8279-9A0E-986A-4268-35D081B39F7A}"/>
              </a:ext>
            </a:extLst>
          </p:cNvPr>
          <p:cNvGrpSpPr/>
          <p:nvPr/>
        </p:nvGrpSpPr>
        <p:grpSpPr>
          <a:xfrm>
            <a:off x="9946212" y="2446477"/>
            <a:ext cx="282125" cy="259045"/>
            <a:chOff x="2603873" y="2684586"/>
            <a:chExt cx="361806" cy="361875"/>
          </a:xfrm>
        </p:grpSpPr>
        <p:sp>
          <p:nvSpPr>
            <p:cNvPr id="125" name="Rettangolo con angoli arrotondati 124">
              <a:extLst>
                <a:ext uri="{FF2B5EF4-FFF2-40B4-BE49-F238E27FC236}">
                  <a16:creationId xmlns:a16="http://schemas.microsoft.com/office/drawing/2014/main" id="{598E761C-B030-6A9F-5513-5E7078D586C5}"/>
                </a:ext>
              </a:extLst>
            </p:cNvPr>
            <p:cNvSpPr/>
            <p:nvPr/>
          </p:nvSpPr>
          <p:spPr>
            <a:xfrm>
              <a:off x="2603873" y="2684586"/>
              <a:ext cx="361806" cy="361875"/>
            </a:xfrm>
            <a:prstGeom prst="roundRect">
              <a:avLst/>
            </a:prstGeom>
            <a:solidFill>
              <a:srgbClr val="C94F1C"/>
            </a:solidFill>
            <a:ln w="28575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26" name="Picture 3">
              <a:extLst>
                <a:ext uri="{FF2B5EF4-FFF2-40B4-BE49-F238E27FC236}">
                  <a16:creationId xmlns:a16="http://schemas.microsoft.com/office/drawing/2014/main" id="{BC055262-34FF-F665-135D-39EF233673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0482" y="2759563"/>
              <a:ext cx="209970" cy="210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7" name="Gruppo 126">
            <a:extLst>
              <a:ext uri="{FF2B5EF4-FFF2-40B4-BE49-F238E27FC236}">
                <a16:creationId xmlns:a16="http://schemas.microsoft.com/office/drawing/2014/main" id="{D720B025-18EB-790C-046C-C0796B1C7E9C}"/>
              </a:ext>
            </a:extLst>
          </p:cNvPr>
          <p:cNvGrpSpPr/>
          <p:nvPr/>
        </p:nvGrpSpPr>
        <p:grpSpPr>
          <a:xfrm>
            <a:off x="9946212" y="3567458"/>
            <a:ext cx="282125" cy="259045"/>
            <a:chOff x="2603873" y="2684586"/>
            <a:chExt cx="361806" cy="361875"/>
          </a:xfrm>
        </p:grpSpPr>
        <p:sp>
          <p:nvSpPr>
            <p:cNvPr id="128" name="Rettangolo con angoli arrotondati 127">
              <a:extLst>
                <a:ext uri="{FF2B5EF4-FFF2-40B4-BE49-F238E27FC236}">
                  <a16:creationId xmlns:a16="http://schemas.microsoft.com/office/drawing/2014/main" id="{B06ED5ED-3E7B-A2F7-AF7B-7813D16FA4D6}"/>
                </a:ext>
              </a:extLst>
            </p:cNvPr>
            <p:cNvSpPr/>
            <p:nvPr/>
          </p:nvSpPr>
          <p:spPr>
            <a:xfrm>
              <a:off x="2603873" y="2684586"/>
              <a:ext cx="361806" cy="361875"/>
            </a:xfrm>
            <a:prstGeom prst="roundRect">
              <a:avLst/>
            </a:prstGeom>
            <a:solidFill>
              <a:srgbClr val="C94F1C"/>
            </a:solidFill>
            <a:ln w="28575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29" name="Picture 3">
              <a:extLst>
                <a:ext uri="{FF2B5EF4-FFF2-40B4-BE49-F238E27FC236}">
                  <a16:creationId xmlns:a16="http://schemas.microsoft.com/office/drawing/2014/main" id="{E0634779-95B9-3BA1-C234-5E1D9141A9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0482" y="2759563"/>
              <a:ext cx="209970" cy="210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1" name="Gruppo 130">
            <a:extLst>
              <a:ext uri="{FF2B5EF4-FFF2-40B4-BE49-F238E27FC236}">
                <a16:creationId xmlns:a16="http://schemas.microsoft.com/office/drawing/2014/main" id="{76C391A8-4F47-9B6C-73A0-90A62ED533F7}"/>
              </a:ext>
            </a:extLst>
          </p:cNvPr>
          <p:cNvGrpSpPr/>
          <p:nvPr/>
        </p:nvGrpSpPr>
        <p:grpSpPr>
          <a:xfrm>
            <a:off x="9946212" y="4688440"/>
            <a:ext cx="282125" cy="259045"/>
            <a:chOff x="2603873" y="2684586"/>
            <a:chExt cx="361806" cy="361875"/>
          </a:xfrm>
        </p:grpSpPr>
        <p:sp>
          <p:nvSpPr>
            <p:cNvPr id="132" name="Rettangolo con angoli arrotondati 131">
              <a:extLst>
                <a:ext uri="{FF2B5EF4-FFF2-40B4-BE49-F238E27FC236}">
                  <a16:creationId xmlns:a16="http://schemas.microsoft.com/office/drawing/2014/main" id="{61F091AF-5449-36CD-D29E-B2538F315670}"/>
                </a:ext>
              </a:extLst>
            </p:cNvPr>
            <p:cNvSpPr/>
            <p:nvPr/>
          </p:nvSpPr>
          <p:spPr>
            <a:xfrm>
              <a:off x="2603873" y="2684586"/>
              <a:ext cx="361806" cy="361875"/>
            </a:xfrm>
            <a:prstGeom prst="roundRect">
              <a:avLst/>
            </a:prstGeom>
            <a:solidFill>
              <a:srgbClr val="C94F1C"/>
            </a:solidFill>
            <a:ln w="28575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33" name="Picture 3">
              <a:extLst>
                <a:ext uri="{FF2B5EF4-FFF2-40B4-BE49-F238E27FC236}">
                  <a16:creationId xmlns:a16="http://schemas.microsoft.com/office/drawing/2014/main" id="{7BDDC56C-E235-5F93-3417-7507343F0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0482" y="2759563"/>
              <a:ext cx="209970" cy="210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4" name="Ovale 133">
            <a:extLst>
              <a:ext uri="{FF2B5EF4-FFF2-40B4-BE49-F238E27FC236}">
                <a16:creationId xmlns:a16="http://schemas.microsoft.com/office/drawing/2014/main" id="{92CEF13A-ACB6-4038-6AEC-88672B781914}"/>
              </a:ext>
            </a:extLst>
          </p:cNvPr>
          <p:cNvSpPr/>
          <p:nvPr/>
        </p:nvSpPr>
        <p:spPr>
          <a:xfrm>
            <a:off x="10276108" y="1496035"/>
            <a:ext cx="243394" cy="243394"/>
          </a:xfrm>
          <a:prstGeom prst="ellipse">
            <a:avLst/>
          </a:prstGeom>
          <a:solidFill>
            <a:srgbClr val="DEF1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  <a:latin typeface="Calibri"/>
              </a:rPr>
              <a:t>A</a:t>
            </a:r>
          </a:p>
        </p:txBody>
      </p:sp>
      <p:sp>
        <p:nvSpPr>
          <p:cNvPr id="135" name="Rettangolo 134">
            <a:extLst>
              <a:ext uri="{FF2B5EF4-FFF2-40B4-BE49-F238E27FC236}">
                <a16:creationId xmlns:a16="http://schemas.microsoft.com/office/drawing/2014/main" id="{902CC8BF-07BD-5015-8071-979DAC59F82F}"/>
              </a:ext>
            </a:extLst>
          </p:cNvPr>
          <p:cNvSpPr/>
          <p:nvPr/>
        </p:nvSpPr>
        <p:spPr>
          <a:xfrm>
            <a:off x="10341050" y="1695629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6" name="Ovale 135">
            <a:extLst>
              <a:ext uri="{FF2B5EF4-FFF2-40B4-BE49-F238E27FC236}">
                <a16:creationId xmlns:a16="http://schemas.microsoft.com/office/drawing/2014/main" id="{50770BD2-9DD5-2EA8-1530-E882B4DF634B}"/>
              </a:ext>
            </a:extLst>
          </p:cNvPr>
          <p:cNvSpPr/>
          <p:nvPr/>
        </p:nvSpPr>
        <p:spPr>
          <a:xfrm>
            <a:off x="10276108" y="2612104"/>
            <a:ext cx="243394" cy="243394"/>
          </a:xfrm>
          <a:prstGeom prst="ellipse">
            <a:avLst/>
          </a:prstGeom>
          <a:solidFill>
            <a:srgbClr val="F8AE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A</a:t>
            </a:r>
          </a:p>
        </p:txBody>
      </p:sp>
      <p:sp>
        <p:nvSpPr>
          <p:cNvPr id="137" name="Rettangolo 136">
            <a:extLst>
              <a:ext uri="{FF2B5EF4-FFF2-40B4-BE49-F238E27FC236}">
                <a16:creationId xmlns:a16="http://schemas.microsoft.com/office/drawing/2014/main" id="{6E114EFA-54D2-4FDB-51D9-F83911194F56}"/>
              </a:ext>
            </a:extLst>
          </p:cNvPr>
          <p:cNvSpPr/>
          <p:nvPr/>
        </p:nvSpPr>
        <p:spPr>
          <a:xfrm>
            <a:off x="10341050" y="2811697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38" name="Ovale 137">
            <a:extLst>
              <a:ext uri="{FF2B5EF4-FFF2-40B4-BE49-F238E27FC236}">
                <a16:creationId xmlns:a16="http://schemas.microsoft.com/office/drawing/2014/main" id="{D14FC877-D9DD-18CC-D328-4389E644C6B5}"/>
              </a:ext>
            </a:extLst>
          </p:cNvPr>
          <p:cNvSpPr/>
          <p:nvPr/>
        </p:nvSpPr>
        <p:spPr>
          <a:xfrm>
            <a:off x="10276108" y="3724033"/>
            <a:ext cx="243394" cy="243394"/>
          </a:xfrm>
          <a:prstGeom prst="ellipse">
            <a:avLst/>
          </a:prstGeom>
          <a:solidFill>
            <a:srgbClr val="F8AE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A</a:t>
            </a:r>
          </a:p>
        </p:txBody>
      </p:sp>
      <p:sp>
        <p:nvSpPr>
          <p:cNvPr id="139" name="Rettangolo 138">
            <a:extLst>
              <a:ext uri="{FF2B5EF4-FFF2-40B4-BE49-F238E27FC236}">
                <a16:creationId xmlns:a16="http://schemas.microsoft.com/office/drawing/2014/main" id="{EA538343-668D-9F6D-AD39-F8E1CD60C532}"/>
              </a:ext>
            </a:extLst>
          </p:cNvPr>
          <p:cNvSpPr/>
          <p:nvPr/>
        </p:nvSpPr>
        <p:spPr>
          <a:xfrm>
            <a:off x="10341050" y="3923627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0" name="Ovale 139">
            <a:extLst>
              <a:ext uri="{FF2B5EF4-FFF2-40B4-BE49-F238E27FC236}">
                <a16:creationId xmlns:a16="http://schemas.microsoft.com/office/drawing/2014/main" id="{0B88627A-A473-10F3-66E8-D92E335D8542}"/>
              </a:ext>
            </a:extLst>
          </p:cNvPr>
          <p:cNvSpPr/>
          <p:nvPr/>
        </p:nvSpPr>
        <p:spPr>
          <a:xfrm>
            <a:off x="10276108" y="4834037"/>
            <a:ext cx="243394" cy="243394"/>
          </a:xfrm>
          <a:prstGeom prst="ellipse">
            <a:avLst/>
          </a:prstGeom>
          <a:solidFill>
            <a:srgbClr val="F8AE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A</a:t>
            </a:r>
          </a:p>
        </p:txBody>
      </p:sp>
      <p:sp>
        <p:nvSpPr>
          <p:cNvPr id="141" name="Rettangolo 140">
            <a:extLst>
              <a:ext uri="{FF2B5EF4-FFF2-40B4-BE49-F238E27FC236}">
                <a16:creationId xmlns:a16="http://schemas.microsoft.com/office/drawing/2014/main" id="{1F2B1F1E-EA80-342A-147F-915090C32DEC}"/>
              </a:ext>
            </a:extLst>
          </p:cNvPr>
          <p:cNvSpPr/>
          <p:nvPr/>
        </p:nvSpPr>
        <p:spPr>
          <a:xfrm>
            <a:off x="10341050" y="5033630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2" name="Ovale 141">
            <a:extLst>
              <a:ext uri="{FF2B5EF4-FFF2-40B4-BE49-F238E27FC236}">
                <a16:creationId xmlns:a16="http://schemas.microsoft.com/office/drawing/2014/main" id="{B7AA9DB5-E393-AD20-931A-5DCA06B1D507}"/>
              </a:ext>
            </a:extLst>
          </p:cNvPr>
          <p:cNvSpPr/>
          <p:nvPr/>
        </p:nvSpPr>
        <p:spPr>
          <a:xfrm>
            <a:off x="9328238" y="1370585"/>
            <a:ext cx="243394" cy="243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B</a:t>
            </a:r>
          </a:p>
        </p:txBody>
      </p:sp>
      <p:sp>
        <p:nvSpPr>
          <p:cNvPr id="144" name="Rettangolo 143">
            <a:extLst>
              <a:ext uri="{FF2B5EF4-FFF2-40B4-BE49-F238E27FC236}">
                <a16:creationId xmlns:a16="http://schemas.microsoft.com/office/drawing/2014/main" id="{A4130E17-18FD-D9D3-1613-F10908B58C02}"/>
              </a:ext>
            </a:extLst>
          </p:cNvPr>
          <p:cNvSpPr/>
          <p:nvPr/>
        </p:nvSpPr>
        <p:spPr>
          <a:xfrm>
            <a:off x="9393180" y="1584165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5" name="Ovale 144">
            <a:extLst>
              <a:ext uri="{FF2B5EF4-FFF2-40B4-BE49-F238E27FC236}">
                <a16:creationId xmlns:a16="http://schemas.microsoft.com/office/drawing/2014/main" id="{A30E5FA8-7A7C-4EFE-A8DD-8F1F7E8762B8}"/>
              </a:ext>
            </a:extLst>
          </p:cNvPr>
          <p:cNvSpPr/>
          <p:nvPr/>
        </p:nvSpPr>
        <p:spPr>
          <a:xfrm>
            <a:off x="9328238" y="2486654"/>
            <a:ext cx="243394" cy="243394"/>
          </a:xfrm>
          <a:prstGeom prst="ellipse">
            <a:avLst/>
          </a:prstGeom>
          <a:solidFill>
            <a:srgbClr val="DEF1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  <a:latin typeface="Calibri"/>
              </a:rPr>
              <a:t>B</a:t>
            </a:r>
          </a:p>
        </p:txBody>
      </p:sp>
      <p:sp>
        <p:nvSpPr>
          <p:cNvPr id="146" name="Rettangolo 145">
            <a:extLst>
              <a:ext uri="{FF2B5EF4-FFF2-40B4-BE49-F238E27FC236}">
                <a16:creationId xmlns:a16="http://schemas.microsoft.com/office/drawing/2014/main" id="{F8C31DA4-E45A-B88F-F69D-2B5A504C288F}"/>
              </a:ext>
            </a:extLst>
          </p:cNvPr>
          <p:cNvSpPr/>
          <p:nvPr/>
        </p:nvSpPr>
        <p:spPr>
          <a:xfrm>
            <a:off x="9393180" y="2700234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7" name="Ovale 146">
            <a:extLst>
              <a:ext uri="{FF2B5EF4-FFF2-40B4-BE49-F238E27FC236}">
                <a16:creationId xmlns:a16="http://schemas.microsoft.com/office/drawing/2014/main" id="{07162ED5-566F-2903-4DF2-CB274A40B28E}"/>
              </a:ext>
            </a:extLst>
          </p:cNvPr>
          <p:cNvSpPr/>
          <p:nvPr/>
        </p:nvSpPr>
        <p:spPr>
          <a:xfrm>
            <a:off x="9328238" y="3598583"/>
            <a:ext cx="243394" cy="243394"/>
          </a:xfrm>
          <a:prstGeom prst="ellipse">
            <a:avLst/>
          </a:prstGeom>
          <a:solidFill>
            <a:srgbClr val="F8AE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B</a:t>
            </a:r>
          </a:p>
        </p:txBody>
      </p:sp>
      <p:sp>
        <p:nvSpPr>
          <p:cNvPr id="148" name="Rettangolo 147">
            <a:extLst>
              <a:ext uri="{FF2B5EF4-FFF2-40B4-BE49-F238E27FC236}">
                <a16:creationId xmlns:a16="http://schemas.microsoft.com/office/drawing/2014/main" id="{895EF757-7E31-1B83-775C-3905170297DA}"/>
              </a:ext>
            </a:extLst>
          </p:cNvPr>
          <p:cNvSpPr/>
          <p:nvPr/>
        </p:nvSpPr>
        <p:spPr>
          <a:xfrm>
            <a:off x="9393180" y="3812163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9" name="Ovale 148">
            <a:extLst>
              <a:ext uri="{FF2B5EF4-FFF2-40B4-BE49-F238E27FC236}">
                <a16:creationId xmlns:a16="http://schemas.microsoft.com/office/drawing/2014/main" id="{78088C05-8281-A334-16BE-AB82E3A5A832}"/>
              </a:ext>
            </a:extLst>
          </p:cNvPr>
          <p:cNvSpPr/>
          <p:nvPr/>
        </p:nvSpPr>
        <p:spPr>
          <a:xfrm>
            <a:off x="9328238" y="4708587"/>
            <a:ext cx="243394" cy="243394"/>
          </a:xfrm>
          <a:prstGeom prst="ellipse">
            <a:avLst/>
          </a:prstGeom>
          <a:solidFill>
            <a:srgbClr val="DEF1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  <a:latin typeface="Calibri"/>
              </a:rPr>
              <a:t>B</a:t>
            </a:r>
          </a:p>
        </p:txBody>
      </p:sp>
      <p:sp>
        <p:nvSpPr>
          <p:cNvPr id="150" name="Rettangolo 149">
            <a:extLst>
              <a:ext uri="{FF2B5EF4-FFF2-40B4-BE49-F238E27FC236}">
                <a16:creationId xmlns:a16="http://schemas.microsoft.com/office/drawing/2014/main" id="{AAF201F2-E3BA-14B6-B349-C1DF14DD5422}"/>
              </a:ext>
            </a:extLst>
          </p:cNvPr>
          <p:cNvSpPr/>
          <p:nvPr/>
        </p:nvSpPr>
        <p:spPr>
          <a:xfrm>
            <a:off x="9393180" y="4922167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1" name="Ovale 150">
            <a:extLst>
              <a:ext uri="{FF2B5EF4-FFF2-40B4-BE49-F238E27FC236}">
                <a16:creationId xmlns:a16="http://schemas.microsoft.com/office/drawing/2014/main" id="{6600A86D-C561-9286-33CA-73C9D17C1E74}"/>
              </a:ext>
            </a:extLst>
          </p:cNvPr>
          <p:cNvSpPr/>
          <p:nvPr/>
        </p:nvSpPr>
        <p:spPr>
          <a:xfrm>
            <a:off x="9102015" y="1589566"/>
            <a:ext cx="243394" cy="243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C</a:t>
            </a:r>
          </a:p>
        </p:txBody>
      </p:sp>
      <p:sp>
        <p:nvSpPr>
          <p:cNvPr id="152" name="Rettangolo 151">
            <a:extLst>
              <a:ext uri="{FF2B5EF4-FFF2-40B4-BE49-F238E27FC236}">
                <a16:creationId xmlns:a16="http://schemas.microsoft.com/office/drawing/2014/main" id="{229A6C0A-11F7-C1EB-ACFD-FDF773236C77}"/>
              </a:ext>
            </a:extLst>
          </p:cNvPr>
          <p:cNvSpPr/>
          <p:nvPr/>
        </p:nvSpPr>
        <p:spPr>
          <a:xfrm>
            <a:off x="9166957" y="1803146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3" name="Ovale 152">
            <a:extLst>
              <a:ext uri="{FF2B5EF4-FFF2-40B4-BE49-F238E27FC236}">
                <a16:creationId xmlns:a16="http://schemas.microsoft.com/office/drawing/2014/main" id="{BB6870C5-A595-919B-BE12-F64CD8D7F169}"/>
              </a:ext>
            </a:extLst>
          </p:cNvPr>
          <p:cNvSpPr/>
          <p:nvPr/>
        </p:nvSpPr>
        <p:spPr>
          <a:xfrm>
            <a:off x="9102015" y="2705635"/>
            <a:ext cx="243394" cy="243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C</a:t>
            </a:r>
          </a:p>
        </p:txBody>
      </p:sp>
      <p:sp>
        <p:nvSpPr>
          <p:cNvPr id="154" name="Rettangolo 153">
            <a:extLst>
              <a:ext uri="{FF2B5EF4-FFF2-40B4-BE49-F238E27FC236}">
                <a16:creationId xmlns:a16="http://schemas.microsoft.com/office/drawing/2014/main" id="{15914F8F-1F3D-7E61-8C09-5E6B117CA24B}"/>
              </a:ext>
            </a:extLst>
          </p:cNvPr>
          <p:cNvSpPr/>
          <p:nvPr/>
        </p:nvSpPr>
        <p:spPr>
          <a:xfrm>
            <a:off x="9166957" y="2919215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6" name="Ovale 155">
            <a:extLst>
              <a:ext uri="{FF2B5EF4-FFF2-40B4-BE49-F238E27FC236}">
                <a16:creationId xmlns:a16="http://schemas.microsoft.com/office/drawing/2014/main" id="{F72D11D2-6AE5-982C-A8DC-531DA4B67F89}"/>
              </a:ext>
            </a:extLst>
          </p:cNvPr>
          <p:cNvSpPr/>
          <p:nvPr/>
        </p:nvSpPr>
        <p:spPr>
          <a:xfrm>
            <a:off x="9102015" y="3817564"/>
            <a:ext cx="243394" cy="243394"/>
          </a:xfrm>
          <a:prstGeom prst="ellipse">
            <a:avLst/>
          </a:prstGeom>
          <a:solidFill>
            <a:srgbClr val="DEF1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  <a:latin typeface="Calibri"/>
              </a:rPr>
              <a:t>C</a:t>
            </a:r>
          </a:p>
        </p:txBody>
      </p:sp>
      <p:sp>
        <p:nvSpPr>
          <p:cNvPr id="157" name="Rettangolo 156">
            <a:extLst>
              <a:ext uri="{FF2B5EF4-FFF2-40B4-BE49-F238E27FC236}">
                <a16:creationId xmlns:a16="http://schemas.microsoft.com/office/drawing/2014/main" id="{A69A261F-C056-EE60-DA8B-F8D7DA5D34B3}"/>
              </a:ext>
            </a:extLst>
          </p:cNvPr>
          <p:cNvSpPr/>
          <p:nvPr/>
        </p:nvSpPr>
        <p:spPr>
          <a:xfrm>
            <a:off x="9166957" y="4031144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8" name="Ovale 157">
            <a:extLst>
              <a:ext uri="{FF2B5EF4-FFF2-40B4-BE49-F238E27FC236}">
                <a16:creationId xmlns:a16="http://schemas.microsoft.com/office/drawing/2014/main" id="{0EBAFF18-1E9C-91A7-BB88-FE74464B383A}"/>
              </a:ext>
            </a:extLst>
          </p:cNvPr>
          <p:cNvSpPr/>
          <p:nvPr/>
        </p:nvSpPr>
        <p:spPr>
          <a:xfrm>
            <a:off x="9102015" y="4927568"/>
            <a:ext cx="243394" cy="243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C</a:t>
            </a:r>
          </a:p>
        </p:txBody>
      </p:sp>
      <p:sp>
        <p:nvSpPr>
          <p:cNvPr id="159" name="Rettangolo 158">
            <a:extLst>
              <a:ext uri="{FF2B5EF4-FFF2-40B4-BE49-F238E27FC236}">
                <a16:creationId xmlns:a16="http://schemas.microsoft.com/office/drawing/2014/main" id="{0BD27845-2C05-3337-8A54-F99A19D3E008}"/>
              </a:ext>
            </a:extLst>
          </p:cNvPr>
          <p:cNvSpPr/>
          <p:nvPr/>
        </p:nvSpPr>
        <p:spPr>
          <a:xfrm>
            <a:off x="9166957" y="5141148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0" name="Ovale 159">
            <a:extLst>
              <a:ext uri="{FF2B5EF4-FFF2-40B4-BE49-F238E27FC236}">
                <a16:creationId xmlns:a16="http://schemas.microsoft.com/office/drawing/2014/main" id="{0AC539D8-C792-FDF1-0793-0A119C68F891}"/>
              </a:ext>
            </a:extLst>
          </p:cNvPr>
          <p:cNvSpPr/>
          <p:nvPr/>
        </p:nvSpPr>
        <p:spPr>
          <a:xfrm>
            <a:off x="11434262" y="1926050"/>
            <a:ext cx="243394" cy="243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D</a:t>
            </a:r>
          </a:p>
        </p:txBody>
      </p:sp>
      <p:sp>
        <p:nvSpPr>
          <p:cNvPr id="161" name="Rettangolo 160">
            <a:extLst>
              <a:ext uri="{FF2B5EF4-FFF2-40B4-BE49-F238E27FC236}">
                <a16:creationId xmlns:a16="http://schemas.microsoft.com/office/drawing/2014/main" id="{01C2E445-9771-47BF-D6E6-0E2CD235E200}"/>
              </a:ext>
            </a:extLst>
          </p:cNvPr>
          <p:cNvSpPr/>
          <p:nvPr/>
        </p:nvSpPr>
        <p:spPr>
          <a:xfrm>
            <a:off x="11499204" y="2122919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2" name="Ovale 161">
            <a:extLst>
              <a:ext uri="{FF2B5EF4-FFF2-40B4-BE49-F238E27FC236}">
                <a16:creationId xmlns:a16="http://schemas.microsoft.com/office/drawing/2014/main" id="{82A9CC4B-D530-EB6E-3491-557066407DFE}"/>
              </a:ext>
            </a:extLst>
          </p:cNvPr>
          <p:cNvSpPr/>
          <p:nvPr/>
        </p:nvSpPr>
        <p:spPr>
          <a:xfrm>
            <a:off x="11434262" y="3042119"/>
            <a:ext cx="243394" cy="243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D</a:t>
            </a:r>
          </a:p>
        </p:txBody>
      </p:sp>
      <p:sp>
        <p:nvSpPr>
          <p:cNvPr id="163" name="Rettangolo 162">
            <a:extLst>
              <a:ext uri="{FF2B5EF4-FFF2-40B4-BE49-F238E27FC236}">
                <a16:creationId xmlns:a16="http://schemas.microsoft.com/office/drawing/2014/main" id="{B61FCE89-D7D5-F38A-E035-A0E219D583B7}"/>
              </a:ext>
            </a:extLst>
          </p:cNvPr>
          <p:cNvSpPr/>
          <p:nvPr/>
        </p:nvSpPr>
        <p:spPr>
          <a:xfrm>
            <a:off x="11499204" y="3238988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4" name="Ovale 163">
            <a:extLst>
              <a:ext uri="{FF2B5EF4-FFF2-40B4-BE49-F238E27FC236}">
                <a16:creationId xmlns:a16="http://schemas.microsoft.com/office/drawing/2014/main" id="{CB13007E-8151-99B4-14D2-6130F8F45038}"/>
              </a:ext>
            </a:extLst>
          </p:cNvPr>
          <p:cNvSpPr/>
          <p:nvPr/>
        </p:nvSpPr>
        <p:spPr>
          <a:xfrm>
            <a:off x="11434262" y="4154048"/>
            <a:ext cx="243394" cy="243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D</a:t>
            </a:r>
          </a:p>
        </p:txBody>
      </p:sp>
      <p:sp>
        <p:nvSpPr>
          <p:cNvPr id="165" name="Rettangolo 164">
            <a:extLst>
              <a:ext uri="{FF2B5EF4-FFF2-40B4-BE49-F238E27FC236}">
                <a16:creationId xmlns:a16="http://schemas.microsoft.com/office/drawing/2014/main" id="{9EED1AE2-2AF4-2448-F277-C05F9618B582}"/>
              </a:ext>
            </a:extLst>
          </p:cNvPr>
          <p:cNvSpPr/>
          <p:nvPr/>
        </p:nvSpPr>
        <p:spPr>
          <a:xfrm>
            <a:off x="11499204" y="4350917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6" name="Ovale 165">
            <a:extLst>
              <a:ext uri="{FF2B5EF4-FFF2-40B4-BE49-F238E27FC236}">
                <a16:creationId xmlns:a16="http://schemas.microsoft.com/office/drawing/2014/main" id="{0839B088-9944-6E93-EA15-7476CE0615FC}"/>
              </a:ext>
            </a:extLst>
          </p:cNvPr>
          <p:cNvSpPr/>
          <p:nvPr/>
        </p:nvSpPr>
        <p:spPr>
          <a:xfrm>
            <a:off x="11434262" y="5264052"/>
            <a:ext cx="243394" cy="243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D</a:t>
            </a:r>
          </a:p>
        </p:txBody>
      </p:sp>
      <p:sp>
        <p:nvSpPr>
          <p:cNvPr id="167" name="Rettangolo 166">
            <a:extLst>
              <a:ext uri="{FF2B5EF4-FFF2-40B4-BE49-F238E27FC236}">
                <a16:creationId xmlns:a16="http://schemas.microsoft.com/office/drawing/2014/main" id="{DAC94BBD-B2F7-7955-4CA5-8B87CF6585FA}"/>
              </a:ext>
            </a:extLst>
          </p:cNvPr>
          <p:cNvSpPr/>
          <p:nvPr/>
        </p:nvSpPr>
        <p:spPr>
          <a:xfrm>
            <a:off x="11499204" y="5460921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68" name="Connettore 2 167">
            <a:extLst>
              <a:ext uri="{FF2B5EF4-FFF2-40B4-BE49-F238E27FC236}">
                <a16:creationId xmlns:a16="http://schemas.microsoft.com/office/drawing/2014/main" id="{34F4F8DB-7D50-174D-348E-3190C1B023F6}"/>
              </a:ext>
            </a:extLst>
          </p:cNvPr>
          <p:cNvCxnSpPr>
            <a:cxnSpLocks/>
            <a:stCxn id="122" idx="2"/>
            <a:endCxn id="134" idx="3"/>
          </p:cNvCxnSpPr>
          <p:nvPr/>
        </p:nvCxnSpPr>
        <p:spPr>
          <a:xfrm>
            <a:off x="10087275" y="1584541"/>
            <a:ext cx="224477" cy="119244"/>
          </a:xfrm>
          <a:prstGeom prst="straightConnector1">
            <a:avLst/>
          </a:prstGeom>
          <a:ln w="444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ttore 2 168">
            <a:extLst>
              <a:ext uri="{FF2B5EF4-FFF2-40B4-BE49-F238E27FC236}">
                <a16:creationId xmlns:a16="http://schemas.microsoft.com/office/drawing/2014/main" id="{20B047AE-0DD4-149C-BAF3-91D1C5895183}"/>
              </a:ext>
            </a:extLst>
          </p:cNvPr>
          <p:cNvCxnSpPr>
            <a:cxnSpLocks/>
            <a:stCxn id="125" idx="1"/>
            <a:endCxn id="145" idx="6"/>
          </p:cNvCxnSpPr>
          <p:nvPr/>
        </p:nvCxnSpPr>
        <p:spPr>
          <a:xfrm flipH="1">
            <a:off x="9571632" y="2576000"/>
            <a:ext cx="374580" cy="32351"/>
          </a:xfrm>
          <a:prstGeom prst="straightConnector1">
            <a:avLst/>
          </a:prstGeom>
          <a:ln w="444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ttore 2 169">
            <a:extLst>
              <a:ext uri="{FF2B5EF4-FFF2-40B4-BE49-F238E27FC236}">
                <a16:creationId xmlns:a16="http://schemas.microsoft.com/office/drawing/2014/main" id="{729B8510-774A-F237-7EFA-655A3BB171C7}"/>
              </a:ext>
            </a:extLst>
          </p:cNvPr>
          <p:cNvCxnSpPr>
            <a:cxnSpLocks/>
            <a:stCxn id="128" idx="1"/>
            <a:endCxn id="156" idx="5"/>
          </p:cNvCxnSpPr>
          <p:nvPr/>
        </p:nvCxnSpPr>
        <p:spPr>
          <a:xfrm flipH="1">
            <a:off x="9309765" y="3696981"/>
            <a:ext cx="636447" cy="328333"/>
          </a:xfrm>
          <a:prstGeom prst="straightConnector1">
            <a:avLst/>
          </a:prstGeom>
          <a:ln w="444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ttore 2 170">
            <a:extLst>
              <a:ext uri="{FF2B5EF4-FFF2-40B4-BE49-F238E27FC236}">
                <a16:creationId xmlns:a16="http://schemas.microsoft.com/office/drawing/2014/main" id="{35960319-EABE-4427-6C66-21680EFA841F}"/>
              </a:ext>
            </a:extLst>
          </p:cNvPr>
          <p:cNvCxnSpPr>
            <a:cxnSpLocks/>
            <a:stCxn id="132" idx="1"/>
            <a:endCxn id="149" idx="6"/>
          </p:cNvCxnSpPr>
          <p:nvPr/>
        </p:nvCxnSpPr>
        <p:spPr>
          <a:xfrm flipH="1">
            <a:off x="9571632" y="4817963"/>
            <a:ext cx="374580" cy="12321"/>
          </a:xfrm>
          <a:prstGeom prst="straightConnector1">
            <a:avLst/>
          </a:prstGeom>
          <a:ln w="444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tangolo 19">
            <a:extLst>
              <a:ext uri="{FF2B5EF4-FFF2-40B4-BE49-F238E27FC236}">
                <a16:creationId xmlns:a16="http://schemas.microsoft.com/office/drawing/2014/main" id="{4BEDAD01-50D0-14FB-EC8C-010737F9E609}"/>
              </a:ext>
            </a:extLst>
          </p:cNvPr>
          <p:cNvSpPr/>
          <p:nvPr/>
        </p:nvSpPr>
        <p:spPr>
          <a:xfrm>
            <a:off x="2612222" y="4367575"/>
            <a:ext cx="5026767" cy="923636"/>
          </a:xfrm>
          <a:prstGeom prst="rect">
            <a:avLst/>
          </a:prstGeom>
          <a:solidFill>
            <a:schemeClr val="bg1"/>
          </a:solidFill>
          <a:ln w="1905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it-IT">
                <a:solidFill>
                  <a:schemeClr val="tx1"/>
                </a:solidFill>
              </a:rPr>
              <a:t>Identificato </a:t>
            </a:r>
            <a:r>
              <a:rPr lang="it-IT" b="1">
                <a:solidFill>
                  <a:schemeClr val="tx1"/>
                </a:solidFill>
              </a:rPr>
              <a:t>CAP come perimetro minimo per il "refresh" dei contatori </a:t>
            </a:r>
            <a:r>
              <a:rPr lang="it-IT">
                <a:solidFill>
                  <a:schemeClr val="tx1"/>
                </a:solidFill>
              </a:rPr>
              <a:t>di tutti i Punti Vendita al suo interno </a:t>
            </a:r>
            <a:r>
              <a:rPr lang="it-IT" i="1">
                <a:solidFill>
                  <a:schemeClr val="tx1"/>
                </a:solidFill>
              </a:rPr>
              <a:t>(oltre a "refresh" alla fine di ogni mese)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35CBCBD-137F-BC4E-A60D-748C1DFDA068}"/>
              </a:ext>
            </a:extLst>
          </p:cNvPr>
          <p:cNvSpPr txBox="1"/>
          <p:nvPr/>
        </p:nvSpPr>
        <p:spPr>
          <a:xfrm>
            <a:off x="2612392" y="1645100"/>
            <a:ext cx="5026767" cy="1015663"/>
          </a:xfrm>
          <a:prstGeom prst="rect">
            <a:avLst/>
          </a:prstGeom>
          <a:solidFill>
            <a:schemeClr val="bg1"/>
          </a:solidFill>
          <a:ln w="19050">
            <a:solidFill>
              <a:srgbClr val="FFC000"/>
            </a:solidFill>
          </a:ln>
        </p:spPr>
        <p:txBody>
          <a:bodyPr wrap="square" lIns="144000" rIns="72000" rtlCol="0">
            <a:noAutofit/>
          </a:bodyPr>
          <a:lstStyle/>
          <a:p>
            <a:pPr marL="0" lvl="1" defTabSz="1007029">
              <a:spcBef>
                <a:spcPts val="200"/>
              </a:spcBef>
              <a:spcAft>
                <a:spcPts val="200"/>
              </a:spcAft>
              <a:defRPr/>
            </a:pPr>
            <a:r>
              <a:rPr lang="it-IT" sz="1900" kern="0">
                <a:solidFill>
                  <a:srgbClr val="0F3250"/>
                </a:solidFill>
              </a:rPr>
              <a:t>Identificazione indirizzo del </a:t>
            </a:r>
            <a:r>
              <a:rPr lang="it-IT" sz="1900" kern="0" err="1">
                <a:solidFill>
                  <a:srgbClr val="0F3250"/>
                </a:solidFill>
              </a:rPr>
              <a:t>Prospect</a:t>
            </a:r>
            <a:r>
              <a:rPr lang="it-IT" sz="1900" kern="0">
                <a:solidFill>
                  <a:srgbClr val="0F3250"/>
                </a:solidFill>
              </a:rPr>
              <a:t> e </a:t>
            </a:r>
            <a:r>
              <a:rPr lang="it-IT" sz="1900" b="1" kern="0">
                <a:solidFill>
                  <a:srgbClr val="0F3250"/>
                </a:solidFill>
              </a:rPr>
              <a:t>assegnazione al Punto Vendita</a:t>
            </a:r>
            <a:r>
              <a:rPr lang="it-IT" sz="1900" i="1" kern="0">
                <a:solidFill>
                  <a:srgbClr val="0F3250"/>
                </a:solidFill>
              </a:rPr>
              <a:t> </a:t>
            </a:r>
            <a:r>
              <a:rPr lang="it-IT" sz="1900" b="1" kern="0">
                <a:solidFill>
                  <a:srgbClr val="0F3250"/>
                </a:solidFill>
              </a:rPr>
              <a:t>più vicino </a:t>
            </a:r>
            <a:r>
              <a:rPr lang="it-IT" sz="1900" kern="0">
                <a:solidFill>
                  <a:srgbClr val="0F3250"/>
                </a:solidFill>
              </a:rPr>
              <a:t>in assoluto </a:t>
            </a:r>
            <a:r>
              <a:rPr lang="it-IT" sz="1900" b="1" kern="0">
                <a:solidFill>
                  <a:srgbClr val="0F3250"/>
                </a:solidFill>
              </a:rPr>
              <a:t>con </a:t>
            </a:r>
            <a:r>
              <a:rPr lang="it-IT" b="1" kern="0">
                <a:solidFill>
                  <a:srgbClr val="0F3250"/>
                </a:solidFill>
              </a:rPr>
              <a:t>contatore</a:t>
            </a:r>
            <a:r>
              <a:rPr lang="it-IT" sz="1900" b="1" kern="0">
                <a:solidFill>
                  <a:srgbClr val="0F3250"/>
                </a:solidFill>
              </a:rPr>
              <a:t> "capiente"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FC09ADAE-4CCF-BDA9-E972-F88BD36E97B7}"/>
              </a:ext>
            </a:extLst>
          </p:cNvPr>
          <p:cNvSpPr/>
          <p:nvPr/>
        </p:nvSpPr>
        <p:spPr>
          <a:xfrm>
            <a:off x="2612222" y="2983078"/>
            <a:ext cx="5026767" cy="1016000"/>
          </a:xfrm>
          <a:prstGeom prst="rect">
            <a:avLst/>
          </a:prstGeom>
          <a:solidFill>
            <a:schemeClr val="bg1"/>
          </a:solidFill>
          <a:ln w="1905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it-IT">
                <a:solidFill>
                  <a:schemeClr val="tx1"/>
                </a:solidFill>
              </a:rPr>
              <a:t>Definita </a:t>
            </a:r>
            <a:r>
              <a:rPr lang="it-IT" b="1">
                <a:solidFill>
                  <a:schemeClr val="tx1"/>
                </a:solidFill>
              </a:rPr>
              <a:t>logica dei "contatori" </a:t>
            </a:r>
            <a:r>
              <a:rPr lang="it-IT" i="1">
                <a:solidFill>
                  <a:schemeClr val="tx1"/>
                </a:solidFill>
                <a:highlight>
                  <a:srgbClr val="FFF2CC"/>
                </a:highlight>
              </a:rPr>
              <a:t>(capienza max = 1)</a:t>
            </a:r>
            <a:r>
              <a:rPr lang="it-IT">
                <a:solidFill>
                  <a:schemeClr val="tx1"/>
                </a:solidFill>
              </a:rPr>
              <a:t> per ogni Punto Vendita </a:t>
            </a:r>
            <a:r>
              <a:rPr lang="it-IT" b="1">
                <a:solidFill>
                  <a:schemeClr val="tx1"/>
                </a:solidFill>
              </a:rPr>
              <a:t>con "saturazione" alla </a:t>
            </a:r>
            <a:r>
              <a:rPr lang="it-IT" b="1" err="1">
                <a:solidFill>
                  <a:schemeClr val="tx1"/>
                </a:solidFill>
              </a:rPr>
              <a:t>rice</a:t>
            </a:r>
            <a:r>
              <a:rPr lang="it-IT" b="1">
                <a:solidFill>
                  <a:schemeClr val="tx1"/>
                </a:solidFill>
              </a:rPr>
              <a:t>-zione di un lead</a:t>
            </a:r>
            <a:r>
              <a:rPr lang="it-IT">
                <a:solidFill>
                  <a:schemeClr val="tx1"/>
                </a:solidFill>
              </a:rPr>
              <a:t> e </a:t>
            </a:r>
            <a:r>
              <a:rPr lang="it-IT" b="1">
                <a:solidFill>
                  <a:schemeClr val="tx1"/>
                </a:solidFill>
              </a:rPr>
              <a:t>momenti di "refresh" predefiniti</a:t>
            </a:r>
          </a:p>
        </p:txBody>
      </p:sp>
      <p:grpSp>
        <p:nvGrpSpPr>
          <p:cNvPr id="25" name="Gruppo 203">
            <a:extLst>
              <a:ext uri="{FF2B5EF4-FFF2-40B4-BE49-F238E27FC236}">
                <a16:creationId xmlns:a16="http://schemas.microsoft.com/office/drawing/2014/main" id="{053126EE-8A0F-2792-F9FE-656ED6E7375B}"/>
              </a:ext>
            </a:extLst>
          </p:cNvPr>
          <p:cNvGrpSpPr/>
          <p:nvPr/>
        </p:nvGrpSpPr>
        <p:grpSpPr>
          <a:xfrm>
            <a:off x="8456247" y="978767"/>
            <a:ext cx="3280829" cy="226457"/>
            <a:chOff x="1643063" y="1504137"/>
            <a:chExt cx="2462213" cy="364028"/>
          </a:xfrm>
          <a:noFill/>
        </p:grpSpPr>
        <p:sp>
          <p:nvSpPr>
            <p:cNvPr id="26" name="Rettangolo 204">
              <a:extLst>
                <a:ext uri="{FF2B5EF4-FFF2-40B4-BE49-F238E27FC236}">
                  <a16:creationId xmlns:a16="http://schemas.microsoft.com/office/drawing/2014/main" id="{9CAF7B23-5798-37C7-C530-BFEDD6F83100}"/>
                </a:ext>
              </a:extLst>
            </p:cNvPr>
            <p:cNvSpPr/>
            <p:nvPr/>
          </p:nvSpPr>
          <p:spPr>
            <a:xfrm>
              <a:off x="1643066" y="1504137"/>
              <a:ext cx="2462210" cy="3289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600" b="1" i="0" u="none" strike="noStrike" kern="1200" cap="none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Assegnazione dei lead </a:t>
              </a:r>
              <a:r>
                <a:rPr kumimoji="0" lang="it-IT" sz="1600" i="1" u="none" strike="noStrike" kern="1200" cap="none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("condominio")</a:t>
              </a:r>
            </a:p>
          </p:txBody>
        </p:sp>
        <p:cxnSp>
          <p:nvCxnSpPr>
            <p:cNvPr id="27" name="Connettore 1 12">
              <a:extLst>
                <a:ext uri="{FF2B5EF4-FFF2-40B4-BE49-F238E27FC236}">
                  <a16:creationId xmlns:a16="http://schemas.microsoft.com/office/drawing/2014/main" id="{6855F7AB-3E15-C65F-A490-504D0273A0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3063" y="1868165"/>
              <a:ext cx="2462213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uppo 203">
            <a:extLst>
              <a:ext uri="{FF2B5EF4-FFF2-40B4-BE49-F238E27FC236}">
                <a16:creationId xmlns:a16="http://schemas.microsoft.com/office/drawing/2014/main" id="{C4C01E8F-46F7-D94D-77FE-B66F145D943F}"/>
              </a:ext>
            </a:extLst>
          </p:cNvPr>
          <p:cNvGrpSpPr/>
          <p:nvPr/>
        </p:nvGrpSpPr>
        <p:grpSpPr>
          <a:xfrm>
            <a:off x="11915033" y="978767"/>
            <a:ext cx="1066543" cy="227940"/>
            <a:chOff x="1643063" y="1504137"/>
            <a:chExt cx="2462213" cy="364028"/>
          </a:xfrm>
          <a:noFill/>
        </p:grpSpPr>
        <p:sp>
          <p:nvSpPr>
            <p:cNvPr id="30" name="Rettangolo 204">
              <a:extLst>
                <a:ext uri="{FF2B5EF4-FFF2-40B4-BE49-F238E27FC236}">
                  <a16:creationId xmlns:a16="http://schemas.microsoft.com/office/drawing/2014/main" id="{9E35D72E-B7F9-0271-C037-A643229D409C}"/>
                </a:ext>
              </a:extLst>
            </p:cNvPr>
            <p:cNvSpPr/>
            <p:nvPr/>
          </p:nvSpPr>
          <p:spPr>
            <a:xfrm>
              <a:off x="1643066" y="1504137"/>
              <a:ext cx="2462210" cy="3289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600" b="1" i="0" u="none" strike="noStrike" kern="1200" cap="none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Contatori PV</a:t>
              </a:r>
            </a:p>
          </p:txBody>
        </p:sp>
        <p:cxnSp>
          <p:nvCxnSpPr>
            <p:cNvPr id="31" name="Connettore 1 12">
              <a:extLst>
                <a:ext uri="{FF2B5EF4-FFF2-40B4-BE49-F238E27FC236}">
                  <a16:creationId xmlns:a16="http://schemas.microsoft.com/office/drawing/2014/main" id="{7EEF1E43-B797-FD83-15A1-B8CD0ABDA2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3063" y="1868165"/>
              <a:ext cx="2462213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Fumetto: rettangolo con angoli arrotondati 32">
            <a:extLst>
              <a:ext uri="{FF2B5EF4-FFF2-40B4-BE49-F238E27FC236}">
                <a16:creationId xmlns:a16="http://schemas.microsoft.com/office/drawing/2014/main" id="{E36BE464-8E46-EE99-E5CD-09EA16AF6ED1}"/>
              </a:ext>
            </a:extLst>
          </p:cNvPr>
          <p:cNvSpPr/>
          <p:nvPr/>
        </p:nvSpPr>
        <p:spPr>
          <a:xfrm>
            <a:off x="8932275" y="5338354"/>
            <a:ext cx="2292840" cy="535264"/>
          </a:xfrm>
          <a:prstGeom prst="wedgeRoundRectCallout">
            <a:avLst>
              <a:gd name="adj1" fmla="val 17593"/>
              <a:gd name="adj2" fmla="val -78639"/>
              <a:gd name="adj3" fmla="val 16667"/>
            </a:avLst>
          </a:prstGeom>
          <a:solidFill>
            <a:srgbClr val="FFF6D9"/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lvl="0" algn="ctr" defTabSz="1342673">
              <a:defRPr/>
            </a:pPr>
            <a:r>
              <a:rPr lang="it-IT" sz="1200" i="1">
                <a:solidFill>
                  <a:schemeClr val="tx1"/>
                </a:solidFill>
              </a:rPr>
              <a:t>PV "A" rimane "saturo" perché PV "D" nello stesso CAP (00195) non ha ancora ricevuto nessun lead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2B6FA65E-8C55-BD2A-D34C-FEB7FF884339}"/>
              </a:ext>
            </a:extLst>
          </p:cNvPr>
          <p:cNvGrpSpPr/>
          <p:nvPr/>
        </p:nvGrpSpPr>
        <p:grpSpPr>
          <a:xfrm>
            <a:off x="9178214" y="154483"/>
            <a:ext cx="4245540" cy="426241"/>
            <a:chOff x="9178214" y="154483"/>
            <a:chExt cx="4245540" cy="426241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A918ECF3-EB12-0360-1A69-C7327632ECBB}"/>
                </a:ext>
              </a:extLst>
            </p:cNvPr>
            <p:cNvGrpSpPr/>
            <p:nvPr/>
          </p:nvGrpSpPr>
          <p:grpSpPr>
            <a:xfrm>
              <a:off x="9178214" y="154483"/>
              <a:ext cx="4245540" cy="426241"/>
              <a:chOff x="9178214" y="154483"/>
              <a:chExt cx="4245540" cy="426241"/>
            </a:xfrm>
          </p:grpSpPr>
          <p:sp>
            <p:nvSpPr>
              <p:cNvPr id="11" name="Rectangle 18">
                <a:extLst>
                  <a:ext uri="{FF2B5EF4-FFF2-40B4-BE49-F238E27FC236}">
                    <a16:creationId xmlns:a16="http://schemas.microsoft.com/office/drawing/2014/main" id="{A26BAAFD-53D1-9A28-EA0D-3724AC6B67EA}"/>
                  </a:ext>
                </a:extLst>
              </p:cNvPr>
              <p:cNvSpPr/>
              <p:nvPr/>
            </p:nvSpPr>
            <p:spPr>
              <a:xfrm>
                <a:off x="9178214" y="154483"/>
                <a:ext cx="3943455" cy="3713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ctr"/>
              <a:lstStyle/>
              <a:p>
                <a:pPr algn="l"/>
                <a:endParaRPr lang="it-IT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Ovale 23">
                <a:extLst>
                  <a:ext uri="{FF2B5EF4-FFF2-40B4-BE49-F238E27FC236}">
                    <a16:creationId xmlns:a16="http://schemas.microsoft.com/office/drawing/2014/main" id="{71424A81-525E-B406-35AA-A89894E1B07D}"/>
                  </a:ext>
                </a:extLst>
              </p:cNvPr>
              <p:cNvSpPr/>
              <p:nvPr/>
            </p:nvSpPr>
            <p:spPr>
              <a:xfrm>
                <a:off x="9318282" y="221367"/>
                <a:ext cx="229439" cy="2384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it-IT" sz="1200">
                    <a:solidFill>
                      <a:schemeClr val="tx1"/>
                    </a:solidFill>
                    <a:latin typeface="Calibri"/>
                  </a:rPr>
                  <a:t>X</a:t>
                </a:r>
                <a:endParaRPr kumimoji="0" lang="it-IT" sz="12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" name="TextBox 23">
                <a:extLst>
                  <a:ext uri="{FF2B5EF4-FFF2-40B4-BE49-F238E27FC236}">
                    <a16:creationId xmlns:a16="http://schemas.microsoft.com/office/drawing/2014/main" id="{AEF27C0F-DD0B-1C06-5F2D-CB8BA7D70A19}"/>
                  </a:ext>
                </a:extLst>
              </p:cNvPr>
              <p:cNvSpPr txBox="1"/>
              <p:nvPr/>
            </p:nvSpPr>
            <p:spPr>
              <a:xfrm>
                <a:off x="9507967" y="209408"/>
                <a:ext cx="1307965" cy="37131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it-IT" sz="1100" b="1" i="1"/>
                  <a:t>PV "capiente"</a:t>
                </a:r>
              </a:p>
            </p:txBody>
          </p:sp>
          <p:sp>
            <p:nvSpPr>
              <p:cNvPr id="16" name="Ovale 23">
                <a:extLst>
                  <a:ext uri="{FF2B5EF4-FFF2-40B4-BE49-F238E27FC236}">
                    <a16:creationId xmlns:a16="http://schemas.microsoft.com/office/drawing/2014/main" id="{11E08983-1E00-1903-7439-32CAA822EB23}"/>
                  </a:ext>
                </a:extLst>
              </p:cNvPr>
              <p:cNvSpPr/>
              <p:nvPr/>
            </p:nvSpPr>
            <p:spPr>
              <a:xfrm>
                <a:off x="10679988" y="221367"/>
                <a:ext cx="229439" cy="238478"/>
              </a:xfrm>
              <a:prstGeom prst="ellipse">
                <a:avLst/>
              </a:prstGeom>
              <a:solidFill>
                <a:srgbClr val="DEF1C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it-IT" sz="1200">
                    <a:solidFill>
                      <a:schemeClr val="tx1"/>
                    </a:solidFill>
                    <a:latin typeface="Calibri"/>
                  </a:rPr>
                  <a:t>X</a:t>
                </a:r>
                <a:endParaRPr kumimoji="0" lang="it-IT" sz="12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TextBox 23">
                <a:extLst>
                  <a:ext uri="{FF2B5EF4-FFF2-40B4-BE49-F238E27FC236}">
                    <a16:creationId xmlns:a16="http://schemas.microsoft.com/office/drawing/2014/main" id="{209BA2F4-83DD-FAB7-9039-5E592226BDAD}"/>
                  </a:ext>
                </a:extLst>
              </p:cNvPr>
              <p:cNvSpPr txBox="1"/>
              <p:nvPr/>
            </p:nvSpPr>
            <p:spPr>
              <a:xfrm>
                <a:off x="10881192" y="209408"/>
                <a:ext cx="1307965" cy="37131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it-IT" sz="1100" b="1" i="1"/>
                  <a:t>PV assegnato</a:t>
                </a:r>
              </a:p>
            </p:txBody>
          </p:sp>
          <p:sp>
            <p:nvSpPr>
              <p:cNvPr id="18" name="Ovale 23">
                <a:extLst>
                  <a:ext uri="{FF2B5EF4-FFF2-40B4-BE49-F238E27FC236}">
                    <a16:creationId xmlns:a16="http://schemas.microsoft.com/office/drawing/2014/main" id="{4E9A422A-BD18-BFFB-4553-562FFE825D8D}"/>
                  </a:ext>
                </a:extLst>
              </p:cNvPr>
              <p:cNvSpPr/>
              <p:nvPr/>
            </p:nvSpPr>
            <p:spPr>
              <a:xfrm>
                <a:off x="11990195" y="221367"/>
                <a:ext cx="229439" cy="238478"/>
              </a:xfrm>
              <a:prstGeom prst="ellipse">
                <a:avLst/>
              </a:prstGeom>
              <a:solidFill>
                <a:srgbClr val="F8AEB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it-IT" sz="1200">
                    <a:solidFill>
                      <a:schemeClr val="tx1"/>
                    </a:solidFill>
                    <a:latin typeface="Calibri"/>
                  </a:rPr>
                  <a:t>X</a:t>
                </a:r>
                <a:endParaRPr kumimoji="0" lang="it-IT" sz="1200" i="0" u="non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" name="TextBox 23">
                <a:extLst>
                  <a:ext uri="{FF2B5EF4-FFF2-40B4-BE49-F238E27FC236}">
                    <a16:creationId xmlns:a16="http://schemas.microsoft.com/office/drawing/2014/main" id="{F3477F4E-44E4-F875-5431-8886A177D114}"/>
                  </a:ext>
                </a:extLst>
              </p:cNvPr>
              <p:cNvSpPr txBox="1"/>
              <p:nvPr/>
            </p:nvSpPr>
            <p:spPr>
              <a:xfrm>
                <a:off x="12183883" y="209408"/>
                <a:ext cx="1239871" cy="37131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it-IT" sz="1100" b="1" i="1"/>
                  <a:t>PV "saturo"</a:t>
                </a:r>
              </a:p>
            </p:txBody>
          </p:sp>
        </p:grpSp>
        <p:cxnSp>
          <p:nvCxnSpPr>
            <p:cNvPr id="54" name="Connettore diritto 53">
              <a:extLst>
                <a:ext uri="{FF2B5EF4-FFF2-40B4-BE49-F238E27FC236}">
                  <a16:creationId xmlns:a16="http://schemas.microsoft.com/office/drawing/2014/main" id="{41C8A62E-0E39-BFEF-C928-837CFD241E2F}"/>
                </a:ext>
              </a:extLst>
            </p:cNvPr>
            <p:cNvCxnSpPr/>
            <p:nvPr/>
          </p:nvCxnSpPr>
          <p:spPr>
            <a:xfrm flipV="1">
              <a:off x="12015848" y="251664"/>
              <a:ext cx="170402" cy="17040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" name="Connettore diritto 55">
            <a:extLst>
              <a:ext uri="{FF2B5EF4-FFF2-40B4-BE49-F238E27FC236}">
                <a16:creationId xmlns:a16="http://schemas.microsoft.com/office/drawing/2014/main" id="{21CBA98F-921B-17A9-8561-C8E2EF40AE27}"/>
              </a:ext>
            </a:extLst>
          </p:cNvPr>
          <p:cNvCxnSpPr/>
          <p:nvPr/>
        </p:nvCxnSpPr>
        <p:spPr>
          <a:xfrm flipV="1">
            <a:off x="10309558" y="2635665"/>
            <a:ext cx="170402" cy="1704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diritto 56">
            <a:extLst>
              <a:ext uri="{FF2B5EF4-FFF2-40B4-BE49-F238E27FC236}">
                <a16:creationId xmlns:a16="http://schemas.microsoft.com/office/drawing/2014/main" id="{4A8B0244-5594-8B89-F829-862637533F3B}"/>
              </a:ext>
            </a:extLst>
          </p:cNvPr>
          <p:cNvCxnSpPr/>
          <p:nvPr/>
        </p:nvCxnSpPr>
        <p:spPr>
          <a:xfrm flipV="1">
            <a:off x="9361522" y="3640848"/>
            <a:ext cx="170402" cy="1704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diritto 57">
            <a:extLst>
              <a:ext uri="{FF2B5EF4-FFF2-40B4-BE49-F238E27FC236}">
                <a16:creationId xmlns:a16="http://schemas.microsoft.com/office/drawing/2014/main" id="{FB1B5BF8-492E-B9CB-B385-6670BEB3F52F}"/>
              </a:ext>
            </a:extLst>
          </p:cNvPr>
          <p:cNvCxnSpPr/>
          <p:nvPr/>
        </p:nvCxnSpPr>
        <p:spPr>
          <a:xfrm flipV="1">
            <a:off x="10301754" y="3756776"/>
            <a:ext cx="170402" cy="1704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diritto 58">
            <a:extLst>
              <a:ext uri="{FF2B5EF4-FFF2-40B4-BE49-F238E27FC236}">
                <a16:creationId xmlns:a16="http://schemas.microsoft.com/office/drawing/2014/main" id="{86A22A79-1102-ECF2-9B97-C44E91CF372A}"/>
              </a:ext>
            </a:extLst>
          </p:cNvPr>
          <p:cNvCxnSpPr/>
          <p:nvPr/>
        </p:nvCxnSpPr>
        <p:spPr>
          <a:xfrm flipV="1">
            <a:off x="10301754" y="4864124"/>
            <a:ext cx="170402" cy="1704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umetto: rettangolo con angoli arrotondati 5">
            <a:extLst>
              <a:ext uri="{FF2B5EF4-FFF2-40B4-BE49-F238E27FC236}">
                <a16:creationId xmlns:a16="http://schemas.microsoft.com/office/drawing/2014/main" id="{777BFD55-4DD0-62E0-B2C8-CE6427381DE1}"/>
              </a:ext>
            </a:extLst>
          </p:cNvPr>
          <p:cNvSpPr/>
          <p:nvPr/>
        </p:nvSpPr>
        <p:spPr>
          <a:xfrm>
            <a:off x="2732088" y="3954104"/>
            <a:ext cx="4394045" cy="351865"/>
          </a:xfrm>
          <a:prstGeom prst="wedgeRoundRectCallout">
            <a:avLst>
              <a:gd name="adj1" fmla="val -26346"/>
              <a:gd name="adj2" fmla="val -75660"/>
              <a:gd name="adj3" fmla="val 16667"/>
            </a:avLst>
          </a:prstGeom>
          <a:solidFill>
            <a:srgbClr val="FFF6D9"/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lvl="0" algn="ctr" defTabSz="1342673">
              <a:defRPr/>
            </a:pPr>
            <a:r>
              <a:rPr lang="it-IT" sz="1200" i="1" dirty="0">
                <a:solidFill>
                  <a:schemeClr val="tx1"/>
                </a:solidFill>
              </a:rPr>
              <a:t>Nel caso in cui il soggetto seleziona un altro PV, il contatore del PV proposto da modello non viene impattato in quanto non riceve lead</a:t>
            </a:r>
          </a:p>
        </p:txBody>
      </p:sp>
    </p:spTree>
    <p:extLst>
      <p:ext uri="{BB962C8B-B14F-4D97-AF65-F5344CB8AC3E}">
        <p14:creationId xmlns:p14="http://schemas.microsoft.com/office/powerpoint/2010/main" val="3514954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8D2BF-673E-D586-D647-9635FA6CF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1AE0D94-9975-50E9-8C69-865B55003F5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8724" y="2332"/>
          <a:ext cx="2332" cy="2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4" name="Diapositiva think-cell" r:id="rId6" imgW="435" imgH="435" progId="TCLayout.ActiveDocument.1">
                  <p:embed/>
                </p:oleObj>
              </mc:Choice>
              <mc:Fallback>
                <p:oleObj name="Diapositiva think-cell" r:id="rId6" imgW="435" imgH="43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E0D94-9975-50E9-8C69-865B55003F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724" y="2332"/>
                        <a:ext cx="2332" cy="2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4" name="Gruppo 223">
            <a:extLst>
              <a:ext uri="{FF2B5EF4-FFF2-40B4-BE49-F238E27FC236}">
                <a16:creationId xmlns:a16="http://schemas.microsoft.com/office/drawing/2014/main" id="{444DFD88-105C-76DA-54EF-FCD552C9B096}"/>
              </a:ext>
            </a:extLst>
          </p:cNvPr>
          <p:cNvGrpSpPr/>
          <p:nvPr/>
        </p:nvGrpSpPr>
        <p:grpSpPr>
          <a:xfrm>
            <a:off x="8892575" y="4617885"/>
            <a:ext cx="2870200" cy="1025525"/>
            <a:chOff x="8892575" y="4617885"/>
            <a:chExt cx="2870200" cy="1025525"/>
          </a:xfrm>
        </p:grpSpPr>
        <p:pic>
          <p:nvPicPr>
            <p:cNvPr id="159" name="Immagine 158">
              <a:extLst>
                <a:ext uri="{FF2B5EF4-FFF2-40B4-BE49-F238E27FC236}">
                  <a16:creationId xmlns:a16="http://schemas.microsoft.com/office/drawing/2014/main" id="{2E600C8D-2782-9E03-D757-57579C6E7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" t="21014" r="30026" b="-633"/>
            <a:stretch>
              <a:fillRect/>
            </a:stretch>
          </p:blipFill>
          <p:spPr>
            <a:xfrm>
              <a:off x="8892575" y="4617885"/>
              <a:ext cx="2870200" cy="1025525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</p:pic>
        <p:pic>
          <p:nvPicPr>
            <p:cNvPr id="223" name="Immagine 222">
              <a:extLst>
                <a:ext uri="{FF2B5EF4-FFF2-40B4-BE49-F238E27FC236}">
                  <a16:creationId xmlns:a16="http://schemas.microsoft.com/office/drawing/2014/main" id="{05AF90EC-943D-0BFA-9954-7D36913D9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92" t="64948" r="84459" b="23816"/>
            <a:stretch>
              <a:fillRect/>
            </a:stretch>
          </p:blipFill>
          <p:spPr>
            <a:xfrm>
              <a:off x="9264482" y="5184329"/>
              <a:ext cx="137447" cy="144722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58" name="Immagine 157">
            <a:extLst>
              <a:ext uri="{FF2B5EF4-FFF2-40B4-BE49-F238E27FC236}">
                <a16:creationId xmlns:a16="http://schemas.microsoft.com/office/drawing/2014/main" id="{2947BC56-9906-78D6-19D9-DC347B5883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" t="21014" r="30026" b="-633"/>
          <a:stretch>
            <a:fillRect/>
          </a:stretch>
        </p:blipFill>
        <p:spPr>
          <a:xfrm>
            <a:off x="8892575" y="3507181"/>
            <a:ext cx="2870200" cy="10255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221" name="Immagine 220">
            <a:extLst>
              <a:ext uri="{FF2B5EF4-FFF2-40B4-BE49-F238E27FC236}">
                <a16:creationId xmlns:a16="http://schemas.microsoft.com/office/drawing/2014/main" id="{22C6036C-3958-182E-5C2C-9E19E4E157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2" t="64948" r="84459" b="23816"/>
          <a:stretch>
            <a:fillRect/>
          </a:stretch>
        </p:blipFill>
        <p:spPr>
          <a:xfrm>
            <a:off x="9264482" y="4073822"/>
            <a:ext cx="137447" cy="144722"/>
          </a:xfrm>
          <a:prstGeom prst="rect">
            <a:avLst/>
          </a:prstGeom>
          <a:ln>
            <a:noFill/>
          </a:ln>
        </p:spPr>
      </p:pic>
      <p:pic>
        <p:nvPicPr>
          <p:cNvPr id="157" name="Immagine 156">
            <a:extLst>
              <a:ext uri="{FF2B5EF4-FFF2-40B4-BE49-F238E27FC236}">
                <a16:creationId xmlns:a16="http://schemas.microsoft.com/office/drawing/2014/main" id="{3D46BD01-FD8F-31CB-8055-3DD0158D33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" t="21014" r="30026" b="-633"/>
          <a:stretch>
            <a:fillRect/>
          </a:stretch>
        </p:blipFill>
        <p:spPr>
          <a:xfrm>
            <a:off x="8892575" y="2396478"/>
            <a:ext cx="2870200" cy="10255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219" name="Immagine 218">
            <a:extLst>
              <a:ext uri="{FF2B5EF4-FFF2-40B4-BE49-F238E27FC236}">
                <a16:creationId xmlns:a16="http://schemas.microsoft.com/office/drawing/2014/main" id="{53ACFA2E-E63D-9A34-815F-880A93AA5B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2" t="64948" r="84459" b="23816"/>
          <a:stretch>
            <a:fillRect/>
          </a:stretch>
        </p:blipFill>
        <p:spPr>
          <a:xfrm>
            <a:off x="9264085" y="2967676"/>
            <a:ext cx="137447" cy="144722"/>
          </a:xfrm>
          <a:prstGeom prst="rect">
            <a:avLst/>
          </a:prstGeom>
          <a:ln>
            <a:noFill/>
          </a:ln>
        </p:spPr>
      </p:pic>
      <p:pic>
        <p:nvPicPr>
          <p:cNvPr id="156" name="Immagine 155">
            <a:extLst>
              <a:ext uri="{FF2B5EF4-FFF2-40B4-BE49-F238E27FC236}">
                <a16:creationId xmlns:a16="http://schemas.microsoft.com/office/drawing/2014/main" id="{FFE410C9-4FB7-1225-B597-15773E7848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" t="21014" r="30026" b="-633"/>
          <a:stretch>
            <a:fillRect/>
          </a:stretch>
        </p:blipFill>
        <p:spPr>
          <a:xfrm>
            <a:off x="8892575" y="1285775"/>
            <a:ext cx="2870200" cy="10255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215" name="Immagine 214">
            <a:extLst>
              <a:ext uri="{FF2B5EF4-FFF2-40B4-BE49-F238E27FC236}">
                <a16:creationId xmlns:a16="http://schemas.microsoft.com/office/drawing/2014/main" id="{0EC57321-6E28-8E2C-27ED-58AE201DA0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2" t="64948" r="84459" b="23816"/>
          <a:stretch>
            <a:fillRect/>
          </a:stretch>
        </p:blipFill>
        <p:spPr>
          <a:xfrm>
            <a:off x="9259514" y="1851816"/>
            <a:ext cx="137447" cy="144722"/>
          </a:xfrm>
          <a:prstGeom prst="rect">
            <a:avLst/>
          </a:prstGeom>
          <a:ln>
            <a:noFill/>
          </a:ln>
        </p:spPr>
      </p:pic>
      <p:sp>
        <p:nvSpPr>
          <p:cNvPr id="38" name="TextBox 123">
            <a:extLst>
              <a:ext uri="{FF2B5EF4-FFF2-40B4-BE49-F238E27FC236}">
                <a16:creationId xmlns:a16="http://schemas.microsoft.com/office/drawing/2014/main" id="{AB595698-A9BF-8FF8-A1F4-9EA4FEA09742}"/>
              </a:ext>
            </a:extLst>
          </p:cNvPr>
          <p:cNvSpPr txBox="1"/>
          <p:nvPr/>
        </p:nvSpPr>
        <p:spPr>
          <a:xfrm>
            <a:off x="688722" y="6156481"/>
            <a:ext cx="12620877" cy="6340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66700" lvl="0" indent="-266700" defTabSz="1342673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en-US" sz="2200" b="1" i="1">
                <a:solidFill>
                  <a:srgbClr val="0F3250"/>
                </a:solidFill>
              </a:rPr>
              <a:t>INTRODUZIONE DI UNA </a:t>
            </a:r>
            <a:r>
              <a:rPr lang="en-US" sz="2200" b="1" i="1" u="sng">
                <a:solidFill>
                  <a:srgbClr val="0F3250"/>
                </a:solidFill>
              </a:rPr>
              <a:t>NUOVA COMPONENTE DI PERFORMANCE</a:t>
            </a:r>
            <a:r>
              <a:rPr lang="en-US" sz="2200" b="1" i="1">
                <a:solidFill>
                  <a:srgbClr val="0F3250"/>
                </a:solidFill>
              </a:rPr>
              <a:t> NELL'ASSEGNAZIONE DEI LEAD</a:t>
            </a:r>
            <a:endParaRPr lang="en-US" sz="2200" b="1" i="1" u="sng">
              <a:solidFill>
                <a:srgbClr val="0F3250"/>
              </a:solidFill>
            </a:endParaRPr>
          </a:p>
          <a:p>
            <a:pPr marL="266700" lvl="0" indent="-266700" defTabSz="1342673">
              <a:spcBef>
                <a:spcPct val="20000"/>
              </a:spcBef>
              <a:buFont typeface="Wingdings" panose="05000000000000000000" pitchFamily="2" charset="2"/>
              <a:buChar char="§"/>
              <a:defRPr/>
            </a:pPr>
            <a:r>
              <a:rPr lang="en-US" sz="2200" b="1" i="1">
                <a:solidFill>
                  <a:srgbClr val="0F3250"/>
                </a:solidFill>
              </a:rPr>
              <a:t>CONTATORI COME LEVA LATO COMPAGNIA PER DETERMINARE IL GRADO DI MERITOCRAZIA DEL MODELLO</a:t>
            </a:r>
            <a:endParaRPr lang="en-US" sz="2200" i="1">
              <a:solidFill>
                <a:srgbClr val="0F3250"/>
              </a:solidFill>
            </a:endParaRPr>
          </a:p>
        </p:txBody>
      </p:sp>
      <p:sp>
        <p:nvSpPr>
          <p:cNvPr id="52" name="Titolo 4">
            <a:extLst>
              <a:ext uri="{FF2B5EF4-FFF2-40B4-BE49-F238E27FC236}">
                <a16:creationId xmlns:a16="http://schemas.microsoft.com/office/drawing/2014/main" id="{047DCCAE-7542-FC46-DF8E-520EB2446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8" y="87404"/>
            <a:ext cx="12055941" cy="520054"/>
          </a:xfrm>
        </p:spPr>
        <p:txBody>
          <a:bodyPr vert="horz"/>
          <a:lstStyle/>
          <a:p>
            <a:pPr indent="450850"/>
            <a:r>
              <a:rPr lang="it-IT" sz="2800" dirty="0"/>
              <a:t>LOGICHE DI ASSEGNAZIONE | Modello Geo-meritocratico</a:t>
            </a:r>
          </a:p>
        </p:txBody>
      </p:sp>
      <p:sp>
        <p:nvSpPr>
          <p:cNvPr id="80" name="Rettangolo 79">
            <a:extLst>
              <a:ext uri="{FF2B5EF4-FFF2-40B4-BE49-F238E27FC236}">
                <a16:creationId xmlns:a16="http://schemas.microsoft.com/office/drawing/2014/main" id="{107393AD-CDD3-A643-8C49-038F01BF624E}"/>
              </a:ext>
            </a:extLst>
          </p:cNvPr>
          <p:cNvSpPr/>
          <p:nvPr/>
        </p:nvSpPr>
        <p:spPr>
          <a:xfrm>
            <a:off x="116539" y="127320"/>
            <a:ext cx="367807" cy="439410"/>
          </a:xfrm>
          <a:prstGeom prst="rect">
            <a:avLst/>
          </a:prstGeom>
          <a:solidFill>
            <a:srgbClr val="EBF3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ADD4DB3E-9BB6-464B-C922-09BCDA4DEFEF}"/>
              </a:ext>
            </a:extLst>
          </p:cNvPr>
          <p:cNvSpPr/>
          <p:nvPr/>
        </p:nvSpPr>
        <p:spPr>
          <a:xfrm>
            <a:off x="875990" y="1291627"/>
            <a:ext cx="7007594" cy="435442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108000" tIns="211449" rIns="108000" bIns="0" rtlCol="0" anchor="t"/>
          <a:lstStyle/>
          <a:p>
            <a:pPr marL="457200" marR="0" lvl="1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1"/>
              </a:spcAft>
              <a:buClrTx/>
              <a:buSzTx/>
              <a:buFontTx/>
              <a:buNone/>
              <a:tabLst/>
              <a:defRPr/>
            </a:pPr>
            <a:endParaRPr kumimoji="0" lang="it-IT" sz="2000" b="0" i="1" u="none" strike="noStrike" kern="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1353E582-5C1F-4BF2-781A-FB7F6A874DE6}"/>
              </a:ext>
            </a:extLst>
          </p:cNvPr>
          <p:cNvSpPr/>
          <p:nvPr/>
        </p:nvSpPr>
        <p:spPr>
          <a:xfrm>
            <a:off x="1231543" y="917411"/>
            <a:ext cx="6364728" cy="476576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rtlCol="0" anchor="ctr" anchorCtr="0">
            <a:noAutofit/>
          </a:bodyPr>
          <a:lstStyle/>
          <a:p>
            <a:pPr lvl="0" algn="ctr" defTabSz="1007029">
              <a:defRPr/>
            </a:pPr>
            <a:r>
              <a:rPr lang="it-IT" sz="2400" b="1" kern="0">
                <a:highlight>
                  <a:srgbClr val="FFF2CC"/>
                </a:highlight>
              </a:rPr>
              <a:t>PV più vicino – </a:t>
            </a:r>
            <a:r>
              <a:rPr lang="it-IT" sz="2400" i="1" kern="0">
                <a:highlight>
                  <a:srgbClr val="FFF2CC"/>
                </a:highlight>
              </a:rPr>
              <a:t>con "merito"</a:t>
            </a:r>
            <a:endParaRPr lang="it-IT" sz="2000" i="1" kern="0">
              <a:highlight>
                <a:srgbClr val="FFF2CC"/>
              </a:highlight>
            </a:endParaRPr>
          </a:p>
        </p:txBody>
      </p:sp>
      <p:sp>
        <p:nvSpPr>
          <p:cNvPr id="32" name="TextBox 123">
            <a:extLst>
              <a:ext uri="{FF2B5EF4-FFF2-40B4-BE49-F238E27FC236}">
                <a16:creationId xmlns:a16="http://schemas.microsoft.com/office/drawing/2014/main" id="{6591EC36-F821-CBDD-7428-C51EB38D7A03}"/>
              </a:ext>
            </a:extLst>
          </p:cNvPr>
          <p:cNvSpPr txBox="1"/>
          <p:nvPr/>
        </p:nvSpPr>
        <p:spPr>
          <a:xfrm rot="16200000">
            <a:off x="-1550215" y="3188655"/>
            <a:ext cx="4354420" cy="560364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134267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MOTORE GEO-MERITOCRATICO</a:t>
            </a:r>
          </a:p>
        </p:txBody>
      </p:sp>
      <p:sp>
        <p:nvSpPr>
          <p:cNvPr id="5" name="Triangolo isoscele 4">
            <a:extLst>
              <a:ext uri="{FF2B5EF4-FFF2-40B4-BE49-F238E27FC236}">
                <a16:creationId xmlns:a16="http://schemas.microsoft.com/office/drawing/2014/main" id="{4C29FC83-021E-727C-CC76-1FDECA547BC3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 rot="16200000">
            <a:off x="5715934" y="2948133"/>
            <a:ext cx="4638378" cy="757449"/>
          </a:xfrm>
          <a:prstGeom prst="triangle">
            <a:avLst>
              <a:gd name="adj" fmla="val 10775"/>
            </a:avLst>
          </a:prstGeom>
          <a:gradFill>
            <a:gsLst>
              <a:gs pos="0">
                <a:srgbClr val="BFBFBF"/>
              </a:gs>
              <a:gs pos="40000">
                <a:srgbClr val="EAEAEA"/>
              </a:gs>
              <a:gs pos="77000">
                <a:srgbClr val="B2B2B2">
                  <a:lumMod val="20000"/>
                  <a:lumOff val="80000"/>
                </a:srgbClr>
              </a:gs>
              <a:gs pos="19000">
                <a:srgbClr val="D5D5D5"/>
              </a:gs>
              <a:gs pos="93000">
                <a:srgbClr val="FFFFFF"/>
              </a:gs>
            </a:gsLst>
            <a:lin ang="5400000" scaled="1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grpSp>
        <p:nvGrpSpPr>
          <p:cNvPr id="76" name="Gruppo 75">
            <a:extLst>
              <a:ext uri="{FF2B5EF4-FFF2-40B4-BE49-F238E27FC236}">
                <a16:creationId xmlns:a16="http://schemas.microsoft.com/office/drawing/2014/main" id="{E47A9937-BC4E-579D-196E-B79854F370C0}"/>
              </a:ext>
            </a:extLst>
          </p:cNvPr>
          <p:cNvGrpSpPr/>
          <p:nvPr/>
        </p:nvGrpSpPr>
        <p:grpSpPr>
          <a:xfrm>
            <a:off x="1133514" y="823403"/>
            <a:ext cx="664907" cy="664907"/>
            <a:chOff x="1133514" y="775635"/>
            <a:chExt cx="664907" cy="664907"/>
          </a:xfrm>
        </p:grpSpPr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DE517A8D-C292-A9BF-AE83-3B8F9179CA4B}"/>
                </a:ext>
              </a:extLst>
            </p:cNvPr>
            <p:cNvSpPr/>
            <p:nvPr/>
          </p:nvSpPr>
          <p:spPr>
            <a:xfrm>
              <a:off x="1133514" y="775635"/>
              <a:ext cx="664907" cy="664907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tIns="0" rIns="36000" b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5" name="Immagine 14" descr="Immagine che contiene giallo, clipart, cerchio&#10;&#10;Descrizione generata automaticamente">
              <a:extLst>
                <a:ext uri="{FF2B5EF4-FFF2-40B4-BE49-F238E27FC236}">
                  <a16:creationId xmlns:a16="http://schemas.microsoft.com/office/drawing/2014/main" id="{F317DA4F-1D4D-9346-6894-19D9B07AA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4665" y="843616"/>
              <a:ext cx="502603" cy="502603"/>
            </a:xfrm>
            <a:prstGeom prst="rect">
              <a:avLst/>
            </a:prstGeom>
          </p:spPr>
        </p:pic>
      </p:grp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EAC59004-88E0-9ABA-0B79-91FCEB987C7F}"/>
              </a:ext>
            </a:extLst>
          </p:cNvPr>
          <p:cNvSpPr txBox="1"/>
          <p:nvPr/>
        </p:nvSpPr>
        <p:spPr>
          <a:xfrm rot="16200000">
            <a:off x="7391130" y="4172605"/>
            <a:ext cx="1468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0" i="1" u="sng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Esempio</a:t>
            </a:r>
          </a:p>
        </p:txBody>
      </p:sp>
      <p:sp>
        <p:nvSpPr>
          <p:cNvPr id="68" name="Rettangolo 67">
            <a:extLst>
              <a:ext uri="{FF2B5EF4-FFF2-40B4-BE49-F238E27FC236}">
                <a16:creationId xmlns:a16="http://schemas.microsoft.com/office/drawing/2014/main" id="{B74893C1-E1AB-C5E6-BB12-7F074A34BF44}"/>
              </a:ext>
            </a:extLst>
          </p:cNvPr>
          <p:cNvSpPr/>
          <p:nvPr/>
        </p:nvSpPr>
        <p:spPr>
          <a:xfrm>
            <a:off x="2612222" y="2983078"/>
            <a:ext cx="5026767" cy="1016000"/>
          </a:xfrm>
          <a:prstGeom prst="rect">
            <a:avLst/>
          </a:prstGeom>
          <a:solidFill>
            <a:schemeClr val="bg1"/>
          </a:solidFill>
          <a:ln w="1905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lvl="0"/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Definita 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logica dei "contatori" con capienza in funzione della performance</a:t>
            </a:r>
            <a:r>
              <a:rPr lang="it-IT" b="1" dirty="0">
                <a:solidFill>
                  <a:srgbClr val="0F3250"/>
                </a:solidFill>
                <a:latin typeface="Calibri"/>
              </a:rPr>
              <a:t> registrata </a:t>
            </a:r>
            <a:r>
              <a:rPr lang="it-IT" i="1" dirty="0">
                <a:solidFill>
                  <a:srgbClr val="0F3250"/>
                </a:solidFill>
                <a:highlight>
                  <a:srgbClr val="FFF2CC"/>
                </a:highlight>
              </a:rPr>
              <a:t>(capienza max &gt; 1)</a:t>
            </a:r>
            <a:r>
              <a:rPr lang="it-IT" i="1" dirty="0">
                <a:solidFill>
                  <a:srgbClr val="0F3250"/>
                </a:solidFill>
                <a:latin typeface="Calibri"/>
              </a:rPr>
              <a:t>,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con </a:t>
            </a:r>
            <a:r>
              <a:rPr kumimoji="0" lang="it-IT" sz="1800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momenti di "refresh" predefiniti</a:t>
            </a:r>
          </a:p>
        </p:txBody>
      </p:sp>
      <p:grpSp>
        <p:nvGrpSpPr>
          <p:cNvPr id="69" name="Gruppo 68">
            <a:extLst>
              <a:ext uri="{FF2B5EF4-FFF2-40B4-BE49-F238E27FC236}">
                <a16:creationId xmlns:a16="http://schemas.microsoft.com/office/drawing/2014/main" id="{A0DB7504-DAF3-3163-90BA-C67A88ACA3F8}"/>
              </a:ext>
            </a:extLst>
          </p:cNvPr>
          <p:cNvGrpSpPr/>
          <p:nvPr/>
        </p:nvGrpSpPr>
        <p:grpSpPr>
          <a:xfrm>
            <a:off x="1194177" y="1563477"/>
            <a:ext cx="1120560" cy="3870097"/>
            <a:chOff x="662880" y="1292162"/>
            <a:chExt cx="1529962" cy="2220430"/>
          </a:xfrm>
        </p:grpSpPr>
        <p:sp>
          <p:nvSpPr>
            <p:cNvPr id="70" name="Freeform 5">
              <a:extLst>
                <a:ext uri="{FF2B5EF4-FFF2-40B4-BE49-F238E27FC236}">
                  <a16:creationId xmlns:a16="http://schemas.microsoft.com/office/drawing/2014/main" id="{D65BB2F9-05DF-887C-E4FA-E3A9BDC2F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880" y="1292162"/>
              <a:ext cx="615851" cy="2220430"/>
            </a:xfrm>
            <a:custGeom>
              <a:avLst/>
              <a:gdLst>
                <a:gd name="T0" fmla="*/ 0 w 446"/>
                <a:gd name="T1" fmla="*/ 0 h 2796"/>
                <a:gd name="T2" fmla="*/ 446 w 446"/>
                <a:gd name="T3" fmla="*/ 2796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6" h="2796">
                  <a:moveTo>
                    <a:pt x="0" y="0"/>
                  </a:moveTo>
                  <a:cubicBezTo>
                    <a:pt x="269" y="444"/>
                    <a:pt x="446" y="1556"/>
                    <a:pt x="446" y="2796"/>
                  </a:cubicBez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BNPP Sans "/>
                <a:ea typeface="+mn-ea"/>
                <a:cs typeface="+mn-cs"/>
              </a:endParaRPr>
            </a:p>
          </p:txBody>
        </p:sp>
        <p:sp>
          <p:nvSpPr>
            <p:cNvPr id="71" name="Freeform 6">
              <a:extLst>
                <a:ext uri="{FF2B5EF4-FFF2-40B4-BE49-F238E27FC236}">
                  <a16:creationId xmlns:a16="http://schemas.microsoft.com/office/drawing/2014/main" id="{D796232F-0B88-5FC4-FA30-693FA2FB3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991" y="1292162"/>
              <a:ext cx="615851" cy="2220430"/>
            </a:xfrm>
            <a:custGeom>
              <a:avLst/>
              <a:gdLst>
                <a:gd name="T0" fmla="*/ 446 w 446"/>
                <a:gd name="T1" fmla="*/ 0 h 2796"/>
                <a:gd name="T2" fmla="*/ 0 w 446"/>
                <a:gd name="T3" fmla="*/ 2796 h 2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6" h="2796">
                  <a:moveTo>
                    <a:pt x="446" y="0"/>
                  </a:moveTo>
                  <a:cubicBezTo>
                    <a:pt x="178" y="444"/>
                    <a:pt x="0" y="1556"/>
                    <a:pt x="0" y="2796"/>
                  </a:cubicBez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BNPP Sans "/>
                <a:ea typeface="+mn-ea"/>
                <a:cs typeface="+mn-cs"/>
              </a:endParaRPr>
            </a:p>
          </p:txBody>
        </p:sp>
      </p:grp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0F9B917E-9C9B-868E-8122-FFA04EE1E1DA}"/>
              </a:ext>
            </a:extLst>
          </p:cNvPr>
          <p:cNvSpPr/>
          <p:nvPr/>
        </p:nvSpPr>
        <p:spPr>
          <a:xfrm>
            <a:off x="1053895" y="1859865"/>
            <a:ext cx="1411210" cy="586132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90000" rIns="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1" u="sng" strike="noStrike" kern="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BNPP Sans Light"/>
                <a:ea typeface="+mn-ea"/>
                <a:cs typeface="+mn-cs"/>
              </a:rPr>
              <a:t>CRITERIO DI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1" u="sng" strike="noStrike" kern="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BNPP Sans Light"/>
                <a:ea typeface="+mn-ea"/>
                <a:cs typeface="+mn-cs"/>
              </a:rPr>
              <a:t>ASSEGNAZIONE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29027250-C3E0-7238-AFA1-4E473B667A51}"/>
              </a:ext>
            </a:extLst>
          </p:cNvPr>
          <p:cNvSpPr/>
          <p:nvPr/>
        </p:nvSpPr>
        <p:spPr>
          <a:xfrm>
            <a:off x="1053895" y="4536499"/>
            <a:ext cx="1411210" cy="585788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90000" rIns="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1" u="sng" strike="noStrike" kern="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BNPP Sans Light"/>
                <a:ea typeface="+mn-ea"/>
                <a:cs typeface="+mn-cs"/>
              </a:rPr>
              <a:t>PERIMETRO DI RIFERIMENTO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B146D24-2CDD-3CC9-9313-807E46DE6A0D}"/>
              </a:ext>
            </a:extLst>
          </p:cNvPr>
          <p:cNvSpPr/>
          <p:nvPr/>
        </p:nvSpPr>
        <p:spPr>
          <a:xfrm>
            <a:off x="1053895" y="3198012"/>
            <a:ext cx="1411210" cy="586132"/>
          </a:xfrm>
          <a:prstGeom prst="round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90000" rIns="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1" u="sng" strike="noStrike" kern="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BNPP Sans Light"/>
                <a:ea typeface="+mn-ea"/>
                <a:cs typeface="+mn-cs"/>
              </a:rPr>
              <a:t>MECCANISMO EQUA DISTRIB.</a:t>
            </a:r>
          </a:p>
        </p:txBody>
      </p:sp>
      <p:grpSp>
        <p:nvGrpSpPr>
          <p:cNvPr id="88" name="Gruppo 87">
            <a:extLst>
              <a:ext uri="{FF2B5EF4-FFF2-40B4-BE49-F238E27FC236}">
                <a16:creationId xmlns:a16="http://schemas.microsoft.com/office/drawing/2014/main" id="{859DD2AE-1D8E-9011-5A43-C78E9C850C77}"/>
              </a:ext>
            </a:extLst>
          </p:cNvPr>
          <p:cNvGrpSpPr/>
          <p:nvPr/>
        </p:nvGrpSpPr>
        <p:grpSpPr>
          <a:xfrm>
            <a:off x="601984" y="5809522"/>
            <a:ext cx="12235805" cy="218247"/>
            <a:chOff x="831461" y="5821473"/>
            <a:chExt cx="12235805" cy="218247"/>
          </a:xfrm>
        </p:grpSpPr>
        <p:sp>
          <p:nvSpPr>
            <p:cNvPr id="89" name="Isosceles Triangle 49">
              <a:extLst>
                <a:ext uri="{FF2B5EF4-FFF2-40B4-BE49-F238E27FC236}">
                  <a16:creationId xmlns:a16="http://schemas.microsoft.com/office/drawing/2014/main" id="{ECDAB3A4-4593-1E94-269E-F7D1E55C3E60}"/>
                </a:ext>
              </a:extLst>
            </p:cNvPr>
            <p:cNvSpPr/>
            <p:nvPr/>
          </p:nvSpPr>
          <p:spPr>
            <a:xfrm rot="10800000">
              <a:off x="6521311" y="5821473"/>
              <a:ext cx="856100" cy="218247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90" name="Gruppo 89">
              <a:extLst>
                <a:ext uri="{FF2B5EF4-FFF2-40B4-BE49-F238E27FC236}">
                  <a16:creationId xmlns:a16="http://schemas.microsoft.com/office/drawing/2014/main" id="{E429DC06-45A3-98B6-949A-8253028E5E32}"/>
                </a:ext>
              </a:extLst>
            </p:cNvPr>
            <p:cNvGrpSpPr/>
            <p:nvPr/>
          </p:nvGrpSpPr>
          <p:grpSpPr>
            <a:xfrm>
              <a:off x="831461" y="5872312"/>
              <a:ext cx="12235805" cy="56575"/>
              <a:chOff x="3126303" y="5827592"/>
              <a:chExt cx="2105996" cy="46756"/>
            </a:xfrm>
          </p:grpSpPr>
          <p:cxnSp>
            <p:nvCxnSpPr>
              <p:cNvPr id="92" name="Straight Connector 48">
                <a:extLst>
                  <a:ext uri="{FF2B5EF4-FFF2-40B4-BE49-F238E27FC236}">
                    <a16:creationId xmlns:a16="http://schemas.microsoft.com/office/drawing/2014/main" id="{F3F072E8-A554-318C-FA43-4F3BFB91A4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6303" y="5874348"/>
                <a:ext cx="2105996" cy="0"/>
              </a:xfrm>
              <a:prstGeom prst="lin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48">
                <a:extLst>
                  <a:ext uri="{FF2B5EF4-FFF2-40B4-BE49-F238E27FC236}">
                    <a16:creationId xmlns:a16="http://schemas.microsoft.com/office/drawing/2014/main" id="{3FA10F24-2AFE-298F-6A4C-86225446A5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6303" y="5827592"/>
                <a:ext cx="2105996" cy="0"/>
              </a:xfrm>
              <a:prstGeom prst="lin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8" name="Rettangolo 107">
            <a:extLst>
              <a:ext uri="{FF2B5EF4-FFF2-40B4-BE49-F238E27FC236}">
                <a16:creationId xmlns:a16="http://schemas.microsoft.com/office/drawing/2014/main" id="{50C25A2F-327D-00D5-063C-C9472D819A35}"/>
              </a:ext>
            </a:extLst>
          </p:cNvPr>
          <p:cNvSpPr/>
          <p:nvPr/>
        </p:nvSpPr>
        <p:spPr>
          <a:xfrm>
            <a:off x="2612222" y="4409559"/>
            <a:ext cx="5026767" cy="8396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r>
              <a:rPr lang="it-IT" i="1" dirty="0">
                <a:solidFill>
                  <a:schemeClr val="tx1"/>
                </a:solidFill>
              </a:rPr>
              <a:t>Identificato CAP come perimetro minimo per il "refresh" dei contatori di tutti Punti Vendita al suo interno (oltre a "refresh" alla fine di ogni mese)</a:t>
            </a:r>
          </a:p>
        </p:txBody>
      </p:sp>
      <p:sp>
        <p:nvSpPr>
          <p:cNvPr id="109" name="CasellaDiTesto 108">
            <a:extLst>
              <a:ext uri="{FF2B5EF4-FFF2-40B4-BE49-F238E27FC236}">
                <a16:creationId xmlns:a16="http://schemas.microsoft.com/office/drawing/2014/main" id="{14EFB377-E243-8C7C-BEB8-8A19FB623B7D}"/>
              </a:ext>
            </a:extLst>
          </p:cNvPr>
          <p:cNvSpPr txBox="1"/>
          <p:nvPr/>
        </p:nvSpPr>
        <p:spPr>
          <a:xfrm>
            <a:off x="2612392" y="1645100"/>
            <a:ext cx="5026767" cy="10156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144000" rIns="72000" rtlCol="0">
            <a:noAutofit/>
          </a:bodyPr>
          <a:lstStyle/>
          <a:p>
            <a:pPr marL="0" lvl="1" defTabSz="1007029">
              <a:spcBef>
                <a:spcPts val="200"/>
              </a:spcBef>
              <a:spcAft>
                <a:spcPts val="200"/>
              </a:spcAft>
              <a:defRPr/>
            </a:pPr>
            <a:r>
              <a:rPr lang="it-IT" i="1" kern="0">
                <a:solidFill>
                  <a:srgbClr val="0F3250"/>
                </a:solidFill>
              </a:rPr>
              <a:t>Identificazione indirizzo del </a:t>
            </a:r>
            <a:r>
              <a:rPr lang="it-IT" i="1" kern="0" err="1">
                <a:solidFill>
                  <a:srgbClr val="0F3250"/>
                </a:solidFill>
              </a:rPr>
              <a:t>Prospect</a:t>
            </a:r>
            <a:r>
              <a:rPr lang="it-IT" i="1" kern="0">
                <a:solidFill>
                  <a:srgbClr val="0F3250"/>
                </a:solidFill>
              </a:rPr>
              <a:t> e assegnazione al Punto Vendita più vicino in assoluto con contatore "capiente"</a:t>
            </a:r>
          </a:p>
        </p:txBody>
      </p:sp>
      <p:sp>
        <p:nvSpPr>
          <p:cNvPr id="110" name="CasellaDiTesto 109">
            <a:extLst>
              <a:ext uri="{FF2B5EF4-FFF2-40B4-BE49-F238E27FC236}">
                <a16:creationId xmlns:a16="http://schemas.microsoft.com/office/drawing/2014/main" id="{A9453DE8-9715-6963-3BCC-BBAC77CD8D49}"/>
              </a:ext>
            </a:extLst>
          </p:cNvPr>
          <p:cNvSpPr txBox="1"/>
          <p:nvPr/>
        </p:nvSpPr>
        <p:spPr>
          <a:xfrm>
            <a:off x="59194" y="7128398"/>
            <a:ext cx="9937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i="1">
                <a:solidFill>
                  <a:schemeClr val="bg1"/>
                </a:solidFill>
              </a:rPr>
              <a:t>Nota: - Per ambiti Unica che prevedono solo inserimento CAP (Pet, Viaggi) necessario utilizzare centro del CAP come indirizzo</a:t>
            </a:r>
            <a:br>
              <a:rPr lang="it-IT" sz="1100" i="1">
                <a:solidFill>
                  <a:schemeClr val="bg1"/>
                </a:solidFill>
              </a:rPr>
            </a:br>
            <a:r>
              <a:rPr lang="it-IT" sz="1100" i="1">
                <a:solidFill>
                  <a:schemeClr val="bg1"/>
                </a:solidFill>
              </a:rPr>
              <a:t>           - Per lead </a:t>
            </a:r>
            <a:r>
              <a:rPr lang="it-IT" sz="1100" i="1" err="1">
                <a:solidFill>
                  <a:schemeClr val="bg1"/>
                </a:solidFill>
              </a:rPr>
              <a:t>UniSalute</a:t>
            </a:r>
            <a:r>
              <a:rPr lang="it-IT" sz="1100" i="1">
                <a:solidFill>
                  <a:schemeClr val="bg1"/>
                </a:solidFill>
              </a:rPr>
              <a:t> con salvataggio preventivo previsto solo inserimento del CAP</a:t>
            </a:r>
          </a:p>
        </p:txBody>
      </p:sp>
      <p:grpSp>
        <p:nvGrpSpPr>
          <p:cNvPr id="53" name="Gruppo 203">
            <a:extLst>
              <a:ext uri="{FF2B5EF4-FFF2-40B4-BE49-F238E27FC236}">
                <a16:creationId xmlns:a16="http://schemas.microsoft.com/office/drawing/2014/main" id="{61EDE4AB-C336-3EA7-E7F3-33240266DEF7}"/>
              </a:ext>
            </a:extLst>
          </p:cNvPr>
          <p:cNvGrpSpPr/>
          <p:nvPr/>
        </p:nvGrpSpPr>
        <p:grpSpPr>
          <a:xfrm>
            <a:off x="8456247" y="978767"/>
            <a:ext cx="3280829" cy="226457"/>
            <a:chOff x="1643063" y="1504137"/>
            <a:chExt cx="2462213" cy="364028"/>
          </a:xfrm>
          <a:noFill/>
        </p:grpSpPr>
        <p:sp>
          <p:nvSpPr>
            <p:cNvPr id="55" name="Rettangolo 204">
              <a:extLst>
                <a:ext uri="{FF2B5EF4-FFF2-40B4-BE49-F238E27FC236}">
                  <a16:creationId xmlns:a16="http://schemas.microsoft.com/office/drawing/2014/main" id="{BC30CB38-0488-46F5-C139-DDE2429D3409}"/>
                </a:ext>
              </a:extLst>
            </p:cNvPr>
            <p:cNvSpPr/>
            <p:nvPr/>
          </p:nvSpPr>
          <p:spPr>
            <a:xfrm>
              <a:off x="1643066" y="1504137"/>
              <a:ext cx="2462210" cy="3289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600" b="1" i="0" u="none" strike="noStrike" kern="1200" cap="none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Assegnazione dei lead </a:t>
              </a:r>
              <a:r>
                <a:rPr kumimoji="0" lang="it-IT" sz="1600" i="1" u="none" strike="noStrike" kern="1200" cap="none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("condominio")</a:t>
              </a:r>
            </a:p>
          </p:txBody>
        </p:sp>
        <p:cxnSp>
          <p:nvCxnSpPr>
            <p:cNvPr id="73" name="Connettore 1 12">
              <a:extLst>
                <a:ext uri="{FF2B5EF4-FFF2-40B4-BE49-F238E27FC236}">
                  <a16:creationId xmlns:a16="http://schemas.microsoft.com/office/drawing/2014/main" id="{476E1D75-7930-9408-BE2A-ABB6E9C8AD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3063" y="1868165"/>
              <a:ext cx="2462213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23">
            <a:extLst>
              <a:ext uri="{FF2B5EF4-FFF2-40B4-BE49-F238E27FC236}">
                <a16:creationId xmlns:a16="http://schemas.microsoft.com/office/drawing/2014/main" id="{F299CEE2-7804-9B35-FE4E-C3654A89E13E}"/>
              </a:ext>
            </a:extLst>
          </p:cNvPr>
          <p:cNvSpPr txBox="1"/>
          <p:nvPr/>
        </p:nvSpPr>
        <p:spPr>
          <a:xfrm>
            <a:off x="11891894" y="1282011"/>
            <a:ext cx="1102743" cy="10261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8000" tIns="0" rIns="0" bIns="0" numCol="1" rtlCol="0" anchor="ctr">
            <a:noAutofit/>
          </a:bodyPr>
          <a:lstStyle/>
          <a:p>
            <a:pPr marR="0" lvl="0" defTabSz="1342673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kumimoji="0" lang="en-US" sz="1400" i="1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77800" marR="0" lvl="0" indent="-177800" defTabSz="1342673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1" strike="noStrike" kern="1200" cap="none" spc="0" normalizeH="0" baseline="0" noProof="0">
                <a:ln>
                  <a:noFill/>
                </a:ln>
                <a:effectLst/>
                <a:highlight>
                  <a:srgbClr val="DEF1CA"/>
                </a:highlight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1400" i="1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lang="en-US" sz="1400" i="1">
                <a:latin typeface="Calibri"/>
                <a:sym typeface="Wingdings" panose="05000000000000000000" pitchFamily="2" charset="2"/>
              </a:rPr>
              <a:t>2</a:t>
            </a:r>
            <a:r>
              <a:rPr kumimoji="0" lang="en-US" sz="1400" i="1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en-US" sz="1400" i="1">
                <a:latin typeface="Calibri"/>
                <a:sym typeface="Wingdings" panose="05000000000000000000" pitchFamily="2" charset="2"/>
              </a:rPr>
              <a:t>1</a:t>
            </a:r>
            <a:endParaRPr kumimoji="0" lang="en-US" sz="1400" i="1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  <a:sym typeface="Wingdings" panose="05000000000000000000" pitchFamily="2" charset="2"/>
            </a:endParaRPr>
          </a:p>
          <a:p>
            <a:pPr marL="177800" marR="0" lvl="0" indent="-177800" defTabSz="1342673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i="1">
                <a:latin typeface="Calibri"/>
                <a:sym typeface="Wingdings" panose="05000000000000000000" pitchFamily="2" charset="2"/>
              </a:rPr>
              <a:t>B</a:t>
            </a:r>
            <a:r>
              <a:rPr lang="en-US" sz="1400" i="1">
                <a:latin typeface="Calibri"/>
                <a:sym typeface="Wingdings" panose="05000000000000000000" pitchFamily="2" charset="2"/>
              </a:rPr>
              <a:t>: 1</a:t>
            </a: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sym typeface="Wingdings" panose="05000000000000000000" pitchFamily="2" charset="2"/>
              </a:rPr>
              <a:t>C</a:t>
            </a:r>
            <a:r>
              <a:rPr lang="en-US" sz="1400" i="1">
                <a:sym typeface="Wingdings" panose="05000000000000000000" pitchFamily="2" charset="2"/>
              </a:rPr>
              <a:t>: 4</a:t>
            </a: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latin typeface="Calibri"/>
                <a:sym typeface="Wingdings" panose="05000000000000000000" pitchFamily="2" charset="2"/>
              </a:rPr>
              <a:t>D</a:t>
            </a:r>
            <a:r>
              <a:rPr lang="en-US" sz="1400" i="1">
                <a:latin typeface="Calibri"/>
                <a:sym typeface="Wingdings" panose="05000000000000000000" pitchFamily="2" charset="2"/>
              </a:rPr>
              <a:t>: 3</a:t>
            </a:r>
          </a:p>
          <a:p>
            <a:pPr marR="0" lvl="0" defTabSz="1342673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1400" b="1" i="1">
              <a:latin typeface="Calibri"/>
              <a:sym typeface="Wingdings" panose="05000000000000000000" pitchFamily="2" charset="2"/>
            </a:endParaRPr>
          </a:p>
        </p:txBody>
      </p:sp>
      <p:sp>
        <p:nvSpPr>
          <p:cNvPr id="152" name="TextBox 123">
            <a:extLst>
              <a:ext uri="{FF2B5EF4-FFF2-40B4-BE49-F238E27FC236}">
                <a16:creationId xmlns:a16="http://schemas.microsoft.com/office/drawing/2014/main" id="{726BDD2D-BD64-AA0D-B51E-3E52144B79ED}"/>
              </a:ext>
            </a:extLst>
          </p:cNvPr>
          <p:cNvSpPr txBox="1"/>
          <p:nvPr/>
        </p:nvSpPr>
        <p:spPr>
          <a:xfrm>
            <a:off x="11891857" y="2394679"/>
            <a:ext cx="1102743" cy="10261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8000" tIns="0" rIns="0" bIns="0" numCol="1" rtlCol="0" anchor="ctr">
            <a:noAutofit/>
          </a:bodyPr>
          <a:lstStyle/>
          <a:p>
            <a:pPr lvl="0" defTabSz="1342673">
              <a:defRPr/>
            </a:pPr>
            <a:endParaRPr lang="en-US" sz="1400" b="1" i="1">
              <a:highlight>
                <a:srgbClr val="DEF1CA"/>
              </a:highlight>
              <a:latin typeface="Calibri"/>
              <a:sym typeface="Wingdings" panose="05000000000000000000" pitchFamily="2" charset="2"/>
            </a:endParaRPr>
          </a:p>
          <a:p>
            <a:pPr marL="177800" lvl="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highlight>
                  <a:srgbClr val="DEF1CA"/>
                </a:highlight>
              </a:rPr>
              <a:t>A</a:t>
            </a:r>
            <a:r>
              <a:rPr lang="en-US" sz="1400" i="1"/>
              <a:t>: </a:t>
            </a:r>
            <a:r>
              <a:rPr lang="en-US" sz="1400" i="1">
                <a:sym typeface="Wingdings" panose="05000000000000000000" pitchFamily="2" charset="2"/>
              </a:rPr>
              <a:t>1 0</a:t>
            </a: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sym typeface="Wingdings" panose="05000000000000000000" pitchFamily="2" charset="2"/>
              </a:rPr>
              <a:t>B</a:t>
            </a:r>
            <a:r>
              <a:rPr lang="en-US" sz="1400" i="1">
                <a:sym typeface="Wingdings" panose="05000000000000000000" pitchFamily="2" charset="2"/>
              </a:rPr>
              <a:t>: 1</a:t>
            </a: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sym typeface="Wingdings" panose="05000000000000000000" pitchFamily="2" charset="2"/>
              </a:rPr>
              <a:t>C</a:t>
            </a:r>
            <a:r>
              <a:rPr lang="en-US" sz="1400" i="1">
                <a:sym typeface="Wingdings" panose="05000000000000000000" pitchFamily="2" charset="2"/>
              </a:rPr>
              <a:t>: 4</a:t>
            </a: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sym typeface="Wingdings" panose="05000000000000000000" pitchFamily="2" charset="2"/>
              </a:rPr>
              <a:t>D</a:t>
            </a:r>
            <a:r>
              <a:rPr lang="en-US" sz="1400" i="1">
                <a:sym typeface="Wingdings" panose="05000000000000000000" pitchFamily="2" charset="2"/>
              </a:rPr>
              <a:t>: 3</a:t>
            </a:r>
          </a:p>
          <a:p>
            <a:pPr defTabSz="1342673">
              <a:defRPr/>
            </a:pPr>
            <a:endParaRPr lang="en-US" sz="1400" i="1">
              <a:latin typeface="Calibri"/>
              <a:sym typeface="Wingdings" panose="05000000000000000000" pitchFamily="2" charset="2"/>
            </a:endParaRPr>
          </a:p>
        </p:txBody>
      </p:sp>
      <p:sp>
        <p:nvSpPr>
          <p:cNvPr id="153" name="TextBox 123">
            <a:extLst>
              <a:ext uri="{FF2B5EF4-FFF2-40B4-BE49-F238E27FC236}">
                <a16:creationId xmlns:a16="http://schemas.microsoft.com/office/drawing/2014/main" id="{87E1970A-B689-7CC2-B76C-675C2EA27ED9}"/>
              </a:ext>
            </a:extLst>
          </p:cNvPr>
          <p:cNvSpPr txBox="1"/>
          <p:nvPr/>
        </p:nvSpPr>
        <p:spPr>
          <a:xfrm>
            <a:off x="11891857" y="3507346"/>
            <a:ext cx="1102743" cy="10261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8000" tIns="0" rIns="0" bIns="0" numCol="1" rtlCol="0" anchor="ctr">
            <a:noAutofit/>
          </a:bodyPr>
          <a:lstStyle/>
          <a:p>
            <a:pPr marR="0" lvl="0" defTabSz="1342673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kumimoji="0" lang="en-US" sz="1400" i="1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77800" marR="0" lvl="0" indent="-177800" defTabSz="1342673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i="1">
                <a:highlight>
                  <a:srgbClr val="F8AEB2"/>
                </a:highlight>
                <a:latin typeface="Calibri"/>
              </a:rPr>
              <a:t>A</a:t>
            </a:r>
            <a:r>
              <a:rPr kumimoji="0" lang="en-US" sz="1400" i="1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1400" i="1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0</a:t>
            </a:r>
          </a:p>
          <a:p>
            <a:pPr marL="177800" lvl="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highlight>
                  <a:srgbClr val="DEF1CA"/>
                </a:highlight>
                <a:sym typeface="Wingdings" panose="05000000000000000000" pitchFamily="2" charset="2"/>
              </a:rPr>
              <a:t>B</a:t>
            </a:r>
            <a:r>
              <a:rPr lang="en-US" sz="1400" i="1">
                <a:latin typeface="Calibri"/>
                <a:sym typeface="Wingdings" panose="05000000000000000000" pitchFamily="2" charset="2"/>
              </a:rPr>
              <a:t>: 1 0</a:t>
            </a:r>
            <a:endParaRPr lang="en-US" sz="1400" i="1">
              <a:sym typeface="Wingdings" panose="05000000000000000000" pitchFamily="2" charset="2"/>
            </a:endParaRP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sym typeface="Wingdings" panose="05000000000000000000" pitchFamily="2" charset="2"/>
              </a:rPr>
              <a:t>C</a:t>
            </a:r>
            <a:r>
              <a:rPr lang="en-US" sz="1400" i="1">
                <a:sym typeface="Wingdings" panose="05000000000000000000" pitchFamily="2" charset="2"/>
              </a:rPr>
              <a:t>:4</a:t>
            </a: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sym typeface="Wingdings" panose="05000000000000000000" pitchFamily="2" charset="2"/>
              </a:rPr>
              <a:t>D</a:t>
            </a:r>
            <a:r>
              <a:rPr lang="en-US" sz="1400" i="1">
                <a:sym typeface="Wingdings" panose="05000000000000000000" pitchFamily="2" charset="2"/>
              </a:rPr>
              <a:t>: 3</a:t>
            </a:r>
          </a:p>
          <a:p>
            <a:pPr lvl="0" defTabSz="1342673">
              <a:defRPr/>
            </a:pPr>
            <a:endParaRPr lang="en-US" sz="1400" i="1">
              <a:latin typeface="Calibri"/>
              <a:sym typeface="Wingdings" panose="05000000000000000000" pitchFamily="2" charset="2"/>
            </a:endParaRPr>
          </a:p>
        </p:txBody>
      </p:sp>
      <p:sp>
        <p:nvSpPr>
          <p:cNvPr id="154" name="TextBox 123">
            <a:extLst>
              <a:ext uri="{FF2B5EF4-FFF2-40B4-BE49-F238E27FC236}">
                <a16:creationId xmlns:a16="http://schemas.microsoft.com/office/drawing/2014/main" id="{324FB5DB-7037-6549-2642-6CA8FF041F62}"/>
              </a:ext>
            </a:extLst>
          </p:cNvPr>
          <p:cNvSpPr txBox="1"/>
          <p:nvPr/>
        </p:nvSpPr>
        <p:spPr>
          <a:xfrm>
            <a:off x="11891857" y="4617224"/>
            <a:ext cx="1102743" cy="10261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8000" tIns="0" rIns="0" bIns="0" numCol="1" rtlCol="0" anchor="ctr">
            <a:noAutofit/>
          </a:bodyPr>
          <a:lstStyle/>
          <a:p>
            <a:pPr marR="0" lvl="0" defTabSz="1342673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kumimoji="0" lang="en-US" sz="1400" i="1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77800" marR="0" lvl="0" indent="-177800" defTabSz="1342673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 i="1">
                <a:highlight>
                  <a:srgbClr val="F8AEB2"/>
                </a:highlight>
                <a:latin typeface="Calibri"/>
              </a:rPr>
              <a:t>A</a:t>
            </a:r>
            <a:r>
              <a:rPr kumimoji="0" lang="en-US" sz="1400" i="1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en-US" sz="1400" i="1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0</a:t>
            </a:r>
          </a:p>
          <a:p>
            <a:pPr marL="177800" lvl="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highlight>
                  <a:srgbClr val="F8AEB2"/>
                </a:highlight>
                <a:latin typeface="Calibri"/>
                <a:sym typeface="Wingdings" panose="05000000000000000000" pitchFamily="2" charset="2"/>
              </a:rPr>
              <a:t>B</a:t>
            </a:r>
            <a:r>
              <a:rPr lang="en-US" sz="1400" i="1">
                <a:latin typeface="Calibri"/>
                <a:sym typeface="Wingdings" panose="05000000000000000000" pitchFamily="2" charset="2"/>
              </a:rPr>
              <a:t>: 0</a:t>
            </a:r>
            <a:endParaRPr lang="en-US" sz="1400" i="1">
              <a:sym typeface="Wingdings" panose="05000000000000000000" pitchFamily="2" charset="2"/>
            </a:endParaRP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highlight>
                  <a:srgbClr val="DEF1CA"/>
                </a:highlight>
                <a:sym typeface="Wingdings" panose="05000000000000000000" pitchFamily="2" charset="2"/>
              </a:rPr>
              <a:t>C</a:t>
            </a:r>
            <a:r>
              <a:rPr lang="en-US" sz="1400" i="1">
                <a:sym typeface="Wingdings" panose="05000000000000000000" pitchFamily="2" charset="2"/>
              </a:rPr>
              <a:t>: 4 3 </a:t>
            </a:r>
          </a:p>
          <a:p>
            <a:pPr marL="177800" indent="-177800" defTabSz="1342673">
              <a:buFont typeface="Arial" panose="020B0604020202020204" pitchFamily="34" charset="0"/>
              <a:buChar char="•"/>
              <a:defRPr/>
            </a:pPr>
            <a:r>
              <a:rPr lang="en-US" sz="1400" b="1" i="1">
                <a:sym typeface="Wingdings" panose="05000000000000000000" pitchFamily="2" charset="2"/>
              </a:rPr>
              <a:t>D</a:t>
            </a:r>
            <a:r>
              <a:rPr lang="en-US" sz="1400" i="1">
                <a:sym typeface="Wingdings" panose="05000000000000000000" pitchFamily="2" charset="2"/>
              </a:rPr>
              <a:t>: 3</a:t>
            </a:r>
          </a:p>
          <a:p>
            <a:pPr lvl="0" defTabSz="1342673">
              <a:defRPr/>
            </a:pPr>
            <a:endParaRPr lang="en-US" sz="1400" i="1">
              <a:latin typeface="Calibri"/>
              <a:sym typeface="Wingdings" panose="05000000000000000000" pitchFamily="2" charset="2"/>
            </a:endParaRPr>
          </a:p>
        </p:txBody>
      </p:sp>
      <p:grpSp>
        <p:nvGrpSpPr>
          <p:cNvPr id="160" name="Gruppo 159">
            <a:extLst>
              <a:ext uri="{FF2B5EF4-FFF2-40B4-BE49-F238E27FC236}">
                <a16:creationId xmlns:a16="http://schemas.microsoft.com/office/drawing/2014/main" id="{CF66D9F4-FB8D-86B6-56F7-57769317E4CC}"/>
              </a:ext>
            </a:extLst>
          </p:cNvPr>
          <p:cNvGrpSpPr/>
          <p:nvPr/>
        </p:nvGrpSpPr>
        <p:grpSpPr>
          <a:xfrm>
            <a:off x="9946212" y="1325496"/>
            <a:ext cx="282125" cy="259045"/>
            <a:chOff x="2603873" y="2684586"/>
            <a:chExt cx="361806" cy="361875"/>
          </a:xfrm>
        </p:grpSpPr>
        <p:sp>
          <p:nvSpPr>
            <p:cNvPr id="161" name="Rettangolo con angoli arrotondati 160">
              <a:extLst>
                <a:ext uri="{FF2B5EF4-FFF2-40B4-BE49-F238E27FC236}">
                  <a16:creationId xmlns:a16="http://schemas.microsoft.com/office/drawing/2014/main" id="{4B03EBEB-261E-F582-0F2A-3AC92DD0858F}"/>
                </a:ext>
              </a:extLst>
            </p:cNvPr>
            <p:cNvSpPr/>
            <p:nvPr/>
          </p:nvSpPr>
          <p:spPr>
            <a:xfrm>
              <a:off x="2603873" y="2684586"/>
              <a:ext cx="361806" cy="361875"/>
            </a:xfrm>
            <a:prstGeom prst="roundRect">
              <a:avLst/>
            </a:prstGeom>
            <a:solidFill>
              <a:srgbClr val="C94F1C"/>
            </a:solidFill>
            <a:ln w="28575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62" name="Picture 3">
              <a:extLst>
                <a:ext uri="{FF2B5EF4-FFF2-40B4-BE49-F238E27FC236}">
                  <a16:creationId xmlns:a16="http://schemas.microsoft.com/office/drawing/2014/main" id="{80339B92-3C4F-4A36-ADFA-1C8E6A9C34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0482" y="2759563"/>
              <a:ext cx="209970" cy="210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3" name="Gruppo 162">
            <a:extLst>
              <a:ext uri="{FF2B5EF4-FFF2-40B4-BE49-F238E27FC236}">
                <a16:creationId xmlns:a16="http://schemas.microsoft.com/office/drawing/2014/main" id="{4F55E9F9-74DA-B7CB-0448-9CC6421A3CC2}"/>
              </a:ext>
            </a:extLst>
          </p:cNvPr>
          <p:cNvGrpSpPr/>
          <p:nvPr/>
        </p:nvGrpSpPr>
        <p:grpSpPr>
          <a:xfrm>
            <a:off x="9946212" y="2446477"/>
            <a:ext cx="282125" cy="259045"/>
            <a:chOff x="2603873" y="2684586"/>
            <a:chExt cx="361806" cy="361875"/>
          </a:xfrm>
        </p:grpSpPr>
        <p:sp>
          <p:nvSpPr>
            <p:cNvPr id="164" name="Rettangolo con angoli arrotondati 163">
              <a:extLst>
                <a:ext uri="{FF2B5EF4-FFF2-40B4-BE49-F238E27FC236}">
                  <a16:creationId xmlns:a16="http://schemas.microsoft.com/office/drawing/2014/main" id="{094DBB2C-3B64-7B64-6C55-755EAAB7ED1D}"/>
                </a:ext>
              </a:extLst>
            </p:cNvPr>
            <p:cNvSpPr/>
            <p:nvPr/>
          </p:nvSpPr>
          <p:spPr>
            <a:xfrm>
              <a:off x="2603873" y="2684586"/>
              <a:ext cx="361806" cy="361875"/>
            </a:xfrm>
            <a:prstGeom prst="roundRect">
              <a:avLst/>
            </a:prstGeom>
            <a:solidFill>
              <a:srgbClr val="C94F1C"/>
            </a:solidFill>
            <a:ln w="28575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65" name="Picture 3">
              <a:extLst>
                <a:ext uri="{FF2B5EF4-FFF2-40B4-BE49-F238E27FC236}">
                  <a16:creationId xmlns:a16="http://schemas.microsoft.com/office/drawing/2014/main" id="{53D65073-A36B-C621-4368-6A207B590B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0482" y="2759563"/>
              <a:ext cx="209970" cy="210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6" name="Gruppo 165">
            <a:extLst>
              <a:ext uri="{FF2B5EF4-FFF2-40B4-BE49-F238E27FC236}">
                <a16:creationId xmlns:a16="http://schemas.microsoft.com/office/drawing/2014/main" id="{2D9F18B7-EE77-E133-2BCE-422738669E2D}"/>
              </a:ext>
            </a:extLst>
          </p:cNvPr>
          <p:cNvGrpSpPr/>
          <p:nvPr/>
        </p:nvGrpSpPr>
        <p:grpSpPr>
          <a:xfrm>
            <a:off x="9946212" y="3567458"/>
            <a:ext cx="282125" cy="259045"/>
            <a:chOff x="2603873" y="2684586"/>
            <a:chExt cx="361806" cy="361875"/>
          </a:xfrm>
        </p:grpSpPr>
        <p:sp>
          <p:nvSpPr>
            <p:cNvPr id="167" name="Rettangolo con angoli arrotondati 166">
              <a:extLst>
                <a:ext uri="{FF2B5EF4-FFF2-40B4-BE49-F238E27FC236}">
                  <a16:creationId xmlns:a16="http://schemas.microsoft.com/office/drawing/2014/main" id="{C2BC57AB-CD12-F9CE-668B-192A3D151A4A}"/>
                </a:ext>
              </a:extLst>
            </p:cNvPr>
            <p:cNvSpPr/>
            <p:nvPr/>
          </p:nvSpPr>
          <p:spPr>
            <a:xfrm>
              <a:off x="2603873" y="2684586"/>
              <a:ext cx="361806" cy="361875"/>
            </a:xfrm>
            <a:prstGeom prst="roundRect">
              <a:avLst/>
            </a:prstGeom>
            <a:solidFill>
              <a:srgbClr val="C94F1C"/>
            </a:solidFill>
            <a:ln w="28575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68" name="Picture 3">
              <a:extLst>
                <a:ext uri="{FF2B5EF4-FFF2-40B4-BE49-F238E27FC236}">
                  <a16:creationId xmlns:a16="http://schemas.microsoft.com/office/drawing/2014/main" id="{FC692EA4-2139-9776-1D5C-3628EB8018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0482" y="2759563"/>
              <a:ext cx="209970" cy="210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9" name="Gruppo 168">
            <a:extLst>
              <a:ext uri="{FF2B5EF4-FFF2-40B4-BE49-F238E27FC236}">
                <a16:creationId xmlns:a16="http://schemas.microsoft.com/office/drawing/2014/main" id="{C2638ABA-D3C7-9C66-178F-78450DE5F4C5}"/>
              </a:ext>
            </a:extLst>
          </p:cNvPr>
          <p:cNvGrpSpPr/>
          <p:nvPr/>
        </p:nvGrpSpPr>
        <p:grpSpPr>
          <a:xfrm>
            <a:off x="9946212" y="4688440"/>
            <a:ext cx="282125" cy="259045"/>
            <a:chOff x="2603873" y="2684586"/>
            <a:chExt cx="361806" cy="361875"/>
          </a:xfrm>
        </p:grpSpPr>
        <p:sp>
          <p:nvSpPr>
            <p:cNvPr id="170" name="Rettangolo con angoli arrotondati 169">
              <a:extLst>
                <a:ext uri="{FF2B5EF4-FFF2-40B4-BE49-F238E27FC236}">
                  <a16:creationId xmlns:a16="http://schemas.microsoft.com/office/drawing/2014/main" id="{DAD8F8AC-3AFA-3EAB-E7CF-19370617EA0E}"/>
                </a:ext>
              </a:extLst>
            </p:cNvPr>
            <p:cNvSpPr/>
            <p:nvPr/>
          </p:nvSpPr>
          <p:spPr>
            <a:xfrm>
              <a:off x="2603873" y="2684586"/>
              <a:ext cx="361806" cy="361875"/>
            </a:xfrm>
            <a:prstGeom prst="roundRect">
              <a:avLst/>
            </a:prstGeom>
            <a:solidFill>
              <a:srgbClr val="C94F1C"/>
            </a:solidFill>
            <a:ln w="28575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71" name="Picture 3">
              <a:extLst>
                <a:ext uri="{FF2B5EF4-FFF2-40B4-BE49-F238E27FC236}">
                  <a16:creationId xmlns:a16="http://schemas.microsoft.com/office/drawing/2014/main" id="{3C3F58B8-34D2-AD13-D9BB-D558AA7467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0482" y="2759563"/>
              <a:ext cx="209970" cy="210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2" name="Ovale 171">
            <a:extLst>
              <a:ext uri="{FF2B5EF4-FFF2-40B4-BE49-F238E27FC236}">
                <a16:creationId xmlns:a16="http://schemas.microsoft.com/office/drawing/2014/main" id="{136E0500-89D6-AD79-E06B-484E4CD67ADD}"/>
              </a:ext>
            </a:extLst>
          </p:cNvPr>
          <p:cNvSpPr/>
          <p:nvPr/>
        </p:nvSpPr>
        <p:spPr>
          <a:xfrm>
            <a:off x="10276108" y="1496035"/>
            <a:ext cx="243394" cy="243394"/>
          </a:xfrm>
          <a:prstGeom prst="ellipse">
            <a:avLst/>
          </a:prstGeom>
          <a:solidFill>
            <a:srgbClr val="DEF1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  <a:latin typeface="Calibri"/>
              </a:rPr>
              <a:t>A</a:t>
            </a:r>
          </a:p>
        </p:txBody>
      </p:sp>
      <p:sp>
        <p:nvSpPr>
          <p:cNvPr id="173" name="Rettangolo 172">
            <a:extLst>
              <a:ext uri="{FF2B5EF4-FFF2-40B4-BE49-F238E27FC236}">
                <a16:creationId xmlns:a16="http://schemas.microsoft.com/office/drawing/2014/main" id="{8036A6E6-350F-F39C-CA1E-29DDA12D9CC0}"/>
              </a:ext>
            </a:extLst>
          </p:cNvPr>
          <p:cNvSpPr/>
          <p:nvPr/>
        </p:nvSpPr>
        <p:spPr>
          <a:xfrm>
            <a:off x="10341050" y="1695629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4" name="Ovale 173">
            <a:extLst>
              <a:ext uri="{FF2B5EF4-FFF2-40B4-BE49-F238E27FC236}">
                <a16:creationId xmlns:a16="http://schemas.microsoft.com/office/drawing/2014/main" id="{3BD5EEA8-982D-75C3-39EA-8144C96B9748}"/>
              </a:ext>
            </a:extLst>
          </p:cNvPr>
          <p:cNvSpPr/>
          <p:nvPr/>
        </p:nvSpPr>
        <p:spPr>
          <a:xfrm>
            <a:off x="10276108" y="2612104"/>
            <a:ext cx="243394" cy="243394"/>
          </a:xfrm>
          <a:prstGeom prst="ellipse">
            <a:avLst/>
          </a:prstGeom>
          <a:solidFill>
            <a:srgbClr val="DEF1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  <a:latin typeface="Calibri"/>
              </a:rPr>
              <a:t>A</a:t>
            </a:r>
          </a:p>
        </p:txBody>
      </p:sp>
      <p:sp>
        <p:nvSpPr>
          <p:cNvPr id="175" name="Rettangolo 174">
            <a:extLst>
              <a:ext uri="{FF2B5EF4-FFF2-40B4-BE49-F238E27FC236}">
                <a16:creationId xmlns:a16="http://schemas.microsoft.com/office/drawing/2014/main" id="{28A76005-DCFE-13CF-9F94-0039576A31E1}"/>
              </a:ext>
            </a:extLst>
          </p:cNvPr>
          <p:cNvSpPr/>
          <p:nvPr/>
        </p:nvSpPr>
        <p:spPr>
          <a:xfrm>
            <a:off x="10341050" y="2811697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6" name="Ovale 175">
            <a:extLst>
              <a:ext uri="{FF2B5EF4-FFF2-40B4-BE49-F238E27FC236}">
                <a16:creationId xmlns:a16="http://schemas.microsoft.com/office/drawing/2014/main" id="{A296DCBB-44BE-E7D6-8127-EBD197E6FBDE}"/>
              </a:ext>
            </a:extLst>
          </p:cNvPr>
          <p:cNvSpPr/>
          <p:nvPr/>
        </p:nvSpPr>
        <p:spPr>
          <a:xfrm>
            <a:off x="10276108" y="3724033"/>
            <a:ext cx="243394" cy="243394"/>
          </a:xfrm>
          <a:prstGeom prst="ellipse">
            <a:avLst/>
          </a:prstGeom>
          <a:solidFill>
            <a:srgbClr val="F8AE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A</a:t>
            </a:r>
          </a:p>
        </p:txBody>
      </p:sp>
      <p:sp>
        <p:nvSpPr>
          <p:cNvPr id="177" name="Rettangolo 176">
            <a:extLst>
              <a:ext uri="{FF2B5EF4-FFF2-40B4-BE49-F238E27FC236}">
                <a16:creationId xmlns:a16="http://schemas.microsoft.com/office/drawing/2014/main" id="{91ED78D6-5739-DE18-775B-EB8ECFBA5AE7}"/>
              </a:ext>
            </a:extLst>
          </p:cNvPr>
          <p:cNvSpPr/>
          <p:nvPr/>
        </p:nvSpPr>
        <p:spPr>
          <a:xfrm>
            <a:off x="10341050" y="3923627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8" name="Ovale 177">
            <a:extLst>
              <a:ext uri="{FF2B5EF4-FFF2-40B4-BE49-F238E27FC236}">
                <a16:creationId xmlns:a16="http://schemas.microsoft.com/office/drawing/2014/main" id="{9316EE0F-85DC-9918-841B-81E13E74413F}"/>
              </a:ext>
            </a:extLst>
          </p:cNvPr>
          <p:cNvSpPr/>
          <p:nvPr/>
        </p:nvSpPr>
        <p:spPr>
          <a:xfrm>
            <a:off x="10276108" y="4834037"/>
            <a:ext cx="243394" cy="243394"/>
          </a:xfrm>
          <a:prstGeom prst="ellipse">
            <a:avLst/>
          </a:prstGeom>
          <a:solidFill>
            <a:srgbClr val="F8AE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A</a:t>
            </a:r>
          </a:p>
        </p:txBody>
      </p:sp>
      <p:sp>
        <p:nvSpPr>
          <p:cNvPr id="179" name="Rettangolo 178">
            <a:extLst>
              <a:ext uri="{FF2B5EF4-FFF2-40B4-BE49-F238E27FC236}">
                <a16:creationId xmlns:a16="http://schemas.microsoft.com/office/drawing/2014/main" id="{E158E431-C658-5078-D28F-5DEC7373B649}"/>
              </a:ext>
            </a:extLst>
          </p:cNvPr>
          <p:cNvSpPr/>
          <p:nvPr/>
        </p:nvSpPr>
        <p:spPr>
          <a:xfrm>
            <a:off x="10341050" y="5033630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0" name="Ovale 179">
            <a:extLst>
              <a:ext uri="{FF2B5EF4-FFF2-40B4-BE49-F238E27FC236}">
                <a16:creationId xmlns:a16="http://schemas.microsoft.com/office/drawing/2014/main" id="{DE660651-CFDA-B0BD-8664-00493BD19FA9}"/>
              </a:ext>
            </a:extLst>
          </p:cNvPr>
          <p:cNvSpPr/>
          <p:nvPr/>
        </p:nvSpPr>
        <p:spPr>
          <a:xfrm>
            <a:off x="9328238" y="1370585"/>
            <a:ext cx="243394" cy="243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B</a:t>
            </a:r>
          </a:p>
        </p:txBody>
      </p:sp>
      <p:sp>
        <p:nvSpPr>
          <p:cNvPr id="181" name="Rettangolo 180">
            <a:extLst>
              <a:ext uri="{FF2B5EF4-FFF2-40B4-BE49-F238E27FC236}">
                <a16:creationId xmlns:a16="http://schemas.microsoft.com/office/drawing/2014/main" id="{1D79AC47-A900-CAB5-EB4B-3A73AAAB4FA2}"/>
              </a:ext>
            </a:extLst>
          </p:cNvPr>
          <p:cNvSpPr/>
          <p:nvPr/>
        </p:nvSpPr>
        <p:spPr>
          <a:xfrm>
            <a:off x="9393180" y="1584165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2" name="Ovale 181">
            <a:extLst>
              <a:ext uri="{FF2B5EF4-FFF2-40B4-BE49-F238E27FC236}">
                <a16:creationId xmlns:a16="http://schemas.microsoft.com/office/drawing/2014/main" id="{9D349D02-D230-8D30-7BC7-94675F2E0A22}"/>
              </a:ext>
            </a:extLst>
          </p:cNvPr>
          <p:cNvSpPr/>
          <p:nvPr/>
        </p:nvSpPr>
        <p:spPr>
          <a:xfrm>
            <a:off x="9328238" y="2486654"/>
            <a:ext cx="243394" cy="243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B</a:t>
            </a:r>
          </a:p>
        </p:txBody>
      </p:sp>
      <p:sp>
        <p:nvSpPr>
          <p:cNvPr id="183" name="Rettangolo 182">
            <a:extLst>
              <a:ext uri="{FF2B5EF4-FFF2-40B4-BE49-F238E27FC236}">
                <a16:creationId xmlns:a16="http://schemas.microsoft.com/office/drawing/2014/main" id="{7A946E54-27C3-508E-E290-F918F934966A}"/>
              </a:ext>
            </a:extLst>
          </p:cNvPr>
          <p:cNvSpPr/>
          <p:nvPr/>
        </p:nvSpPr>
        <p:spPr>
          <a:xfrm>
            <a:off x="9393180" y="2700234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4" name="Ovale 183">
            <a:extLst>
              <a:ext uri="{FF2B5EF4-FFF2-40B4-BE49-F238E27FC236}">
                <a16:creationId xmlns:a16="http://schemas.microsoft.com/office/drawing/2014/main" id="{653F6002-5F25-1F07-2428-F8204D4C78AF}"/>
              </a:ext>
            </a:extLst>
          </p:cNvPr>
          <p:cNvSpPr/>
          <p:nvPr/>
        </p:nvSpPr>
        <p:spPr>
          <a:xfrm>
            <a:off x="9328238" y="3598583"/>
            <a:ext cx="243394" cy="243394"/>
          </a:xfrm>
          <a:prstGeom prst="ellipse">
            <a:avLst/>
          </a:prstGeom>
          <a:solidFill>
            <a:srgbClr val="DEF1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  <a:latin typeface="Calibri"/>
              </a:rPr>
              <a:t>B</a:t>
            </a:r>
          </a:p>
        </p:txBody>
      </p:sp>
      <p:sp>
        <p:nvSpPr>
          <p:cNvPr id="185" name="Rettangolo 184">
            <a:extLst>
              <a:ext uri="{FF2B5EF4-FFF2-40B4-BE49-F238E27FC236}">
                <a16:creationId xmlns:a16="http://schemas.microsoft.com/office/drawing/2014/main" id="{15D18B0A-07B6-03CD-6F6C-FCA052D76029}"/>
              </a:ext>
            </a:extLst>
          </p:cNvPr>
          <p:cNvSpPr/>
          <p:nvPr/>
        </p:nvSpPr>
        <p:spPr>
          <a:xfrm>
            <a:off x="9393180" y="3812163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6" name="Ovale 185">
            <a:extLst>
              <a:ext uri="{FF2B5EF4-FFF2-40B4-BE49-F238E27FC236}">
                <a16:creationId xmlns:a16="http://schemas.microsoft.com/office/drawing/2014/main" id="{F4917B97-E1F1-DFFC-693D-AECBCA0C09E5}"/>
              </a:ext>
            </a:extLst>
          </p:cNvPr>
          <p:cNvSpPr/>
          <p:nvPr/>
        </p:nvSpPr>
        <p:spPr>
          <a:xfrm>
            <a:off x="9328238" y="4708587"/>
            <a:ext cx="243394" cy="243394"/>
          </a:xfrm>
          <a:prstGeom prst="ellipse">
            <a:avLst/>
          </a:prstGeom>
          <a:solidFill>
            <a:srgbClr val="F8AE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B</a:t>
            </a:r>
          </a:p>
        </p:txBody>
      </p:sp>
      <p:sp>
        <p:nvSpPr>
          <p:cNvPr id="187" name="Rettangolo 186">
            <a:extLst>
              <a:ext uri="{FF2B5EF4-FFF2-40B4-BE49-F238E27FC236}">
                <a16:creationId xmlns:a16="http://schemas.microsoft.com/office/drawing/2014/main" id="{D08DA19E-2D27-132C-D2BA-960A5673BE5B}"/>
              </a:ext>
            </a:extLst>
          </p:cNvPr>
          <p:cNvSpPr/>
          <p:nvPr/>
        </p:nvSpPr>
        <p:spPr>
          <a:xfrm>
            <a:off x="9393180" y="4922167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8" name="Ovale 187">
            <a:extLst>
              <a:ext uri="{FF2B5EF4-FFF2-40B4-BE49-F238E27FC236}">
                <a16:creationId xmlns:a16="http://schemas.microsoft.com/office/drawing/2014/main" id="{FB679703-D789-B9EB-02D8-1C484AA5C4C0}"/>
              </a:ext>
            </a:extLst>
          </p:cNvPr>
          <p:cNvSpPr/>
          <p:nvPr/>
        </p:nvSpPr>
        <p:spPr>
          <a:xfrm>
            <a:off x="9102015" y="1589566"/>
            <a:ext cx="243394" cy="243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C</a:t>
            </a:r>
          </a:p>
        </p:txBody>
      </p:sp>
      <p:sp>
        <p:nvSpPr>
          <p:cNvPr id="190" name="Ovale 189">
            <a:extLst>
              <a:ext uri="{FF2B5EF4-FFF2-40B4-BE49-F238E27FC236}">
                <a16:creationId xmlns:a16="http://schemas.microsoft.com/office/drawing/2014/main" id="{A035DA2D-636C-E2EA-C570-3DE815068955}"/>
              </a:ext>
            </a:extLst>
          </p:cNvPr>
          <p:cNvSpPr/>
          <p:nvPr/>
        </p:nvSpPr>
        <p:spPr>
          <a:xfrm>
            <a:off x="9102015" y="2705635"/>
            <a:ext cx="243394" cy="243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C</a:t>
            </a:r>
          </a:p>
        </p:txBody>
      </p:sp>
      <p:sp>
        <p:nvSpPr>
          <p:cNvPr id="192" name="Ovale 191">
            <a:extLst>
              <a:ext uri="{FF2B5EF4-FFF2-40B4-BE49-F238E27FC236}">
                <a16:creationId xmlns:a16="http://schemas.microsoft.com/office/drawing/2014/main" id="{9A4148EC-814B-F1C5-7499-080A8A113A56}"/>
              </a:ext>
            </a:extLst>
          </p:cNvPr>
          <p:cNvSpPr/>
          <p:nvPr/>
        </p:nvSpPr>
        <p:spPr>
          <a:xfrm>
            <a:off x="9102015" y="3817564"/>
            <a:ext cx="243394" cy="243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C</a:t>
            </a:r>
          </a:p>
        </p:txBody>
      </p:sp>
      <p:sp>
        <p:nvSpPr>
          <p:cNvPr id="193" name="Rettangolo 192">
            <a:extLst>
              <a:ext uri="{FF2B5EF4-FFF2-40B4-BE49-F238E27FC236}">
                <a16:creationId xmlns:a16="http://schemas.microsoft.com/office/drawing/2014/main" id="{74B828D6-3D93-A71C-5268-7C08A403216A}"/>
              </a:ext>
            </a:extLst>
          </p:cNvPr>
          <p:cNvSpPr/>
          <p:nvPr/>
        </p:nvSpPr>
        <p:spPr>
          <a:xfrm>
            <a:off x="9166957" y="4031144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94" name="Ovale 193">
            <a:extLst>
              <a:ext uri="{FF2B5EF4-FFF2-40B4-BE49-F238E27FC236}">
                <a16:creationId xmlns:a16="http://schemas.microsoft.com/office/drawing/2014/main" id="{282F8502-D05B-B4E3-B18B-1E7C61EB61B5}"/>
              </a:ext>
            </a:extLst>
          </p:cNvPr>
          <p:cNvSpPr/>
          <p:nvPr/>
        </p:nvSpPr>
        <p:spPr>
          <a:xfrm>
            <a:off x="9102015" y="4927568"/>
            <a:ext cx="243394" cy="243394"/>
          </a:xfrm>
          <a:prstGeom prst="ellipse">
            <a:avLst/>
          </a:prstGeom>
          <a:solidFill>
            <a:srgbClr val="DEF1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  <a:latin typeface="Calibri"/>
              </a:rPr>
              <a:t>C</a:t>
            </a:r>
          </a:p>
        </p:txBody>
      </p:sp>
      <p:sp>
        <p:nvSpPr>
          <p:cNvPr id="195" name="Rettangolo 194">
            <a:extLst>
              <a:ext uri="{FF2B5EF4-FFF2-40B4-BE49-F238E27FC236}">
                <a16:creationId xmlns:a16="http://schemas.microsoft.com/office/drawing/2014/main" id="{4CF0017B-5E32-BCDD-283C-9CEE92587731}"/>
              </a:ext>
            </a:extLst>
          </p:cNvPr>
          <p:cNvSpPr/>
          <p:nvPr/>
        </p:nvSpPr>
        <p:spPr>
          <a:xfrm>
            <a:off x="9166957" y="5141148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96" name="Ovale 195">
            <a:extLst>
              <a:ext uri="{FF2B5EF4-FFF2-40B4-BE49-F238E27FC236}">
                <a16:creationId xmlns:a16="http://schemas.microsoft.com/office/drawing/2014/main" id="{19DE8152-D1AE-7A82-87E5-5285EFEC0375}"/>
              </a:ext>
            </a:extLst>
          </p:cNvPr>
          <p:cNvSpPr/>
          <p:nvPr/>
        </p:nvSpPr>
        <p:spPr>
          <a:xfrm>
            <a:off x="11434262" y="1926050"/>
            <a:ext cx="243394" cy="243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D</a:t>
            </a:r>
          </a:p>
        </p:txBody>
      </p:sp>
      <p:sp>
        <p:nvSpPr>
          <p:cNvPr id="197" name="Rettangolo 196">
            <a:extLst>
              <a:ext uri="{FF2B5EF4-FFF2-40B4-BE49-F238E27FC236}">
                <a16:creationId xmlns:a16="http://schemas.microsoft.com/office/drawing/2014/main" id="{EBC3AC2B-38F3-86B9-0A76-DC9AC95608DC}"/>
              </a:ext>
            </a:extLst>
          </p:cNvPr>
          <p:cNvSpPr/>
          <p:nvPr/>
        </p:nvSpPr>
        <p:spPr>
          <a:xfrm>
            <a:off x="11499204" y="2122919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98" name="Ovale 197">
            <a:extLst>
              <a:ext uri="{FF2B5EF4-FFF2-40B4-BE49-F238E27FC236}">
                <a16:creationId xmlns:a16="http://schemas.microsoft.com/office/drawing/2014/main" id="{23DA6AA0-D4DF-BB43-8269-325A893D7A5F}"/>
              </a:ext>
            </a:extLst>
          </p:cNvPr>
          <p:cNvSpPr/>
          <p:nvPr/>
        </p:nvSpPr>
        <p:spPr>
          <a:xfrm>
            <a:off x="11434262" y="3042119"/>
            <a:ext cx="243394" cy="243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D</a:t>
            </a:r>
          </a:p>
        </p:txBody>
      </p:sp>
      <p:sp>
        <p:nvSpPr>
          <p:cNvPr id="199" name="Rettangolo 198">
            <a:extLst>
              <a:ext uri="{FF2B5EF4-FFF2-40B4-BE49-F238E27FC236}">
                <a16:creationId xmlns:a16="http://schemas.microsoft.com/office/drawing/2014/main" id="{4743E928-1A15-E597-1990-256366277E1B}"/>
              </a:ext>
            </a:extLst>
          </p:cNvPr>
          <p:cNvSpPr/>
          <p:nvPr/>
        </p:nvSpPr>
        <p:spPr>
          <a:xfrm>
            <a:off x="11499204" y="3238988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0" name="Ovale 199">
            <a:extLst>
              <a:ext uri="{FF2B5EF4-FFF2-40B4-BE49-F238E27FC236}">
                <a16:creationId xmlns:a16="http://schemas.microsoft.com/office/drawing/2014/main" id="{EAF9D021-42B5-D34B-F0D4-D71343BE64E2}"/>
              </a:ext>
            </a:extLst>
          </p:cNvPr>
          <p:cNvSpPr/>
          <p:nvPr/>
        </p:nvSpPr>
        <p:spPr>
          <a:xfrm>
            <a:off x="11434262" y="4154048"/>
            <a:ext cx="243394" cy="243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D</a:t>
            </a:r>
          </a:p>
        </p:txBody>
      </p:sp>
      <p:sp>
        <p:nvSpPr>
          <p:cNvPr id="201" name="Rettangolo 200">
            <a:extLst>
              <a:ext uri="{FF2B5EF4-FFF2-40B4-BE49-F238E27FC236}">
                <a16:creationId xmlns:a16="http://schemas.microsoft.com/office/drawing/2014/main" id="{91370193-CE5E-D721-02C2-A49889BA02CB}"/>
              </a:ext>
            </a:extLst>
          </p:cNvPr>
          <p:cNvSpPr/>
          <p:nvPr/>
        </p:nvSpPr>
        <p:spPr>
          <a:xfrm>
            <a:off x="11499204" y="4350917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2" name="Ovale 201">
            <a:extLst>
              <a:ext uri="{FF2B5EF4-FFF2-40B4-BE49-F238E27FC236}">
                <a16:creationId xmlns:a16="http://schemas.microsoft.com/office/drawing/2014/main" id="{C6CCEB2D-C686-A640-EC26-7AE4E9090CB4}"/>
              </a:ext>
            </a:extLst>
          </p:cNvPr>
          <p:cNvSpPr/>
          <p:nvPr/>
        </p:nvSpPr>
        <p:spPr>
          <a:xfrm>
            <a:off x="11434262" y="5264052"/>
            <a:ext cx="243394" cy="24339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it-IT" sz="2000">
                <a:solidFill>
                  <a:schemeClr val="tx1"/>
                </a:solidFill>
                <a:latin typeface="Calibri"/>
              </a:rPr>
              <a:t>D</a:t>
            </a:r>
          </a:p>
        </p:txBody>
      </p:sp>
      <p:sp>
        <p:nvSpPr>
          <p:cNvPr id="203" name="Rettangolo 202">
            <a:extLst>
              <a:ext uri="{FF2B5EF4-FFF2-40B4-BE49-F238E27FC236}">
                <a16:creationId xmlns:a16="http://schemas.microsoft.com/office/drawing/2014/main" id="{BD3D417E-1D5E-2B9A-6EC4-A4E63AA44E8D}"/>
              </a:ext>
            </a:extLst>
          </p:cNvPr>
          <p:cNvSpPr/>
          <p:nvPr/>
        </p:nvSpPr>
        <p:spPr>
          <a:xfrm>
            <a:off x="11499204" y="5460921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204" name="Connettore 2 203">
            <a:extLst>
              <a:ext uri="{FF2B5EF4-FFF2-40B4-BE49-F238E27FC236}">
                <a16:creationId xmlns:a16="http://schemas.microsoft.com/office/drawing/2014/main" id="{C816F0B8-A287-01A5-DB14-CD460B747A3D}"/>
              </a:ext>
            </a:extLst>
          </p:cNvPr>
          <p:cNvCxnSpPr>
            <a:cxnSpLocks/>
            <a:stCxn id="161" idx="2"/>
            <a:endCxn id="172" idx="3"/>
          </p:cNvCxnSpPr>
          <p:nvPr/>
        </p:nvCxnSpPr>
        <p:spPr>
          <a:xfrm>
            <a:off x="10087275" y="1584541"/>
            <a:ext cx="224477" cy="119244"/>
          </a:xfrm>
          <a:prstGeom prst="straightConnector1">
            <a:avLst/>
          </a:prstGeom>
          <a:ln w="444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ttore 2 204">
            <a:extLst>
              <a:ext uri="{FF2B5EF4-FFF2-40B4-BE49-F238E27FC236}">
                <a16:creationId xmlns:a16="http://schemas.microsoft.com/office/drawing/2014/main" id="{A0E3FB4B-1E6A-E84B-98BA-BD0B1E5A9E9B}"/>
              </a:ext>
            </a:extLst>
          </p:cNvPr>
          <p:cNvCxnSpPr>
            <a:cxnSpLocks/>
            <a:stCxn id="164" idx="2"/>
            <a:endCxn id="174" idx="3"/>
          </p:cNvCxnSpPr>
          <p:nvPr/>
        </p:nvCxnSpPr>
        <p:spPr>
          <a:xfrm>
            <a:off x="10087275" y="2705522"/>
            <a:ext cx="224477" cy="114332"/>
          </a:xfrm>
          <a:prstGeom prst="straightConnector1">
            <a:avLst/>
          </a:prstGeom>
          <a:ln w="444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ttore 2 205">
            <a:extLst>
              <a:ext uri="{FF2B5EF4-FFF2-40B4-BE49-F238E27FC236}">
                <a16:creationId xmlns:a16="http://schemas.microsoft.com/office/drawing/2014/main" id="{5B36B044-2AF1-BBF8-9B15-65731D7CDDD3}"/>
              </a:ext>
            </a:extLst>
          </p:cNvPr>
          <p:cNvCxnSpPr>
            <a:cxnSpLocks/>
            <a:stCxn id="167" idx="1"/>
            <a:endCxn id="184" idx="6"/>
          </p:cNvCxnSpPr>
          <p:nvPr/>
        </p:nvCxnSpPr>
        <p:spPr>
          <a:xfrm flipH="1">
            <a:off x="9571632" y="3696981"/>
            <a:ext cx="374580" cy="23299"/>
          </a:xfrm>
          <a:prstGeom prst="straightConnector1">
            <a:avLst/>
          </a:prstGeom>
          <a:ln w="444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ttore 2 206">
            <a:extLst>
              <a:ext uri="{FF2B5EF4-FFF2-40B4-BE49-F238E27FC236}">
                <a16:creationId xmlns:a16="http://schemas.microsoft.com/office/drawing/2014/main" id="{6F5811FD-0941-1E56-CCA6-0E1028BE01BD}"/>
              </a:ext>
            </a:extLst>
          </p:cNvPr>
          <p:cNvCxnSpPr>
            <a:cxnSpLocks/>
            <a:stCxn id="170" idx="1"/>
            <a:endCxn id="194" idx="5"/>
          </p:cNvCxnSpPr>
          <p:nvPr/>
        </p:nvCxnSpPr>
        <p:spPr>
          <a:xfrm flipH="1">
            <a:off x="9309765" y="4817963"/>
            <a:ext cx="636447" cy="317355"/>
          </a:xfrm>
          <a:prstGeom prst="straightConnector1">
            <a:avLst/>
          </a:prstGeom>
          <a:ln w="444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Rettangolo 188">
            <a:extLst>
              <a:ext uri="{FF2B5EF4-FFF2-40B4-BE49-F238E27FC236}">
                <a16:creationId xmlns:a16="http://schemas.microsoft.com/office/drawing/2014/main" id="{785F5A91-24FC-26BB-AB82-31FB0003C98C}"/>
              </a:ext>
            </a:extLst>
          </p:cNvPr>
          <p:cNvSpPr/>
          <p:nvPr/>
        </p:nvSpPr>
        <p:spPr>
          <a:xfrm>
            <a:off x="9166957" y="1803146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91" name="Rettangolo 190">
            <a:extLst>
              <a:ext uri="{FF2B5EF4-FFF2-40B4-BE49-F238E27FC236}">
                <a16:creationId xmlns:a16="http://schemas.microsoft.com/office/drawing/2014/main" id="{D4B4569E-A58D-6705-78A3-4B2C29093B59}"/>
              </a:ext>
            </a:extLst>
          </p:cNvPr>
          <p:cNvSpPr/>
          <p:nvPr/>
        </p:nvSpPr>
        <p:spPr>
          <a:xfrm>
            <a:off x="9166957" y="2919215"/>
            <a:ext cx="113510" cy="104204"/>
          </a:xfrm>
          <a:prstGeom prst="rect">
            <a:avLst/>
          </a:prstGeom>
          <a:solidFill>
            <a:srgbClr val="F0F6F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0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Figura a mano libera 58">
            <a:extLst>
              <a:ext uri="{FF2B5EF4-FFF2-40B4-BE49-F238E27FC236}">
                <a16:creationId xmlns:a16="http://schemas.microsoft.com/office/drawing/2014/main" id="{4D663264-F159-E629-C3BC-4B648AA5A5E4}"/>
              </a:ext>
            </a:extLst>
          </p:cNvPr>
          <p:cNvSpPr/>
          <p:nvPr/>
        </p:nvSpPr>
        <p:spPr bwMode="auto">
          <a:xfrm rot="6783905">
            <a:off x="7351068" y="2709039"/>
            <a:ext cx="226841" cy="778712"/>
          </a:xfrm>
          <a:custGeom>
            <a:avLst/>
            <a:gdLst>
              <a:gd name="connsiteX0" fmla="*/ 12700 w 533400"/>
              <a:gd name="connsiteY0" fmla="*/ 12700 h 2705100"/>
              <a:gd name="connsiteX1" fmla="*/ 0 w 533400"/>
              <a:gd name="connsiteY1" fmla="*/ 2616200 h 2705100"/>
              <a:gd name="connsiteX2" fmla="*/ 63500 w 533400"/>
              <a:gd name="connsiteY2" fmla="*/ 2603500 h 2705100"/>
              <a:gd name="connsiteX3" fmla="*/ 114300 w 533400"/>
              <a:gd name="connsiteY3" fmla="*/ 2667000 h 2705100"/>
              <a:gd name="connsiteX4" fmla="*/ 177800 w 533400"/>
              <a:gd name="connsiteY4" fmla="*/ 2590800 h 2705100"/>
              <a:gd name="connsiteX5" fmla="*/ 254000 w 533400"/>
              <a:gd name="connsiteY5" fmla="*/ 2641600 h 2705100"/>
              <a:gd name="connsiteX6" fmla="*/ 304800 w 533400"/>
              <a:gd name="connsiteY6" fmla="*/ 2552700 h 2705100"/>
              <a:gd name="connsiteX7" fmla="*/ 381000 w 533400"/>
              <a:gd name="connsiteY7" fmla="*/ 2705100 h 2705100"/>
              <a:gd name="connsiteX8" fmla="*/ 444500 w 533400"/>
              <a:gd name="connsiteY8" fmla="*/ 2527300 h 2705100"/>
              <a:gd name="connsiteX9" fmla="*/ 495300 w 533400"/>
              <a:gd name="connsiteY9" fmla="*/ 2667000 h 2705100"/>
              <a:gd name="connsiteX10" fmla="*/ 533400 w 533400"/>
              <a:gd name="connsiteY10" fmla="*/ 2565400 h 2705100"/>
              <a:gd name="connsiteX11" fmla="*/ 533400 w 533400"/>
              <a:gd name="connsiteY11" fmla="*/ 63500 h 2705100"/>
              <a:gd name="connsiteX12" fmla="*/ 444500 w 533400"/>
              <a:gd name="connsiteY12" fmla="*/ 177800 h 2705100"/>
              <a:gd name="connsiteX13" fmla="*/ 444500 w 533400"/>
              <a:gd name="connsiteY13" fmla="*/ 25400 h 2705100"/>
              <a:gd name="connsiteX14" fmla="*/ 393700 w 533400"/>
              <a:gd name="connsiteY14" fmla="*/ 165100 h 2705100"/>
              <a:gd name="connsiteX15" fmla="*/ 368300 w 533400"/>
              <a:gd name="connsiteY15" fmla="*/ 25400 h 2705100"/>
              <a:gd name="connsiteX16" fmla="*/ 317500 w 533400"/>
              <a:gd name="connsiteY16" fmla="*/ 190500 h 2705100"/>
              <a:gd name="connsiteX17" fmla="*/ 279400 w 533400"/>
              <a:gd name="connsiteY17" fmla="*/ 0 h 2705100"/>
              <a:gd name="connsiteX18" fmla="*/ 241300 w 533400"/>
              <a:gd name="connsiteY18" fmla="*/ 203200 h 2705100"/>
              <a:gd name="connsiteX19" fmla="*/ 165100 w 533400"/>
              <a:gd name="connsiteY19" fmla="*/ 50800 h 2705100"/>
              <a:gd name="connsiteX20" fmla="*/ 114300 w 533400"/>
              <a:gd name="connsiteY20" fmla="*/ 152400 h 2705100"/>
              <a:gd name="connsiteX21" fmla="*/ 12700 w 533400"/>
              <a:gd name="connsiteY21" fmla="*/ 12700 h 2705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33400" h="2705100">
                <a:moveTo>
                  <a:pt x="12700" y="12700"/>
                </a:moveTo>
                <a:cubicBezTo>
                  <a:pt x="8467" y="880533"/>
                  <a:pt x="4233" y="1748367"/>
                  <a:pt x="0" y="2616200"/>
                </a:cubicBezTo>
                <a:lnTo>
                  <a:pt x="63500" y="2603500"/>
                </a:lnTo>
                <a:lnTo>
                  <a:pt x="114300" y="2667000"/>
                </a:lnTo>
                <a:lnTo>
                  <a:pt x="177800" y="2590800"/>
                </a:lnTo>
                <a:lnTo>
                  <a:pt x="254000" y="2641600"/>
                </a:lnTo>
                <a:lnTo>
                  <a:pt x="304800" y="2552700"/>
                </a:lnTo>
                <a:lnTo>
                  <a:pt x="381000" y="2705100"/>
                </a:lnTo>
                <a:lnTo>
                  <a:pt x="444500" y="2527300"/>
                </a:lnTo>
                <a:lnTo>
                  <a:pt x="495300" y="2667000"/>
                </a:lnTo>
                <a:lnTo>
                  <a:pt x="533400" y="2565400"/>
                </a:lnTo>
                <a:lnTo>
                  <a:pt x="533400" y="63500"/>
                </a:lnTo>
                <a:lnTo>
                  <a:pt x="444500" y="177800"/>
                </a:lnTo>
                <a:lnTo>
                  <a:pt x="444500" y="25400"/>
                </a:lnTo>
                <a:lnTo>
                  <a:pt x="393700" y="165100"/>
                </a:lnTo>
                <a:lnTo>
                  <a:pt x="368300" y="25400"/>
                </a:lnTo>
                <a:lnTo>
                  <a:pt x="317500" y="190500"/>
                </a:lnTo>
                <a:lnTo>
                  <a:pt x="279400" y="0"/>
                </a:lnTo>
                <a:lnTo>
                  <a:pt x="241300" y="203200"/>
                </a:lnTo>
                <a:lnTo>
                  <a:pt x="165100" y="50800"/>
                </a:lnTo>
                <a:lnTo>
                  <a:pt x="114300" y="152400"/>
                </a:lnTo>
                <a:lnTo>
                  <a:pt x="12700" y="12700"/>
                </a:lnTo>
                <a:close/>
              </a:path>
            </a:pathLst>
          </a:custGeom>
          <a:solidFill>
            <a:srgbClr val="FFC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vert270" wrap="square" lIns="0" tIns="0" rIns="0" bIns="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1100"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1100"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1100"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1100"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Arial" charset="0"/>
              </a:rPr>
              <a:t>NEW</a:t>
            </a:r>
          </a:p>
        </p:txBody>
      </p:sp>
      <p:grpSp>
        <p:nvGrpSpPr>
          <p:cNvPr id="19" name="Gruppo 203">
            <a:extLst>
              <a:ext uri="{FF2B5EF4-FFF2-40B4-BE49-F238E27FC236}">
                <a16:creationId xmlns:a16="http://schemas.microsoft.com/office/drawing/2014/main" id="{1E11AF75-24F6-3D88-EC15-BA55F07A5054}"/>
              </a:ext>
            </a:extLst>
          </p:cNvPr>
          <p:cNvGrpSpPr/>
          <p:nvPr/>
        </p:nvGrpSpPr>
        <p:grpSpPr>
          <a:xfrm>
            <a:off x="11915033" y="978767"/>
            <a:ext cx="1066543" cy="227940"/>
            <a:chOff x="1643063" y="1504137"/>
            <a:chExt cx="2462213" cy="364028"/>
          </a:xfrm>
          <a:noFill/>
        </p:grpSpPr>
        <p:sp>
          <p:nvSpPr>
            <p:cNvPr id="20" name="Rettangolo 204">
              <a:extLst>
                <a:ext uri="{FF2B5EF4-FFF2-40B4-BE49-F238E27FC236}">
                  <a16:creationId xmlns:a16="http://schemas.microsoft.com/office/drawing/2014/main" id="{2C627580-0E0E-9C4F-10FE-6B33288F9A02}"/>
                </a:ext>
              </a:extLst>
            </p:cNvPr>
            <p:cNvSpPr/>
            <p:nvPr/>
          </p:nvSpPr>
          <p:spPr>
            <a:xfrm>
              <a:off x="1643066" y="1504137"/>
              <a:ext cx="2462210" cy="3289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600" b="1" i="0" u="none" strike="noStrike" kern="1200" cap="none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Contatori PV</a:t>
              </a:r>
            </a:p>
          </p:txBody>
        </p:sp>
        <p:cxnSp>
          <p:nvCxnSpPr>
            <p:cNvPr id="21" name="Connettore 1 12">
              <a:extLst>
                <a:ext uri="{FF2B5EF4-FFF2-40B4-BE49-F238E27FC236}">
                  <a16:creationId xmlns:a16="http://schemas.microsoft.com/office/drawing/2014/main" id="{1880E6D3-46FF-B674-4B46-8250574BC2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3063" y="1868165"/>
              <a:ext cx="2462213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ttangolo 30">
            <a:extLst>
              <a:ext uri="{FF2B5EF4-FFF2-40B4-BE49-F238E27FC236}">
                <a16:creationId xmlns:a16="http://schemas.microsoft.com/office/drawing/2014/main" id="{AF21ABF2-7546-09BC-A8BD-8A165513E234}"/>
              </a:ext>
            </a:extLst>
          </p:cNvPr>
          <p:cNvSpPr/>
          <p:nvPr/>
        </p:nvSpPr>
        <p:spPr>
          <a:xfrm>
            <a:off x="8460715" y="1279485"/>
            <a:ext cx="426780" cy="1037634"/>
          </a:xfrm>
          <a:prstGeom prst="rect">
            <a:avLst/>
          </a:prstGeom>
          <a:solidFill>
            <a:schemeClr val="tx1"/>
          </a:solidFill>
          <a:ln>
            <a:solidFill>
              <a:srgbClr val="741709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1342673">
              <a:spcBef>
                <a:spcPct val="20000"/>
              </a:spcBef>
            </a:pPr>
            <a:r>
              <a:rPr lang="it-IT" sz="2400" b="1" i="1" kern="0">
                <a:solidFill>
                  <a:srgbClr val="FFFFFF"/>
                </a:solidFill>
              </a:rPr>
              <a:t>T0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2183BB0C-5CA2-9F63-C0E2-0D1003198153}"/>
              </a:ext>
            </a:extLst>
          </p:cNvPr>
          <p:cNvSpPr/>
          <p:nvPr/>
        </p:nvSpPr>
        <p:spPr>
          <a:xfrm>
            <a:off x="8460715" y="2390706"/>
            <a:ext cx="426780" cy="1037634"/>
          </a:xfrm>
          <a:prstGeom prst="rect">
            <a:avLst/>
          </a:prstGeom>
          <a:solidFill>
            <a:schemeClr val="tx1"/>
          </a:solidFill>
          <a:ln>
            <a:solidFill>
              <a:srgbClr val="741709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1342673">
              <a:spcBef>
                <a:spcPct val="20000"/>
              </a:spcBef>
            </a:pPr>
            <a:r>
              <a:rPr lang="it-IT" sz="2400" b="1" i="1" kern="0">
                <a:solidFill>
                  <a:srgbClr val="FFFFFF"/>
                </a:solidFill>
              </a:rPr>
              <a:t>T1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7CDAD70B-6647-4EB1-C268-A1CA8AA1B2F8}"/>
              </a:ext>
            </a:extLst>
          </p:cNvPr>
          <p:cNvSpPr/>
          <p:nvPr/>
        </p:nvSpPr>
        <p:spPr>
          <a:xfrm>
            <a:off x="8460715" y="3501928"/>
            <a:ext cx="426780" cy="1037634"/>
          </a:xfrm>
          <a:prstGeom prst="rect">
            <a:avLst/>
          </a:prstGeom>
          <a:solidFill>
            <a:schemeClr val="tx1"/>
          </a:solidFill>
          <a:ln>
            <a:solidFill>
              <a:srgbClr val="741709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1342673">
              <a:spcBef>
                <a:spcPct val="20000"/>
              </a:spcBef>
            </a:pPr>
            <a:r>
              <a:rPr lang="it-IT" sz="2400" b="1" i="1" kern="0">
                <a:solidFill>
                  <a:srgbClr val="FFFFFF"/>
                </a:solidFill>
              </a:rPr>
              <a:t>T2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E1444B67-5E4E-F701-3ECE-2A71F1BB7642}"/>
              </a:ext>
            </a:extLst>
          </p:cNvPr>
          <p:cNvSpPr/>
          <p:nvPr/>
        </p:nvSpPr>
        <p:spPr>
          <a:xfrm>
            <a:off x="8460715" y="4612200"/>
            <a:ext cx="426780" cy="1036235"/>
          </a:xfrm>
          <a:prstGeom prst="rect">
            <a:avLst/>
          </a:prstGeom>
          <a:solidFill>
            <a:schemeClr val="tx1"/>
          </a:solidFill>
          <a:ln>
            <a:solidFill>
              <a:srgbClr val="741709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1342673">
              <a:spcBef>
                <a:spcPct val="20000"/>
              </a:spcBef>
            </a:pPr>
            <a:r>
              <a:rPr lang="it-IT" sz="2400" b="1" i="1" kern="0">
                <a:solidFill>
                  <a:srgbClr val="FFFFFF"/>
                </a:solidFill>
              </a:rPr>
              <a:t>T3</a:t>
            </a:r>
          </a:p>
        </p:txBody>
      </p:sp>
      <p:sp>
        <p:nvSpPr>
          <p:cNvPr id="214" name="Fumetto: rettangolo con angoli arrotondati 213">
            <a:extLst>
              <a:ext uri="{FF2B5EF4-FFF2-40B4-BE49-F238E27FC236}">
                <a16:creationId xmlns:a16="http://schemas.microsoft.com/office/drawing/2014/main" id="{27798433-79A4-C426-5CDF-7F4D33B93C65}"/>
              </a:ext>
            </a:extLst>
          </p:cNvPr>
          <p:cNvSpPr/>
          <p:nvPr/>
        </p:nvSpPr>
        <p:spPr>
          <a:xfrm>
            <a:off x="8531848" y="5442330"/>
            <a:ext cx="2497152" cy="542887"/>
          </a:xfrm>
          <a:prstGeom prst="wedgeRoundRectCallout">
            <a:avLst>
              <a:gd name="adj1" fmla="val -24340"/>
              <a:gd name="adj2" fmla="val -75665"/>
              <a:gd name="adj3" fmla="val 16667"/>
            </a:avLst>
          </a:prstGeom>
          <a:solidFill>
            <a:srgbClr val="FFF6D9"/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lvl="0" algn="ctr" defTabSz="1342673">
              <a:defRPr/>
            </a:pPr>
            <a:r>
              <a:rPr lang="it-IT" sz="1200" i="1">
                <a:solidFill>
                  <a:schemeClr val="tx1"/>
                </a:solidFill>
              </a:rPr>
              <a:t>PV "C" destinataria anche di eventuali lead successivi in quanto ancora "capiente" (grazie a score migliore)</a:t>
            </a:r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CFD1B18C-0BC8-0C07-E8BB-11931C13576C}"/>
              </a:ext>
            </a:extLst>
          </p:cNvPr>
          <p:cNvCxnSpPr>
            <a:stCxn id="178" idx="3"/>
            <a:endCxn id="178" idx="7"/>
          </p:cNvCxnSpPr>
          <p:nvPr/>
        </p:nvCxnSpPr>
        <p:spPr>
          <a:xfrm flipV="1">
            <a:off x="10311752" y="4869681"/>
            <a:ext cx="172106" cy="17210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6FA902FD-CBA4-12F5-93E6-8F9E2C8BB017}"/>
              </a:ext>
            </a:extLst>
          </p:cNvPr>
          <p:cNvCxnSpPr/>
          <p:nvPr/>
        </p:nvCxnSpPr>
        <p:spPr>
          <a:xfrm flipV="1">
            <a:off x="9363882" y="4746286"/>
            <a:ext cx="172106" cy="17210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diritto 58">
            <a:extLst>
              <a:ext uri="{FF2B5EF4-FFF2-40B4-BE49-F238E27FC236}">
                <a16:creationId xmlns:a16="http://schemas.microsoft.com/office/drawing/2014/main" id="{F0C9FCC7-DA37-735B-C1E7-89024E0B883F}"/>
              </a:ext>
            </a:extLst>
          </p:cNvPr>
          <p:cNvCxnSpPr/>
          <p:nvPr/>
        </p:nvCxnSpPr>
        <p:spPr>
          <a:xfrm flipV="1">
            <a:off x="10311752" y="3746031"/>
            <a:ext cx="172106" cy="17210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65CC9B6C-922A-1C19-00E9-E96BE5A39E25}"/>
              </a:ext>
            </a:extLst>
          </p:cNvPr>
          <p:cNvGrpSpPr/>
          <p:nvPr/>
        </p:nvGrpSpPr>
        <p:grpSpPr>
          <a:xfrm>
            <a:off x="9178214" y="154483"/>
            <a:ext cx="4245540" cy="426241"/>
            <a:chOff x="9178214" y="154483"/>
            <a:chExt cx="4245540" cy="426241"/>
          </a:xfrm>
        </p:grpSpPr>
        <p:grpSp>
          <p:nvGrpSpPr>
            <p:cNvPr id="22" name="Gruppo 21">
              <a:extLst>
                <a:ext uri="{FF2B5EF4-FFF2-40B4-BE49-F238E27FC236}">
                  <a16:creationId xmlns:a16="http://schemas.microsoft.com/office/drawing/2014/main" id="{58BD1C0F-6A8B-A8D7-9678-99DAE4411C44}"/>
                </a:ext>
              </a:extLst>
            </p:cNvPr>
            <p:cNvGrpSpPr/>
            <p:nvPr/>
          </p:nvGrpSpPr>
          <p:grpSpPr>
            <a:xfrm>
              <a:off x="9178214" y="154483"/>
              <a:ext cx="4245540" cy="426241"/>
              <a:chOff x="9178214" y="154483"/>
              <a:chExt cx="4245540" cy="426241"/>
            </a:xfrm>
          </p:grpSpPr>
          <p:sp>
            <p:nvSpPr>
              <p:cNvPr id="24" name="Rectangle 18">
                <a:extLst>
                  <a:ext uri="{FF2B5EF4-FFF2-40B4-BE49-F238E27FC236}">
                    <a16:creationId xmlns:a16="http://schemas.microsoft.com/office/drawing/2014/main" id="{43B8550D-55E5-A270-91CE-05AFDCAB2F64}"/>
                  </a:ext>
                </a:extLst>
              </p:cNvPr>
              <p:cNvSpPr/>
              <p:nvPr/>
            </p:nvSpPr>
            <p:spPr>
              <a:xfrm>
                <a:off x="9178214" y="154483"/>
                <a:ext cx="3943455" cy="3713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ctr"/>
              <a:lstStyle/>
              <a:p>
                <a:pPr algn="l"/>
                <a:endParaRPr lang="it-IT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Ovale 23">
                <a:extLst>
                  <a:ext uri="{FF2B5EF4-FFF2-40B4-BE49-F238E27FC236}">
                    <a16:creationId xmlns:a16="http://schemas.microsoft.com/office/drawing/2014/main" id="{39BD37BD-41CE-32EA-0223-2D03708D1BBC}"/>
                  </a:ext>
                </a:extLst>
              </p:cNvPr>
              <p:cNvSpPr/>
              <p:nvPr/>
            </p:nvSpPr>
            <p:spPr>
              <a:xfrm>
                <a:off x="9318282" y="221367"/>
                <a:ext cx="229439" cy="23847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it-IT" sz="1200">
                    <a:solidFill>
                      <a:schemeClr val="tx1"/>
                    </a:solidFill>
                    <a:latin typeface="Calibri"/>
                  </a:rPr>
                  <a:t>X</a:t>
                </a:r>
                <a:endParaRPr kumimoji="0" lang="it-IT" sz="12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" name="TextBox 23">
                <a:extLst>
                  <a:ext uri="{FF2B5EF4-FFF2-40B4-BE49-F238E27FC236}">
                    <a16:creationId xmlns:a16="http://schemas.microsoft.com/office/drawing/2014/main" id="{BE2C8E9F-47D4-CF43-D0FE-01D9896ADCF2}"/>
                  </a:ext>
                </a:extLst>
              </p:cNvPr>
              <p:cNvSpPr txBox="1"/>
              <p:nvPr/>
            </p:nvSpPr>
            <p:spPr>
              <a:xfrm>
                <a:off x="9507967" y="209408"/>
                <a:ext cx="1307965" cy="37131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it-IT" sz="1100" b="1" i="1"/>
                  <a:t>PV "capiente"</a:t>
                </a:r>
              </a:p>
            </p:txBody>
          </p:sp>
          <p:sp>
            <p:nvSpPr>
              <p:cNvPr id="27" name="Ovale 23">
                <a:extLst>
                  <a:ext uri="{FF2B5EF4-FFF2-40B4-BE49-F238E27FC236}">
                    <a16:creationId xmlns:a16="http://schemas.microsoft.com/office/drawing/2014/main" id="{109A508D-43DE-7D9C-4887-D6244BB7C5FF}"/>
                  </a:ext>
                </a:extLst>
              </p:cNvPr>
              <p:cNvSpPr/>
              <p:nvPr/>
            </p:nvSpPr>
            <p:spPr>
              <a:xfrm>
                <a:off x="10679988" y="221367"/>
                <a:ext cx="229439" cy="238478"/>
              </a:xfrm>
              <a:prstGeom prst="ellipse">
                <a:avLst/>
              </a:prstGeom>
              <a:solidFill>
                <a:srgbClr val="DEF1C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it-IT" sz="1200">
                    <a:solidFill>
                      <a:schemeClr val="tx1"/>
                    </a:solidFill>
                    <a:latin typeface="Calibri"/>
                  </a:rPr>
                  <a:t>X</a:t>
                </a:r>
                <a:endParaRPr kumimoji="0" lang="it-IT" sz="12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" name="TextBox 23">
                <a:extLst>
                  <a:ext uri="{FF2B5EF4-FFF2-40B4-BE49-F238E27FC236}">
                    <a16:creationId xmlns:a16="http://schemas.microsoft.com/office/drawing/2014/main" id="{C7979033-F543-5984-5351-7A0DB7C474FA}"/>
                  </a:ext>
                </a:extLst>
              </p:cNvPr>
              <p:cNvSpPr txBox="1"/>
              <p:nvPr/>
            </p:nvSpPr>
            <p:spPr>
              <a:xfrm>
                <a:off x="10881192" y="209408"/>
                <a:ext cx="1307965" cy="37131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it-IT" sz="1100" b="1" i="1"/>
                  <a:t>PV assegnato</a:t>
                </a:r>
              </a:p>
            </p:txBody>
          </p:sp>
          <p:sp>
            <p:nvSpPr>
              <p:cNvPr id="30" name="Ovale 23">
                <a:extLst>
                  <a:ext uri="{FF2B5EF4-FFF2-40B4-BE49-F238E27FC236}">
                    <a16:creationId xmlns:a16="http://schemas.microsoft.com/office/drawing/2014/main" id="{CACA79F0-FCDE-1951-72F9-2E2EDDAE75A5}"/>
                  </a:ext>
                </a:extLst>
              </p:cNvPr>
              <p:cNvSpPr/>
              <p:nvPr/>
            </p:nvSpPr>
            <p:spPr>
              <a:xfrm>
                <a:off x="11990195" y="221367"/>
                <a:ext cx="229439" cy="238478"/>
              </a:xfrm>
              <a:prstGeom prst="ellipse">
                <a:avLst/>
              </a:prstGeom>
              <a:solidFill>
                <a:srgbClr val="F8AEB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it-IT" sz="1200">
                    <a:solidFill>
                      <a:schemeClr val="tx1"/>
                    </a:solidFill>
                    <a:latin typeface="Calibri"/>
                  </a:rPr>
                  <a:t>X</a:t>
                </a:r>
                <a:endParaRPr kumimoji="0" lang="it-IT" sz="1200" i="0" u="non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" name="TextBox 23">
                <a:extLst>
                  <a:ext uri="{FF2B5EF4-FFF2-40B4-BE49-F238E27FC236}">
                    <a16:creationId xmlns:a16="http://schemas.microsoft.com/office/drawing/2014/main" id="{4C88CB94-C4CE-9CCA-8448-5DF33056ECB9}"/>
                  </a:ext>
                </a:extLst>
              </p:cNvPr>
              <p:cNvSpPr txBox="1"/>
              <p:nvPr/>
            </p:nvSpPr>
            <p:spPr>
              <a:xfrm>
                <a:off x="12183883" y="209408"/>
                <a:ext cx="1239871" cy="37131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it-IT" sz="1100" b="1" i="1"/>
                  <a:t>PV "saturo"</a:t>
                </a:r>
              </a:p>
            </p:txBody>
          </p:sp>
        </p:grpSp>
        <p:cxnSp>
          <p:nvCxnSpPr>
            <p:cNvPr id="23" name="Connettore diritto 22">
              <a:extLst>
                <a:ext uri="{FF2B5EF4-FFF2-40B4-BE49-F238E27FC236}">
                  <a16:creationId xmlns:a16="http://schemas.microsoft.com/office/drawing/2014/main" id="{2536BE5E-F4CA-5490-797B-31BBB5C20373}"/>
                </a:ext>
              </a:extLst>
            </p:cNvPr>
            <p:cNvCxnSpPr/>
            <p:nvPr/>
          </p:nvCxnSpPr>
          <p:spPr>
            <a:xfrm flipV="1">
              <a:off x="12015848" y="251664"/>
              <a:ext cx="170402" cy="170402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umetto: rettangolo con angoli arrotondati 3">
            <a:extLst>
              <a:ext uri="{FF2B5EF4-FFF2-40B4-BE49-F238E27FC236}">
                <a16:creationId xmlns:a16="http://schemas.microsoft.com/office/drawing/2014/main" id="{6C7B81BB-49C6-D2E6-1443-F758B3B8DC3B}"/>
              </a:ext>
            </a:extLst>
          </p:cNvPr>
          <p:cNvSpPr/>
          <p:nvPr/>
        </p:nvSpPr>
        <p:spPr>
          <a:xfrm>
            <a:off x="2732089" y="3986762"/>
            <a:ext cx="4231746" cy="351865"/>
          </a:xfrm>
          <a:prstGeom prst="wedgeRoundRectCallout">
            <a:avLst>
              <a:gd name="adj1" fmla="val -29947"/>
              <a:gd name="adj2" fmla="val -69473"/>
              <a:gd name="adj3" fmla="val 16667"/>
            </a:avLst>
          </a:prstGeom>
          <a:solidFill>
            <a:srgbClr val="FFF6D9"/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lvl="0" algn="ctr" defTabSz="1342673">
              <a:defRPr/>
            </a:pPr>
            <a:r>
              <a:rPr lang="it-IT" sz="1200" i="1" dirty="0">
                <a:solidFill>
                  <a:schemeClr val="tx1"/>
                </a:solidFill>
              </a:rPr>
              <a:t>Migliori performance di Agenzia corrisponderanno a una maggior numero di lead assegnabili (</a:t>
            </a:r>
            <a:r>
              <a:rPr lang="it-IT" sz="1200" i="1" dirty="0" err="1">
                <a:solidFill>
                  <a:schemeClr val="tx1"/>
                </a:solidFill>
              </a:rPr>
              <a:t>rif.</a:t>
            </a:r>
            <a:r>
              <a:rPr lang="it-IT" sz="1200" i="1" dirty="0">
                <a:solidFill>
                  <a:schemeClr val="tx1"/>
                </a:solidFill>
              </a:rPr>
              <a:t> capitolo score di Agenzia)</a:t>
            </a:r>
          </a:p>
        </p:txBody>
      </p:sp>
    </p:spTree>
    <p:extLst>
      <p:ext uri="{BB962C8B-B14F-4D97-AF65-F5344CB8AC3E}">
        <p14:creationId xmlns:p14="http://schemas.microsoft.com/office/powerpoint/2010/main" val="2604242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2D66F-9561-9A29-91C3-1CFD06774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7544451-0E50-09DF-9335-35F8597CCDE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60825254"/>
              </p:ext>
            </p:extLst>
          </p:nvPr>
        </p:nvGraphicFramePr>
        <p:xfrm>
          <a:off x="14351" y="8738"/>
          <a:ext cx="1747" cy="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8" name="Diapositiva think-cell" r:id="rId5" imgW="424" imgH="425" progId="TCLayout.ActiveDocument.1">
                  <p:embed/>
                </p:oleObj>
              </mc:Choice>
              <mc:Fallback>
                <p:oleObj name="Diapositiva think-cell" r:id="rId5" imgW="424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7544451-0E50-09DF-9335-35F8597CCD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351" y="8738"/>
                        <a:ext cx="1747" cy="1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7E4E96D7-3EBC-C3F1-76CB-6037B2751C0F}"/>
              </a:ext>
            </a:extLst>
          </p:cNvPr>
          <p:cNvSpPr/>
          <p:nvPr/>
        </p:nvSpPr>
        <p:spPr>
          <a:xfrm>
            <a:off x="393514" y="4142840"/>
            <a:ext cx="1316182" cy="19185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Graphic 8" descr="Marker with solid fill">
            <a:extLst>
              <a:ext uri="{FF2B5EF4-FFF2-40B4-BE49-F238E27FC236}">
                <a16:creationId xmlns:a16="http://schemas.microsoft.com/office/drawing/2014/main" id="{F7184292-5DC7-D89B-0538-F736024317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5280" y="4478508"/>
            <a:ext cx="1472650" cy="12471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CFE2A15-F468-FEBB-9BA5-52E250C63C7A}"/>
              </a:ext>
            </a:extLst>
          </p:cNvPr>
          <p:cNvSpPr/>
          <p:nvPr/>
        </p:nvSpPr>
        <p:spPr>
          <a:xfrm>
            <a:off x="393514" y="2068008"/>
            <a:ext cx="1316182" cy="18769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812176-0D41-2646-BD76-D59A87B9B509}"/>
              </a:ext>
            </a:extLst>
          </p:cNvPr>
          <p:cNvSpPr/>
          <p:nvPr/>
        </p:nvSpPr>
        <p:spPr>
          <a:xfrm>
            <a:off x="1709696" y="2068008"/>
            <a:ext cx="6400800" cy="1876919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36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8CDD8F-DD2E-C61D-1652-5FD5A82B11A3}"/>
              </a:ext>
            </a:extLst>
          </p:cNvPr>
          <p:cNvSpPr/>
          <p:nvPr/>
        </p:nvSpPr>
        <p:spPr>
          <a:xfrm>
            <a:off x="1709696" y="4184420"/>
            <a:ext cx="6400800" cy="1876919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36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igura a mano libera 38">
            <a:extLst>
              <a:ext uri="{FF2B5EF4-FFF2-40B4-BE49-F238E27FC236}">
                <a16:creationId xmlns:a16="http://schemas.microsoft.com/office/drawing/2014/main" id="{4591EA56-4408-23C7-588A-4766E268DD5A}"/>
              </a:ext>
            </a:extLst>
          </p:cNvPr>
          <p:cNvSpPr/>
          <p:nvPr/>
        </p:nvSpPr>
        <p:spPr bwMode="auto">
          <a:xfrm rot="5400000">
            <a:off x="7851094" y="2865348"/>
            <a:ext cx="953215" cy="198050"/>
          </a:xfrm>
          <a:custGeom>
            <a:avLst/>
            <a:gdLst>
              <a:gd name="connsiteX0" fmla="*/ 0 w 1086523"/>
              <a:gd name="connsiteY0" fmla="*/ 548640 h 548640"/>
              <a:gd name="connsiteX1" fmla="*/ 548640 w 1086523"/>
              <a:gd name="connsiteY1" fmla="*/ 0 h 548640"/>
              <a:gd name="connsiteX2" fmla="*/ 1086523 w 1086523"/>
              <a:gd name="connsiteY2" fmla="*/ 537883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6523" h="548640">
                <a:moveTo>
                  <a:pt x="0" y="548640"/>
                </a:moveTo>
                <a:lnTo>
                  <a:pt x="548640" y="0"/>
                </a:lnTo>
                <a:lnTo>
                  <a:pt x="1086523" y="537883"/>
                </a:lnTo>
              </a:path>
            </a:pathLst>
          </a:custGeom>
          <a:solidFill>
            <a:srgbClr val="F2F2F2"/>
          </a:solidFill>
          <a:ln w="76200" cap="rnd" cmpd="sng" algn="ctr">
            <a:solidFill>
              <a:srgbClr val="0F32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1100" b="0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4" name="Figura a mano libera 38">
            <a:extLst>
              <a:ext uri="{FF2B5EF4-FFF2-40B4-BE49-F238E27FC236}">
                <a16:creationId xmlns:a16="http://schemas.microsoft.com/office/drawing/2014/main" id="{E41D66F3-A711-C756-460C-FF8A4536F1EE}"/>
              </a:ext>
            </a:extLst>
          </p:cNvPr>
          <p:cNvSpPr/>
          <p:nvPr/>
        </p:nvSpPr>
        <p:spPr bwMode="auto">
          <a:xfrm rot="5400000">
            <a:off x="7851094" y="4981760"/>
            <a:ext cx="953215" cy="198050"/>
          </a:xfrm>
          <a:custGeom>
            <a:avLst/>
            <a:gdLst>
              <a:gd name="connsiteX0" fmla="*/ 0 w 1086523"/>
              <a:gd name="connsiteY0" fmla="*/ 548640 h 548640"/>
              <a:gd name="connsiteX1" fmla="*/ 548640 w 1086523"/>
              <a:gd name="connsiteY1" fmla="*/ 0 h 548640"/>
              <a:gd name="connsiteX2" fmla="*/ 1086523 w 1086523"/>
              <a:gd name="connsiteY2" fmla="*/ 537883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6523" h="548640">
                <a:moveTo>
                  <a:pt x="0" y="548640"/>
                </a:moveTo>
                <a:lnTo>
                  <a:pt x="548640" y="0"/>
                </a:lnTo>
                <a:lnTo>
                  <a:pt x="1086523" y="537883"/>
                </a:lnTo>
              </a:path>
            </a:pathLst>
          </a:custGeom>
          <a:solidFill>
            <a:srgbClr val="F2F2F2"/>
          </a:solidFill>
          <a:ln w="76200" cap="rnd" cmpd="sng" algn="ctr">
            <a:solidFill>
              <a:srgbClr val="0F32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1100" b="0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109DB1-7B03-9CA8-AC1A-5C823292E517}"/>
              </a:ext>
            </a:extLst>
          </p:cNvPr>
          <p:cNvSpPr/>
          <p:nvPr/>
        </p:nvSpPr>
        <p:spPr>
          <a:xfrm>
            <a:off x="8587988" y="2068008"/>
            <a:ext cx="4509501" cy="187691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L’impatto sul contatore è rilevato </a:t>
            </a:r>
            <a:r>
              <a:rPr kumimoji="0" lang="it-IT" sz="2200" b="1" i="0" u="sng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solo per il Punto Vendita oggetto di prima assegnazione</a:t>
            </a: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eventuali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</a:t>
            </a: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-assegnazioni non vengono</a:t>
            </a:r>
            <a:b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rilevate nel contatore del PV 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3D7736-313F-9AD2-4200-43F4EC514038}"/>
              </a:ext>
            </a:extLst>
          </p:cNvPr>
          <p:cNvSpPr/>
          <p:nvPr/>
        </p:nvSpPr>
        <p:spPr>
          <a:xfrm>
            <a:off x="8587988" y="4184008"/>
            <a:ext cx="4509501" cy="187691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sng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Nessun impatto sul contatore</a:t>
            </a:r>
            <a:r>
              <a:rPr kumimoji="0" lang="it-IT" sz="2200" b="1" i="0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22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dei PV poiché il motore non viene attivato dal modello di assegnazione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DD5AC4A-48B8-66E9-04D4-CED3154D6608}"/>
              </a:ext>
            </a:extLst>
          </p:cNvPr>
          <p:cNvCxnSpPr/>
          <p:nvPr/>
        </p:nvCxnSpPr>
        <p:spPr>
          <a:xfrm flipH="1">
            <a:off x="393514" y="4060214"/>
            <a:ext cx="12705051" cy="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 descr="Statistics with solid fill">
            <a:extLst>
              <a:ext uri="{FF2B5EF4-FFF2-40B4-BE49-F238E27FC236}">
                <a16:creationId xmlns:a16="http://schemas.microsoft.com/office/drawing/2014/main" id="{6255E9DF-85CC-2026-D623-318D579EB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2219" y="2294312"/>
            <a:ext cx="1338773" cy="1338773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159E0B7A-68AD-228E-2103-F11C89F26D8B}"/>
              </a:ext>
            </a:extLst>
          </p:cNvPr>
          <p:cNvSpPr txBox="1"/>
          <p:nvPr/>
        </p:nvSpPr>
        <p:spPr>
          <a:xfrm>
            <a:off x="619069" y="701880"/>
            <a:ext cx="12201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marR="0" lvl="0" indent="0" algn="ctr" defTabSz="8366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0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caso di mancata presa in carico </a:t>
            </a:r>
            <a:r>
              <a:rPr kumimoji="0" lang="it-IT" sz="2400" b="0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(o rifiuto) </a:t>
            </a:r>
            <a:r>
              <a:rPr kumimoji="0" lang="it-IT" sz="2400" b="0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della Trattativa entro lo SLA, 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definite specifiche logiche di </a:t>
            </a:r>
            <a:r>
              <a:rPr kumimoji="0" lang="it-IT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-assegnazione del Lead Digitale </a:t>
            </a:r>
            <a:r>
              <a:rPr kumimoji="0" lang="it-IT" sz="2400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lang="it-IT" sz="2400" i="1" dirty="0">
                <a:solidFill>
                  <a:srgbClr val="0F3250"/>
                </a:solidFill>
                <a:latin typeface="Calibri"/>
              </a:rPr>
              <a:t>PV 1</a:t>
            </a:r>
            <a:r>
              <a:rPr lang="it-IT" sz="2400" i="1" dirty="0">
                <a:solidFill>
                  <a:srgbClr val="0F3250"/>
                </a:solidFill>
                <a:latin typeface="Calibri"/>
                <a:sym typeface="Wingdings" panose="05000000000000000000" pitchFamily="2" charset="2"/>
              </a:rPr>
              <a:t> PV 2) 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funzione della </a:t>
            </a:r>
            <a:r>
              <a:rPr kumimoji="0" lang="it-IT" sz="2400" b="1" i="0" u="sng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modalità di prima assegnazione del Punto Vendita</a:t>
            </a:r>
            <a:r>
              <a:rPr kumimoji="0" lang="it-IT" sz="2400" b="1" i="0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 soggetto:</a:t>
            </a:r>
            <a:endParaRPr kumimoji="0" lang="it-IT" sz="2400" b="0" i="0" u="none" strike="noStrike" kern="1200" cap="none" spc="0" normalizeH="0" baseline="0" noProof="0" dirty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1C66C45-1679-5249-7A53-2586CC92FDEA}"/>
              </a:ext>
            </a:extLst>
          </p:cNvPr>
          <p:cNvSpPr txBox="1"/>
          <p:nvPr/>
        </p:nvSpPr>
        <p:spPr>
          <a:xfrm>
            <a:off x="1936732" y="2320133"/>
            <a:ext cx="1506176" cy="46166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PV 1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E5B536E-5E4B-E7BC-FC90-C57D3FD2E3D6}"/>
              </a:ext>
            </a:extLst>
          </p:cNvPr>
          <p:cNvSpPr txBox="1"/>
          <p:nvPr/>
        </p:nvSpPr>
        <p:spPr>
          <a:xfrm>
            <a:off x="1936732" y="3243292"/>
            <a:ext cx="1506176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PV 2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AE4B274-9039-3825-0335-913B4BDA0265}"/>
              </a:ext>
            </a:extLst>
          </p:cNvPr>
          <p:cNvSpPr/>
          <p:nvPr/>
        </p:nvSpPr>
        <p:spPr>
          <a:xfrm>
            <a:off x="3737515" y="2173290"/>
            <a:ext cx="4043685" cy="6316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72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Abbinato tramite </a:t>
            </a:r>
            <a:r>
              <a:rPr kumimoji="0" lang="it-IT" sz="2000" b="1" i="0" u="sng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MOTORE DI ASSEGNAZIONE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800" b="0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(accettata da </a:t>
            </a:r>
            <a:r>
              <a:rPr kumimoji="0" lang="it-I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prospect</a:t>
            </a:r>
            <a:r>
              <a:rPr kumimoji="0" lang="it-IT" sz="1800" b="0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endParaRPr kumimoji="0" lang="it-IT" sz="2000" b="0" i="1" u="none" strike="noStrike" kern="1200" cap="none" spc="0" normalizeH="0" baseline="0" noProof="0" dirty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022005FD-DC0D-37CA-5502-BC12843DDD3E}"/>
              </a:ext>
            </a:extLst>
          </p:cNvPr>
          <p:cNvSpPr/>
          <p:nvPr/>
        </p:nvSpPr>
        <p:spPr>
          <a:xfrm>
            <a:off x="3737515" y="3020630"/>
            <a:ext cx="4043685" cy="8407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72000" bIns="0" rtlCol="0" anchor="ctr"/>
          <a:lstStyle/>
          <a:p>
            <a:pPr lvl="0">
              <a:defRPr/>
            </a:pP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Identificato come il </a:t>
            </a:r>
            <a:r>
              <a:rPr kumimoji="0" lang="it-IT" sz="2000" b="1" i="0" u="sng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più vicino all'indirizzo inserito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dal 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prospect</a:t>
            </a:r>
            <a:b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lang="it-IT" sz="1600" i="1" dirty="0">
                <a:solidFill>
                  <a:srgbClr val="0F3250"/>
                </a:solidFill>
              </a:rPr>
              <a:t>(indipendentemente da capienza contatore)</a:t>
            </a:r>
            <a:endParaRPr kumimoji="0" lang="it-IT" sz="2000" b="0" i="1" u="none" strike="noStrike" kern="1200" cap="none" spc="0" normalizeH="0" baseline="0" noProof="0" dirty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F1FFBCC-DD35-2B55-1ED1-BD9064A2E6EC}"/>
              </a:ext>
            </a:extLst>
          </p:cNvPr>
          <p:cNvSpPr txBox="1"/>
          <p:nvPr/>
        </p:nvSpPr>
        <p:spPr>
          <a:xfrm>
            <a:off x="1936732" y="4466374"/>
            <a:ext cx="1506176" cy="46166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PV 1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F9565A2-0006-7E06-2D3F-C4EB81D47997}"/>
              </a:ext>
            </a:extLst>
          </p:cNvPr>
          <p:cNvSpPr txBox="1"/>
          <p:nvPr/>
        </p:nvSpPr>
        <p:spPr>
          <a:xfrm>
            <a:off x="1936732" y="5389533"/>
            <a:ext cx="1506176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PV 2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184752B8-1582-4017-C906-0BB7D0AA54A4}"/>
              </a:ext>
            </a:extLst>
          </p:cNvPr>
          <p:cNvSpPr/>
          <p:nvPr/>
        </p:nvSpPr>
        <p:spPr>
          <a:xfrm>
            <a:off x="3737515" y="4319531"/>
            <a:ext cx="4043685" cy="6316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72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Selezionato tramite </a:t>
            </a:r>
            <a:r>
              <a:rPr kumimoji="0" lang="it-IT" sz="2000" b="1" i="0" u="sng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LOCATOR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800" b="0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(scelta esplicita </a:t>
            </a:r>
            <a:r>
              <a:rPr kumimoji="0" lang="it-IT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prospect</a:t>
            </a:r>
            <a:r>
              <a:rPr kumimoji="0" lang="it-IT" sz="1800" b="0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endParaRPr kumimoji="0" lang="it-IT" sz="2000" b="0" i="1" u="none" strike="noStrike" kern="1200" cap="none" spc="0" normalizeH="0" baseline="0" noProof="0" dirty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1A44303A-C105-8184-0E4E-2FD243CD80B5}"/>
              </a:ext>
            </a:extLst>
          </p:cNvPr>
          <p:cNvSpPr/>
          <p:nvPr/>
        </p:nvSpPr>
        <p:spPr>
          <a:xfrm>
            <a:off x="3737515" y="5166871"/>
            <a:ext cx="4043685" cy="8407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72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Identificato come </a:t>
            </a:r>
            <a:r>
              <a:rPr lang="it-IT" sz="2000" b="1" dirty="0">
                <a:solidFill>
                  <a:srgbClr val="0F3250"/>
                </a:solidFill>
                <a:latin typeface="Calibri"/>
              </a:rPr>
              <a:t>il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2000" b="1" i="0" u="sng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più vicino al PV selezionato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 </a:t>
            </a:r>
            <a:r>
              <a:rPr kumimoji="0" lang="it-IT" sz="2000" b="1" i="0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locator </a:t>
            </a:r>
            <a:r>
              <a:rPr kumimoji="0" lang="it-IT" sz="1600" i="1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(indipendentemente da capienza contatore)</a:t>
            </a:r>
            <a:endParaRPr kumimoji="0" lang="it-IT" sz="2000" i="1" strike="noStrike" kern="1200" cap="none" spc="0" normalizeH="0" baseline="0" noProof="0" dirty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itolo 4">
            <a:extLst>
              <a:ext uri="{FF2B5EF4-FFF2-40B4-BE49-F238E27FC236}">
                <a16:creationId xmlns:a16="http://schemas.microsoft.com/office/drawing/2014/main" id="{2AB04DC9-2FBB-DE33-20A5-B46B7053A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8" y="87404"/>
            <a:ext cx="12055941" cy="520054"/>
          </a:xfrm>
        </p:spPr>
        <p:txBody>
          <a:bodyPr vert="horz"/>
          <a:lstStyle/>
          <a:p>
            <a:pPr indent="450850"/>
            <a:r>
              <a:rPr lang="it-IT" sz="2800"/>
              <a:t>LOGICHE DI RI-ASSEGNAZIONE | Requisiti</a:t>
            </a:r>
            <a:endParaRPr lang="it-IT" sz="2800" b="0" i="1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DB990375-B63B-860D-AEB9-20FBE375CAEA}"/>
              </a:ext>
            </a:extLst>
          </p:cNvPr>
          <p:cNvSpPr/>
          <p:nvPr/>
        </p:nvSpPr>
        <p:spPr>
          <a:xfrm>
            <a:off x="116539" y="127320"/>
            <a:ext cx="367807" cy="439410"/>
          </a:xfrm>
          <a:prstGeom prst="rect">
            <a:avLst/>
          </a:prstGeom>
          <a:solidFill>
            <a:srgbClr val="EBF3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1</a:t>
            </a:r>
          </a:p>
        </p:txBody>
      </p:sp>
      <p:pic>
        <p:nvPicPr>
          <p:cNvPr id="21" name="Immagine 20" descr="Immagine che contiene Elementi grafici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5E4EBB70-7680-D022-9815-1C5C734B80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2503824" y="2820857"/>
            <a:ext cx="371991" cy="371991"/>
          </a:xfrm>
          <a:prstGeom prst="rect">
            <a:avLst/>
          </a:prstGeom>
        </p:spPr>
      </p:pic>
      <p:pic>
        <p:nvPicPr>
          <p:cNvPr id="27" name="Immagine 26" descr="Immagine che contiene Elementi grafici, Carattere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563C0498-59E9-41DD-86BD-0889DB0C7C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2503824" y="4978623"/>
            <a:ext cx="371991" cy="371991"/>
          </a:xfrm>
          <a:prstGeom prst="rect">
            <a:avLst/>
          </a:prstGeom>
        </p:spPr>
      </p:pic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8A8E3F90-8066-866D-E92F-B4B2E6863EB7}"/>
              </a:ext>
            </a:extLst>
          </p:cNvPr>
          <p:cNvSpPr txBox="1"/>
          <p:nvPr/>
        </p:nvSpPr>
        <p:spPr>
          <a:xfrm>
            <a:off x="1316200" y="6221477"/>
            <a:ext cx="11333735" cy="642093"/>
          </a:xfrm>
          <a:prstGeom prst="rect">
            <a:avLst/>
          </a:prstGeom>
          <a:solidFill>
            <a:srgbClr val="FFF7E1"/>
          </a:solidFill>
          <a:ln>
            <a:noFill/>
          </a:ln>
        </p:spPr>
        <p:txBody>
          <a:bodyPr wrap="square" rIns="36000" anchor="ctr">
            <a:noAutofit/>
          </a:bodyPr>
          <a:lstStyle/>
          <a:p>
            <a:pPr marL="88900" lvl="0" indent="93663">
              <a:lnSpc>
                <a:spcPct val="110000"/>
              </a:lnSpc>
              <a:spcAft>
                <a:spcPts val="300"/>
              </a:spcAft>
              <a:defRPr/>
            </a:pPr>
            <a:r>
              <a:rPr lang="it-IT" sz="2000" i="1" dirty="0">
                <a:solidFill>
                  <a:srgbClr val="0F32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N.B. </a:t>
            </a:r>
            <a:r>
              <a:rPr lang="it-IT" sz="2000" i="1" dirty="0" err="1">
                <a:solidFill>
                  <a:srgbClr val="0F32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lang="it-IT" sz="2000" i="1" dirty="0">
                <a:solidFill>
                  <a:srgbClr val="0F32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-assegnazione prevede sempre come canale di contatto il Contact Center, pertanto il </a:t>
            </a:r>
            <a:r>
              <a:rPr lang="it-IT" sz="2000" i="1" u="sng" dirty="0">
                <a:solidFill>
                  <a:srgbClr val="0F32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PV 2 non sarà misurato nella gestione di lead </a:t>
            </a:r>
            <a:r>
              <a:rPr lang="it-IT" sz="2000" i="1" u="sng" dirty="0" err="1">
                <a:solidFill>
                  <a:srgbClr val="0F32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lang="it-IT" sz="2000" i="1" u="sng" dirty="0">
                <a:solidFill>
                  <a:srgbClr val="0F32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-assegnati da modello</a:t>
            </a:r>
            <a:r>
              <a:rPr lang="it-IT" sz="2000" i="1" dirty="0">
                <a:solidFill>
                  <a:srgbClr val="0F32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(focus KPI su performance di lavorazione Agenzia)</a:t>
            </a:r>
          </a:p>
        </p:txBody>
      </p:sp>
    </p:spTree>
    <p:extLst>
      <p:ext uri="{BB962C8B-B14F-4D97-AF65-F5344CB8AC3E}">
        <p14:creationId xmlns:p14="http://schemas.microsoft.com/office/powerpoint/2010/main" val="3091540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7031B-7246-B9F8-67A1-7E37D347F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313B5C1-75FD-C346-BE7B-0376C283A06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8725" y="2333"/>
          <a:ext cx="2331" cy="2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2" name="Diapositiva think-cell" r:id="rId5" imgW="435" imgH="435" progId="TCLayout.ActiveDocument.1">
                  <p:embed/>
                </p:oleObj>
              </mc:Choice>
              <mc:Fallback>
                <p:oleObj name="Diapositiva think-cell" r:id="rId5" imgW="435" imgH="43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313B5C1-75FD-C346-BE7B-0376C283A0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25" y="2333"/>
                        <a:ext cx="2331" cy="2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olo 4">
            <a:extLst>
              <a:ext uri="{FF2B5EF4-FFF2-40B4-BE49-F238E27FC236}">
                <a16:creationId xmlns:a16="http://schemas.microsoft.com/office/drawing/2014/main" id="{8013A4BD-B745-3243-F0E7-BC13CD58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8" y="87404"/>
            <a:ext cx="12055941" cy="520054"/>
          </a:xfrm>
        </p:spPr>
        <p:txBody>
          <a:bodyPr vert="horz"/>
          <a:lstStyle/>
          <a:p>
            <a:r>
              <a:rPr lang="it-IT" sz="2800"/>
              <a:t>ASSEGNAZIONE LEAD DIGITALI | Agenda</a:t>
            </a:r>
            <a:endParaRPr lang="it-IT" sz="2800" b="0"/>
          </a:p>
        </p:txBody>
      </p:sp>
      <p:sp>
        <p:nvSpPr>
          <p:cNvPr id="9" name="Freccia a pentagono 8">
            <a:extLst>
              <a:ext uri="{FF2B5EF4-FFF2-40B4-BE49-F238E27FC236}">
                <a16:creationId xmlns:a16="http://schemas.microsoft.com/office/drawing/2014/main" id="{93412DE9-4F52-E893-50B7-283FD64AE618}"/>
              </a:ext>
            </a:extLst>
          </p:cNvPr>
          <p:cNvSpPr/>
          <p:nvPr/>
        </p:nvSpPr>
        <p:spPr>
          <a:xfrm>
            <a:off x="639135" y="1370397"/>
            <a:ext cx="4478776" cy="5078170"/>
          </a:xfrm>
          <a:prstGeom prst="homePlate">
            <a:avLst>
              <a:gd name="adj" fmla="val 0"/>
            </a:avLst>
          </a:prstGeom>
          <a:solidFill>
            <a:srgbClr val="F0F6FC"/>
          </a:solidFill>
          <a:ln w="190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aree principali per la definizione del modello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F578EA43-136D-C89F-62DA-2DEEDF683F04}"/>
              </a:ext>
            </a:extLst>
          </p:cNvPr>
          <p:cNvSpPr/>
          <p:nvPr/>
        </p:nvSpPr>
        <p:spPr>
          <a:xfrm>
            <a:off x="5813078" y="1501226"/>
            <a:ext cx="7081966" cy="1005276"/>
          </a:xfrm>
          <a:prstGeom prst="roundRect">
            <a:avLst>
              <a:gd name="adj" fmla="val 10375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LOGICHE DI ASSEGNAZIONE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897A6244-D20A-E5B4-4969-D611A06C8452}"/>
              </a:ext>
            </a:extLst>
          </p:cNvPr>
          <p:cNvSpPr/>
          <p:nvPr/>
        </p:nvSpPr>
        <p:spPr>
          <a:xfrm>
            <a:off x="5691806" y="1812893"/>
            <a:ext cx="334016" cy="381943"/>
          </a:xfrm>
          <a:prstGeom prst="rect">
            <a:avLst/>
          </a:prstGeom>
          <a:solidFill>
            <a:srgbClr val="EBF3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43" name="Rettangolo con angoli arrotondati 42">
            <a:extLst>
              <a:ext uri="{FF2B5EF4-FFF2-40B4-BE49-F238E27FC236}">
                <a16:creationId xmlns:a16="http://schemas.microsoft.com/office/drawing/2014/main" id="{3BD66F32-062A-F186-BD32-E11DC2E28EB3}"/>
              </a:ext>
            </a:extLst>
          </p:cNvPr>
          <p:cNvSpPr/>
          <p:nvPr/>
        </p:nvSpPr>
        <p:spPr>
          <a:xfrm>
            <a:off x="5813078" y="2879194"/>
            <a:ext cx="7081966" cy="2047638"/>
          </a:xfrm>
          <a:prstGeom prst="roundRect">
            <a:avLst>
              <a:gd name="adj" fmla="val 10375"/>
            </a:avLst>
          </a:prstGeom>
          <a:solidFill>
            <a:schemeClr val="tx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PERIMETRO DI APPLICAZIONE SU RETE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4B0FD257-D0CA-C719-30AD-42B8203B71CD}"/>
              </a:ext>
            </a:extLst>
          </p:cNvPr>
          <p:cNvSpPr/>
          <p:nvPr/>
        </p:nvSpPr>
        <p:spPr>
          <a:xfrm>
            <a:off x="5813078" y="5326421"/>
            <a:ext cx="7081966" cy="1005276"/>
          </a:xfrm>
          <a:prstGeom prst="roundRect">
            <a:avLst>
              <a:gd name="adj" fmla="val 10375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KPI E SCORE DI AGENZIA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517080FE-DB76-2690-6A5B-AC60A45FD9A6}"/>
              </a:ext>
            </a:extLst>
          </p:cNvPr>
          <p:cNvSpPr/>
          <p:nvPr/>
        </p:nvSpPr>
        <p:spPr>
          <a:xfrm>
            <a:off x="5691806" y="5638088"/>
            <a:ext cx="334016" cy="381943"/>
          </a:xfrm>
          <a:prstGeom prst="rect">
            <a:avLst/>
          </a:prstGeom>
          <a:solidFill>
            <a:srgbClr val="EBF3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9D52B22C-4575-D0F0-93BE-C6DD5D5D1EE4}"/>
              </a:ext>
            </a:extLst>
          </p:cNvPr>
          <p:cNvSpPr/>
          <p:nvPr/>
        </p:nvSpPr>
        <p:spPr>
          <a:xfrm>
            <a:off x="9488184" y="3637817"/>
            <a:ext cx="3218482" cy="1005277"/>
          </a:xfrm>
          <a:prstGeom prst="roundRect">
            <a:avLst>
              <a:gd name="adj" fmla="val 10375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GESTIONE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ECCEZIONI: BLACKIST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20BE2AD4-3745-CC15-2608-19D33E4450F3}"/>
              </a:ext>
            </a:extLst>
          </p:cNvPr>
          <p:cNvSpPr/>
          <p:nvPr/>
        </p:nvSpPr>
        <p:spPr>
          <a:xfrm>
            <a:off x="6012014" y="3637817"/>
            <a:ext cx="3218482" cy="1005277"/>
          </a:xfrm>
          <a:prstGeom prst="roundRect">
            <a:avLst>
              <a:gd name="adj" fmla="val 10375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GESTIONE</a:t>
            </a:r>
            <a:br>
              <a:rPr kumimoji="0" lang="it-IT" sz="22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it-IT" sz="22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PUNTI VENDITA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F1F8C7A0-4B43-3835-5ADB-6551EE240E4E}"/>
              </a:ext>
            </a:extLst>
          </p:cNvPr>
          <p:cNvSpPr/>
          <p:nvPr/>
        </p:nvSpPr>
        <p:spPr>
          <a:xfrm>
            <a:off x="5691806" y="3111434"/>
            <a:ext cx="334016" cy="381943"/>
          </a:xfrm>
          <a:prstGeom prst="rect">
            <a:avLst/>
          </a:prstGeom>
          <a:solidFill>
            <a:srgbClr val="EBF3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53E983F2-AB30-89BC-CDC7-24979EE8A8F8}"/>
              </a:ext>
            </a:extLst>
          </p:cNvPr>
          <p:cNvSpPr/>
          <p:nvPr/>
        </p:nvSpPr>
        <p:spPr>
          <a:xfrm>
            <a:off x="8920670" y="3588865"/>
            <a:ext cx="404160" cy="381943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2a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93961C29-F954-7621-AA51-733A55A22546}"/>
              </a:ext>
            </a:extLst>
          </p:cNvPr>
          <p:cNvSpPr/>
          <p:nvPr/>
        </p:nvSpPr>
        <p:spPr>
          <a:xfrm>
            <a:off x="12402395" y="3588865"/>
            <a:ext cx="404160" cy="381943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2b</a:t>
            </a:r>
          </a:p>
        </p:txBody>
      </p:sp>
    </p:spTree>
    <p:extLst>
      <p:ext uri="{BB962C8B-B14F-4D97-AF65-F5344CB8AC3E}">
        <p14:creationId xmlns:p14="http://schemas.microsoft.com/office/powerpoint/2010/main" val="912826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09B88-D829-448E-39CF-57B914F48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E0D3EC11-1CCE-F211-FD77-E87C0770EF4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6" name="Diapositiva think-cell" r:id="rId4" imgW="395" imgH="394" progId="TCLayout.ActiveDocument.1">
                  <p:embed/>
                </p:oleObj>
              </mc:Choice>
              <mc:Fallback>
                <p:oleObj name="Diapositiva think-cell" r:id="rId4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D3EC11-1CCE-F211-FD77-E87C0770EF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olo 4">
            <a:extLst>
              <a:ext uri="{FF2B5EF4-FFF2-40B4-BE49-F238E27FC236}">
                <a16:creationId xmlns:a16="http://schemas.microsoft.com/office/drawing/2014/main" id="{C0043AEE-BCF5-37EE-8D91-1C3CC63C94B5}"/>
              </a:ext>
            </a:extLst>
          </p:cNvPr>
          <p:cNvSpPr txBox="1">
            <a:spLocks/>
          </p:cNvSpPr>
          <p:nvPr/>
        </p:nvSpPr>
        <p:spPr>
          <a:xfrm>
            <a:off x="65428" y="87404"/>
            <a:ext cx="12986979" cy="520054"/>
          </a:xfrm>
          <a:prstGeom prst="rect">
            <a:avLst/>
          </a:prstGeom>
        </p:spPr>
        <p:txBody>
          <a:bodyPr vert="horz" lIns="0" anchor="ctr">
            <a:noAutofit/>
          </a:bodyPr>
          <a:lstStyle>
            <a:lvl1pPr algn="l" defTabSz="100702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43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539750" algn="l" defTabSz="100702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PERIMETRO DI </a:t>
            </a:r>
            <a:r>
              <a:rPr lang="it-IT" sz="2800" dirty="0">
                <a:solidFill>
                  <a:srgbClr val="FFFFFF"/>
                </a:solidFill>
                <a:latin typeface="Calibri"/>
              </a:rPr>
              <a:t>APPLICAZIONE SU </a:t>
            </a:r>
            <a:r>
              <a:rPr kumimoji="0" lang="it-IT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RETE</a:t>
            </a:r>
            <a:r>
              <a:rPr lang="it-IT" sz="2800" dirty="0">
                <a:solidFill>
                  <a:srgbClr val="FFFFFF"/>
                </a:solidFill>
                <a:latin typeface="Calibri"/>
              </a:rPr>
              <a:t> |</a:t>
            </a:r>
            <a:r>
              <a:rPr kumimoji="0" lang="it-IT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</a:t>
            </a:r>
            <a:r>
              <a:rPr kumimoji="0" lang="it-IT" sz="28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Overview</a:t>
            </a:r>
            <a:endParaRPr kumimoji="0" lang="it-IT" sz="28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B1C44684-7726-5339-8A3D-247E8F83C86E}"/>
              </a:ext>
            </a:extLst>
          </p:cNvPr>
          <p:cNvSpPr/>
          <p:nvPr/>
        </p:nvSpPr>
        <p:spPr>
          <a:xfrm>
            <a:off x="116539" y="127320"/>
            <a:ext cx="367807" cy="439410"/>
          </a:xfrm>
          <a:prstGeom prst="rect">
            <a:avLst/>
          </a:prstGeom>
          <a:solidFill>
            <a:srgbClr val="EBF3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8" name="Freccia a pentagono 27">
            <a:extLst>
              <a:ext uri="{FF2B5EF4-FFF2-40B4-BE49-F238E27FC236}">
                <a16:creationId xmlns:a16="http://schemas.microsoft.com/office/drawing/2014/main" id="{BA0F30ED-3DEC-98C2-5F67-DA72F7E2DC15}"/>
              </a:ext>
            </a:extLst>
          </p:cNvPr>
          <p:cNvSpPr/>
          <p:nvPr/>
        </p:nvSpPr>
        <p:spPr>
          <a:xfrm>
            <a:off x="980950" y="757032"/>
            <a:ext cx="11477875" cy="1068068"/>
          </a:xfrm>
          <a:prstGeom prst="homePlate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algn="ctr">
              <a:spcAft>
                <a:spcPts val="1200"/>
              </a:spcAft>
            </a:pPr>
            <a:r>
              <a:rPr lang="it-IT" sz="2800">
                <a:solidFill>
                  <a:schemeClr val="tx1"/>
                </a:solidFill>
              </a:rPr>
              <a:t>Necessario definire il </a:t>
            </a:r>
            <a:r>
              <a:rPr lang="it-IT" sz="2800" b="1">
                <a:solidFill>
                  <a:schemeClr val="tx1"/>
                </a:solidFill>
              </a:rPr>
              <a:t>perimetro di applicazione del modello di assegnazione Geo-meritocratico </a:t>
            </a:r>
            <a:r>
              <a:rPr lang="it-IT" sz="2800">
                <a:solidFill>
                  <a:schemeClr val="tx1"/>
                </a:solidFill>
              </a:rPr>
              <a:t>all'interno della </a:t>
            </a:r>
            <a:r>
              <a:rPr lang="it-IT" sz="2800" b="1">
                <a:solidFill>
                  <a:schemeClr val="tx1"/>
                </a:solidFill>
              </a:rPr>
              <a:t>Rete Unipol</a:t>
            </a:r>
            <a:r>
              <a:rPr lang="it-IT" sz="2800">
                <a:solidFill>
                  <a:schemeClr val="tx1"/>
                </a:solidFill>
              </a:rPr>
              <a:t>:</a:t>
            </a:r>
            <a:endParaRPr lang="it-IT" sz="2400">
              <a:solidFill>
                <a:schemeClr val="tx1"/>
              </a:solidFill>
            </a:endParaRPr>
          </a:p>
        </p:txBody>
      </p:sp>
      <p:sp>
        <p:nvSpPr>
          <p:cNvPr id="25" name="Folded Corner 15">
            <a:extLst>
              <a:ext uri="{FF2B5EF4-FFF2-40B4-BE49-F238E27FC236}">
                <a16:creationId xmlns:a16="http://schemas.microsoft.com/office/drawing/2014/main" id="{DCD1DD6E-C3B5-1882-22E1-1CCA223B0149}"/>
              </a:ext>
            </a:extLst>
          </p:cNvPr>
          <p:cNvSpPr/>
          <p:nvPr/>
        </p:nvSpPr>
        <p:spPr>
          <a:xfrm>
            <a:off x="7034803" y="2856858"/>
            <a:ext cx="5606885" cy="3799576"/>
          </a:xfrm>
          <a:prstGeom prst="foldedCorner">
            <a:avLst>
              <a:gd name="adj" fmla="val 11427"/>
            </a:avLst>
          </a:prstGeom>
          <a:solidFill>
            <a:srgbClr val="EBF3FB"/>
          </a:solidFill>
          <a:ln w="19050" cap="flat" cmpd="sng" algn="ctr">
            <a:solidFill>
              <a:srgbClr val="0F3250"/>
            </a:solidFill>
            <a:prstDash val="solid"/>
          </a:ln>
          <a:effectLst/>
        </p:spPr>
        <p:txBody>
          <a:bodyPr tIns="864000" rtlCol="0" anchor="ctr"/>
          <a:lstStyle/>
          <a:p>
            <a:endParaRPr lang="it-IT" sz="2400" b="1"/>
          </a:p>
        </p:txBody>
      </p:sp>
      <p:grpSp>
        <p:nvGrpSpPr>
          <p:cNvPr id="109" name="Gruppo 108">
            <a:extLst>
              <a:ext uri="{FF2B5EF4-FFF2-40B4-BE49-F238E27FC236}">
                <a16:creationId xmlns:a16="http://schemas.microsoft.com/office/drawing/2014/main" id="{4CC6B15B-ADF8-72DD-D519-5C76CB7585F1}"/>
              </a:ext>
            </a:extLst>
          </p:cNvPr>
          <p:cNvGrpSpPr/>
          <p:nvPr/>
        </p:nvGrpSpPr>
        <p:grpSpPr>
          <a:xfrm>
            <a:off x="3602814" y="1806678"/>
            <a:ext cx="6230203" cy="737191"/>
            <a:chOff x="4418713" y="2090224"/>
            <a:chExt cx="3328923" cy="932324"/>
          </a:xfrm>
        </p:grpSpPr>
        <p:grpSp>
          <p:nvGrpSpPr>
            <p:cNvPr id="5" name="Group 812">
              <a:extLst>
                <a:ext uri="{FF2B5EF4-FFF2-40B4-BE49-F238E27FC236}">
                  <a16:creationId xmlns:a16="http://schemas.microsoft.com/office/drawing/2014/main" id="{C78E2202-74FB-FDA1-84BE-4C10A1439B42}"/>
                </a:ext>
              </a:extLst>
            </p:cNvPr>
            <p:cNvGrpSpPr/>
            <p:nvPr/>
          </p:nvGrpSpPr>
          <p:grpSpPr>
            <a:xfrm rot="905871">
              <a:off x="4418713" y="2090224"/>
              <a:ext cx="466882" cy="932324"/>
              <a:chOff x="1624013" y="2192636"/>
              <a:chExt cx="515938" cy="1030288"/>
            </a:xfrm>
          </p:grpSpPr>
          <p:sp>
            <p:nvSpPr>
              <p:cNvPr id="16" name="Freeform 723">
                <a:extLst>
                  <a:ext uri="{FF2B5EF4-FFF2-40B4-BE49-F238E27FC236}">
                    <a16:creationId xmlns:a16="http://schemas.microsoft.com/office/drawing/2014/main" id="{47346740-D6B8-0603-3752-4F0FFC8CDE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62113" y="2716511"/>
                <a:ext cx="477838" cy="506413"/>
              </a:xfrm>
              <a:custGeom>
                <a:avLst/>
                <a:gdLst/>
                <a:ahLst/>
                <a:cxnLst>
                  <a:cxn ang="0">
                    <a:pos x="0" y="303"/>
                  </a:cxn>
                  <a:cxn ang="0">
                    <a:pos x="0" y="303"/>
                  </a:cxn>
                  <a:cxn ang="0">
                    <a:pos x="251" y="0"/>
                  </a:cxn>
                  <a:cxn ang="0">
                    <a:pos x="242" y="1"/>
                  </a:cxn>
                  <a:cxn ang="0">
                    <a:pos x="218" y="11"/>
                  </a:cxn>
                  <a:cxn ang="0">
                    <a:pos x="177" y="48"/>
                  </a:cxn>
                  <a:cxn ang="0">
                    <a:pos x="129" y="98"/>
                  </a:cxn>
                  <a:cxn ang="0">
                    <a:pos x="99" y="127"/>
                  </a:cxn>
                  <a:cxn ang="0">
                    <a:pos x="96" y="135"/>
                  </a:cxn>
                  <a:cxn ang="0">
                    <a:pos x="88" y="164"/>
                  </a:cxn>
                  <a:cxn ang="0">
                    <a:pos x="87" y="164"/>
                  </a:cxn>
                  <a:cxn ang="0">
                    <a:pos x="93" y="133"/>
                  </a:cxn>
                  <a:cxn ang="0">
                    <a:pos x="80" y="147"/>
                  </a:cxn>
                  <a:cxn ang="0">
                    <a:pos x="76" y="162"/>
                  </a:cxn>
                  <a:cxn ang="0">
                    <a:pos x="71" y="186"/>
                  </a:cxn>
                  <a:cxn ang="0">
                    <a:pos x="68" y="191"/>
                  </a:cxn>
                  <a:cxn ang="0">
                    <a:pos x="66" y="186"/>
                  </a:cxn>
                  <a:cxn ang="0">
                    <a:pos x="60" y="179"/>
                  </a:cxn>
                  <a:cxn ang="0">
                    <a:pos x="60" y="177"/>
                  </a:cxn>
                  <a:cxn ang="0">
                    <a:pos x="58" y="174"/>
                  </a:cxn>
                  <a:cxn ang="0">
                    <a:pos x="59" y="207"/>
                  </a:cxn>
                  <a:cxn ang="0">
                    <a:pos x="63" y="290"/>
                  </a:cxn>
                  <a:cxn ang="0">
                    <a:pos x="66" y="295"/>
                  </a:cxn>
                  <a:cxn ang="0">
                    <a:pos x="70" y="299"/>
                  </a:cxn>
                  <a:cxn ang="0">
                    <a:pos x="71" y="313"/>
                  </a:cxn>
                  <a:cxn ang="0">
                    <a:pos x="67" y="316"/>
                  </a:cxn>
                  <a:cxn ang="0">
                    <a:pos x="59" y="315"/>
                  </a:cxn>
                  <a:cxn ang="0">
                    <a:pos x="42" y="312"/>
                  </a:cxn>
                  <a:cxn ang="0">
                    <a:pos x="29" y="308"/>
                  </a:cxn>
                  <a:cxn ang="0">
                    <a:pos x="21" y="308"/>
                  </a:cxn>
                  <a:cxn ang="0">
                    <a:pos x="34" y="312"/>
                  </a:cxn>
                  <a:cxn ang="0">
                    <a:pos x="59" y="319"/>
                  </a:cxn>
                  <a:cxn ang="0">
                    <a:pos x="68" y="316"/>
                  </a:cxn>
                  <a:cxn ang="0">
                    <a:pos x="78" y="301"/>
                  </a:cxn>
                  <a:cxn ang="0">
                    <a:pos x="84" y="280"/>
                  </a:cxn>
                  <a:cxn ang="0">
                    <a:pos x="120" y="213"/>
                  </a:cxn>
                  <a:cxn ang="0">
                    <a:pos x="141" y="181"/>
                  </a:cxn>
                  <a:cxn ang="0">
                    <a:pos x="223" y="89"/>
                  </a:cxn>
                  <a:cxn ang="0">
                    <a:pos x="269" y="49"/>
                  </a:cxn>
                  <a:cxn ang="0">
                    <a:pos x="295" y="34"/>
                  </a:cxn>
                  <a:cxn ang="0">
                    <a:pos x="301" y="28"/>
                  </a:cxn>
                  <a:cxn ang="0">
                    <a:pos x="295" y="22"/>
                  </a:cxn>
                  <a:cxn ang="0">
                    <a:pos x="285" y="15"/>
                  </a:cxn>
                  <a:cxn ang="0">
                    <a:pos x="277" y="14"/>
                  </a:cxn>
                  <a:cxn ang="0">
                    <a:pos x="265" y="6"/>
                  </a:cxn>
                  <a:cxn ang="0">
                    <a:pos x="261" y="5"/>
                  </a:cxn>
                  <a:cxn ang="0">
                    <a:pos x="261" y="5"/>
                  </a:cxn>
                  <a:cxn ang="0">
                    <a:pos x="255" y="1"/>
                  </a:cxn>
                </a:cxnLst>
                <a:rect l="0" t="0" r="r" b="b"/>
                <a:pathLst>
                  <a:path w="301" h="319">
                    <a:moveTo>
                      <a:pt x="0" y="303"/>
                    </a:moveTo>
                    <a:lnTo>
                      <a:pt x="0" y="303"/>
                    </a:lnTo>
                    <a:lnTo>
                      <a:pt x="0" y="303"/>
                    </a:lnTo>
                    <a:close/>
                    <a:moveTo>
                      <a:pt x="0" y="303"/>
                    </a:moveTo>
                    <a:lnTo>
                      <a:pt x="0" y="303"/>
                    </a:lnTo>
                    <a:lnTo>
                      <a:pt x="0" y="303"/>
                    </a:lnTo>
                    <a:lnTo>
                      <a:pt x="0" y="303"/>
                    </a:lnTo>
                    <a:lnTo>
                      <a:pt x="0" y="303"/>
                    </a:lnTo>
                    <a:close/>
                    <a:moveTo>
                      <a:pt x="251" y="0"/>
                    </a:moveTo>
                    <a:lnTo>
                      <a:pt x="251" y="0"/>
                    </a:lnTo>
                    <a:lnTo>
                      <a:pt x="242" y="1"/>
                    </a:lnTo>
                    <a:lnTo>
                      <a:pt x="242" y="1"/>
                    </a:lnTo>
                    <a:lnTo>
                      <a:pt x="235" y="3"/>
                    </a:lnTo>
                    <a:lnTo>
                      <a:pt x="227" y="6"/>
                    </a:lnTo>
                    <a:lnTo>
                      <a:pt x="218" y="11"/>
                    </a:lnTo>
                    <a:lnTo>
                      <a:pt x="207" y="21"/>
                    </a:lnTo>
                    <a:lnTo>
                      <a:pt x="207" y="21"/>
                    </a:lnTo>
                    <a:lnTo>
                      <a:pt x="177" y="48"/>
                    </a:lnTo>
                    <a:lnTo>
                      <a:pt x="151" y="74"/>
                    </a:lnTo>
                    <a:lnTo>
                      <a:pt x="151" y="74"/>
                    </a:lnTo>
                    <a:lnTo>
                      <a:pt x="129" y="98"/>
                    </a:lnTo>
                    <a:lnTo>
                      <a:pt x="109" y="118"/>
                    </a:lnTo>
                    <a:lnTo>
                      <a:pt x="109" y="118"/>
                    </a:lnTo>
                    <a:lnTo>
                      <a:pt x="99" y="127"/>
                    </a:lnTo>
                    <a:lnTo>
                      <a:pt x="99" y="127"/>
                    </a:lnTo>
                    <a:lnTo>
                      <a:pt x="96" y="135"/>
                    </a:lnTo>
                    <a:lnTo>
                      <a:pt x="96" y="135"/>
                    </a:lnTo>
                    <a:lnTo>
                      <a:pt x="89" y="162"/>
                    </a:lnTo>
                    <a:lnTo>
                      <a:pt x="89" y="162"/>
                    </a:lnTo>
                    <a:lnTo>
                      <a:pt x="88" y="164"/>
                    </a:lnTo>
                    <a:lnTo>
                      <a:pt x="87" y="165"/>
                    </a:lnTo>
                    <a:lnTo>
                      <a:pt x="87" y="165"/>
                    </a:lnTo>
                    <a:lnTo>
                      <a:pt x="87" y="164"/>
                    </a:lnTo>
                    <a:lnTo>
                      <a:pt x="87" y="162"/>
                    </a:lnTo>
                    <a:lnTo>
                      <a:pt x="87" y="162"/>
                    </a:lnTo>
                    <a:lnTo>
                      <a:pt x="93" y="133"/>
                    </a:lnTo>
                    <a:lnTo>
                      <a:pt x="93" y="133"/>
                    </a:lnTo>
                    <a:lnTo>
                      <a:pt x="80" y="147"/>
                    </a:lnTo>
                    <a:lnTo>
                      <a:pt x="80" y="147"/>
                    </a:lnTo>
                    <a:lnTo>
                      <a:pt x="79" y="153"/>
                    </a:lnTo>
                    <a:lnTo>
                      <a:pt x="79" y="153"/>
                    </a:lnTo>
                    <a:lnTo>
                      <a:pt x="76" y="162"/>
                    </a:lnTo>
                    <a:lnTo>
                      <a:pt x="74" y="174"/>
                    </a:lnTo>
                    <a:lnTo>
                      <a:pt x="74" y="174"/>
                    </a:lnTo>
                    <a:lnTo>
                      <a:pt x="71" y="186"/>
                    </a:lnTo>
                    <a:lnTo>
                      <a:pt x="68" y="192"/>
                    </a:lnTo>
                    <a:lnTo>
                      <a:pt x="68" y="192"/>
                    </a:lnTo>
                    <a:lnTo>
                      <a:pt x="68" y="191"/>
                    </a:lnTo>
                    <a:lnTo>
                      <a:pt x="68" y="191"/>
                    </a:lnTo>
                    <a:lnTo>
                      <a:pt x="67" y="189"/>
                    </a:lnTo>
                    <a:lnTo>
                      <a:pt x="66" y="186"/>
                    </a:lnTo>
                    <a:lnTo>
                      <a:pt x="64" y="183"/>
                    </a:lnTo>
                    <a:lnTo>
                      <a:pt x="60" y="179"/>
                    </a:lnTo>
                    <a:lnTo>
                      <a:pt x="60" y="179"/>
                    </a:lnTo>
                    <a:lnTo>
                      <a:pt x="60" y="181"/>
                    </a:lnTo>
                    <a:lnTo>
                      <a:pt x="60" y="181"/>
                    </a:lnTo>
                    <a:lnTo>
                      <a:pt x="60" y="177"/>
                    </a:lnTo>
                    <a:lnTo>
                      <a:pt x="60" y="177"/>
                    </a:lnTo>
                    <a:lnTo>
                      <a:pt x="59" y="175"/>
                    </a:lnTo>
                    <a:lnTo>
                      <a:pt x="58" y="174"/>
                    </a:lnTo>
                    <a:lnTo>
                      <a:pt x="58" y="174"/>
                    </a:lnTo>
                    <a:lnTo>
                      <a:pt x="59" y="192"/>
                    </a:lnTo>
                    <a:lnTo>
                      <a:pt x="59" y="207"/>
                    </a:lnTo>
                    <a:lnTo>
                      <a:pt x="59" y="207"/>
                    </a:lnTo>
                    <a:lnTo>
                      <a:pt x="60" y="250"/>
                    </a:lnTo>
                    <a:lnTo>
                      <a:pt x="63" y="290"/>
                    </a:lnTo>
                    <a:lnTo>
                      <a:pt x="63" y="290"/>
                    </a:lnTo>
                    <a:lnTo>
                      <a:pt x="63" y="294"/>
                    </a:lnTo>
                    <a:lnTo>
                      <a:pt x="66" y="295"/>
                    </a:lnTo>
                    <a:lnTo>
                      <a:pt x="68" y="296"/>
                    </a:lnTo>
                    <a:lnTo>
                      <a:pt x="70" y="299"/>
                    </a:lnTo>
                    <a:lnTo>
                      <a:pt x="70" y="299"/>
                    </a:lnTo>
                    <a:lnTo>
                      <a:pt x="72" y="305"/>
                    </a:lnTo>
                    <a:lnTo>
                      <a:pt x="72" y="309"/>
                    </a:lnTo>
                    <a:lnTo>
                      <a:pt x="71" y="313"/>
                    </a:lnTo>
                    <a:lnTo>
                      <a:pt x="71" y="313"/>
                    </a:lnTo>
                    <a:lnTo>
                      <a:pt x="70" y="315"/>
                    </a:lnTo>
                    <a:lnTo>
                      <a:pt x="67" y="316"/>
                    </a:lnTo>
                    <a:lnTo>
                      <a:pt x="67" y="316"/>
                    </a:lnTo>
                    <a:lnTo>
                      <a:pt x="63" y="315"/>
                    </a:lnTo>
                    <a:lnTo>
                      <a:pt x="59" y="315"/>
                    </a:lnTo>
                    <a:lnTo>
                      <a:pt x="59" y="315"/>
                    </a:lnTo>
                    <a:lnTo>
                      <a:pt x="51" y="313"/>
                    </a:lnTo>
                    <a:lnTo>
                      <a:pt x="42" y="312"/>
                    </a:lnTo>
                    <a:lnTo>
                      <a:pt x="42" y="312"/>
                    </a:lnTo>
                    <a:lnTo>
                      <a:pt x="33" y="309"/>
                    </a:lnTo>
                    <a:lnTo>
                      <a:pt x="29" y="308"/>
                    </a:lnTo>
                    <a:lnTo>
                      <a:pt x="24" y="308"/>
                    </a:lnTo>
                    <a:lnTo>
                      <a:pt x="24" y="308"/>
                    </a:lnTo>
                    <a:lnTo>
                      <a:pt x="21" y="308"/>
                    </a:lnTo>
                    <a:lnTo>
                      <a:pt x="21" y="308"/>
                    </a:lnTo>
                    <a:lnTo>
                      <a:pt x="34" y="312"/>
                    </a:lnTo>
                    <a:lnTo>
                      <a:pt x="34" y="312"/>
                    </a:lnTo>
                    <a:lnTo>
                      <a:pt x="47" y="316"/>
                    </a:lnTo>
                    <a:lnTo>
                      <a:pt x="59" y="319"/>
                    </a:lnTo>
                    <a:lnTo>
                      <a:pt x="59" y="319"/>
                    </a:lnTo>
                    <a:lnTo>
                      <a:pt x="66" y="317"/>
                    </a:lnTo>
                    <a:lnTo>
                      <a:pt x="66" y="317"/>
                    </a:lnTo>
                    <a:lnTo>
                      <a:pt x="68" y="316"/>
                    </a:lnTo>
                    <a:lnTo>
                      <a:pt x="71" y="315"/>
                    </a:lnTo>
                    <a:lnTo>
                      <a:pt x="75" y="309"/>
                    </a:lnTo>
                    <a:lnTo>
                      <a:pt x="78" y="301"/>
                    </a:lnTo>
                    <a:lnTo>
                      <a:pt x="80" y="292"/>
                    </a:lnTo>
                    <a:lnTo>
                      <a:pt x="80" y="292"/>
                    </a:lnTo>
                    <a:lnTo>
                      <a:pt x="84" y="280"/>
                    </a:lnTo>
                    <a:lnTo>
                      <a:pt x="91" y="265"/>
                    </a:lnTo>
                    <a:lnTo>
                      <a:pt x="102" y="242"/>
                    </a:lnTo>
                    <a:lnTo>
                      <a:pt x="120" y="213"/>
                    </a:lnTo>
                    <a:lnTo>
                      <a:pt x="120" y="213"/>
                    </a:lnTo>
                    <a:lnTo>
                      <a:pt x="130" y="196"/>
                    </a:lnTo>
                    <a:lnTo>
                      <a:pt x="141" y="181"/>
                    </a:lnTo>
                    <a:lnTo>
                      <a:pt x="167" y="148"/>
                    </a:lnTo>
                    <a:lnTo>
                      <a:pt x="196" y="118"/>
                    </a:lnTo>
                    <a:lnTo>
                      <a:pt x="223" y="89"/>
                    </a:lnTo>
                    <a:lnTo>
                      <a:pt x="223" y="89"/>
                    </a:lnTo>
                    <a:lnTo>
                      <a:pt x="248" y="65"/>
                    </a:lnTo>
                    <a:lnTo>
                      <a:pt x="269" y="49"/>
                    </a:lnTo>
                    <a:lnTo>
                      <a:pt x="285" y="39"/>
                    </a:lnTo>
                    <a:lnTo>
                      <a:pt x="295" y="34"/>
                    </a:lnTo>
                    <a:lnTo>
                      <a:pt x="295" y="34"/>
                    </a:lnTo>
                    <a:lnTo>
                      <a:pt x="298" y="32"/>
                    </a:lnTo>
                    <a:lnTo>
                      <a:pt x="299" y="31"/>
                    </a:lnTo>
                    <a:lnTo>
                      <a:pt x="301" y="28"/>
                    </a:lnTo>
                    <a:lnTo>
                      <a:pt x="301" y="27"/>
                    </a:lnTo>
                    <a:lnTo>
                      <a:pt x="298" y="24"/>
                    </a:lnTo>
                    <a:lnTo>
                      <a:pt x="295" y="22"/>
                    </a:lnTo>
                    <a:lnTo>
                      <a:pt x="295" y="22"/>
                    </a:lnTo>
                    <a:lnTo>
                      <a:pt x="285" y="15"/>
                    </a:lnTo>
                    <a:lnTo>
                      <a:pt x="285" y="15"/>
                    </a:lnTo>
                    <a:lnTo>
                      <a:pt x="280" y="15"/>
                    </a:lnTo>
                    <a:lnTo>
                      <a:pt x="280" y="15"/>
                    </a:lnTo>
                    <a:lnTo>
                      <a:pt x="277" y="14"/>
                    </a:lnTo>
                    <a:lnTo>
                      <a:pt x="274" y="13"/>
                    </a:lnTo>
                    <a:lnTo>
                      <a:pt x="265" y="6"/>
                    </a:lnTo>
                    <a:lnTo>
                      <a:pt x="265" y="6"/>
                    </a:lnTo>
                    <a:lnTo>
                      <a:pt x="260" y="3"/>
                    </a:lnTo>
                    <a:lnTo>
                      <a:pt x="260" y="3"/>
                    </a:lnTo>
                    <a:lnTo>
                      <a:pt x="261" y="5"/>
                    </a:lnTo>
                    <a:lnTo>
                      <a:pt x="261" y="5"/>
                    </a:lnTo>
                    <a:lnTo>
                      <a:pt x="261" y="5"/>
                    </a:lnTo>
                    <a:lnTo>
                      <a:pt x="261" y="5"/>
                    </a:lnTo>
                    <a:lnTo>
                      <a:pt x="259" y="2"/>
                    </a:lnTo>
                    <a:lnTo>
                      <a:pt x="259" y="2"/>
                    </a:lnTo>
                    <a:lnTo>
                      <a:pt x="255" y="1"/>
                    </a:lnTo>
                    <a:lnTo>
                      <a:pt x="251" y="0"/>
                    </a:lnTo>
                    <a:close/>
                  </a:path>
                </a:pathLst>
              </a:custGeom>
              <a:solidFill>
                <a:srgbClr val="FCC55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" name="Freeform 724">
                <a:extLst>
                  <a:ext uri="{FF2B5EF4-FFF2-40B4-BE49-F238E27FC236}">
                    <a16:creationId xmlns:a16="http://schemas.microsoft.com/office/drawing/2014/main" id="{1AFAE49C-B0BC-148F-6CEB-BA85B14EB0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2113" y="3197523"/>
                <a:ext cx="1588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" name="Rectangle 725">
                <a:extLst>
                  <a:ext uri="{FF2B5EF4-FFF2-40B4-BE49-F238E27FC236}">
                    <a16:creationId xmlns:a16="http://schemas.microsoft.com/office/drawing/2014/main" id="{83E1CA8C-4948-3914-B8D1-5C774B43D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3197523"/>
                <a:ext cx="1588" cy="15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" name="Freeform 726">
                <a:extLst>
                  <a:ext uri="{FF2B5EF4-FFF2-40B4-BE49-F238E27FC236}">
                    <a16:creationId xmlns:a16="http://schemas.microsoft.com/office/drawing/2014/main" id="{B6BD0C9F-1375-65D5-AE39-B77FB6C13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450" y="2716511"/>
                <a:ext cx="444500" cy="506413"/>
              </a:xfrm>
              <a:custGeom>
                <a:avLst/>
                <a:gdLst/>
                <a:ahLst/>
                <a:cxnLst>
                  <a:cxn ang="0">
                    <a:pos x="221" y="1"/>
                  </a:cxn>
                  <a:cxn ang="0">
                    <a:pos x="206" y="6"/>
                  </a:cxn>
                  <a:cxn ang="0">
                    <a:pos x="186" y="21"/>
                  </a:cxn>
                  <a:cxn ang="0">
                    <a:pos x="130" y="74"/>
                  </a:cxn>
                  <a:cxn ang="0">
                    <a:pos x="88" y="118"/>
                  </a:cxn>
                  <a:cxn ang="0">
                    <a:pos x="75" y="135"/>
                  </a:cxn>
                  <a:cxn ang="0">
                    <a:pos x="68" y="162"/>
                  </a:cxn>
                  <a:cxn ang="0">
                    <a:pos x="66" y="165"/>
                  </a:cxn>
                  <a:cxn ang="0">
                    <a:pos x="66" y="162"/>
                  </a:cxn>
                  <a:cxn ang="0">
                    <a:pos x="59" y="147"/>
                  </a:cxn>
                  <a:cxn ang="0">
                    <a:pos x="58" y="153"/>
                  </a:cxn>
                  <a:cxn ang="0">
                    <a:pos x="53" y="174"/>
                  </a:cxn>
                  <a:cxn ang="0">
                    <a:pos x="47" y="192"/>
                  </a:cxn>
                  <a:cxn ang="0">
                    <a:pos x="46" y="189"/>
                  </a:cxn>
                  <a:cxn ang="0">
                    <a:pos x="39" y="179"/>
                  </a:cxn>
                  <a:cxn ang="0">
                    <a:pos x="39" y="181"/>
                  </a:cxn>
                  <a:cxn ang="0">
                    <a:pos x="38" y="175"/>
                  </a:cxn>
                  <a:cxn ang="0">
                    <a:pos x="38" y="192"/>
                  </a:cxn>
                  <a:cxn ang="0">
                    <a:pos x="39" y="250"/>
                  </a:cxn>
                  <a:cxn ang="0">
                    <a:pos x="42" y="294"/>
                  </a:cxn>
                  <a:cxn ang="0">
                    <a:pos x="49" y="299"/>
                  </a:cxn>
                  <a:cxn ang="0">
                    <a:pos x="51" y="309"/>
                  </a:cxn>
                  <a:cxn ang="0">
                    <a:pos x="49" y="315"/>
                  </a:cxn>
                  <a:cxn ang="0">
                    <a:pos x="42" y="315"/>
                  </a:cxn>
                  <a:cxn ang="0">
                    <a:pos x="30" y="313"/>
                  </a:cxn>
                  <a:cxn ang="0">
                    <a:pos x="12" y="309"/>
                  </a:cxn>
                  <a:cxn ang="0">
                    <a:pos x="3" y="308"/>
                  </a:cxn>
                  <a:cxn ang="0">
                    <a:pos x="13" y="312"/>
                  </a:cxn>
                  <a:cxn ang="0">
                    <a:pos x="38" y="319"/>
                  </a:cxn>
                  <a:cxn ang="0">
                    <a:pos x="45" y="317"/>
                  </a:cxn>
                  <a:cxn ang="0">
                    <a:pos x="54" y="309"/>
                  </a:cxn>
                  <a:cxn ang="0">
                    <a:pos x="59" y="292"/>
                  </a:cxn>
                  <a:cxn ang="0">
                    <a:pos x="81" y="242"/>
                  </a:cxn>
                  <a:cxn ang="0">
                    <a:pos x="109" y="196"/>
                  </a:cxn>
                  <a:cxn ang="0">
                    <a:pos x="175" y="118"/>
                  </a:cxn>
                  <a:cxn ang="0">
                    <a:pos x="227" y="65"/>
                  </a:cxn>
                  <a:cxn ang="0">
                    <a:pos x="274" y="34"/>
                  </a:cxn>
                  <a:cxn ang="0">
                    <a:pos x="278" y="31"/>
                  </a:cxn>
                  <a:cxn ang="0">
                    <a:pos x="277" y="24"/>
                  </a:cxn>
                  <a:cxn ang="0">
                    <a:pos x="264" y="15"/>
                  </a:cxn>
                  <a:cxn ang="0">
                    <a:pos x="259" y="15"/>
                  </a:cxn>
                  <a:cxn ang="0">
                    <a:pos x="244" y="6"/>
                  </a:cxn>
                  <a:cxn ang="0">
                    <a:pos x="239" y="3"/>
                  </a:cxn>
                  <a:cxn ang="0">
                    <a:pos x="240" y="5"/>
                  </a:cxn>
                  <a:cxn ang="0">
                    <a:pos x="238" y="2"/>
                  </a:cxn>
                </a:cxnLst>
                <a:rect l="0" t="0" r="r" b="b"/>
                <a:pathLst>
                  <a:path w="280" h="319">
                    <a:moveTo>
                      <a:pt x="230" y="0"/>
                    </a:moveTo>
                    <a:lnTo>
                      <a:pt x="230" y="0"/>
                    </a:lnTo>
                    <a:lnTo>
                      <a:pt x="221" y="1"/>
                    </a:lnTo>
                    <a:lnTo>
                      <a:pt x="221" y="1"/>
                    </a:lnTo>
                    <a:lnTo>
                      <a:pt x="214" y="3"/>
                    </a:lnTo>
                    <a:lnTo>
                      <a:pt x="206" y="6"/>
                    </a:lnTo>
                    <a:lnTo>
                      <a:pt x="197" y="11"/>
                    </a:lnTo>
                    <a:lnTo>
                      <a:pt x="186" y="21"/>
                    </a:lnTo>
                    <a:lnTo>
                      <a:pt x="186" y="21"/>
                    </a:lnTo>
                    <a:lnTo>
                      <a:pt x="156" y="48"/>
                    </a:lnTo>
                    <a:lnTo>
                      <a:pt x="130" y="74"/>
                    </a:lnTo>
                    <a:lnTo>
                      <a:pt x="130" y="74"/>
                    </a:lnTo>
                    <a:lnTo>
                      <a:pt x="108" y="98"/>
                    </a:lnTo>
                    <a:lnTo>
                      <a:pt x="88" y="118"/>
                    </a:lnTo>
                    <a:lnTo>
                      <a:pt x="88" y="118"/>
                    </a:lnTo>
                    <a:lnTo>
                      <a:pt x="78" y="127"/>
                    </a:lnTo>
                    <a:lnTo>
                      <a:pt x="78" y="127"/>
                    </a:lnTo>
                    <a:lnTo>
                      <a:pt x="75" y="135"/>
                    </a:lnTo>
                    <a:lnTo>
                      <a:pt x="75" y="135"/>
                    </a:lnTo>
                    <a:lnTo>
                      <a:pt x="68" y="162"/>
                    </a:lnTo>
                    <a:lnTo>
                      <a:pt x="68" y="162"/>
                    </a:lnTo>
                    <a:lnTo>
                      <a:pt x="67" y="164"/>
                    </a:lnTo>
                    <a:lnTo>
                      <a:pt x="66" y="165"/>
                    </a:lnTo>
                    <a:lnTo>
                      <a:pt x="66" y="165"/>
                    </a:lnTo>
                    <a:lnTo>
                      <a:pt x="66" y="164"/>
                    </a:lnTo>
                    <a:lnTo>
                      <a:pt x="66" y="162"/>
                    </a:lnTo>
                    <a:lnTo>
                      <a:pt x="66" y="162"/>
                    </a:lnTo>
                    <a:lnTo>
                      <a:pt x="72" y="133"/>
                    </a:lnTo>
                    <a:lnTo>
                      <a:pt x="72" y="133"/>
                    </a:lnTo>
                    <a:lnTo>
                      <a:pt x="59" y="147"/>
                    </a:lnTo>
                    <a:lnTo>
                      <a:pt x="59" y="147"/>
                    </a:lnTo>
                    <a:lnTo>
                      <a:pt x="58" y="153"/>
                    </a:lnTo>
                    <a:lnTo>
                      <a:pt x="58" y="153"/>
                    </a:lnTo>
                    <a:lnTo>
                      <a:pt x="55" y="162"/>
                    </a:lnTo>
                    <a:lnTo>
                      <a:pt x="53" y="174"/>
                    </a:lnTo>
                    <a:lnTo>
                      <a:pt x="53" y="174"/>
                    </a:lnTo>
                    <a:lnTo>
                      <a:pt x="50" y="186"/>
                    </a:lnTo>
                    <a:lnTo>
                      <a:pt x="47" y="192"/>
                    </a:lnTo>
                    <a:lnTo>
                      <a:pt x="47" y="192"/>
                    </a:lnTo>
                    <a:lnTo>
                      <a:pt x="47" y="191"/>
                    </a:lnTo>
                    <a:lnTo>
                      <a:pt x="47" y="191"/>
                    </a:lnTo>
                    <a:lnTo>
                      <a:pt x="46" y="189"/>
                    </a:lnTo>
                    <a:lnTo>
                      <a:pt x="45" y="186"/>
                    </a:lnTo>
                    <a:lnTo>
                      <a:pt x="43" y="183"/>
                    </a:lnTo>
                    <a:lnTo>
                      <a:pt x="39" y="179"/>
                    </a:lnTo>
                    <a:lnTo>
                      <a:pt x="39" y="179"/>
                    </a:lnTo>
                    <a:lnTo>
                      <a:pt x="39" y="181"/>
                    </a:lnTo>
                    <a:lnTo>
                      <a:pt x="39" y="181"/>
                    </a:lnTo>
                    <a:lnTo>
                      <a:pt x="39" y="177"/>
                    </a:lnTo>
                    <a:lnTo>
                      <a:pt x="39" y="177"/>
                    </a:lnTo>
                    <a:lnTo>
                      <a:pt x="38" y="175"/>
                    </a:lnTo>
                    <a:lnTo>
                      <a:pt x="37" y="174"/>
                    </a:lnTo>
                    <a:lnTo>
                      <a:pt x="37" y="174"/>
                    </a:lnTo>
                    <a:lnTo>
                      <a:pt x="38" y="192"/>
                    </a:lnTo>
                    <a:lnTo>
                      <a:pt x="38" y="207"/>
                    </a:lnTo>
                    <a:lnTo>
                      <a:pt x="38" y="207"/>
                    </a:lnTo>
                    <a:lnTo>
                      <a:pt x="39" y="250"/>
                    </a:lnTo>
                    <a:lnTo>
                      <a:pt x="42" y="290"/>
                    </a:lnTo>
                    <a:lnTo>
                      <a:pt x="42" y="290"/>
                    </a:lnTo>
                    <a:lnTo>
                      <a:pt x="42" y="294"/>
                    </a:lnTo>
                    <a:lnTo>
                      <a:pt x="45" y="295"/>
                    </a:lnTo>
                    <a:lnTo>
                      <a:pt x="47" y="296"/>
                    </a:lnTo>
                    <a:lnTo>
                      <a:pt x="49" y="299"/>
                    </a:lnTo>
                    <a:lnTo>
                      <a:pt x="49" y="299"/>
                    </a:lnTo>
                    <a:lnTo>
                      <a:pt x="51" y="305"/>
                    </a:lnTo>
                    <a:lnTo>
                      <a:pt x="51" y="309"/>
                    </a:lnTo>
                    <a:lnTo>
                      <a:pt x="50" y="313"/>
                    </a:lnTo>
                    <a:lnTo>
                      <a:pt x="50" y="313"/>
                    </a:lnTo>
                    <a:lnTo>
                      <a:pt x="49" y="315"/>
                    </a:lnTo>
                    <a:lnTo>
                      <a:pt x="46" y="316"/>
                    </a:lnTo>
                    <a:lnTo>
                      <a:pt x="46" y="316"/>
                    </a:lnTo>
                    <a:lnTo>
                      <a:pt x="42" y="315"/>
                    </a:lnTo>
                    <a:lnTo>
                      <a:pt x="38" y="315"/>
                    </a:lnTo>
                    <a:lnTo>
                      <a:pt x="38" y="315"/>
                    </a:lnTo>
                    <a:lnTo>
                      <a:pt x="30" y="313"/>
                    </a:lnTo>
                    <a:lnTo>
                      <a:pt x="21" y="312"/>
                    </a:lnTo>
                    <a:lnTo>
                      <a:pt x="21" y="312"/>
                    </a:lnTo>
                    <a:lnTo>
                      <a:pt x="12" y="309"/>
                    </a:lnTo>
                    <a:lnTo>
                      <a:pt x="8" y="308"/>
                    </a:lnTo>
                    <a:lnTo>
                      <a:pt x="3" y="308"/>
                    </a:lnTo>
                    <a:lnTo>
                      <a:pt x="3" y="308"/>
                    </a:lnTo>
                    <a:lnTo>
                      <a:pt x="0" y="308"/>
                    </a:lnTo>
                    <a:lnTo>
                      <a:pt x="0" y="308"/>
                    </a:lnTo>
                    <a:lnTo>
                      <a:pt x="13" y="312"/>
                    </a:lnTo>
                    <a:lnTo>
                      <a:pt x="13" y="312"/>
                    </a:lnTo>
                    <a:lnTo>
                      <a:pt x="26" y="316"/>
                    </a:lnTo>
                    <a:lnTo>
                      <a:pt x="38" y="319"/>
                    </a:lnTo>
                    <a:lnTo>
                      <a:pt x="38" y="319"/>
                    </a:lnTo>
                    <a:lnTo>
                      <a:pt x="45" y="317"/>
                    </a:lnTo>
                    <a:lnTo>
                      <a:pt x="45" y="317"/>
                    </a:lnTo>
                    <a:lnTo>
                      <a:pt x="47" y="316"/>
                    </a:lnTo>
                    <a:lnTo>
                      <a:pt x="50" y="315"/>
                    </a:lnTo>
                    <a:lnTo>
                      <a:pt x="54" y="309"/>
                    </a:lnTo>
                    <a:lnTo>
                      <a:pt x="57" y="301"/>
                    </a:lnTo>
                    <a:lnTo>
                      <a:pt x="59" y="292"/>
                    </a:lnTo>
                    <a:lnTo>
                      <a:pt x="59" y="292"/>
                    </a:lnTo>
                    <a:lnTo>
                      <a:pt x="63" y="280"/>
                    </a:lnTo>
                    <a:lnTo>
                      <a:pt x="70" y="265"/>
                    </a:lnTo>
                    <a:lnTo>
                      <a:pt x="81" y="242"/>
                    </a:lnTo>
                    <a:lnTo>
                      <a:pt x="99" y="213"/>
                    </a:lnTo>
                    <a:lnTo>
                      <a:pt x="99" y="213"/>
                    </a:lnTo>
                    <a:lnTo>
                      <a:pt x="109" y="196"/>
                    </a:lnTo>
                    <a:lnTo>
                      <a:pt x="120" y="181"/>
                    </a:lnTo>
                    <a:lnTo>
                      <a:pt x="146" y="148"/>
                    </a:lnTo>
                    <a:lnTo>
                      <a:pt x="175" y="118"/>
                    </a:lnTo>
                    <a:lnTo>
                      <a:pt x="202" y="89"/>
                    </a:lnTo>
                    <a:lnTo>
                      <a:pt x="202" y="89"/>
                    </a:lnTo>
                    <a:lnTo>
                      <a:pt x="227" y="65"/>
                    </a:lnTo>
                    <a:lnTo>
                      <a:pt x="248" y="49"/>
                    </a:lnTo>
                    <a:lnTo>
                      <a:pt x="264" y="39"/>
                    </a:lnTo>
                    <a:lnTo>
                      <a:pt x="274" y="34"/>
                    </a:lnTo>
                    <a:lnTo>
                      <a:pt x="274" y="34"/>
                    </a:lnTo>
                    <a:lnTo>
                      <a:pt x="277" y="32"/>
                    </a:lnTo>
                    <a:lnTo>
                      <a:pt x="278" y="31"/>
                    </a:lnTo>
                    <a:lnTo>
                      <a:pt x="280" y="28"/>
                    </a:lnTo>
                    <a:lnTo>
                      <a:pt x="280" y="27"/>
                    </a:lnTo>
                    <a:lnTo>
                      <a:pt x="277" y="24"/>
                    </a:lnTo>
                    <a:lnTo>
                      <a:pt x="274" y="22"/>
                    </a:lnTo>
                    <a:lnTo>
                      <a:pt x="274" y="22"/>
                    </a:lnTo>
                    <a:lnTo>
                      <a:pt x="264" y="15"/>
                    </a:lnTo>
                    <a:lnTo>
                      <a:pt x="264" y="15"/>
                    </a:lnTo>
                    <a:lnTo>
                      <a:pt x="259" y="15"/>
                    </a:lnTo>
                    <a:lnTo>
                      <a:pt x="259" y="15"/>
                    </a:lnTo>
                    <a:lnTo>
                      <a:pt x="256" y="14"/>
                    </a:lnTo>
                    <a:lnTo>
                      <a:pt x="253" y="13"/>
                    </a:lnTo>
                    <a:lnTo>
                      <a:pt x="244" y="6"/>
                    </a:lnTo>
                    <a:lnTo>
                      <a:pt x="244" y="6"/>
                    </a:lnTo>
                    <a:lnTo>
                      <a:pt x="239" y="3"/>
                    </a:lnTo>
                    <a:lnTo>
                      <a:pt x="239" y="3"/>
                    </a:lnTo>
                    <a:lnTo>
                      <a:pt x="240" y="5"/>
                    </a:lnTo>
                    <a:lnTo>
                      <a:pt x="240" y="5"/>
                    </a:lnTo>
                    <a:lnTo>
                      <a:pt x="240" y="5"/>
                    </a:lnTo>
                    <a:lnTo>
                      <a:pt x="240" y="5"/>
                    </a:lnTo>
                    <a:lnTo>
                      <a:pt x="238" y="2"/>
                    </a:lnTo>
                    <a:lnTo>
                      <a:pt x="238" y="2"/>
                    </a:lnTo>
                    <a:lnTo>
                      <a:pt x="234" y="1"/>
                    </a:lnTo>
                    <a:lnTo>
                      <a:pt x="230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" name="Freeform 727">
                <a:extLst>
                  <a:ext uri="{FF2B5EF4-FFF2-40B4-BE49-F238E27FC236}">
                    <a16:creationId xmlns:a16="http://schemas.microsoft.com/office/drawing/2014/main" id="{36D6C901-EB09-BDCF-9663-1761A220C64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24013" y="2754611"/>
                <a:ext cx="128588" cy="450850"/>
              </a:xfrm>
              <a:custGeom>
                <a:avLst/>
                <a:gdLst/>
                <a:ahLst/>
                <a:cxnLst>
                  <a:cxn ang="0">
                    <a:pos x="24" y="279"/>
                  </a:cxn>
                  <a:cxn ang="0">
                    <a:pos x="45" y="284"/>
                  </a:cxn>
                  <a:cxn ang="0">
                    <a:pos x="33" y="281"/>
                  </a:cxn>
                  <a:cxn ang="0">
                    <a:pos x="24" y="279"/>
                  </a:cxn>
                  <a:cxn ang="0">
                    <a:pos x="24" y="279"/>
                  </a:cxn>
                  <a:cxn ang="0">
                    <a:pos x="24" y="279"/>
                  </a:cxn>
                  <a:cxn ang="0">
                    <a:pos x="24" y="279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3" y="69"/>
                  </a:cxn>
                  <a:cxn ang="0">
                    <a:pos x="10" y="170"/>
                  </a:cxn>
                  <a:cxn ang="0">
                    <a:pos x="14" y="209"/>
                  </a:cxn>
                  <a:cxn ang="0">
                    <a:pos x="16" y="243"/>
                  </a:cxn>
                  <a:cxn ang="0">
                    <a:pos x="16" y="262"/>
                  </a:cxn>
                  <a:cxn ang="0">
                    <a:pos x="16" y="272"/>
                  </a:cxn>
                  <a:cxn ang="0">
                    <a:pos x="20" y="277"/>
                  </a:cxn>
                  <a:cxn ang="0">
                    <a:pos x="24" y="279"/>
                  </a:cxn>
                  <a:cxn ang="0">
                    <a:pos x="18" y="271"/>
                  </a:cxn>
                  <a:cxn ang="0">
                    <a:pos x="20" y="259"/>
                  </a:cxn>
                  <a:cxn ang="0">
                    <a:pos x="25" y="245"/>
                  </a:cxn>
                  <a:cxn ang="0">
                    <a:pos x="32" y="229"/>
                  </a:cxn>
                  <a:cxn ang="0">
                    <a:pos x="42" y="207"/>
                  </a:cxn>
                  <a:cxn ang="0">
                    <a:pos x="54" y="186"/>
                  </a:cxn>
                  <a:cxn ang="0">
                    <a:pos x="75" y="154"/>
                  </a:cxn>
                  <a:cxn ang="0">
                    <a:pos x="81" y="149"/>
                  </a:cxn>
                  <a:cxn ang="0">
                    <a:pos x="79" y="147"/>
                  </a:cxn>
                  <a:cxn ang="0">
                    <a:pos x="78" y="144"/>
                  </a:cxn>
                  <a:cxn ang="0">
                    <a:pos x="77" y="129"/>
                  </a:cxn>
                  <a:cxn ang="0">
                    <a:pos x="74" y="116"/>
                  </a:cxn>
                  <a:cxn ang="0">
                    <a:pos x="74" y="95"/>
                  </a:cxn>
                  <a:cxn ang="0">
                    <a:pos x="75" y="91"/>
                  </a:cxn>
                  <a:cxn ang="0">
                    <a:pos x="74" y="62"/>
                  </a:cxn>
                  <a:cxn ang="0">
                    <a:pos x="73" y="31"/>
                  </a:cxn>
                  <a:cxn ang="0">
                    <a:pos x="74" y="25"/>
                  </a:cxn>
                  <a:cxn ang="0">
                    <a:pos x="73" y="16"/>
                  </a:cxn>
                  <a:cxn ang="0">
                    <a:pos x="69" y="12"/>
                  </a:cxn>
                  <a:cxn ang="0">
                    <a:pos x="57" y="8"/>
                  </a:cxn>
                  <a:cxn ang="0">
                    <a:pos x="39" y="6"/>
                  </a:cxn>
                  <a:cxn ang="0">
                    <a:pos x="20" y="2"/>
                  </a:cxn>
                  <a:cxn ang="0">
                    <a:pos x="8" y="0"/>
                  </a:cxn>
                </a:cxnLst>
                <a:rect l="0" t="0" r="r" b="b"/>
                <a:pathLst>
                  <a:path w="81" h="284">
                    <a:moveTo>
                      <a:pt x="24" y="279"/>
                    </a:moveTo>
                    <a:lnTo>
                      <a:pt x="24" y="279"/>
                    </a:lnTo>
                    <a:lnTo>
                      <a:pt x="35" y="281"/>
                    </a:lnTo>
                    <a:lnTo>
                      <a:pt x="45" y="284"/>
                    </a:lnTo>
                    <a:lnTo>
                      <a:pt x="45" y="284"/>
                    </a:lnTo>
                    <a:lnTo>
                      <a:pt x="33" y="281"/>
                    </a:lnTo>
                    <a:lnTo>
                      <a:pt x="33" y="281"/>
                    </a:lnTo>
                    <a:lnTo>
                      <a:pt x="24" y="279"/>
                    </a:lnTo>
                    <a:close/>
                    <a:moveTo>
                      <a:pt x="24" y="279"/>
                    </a:moveTo>
                    <a:lnTo>
                      <a:pt x="24" y="279"/>
                    </a:lnTo>
                    <a:lnTo>
                      <a:pt x="24" y="279"/>
                    </a:lnTo>
                    <a:close/>
                    <a:moveTo>
                      <a:pt x="24" y="279"/>
                    </a:moveTo>
                    <a:lnTo>
                      <a:pt x="24" y="279"/>
                    </a:lnTo>
                    <a:lnTo>
                      <a:pt x="24" y="279"/>
                    </a:lnTo>
                    <a:lnTo>
                      <a:pt x="24" y="279"/>
                    </a:lnTo>
                    <a:close/>
                    <a:moveTo>
                      <a:pt x="8" y="0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3" y="69"/>
                    </a:lnTo>
                    <a:lnTo>
                      <a:pt x="3" y="69"/>
                    </a:lnTo>
                    <a:lnTo>
                      <a:pt x="6" y="120"/>
                    </a:lnTo>
                    <a:lnTo>
                      <a:pt x="10" y="170"/>
                    </a:lnTo>
                    <a:lnTo>
                      <a:pt x="10" y="170"/>
                    </a:lnTo>
                    <a:lnTo>
                      <a:pt x="14" y="209"/>
                    </a:lnTo>
                    <a:lnTo>
                      <a:pt x="16" y="243"/>
                    </a:lnTo>
                    <a:lnTo>
                      <a:pt x="16" y="243"/>
                    </a:lnTo>
                    <a:lnTo>
                      <a:pt x="15" y="253"/>
                    </a:lnTo>
                    <a:lnTo>
                      <a:pt x="16" y="262"/>
                    </a:lnTo>
                    <a:lnTo>
                      <a:pt x="16" y="262"/>
                    </a:lnTo>
                    <a:lnTo>
                      <a:pt x="16" y="272"/>
                    </a:lnTo>
                    <a:lnTo>
                      <a:pt x="19" y="276"/>
                    </a:lnTo>
                    <a:lnTo>
                      <a:pt x="20" y="277"/>
                    </a:lnTo>
                    <a:lnTo>
                      <a:pt x="24" y="279"/>
                    </a:lnTo>
                    <a:lnTo>
                      <a:pt x="24" y="279"/>
                    </a:lnTo>
                    <a:lnTo>
                      <a:pt x="20" y="276"/>
                    </a:lnTo>
                    <a:lnTo>
                      <a:pt x="18" y="271"/>
                    </a:lnTo>
                    <a:lnTo>
                      <a:pt x="18" y="266"/>
                    </a:lnTo>
                    <a:lnTo>
                      <a:pt x="20" y="259"/>
                    </a:lnTo>
                    <a:lnTo>
                      <a:pt x="20" y="259"/>
                    </a:lnTo>
                    <a:lnTo>
                      <a:pt x="25" y="245"/>
                    </a:lnTo>
                    <a:lnTo>
                      <a:pt x="32" y="229"/>
                    </a:lnTo>
                    <a:lnTo>
                      <a:pt x="32" y="229"/>
                    </a:lnTo>
                    <a:lnTo>
                      <a:pt x="36" y="220"/>
                    </a:lnTo>
                    <a:lnTo>
                      <a:pt x="42" y="207"/>
                    </a:lnTo>
                    <a:lnTo>
                      <a:pt x="54" y="186"/>
                    </a:lnTo>
                    <a:lnTo>
                      <a:pt x="54" y="186"/>
                    </a:lnTo>
                    <a:lnTo>
                      <a:pt x="65" y="168"/>
                    </a:lnTo>
                    <a:lnTo>
                      <a:pt x="75" y="154"/>
                    </a:lnTo>
                    <a:lnTo>
                      <a:pt x="75" y="154"/>
                    </a:lnTo>
                    <a:lnTo>
                      <a:pt x="81" y="149"/>
                    </a:lnTo>
                    <a:lnTo>
                      <a:pt x="81" y="149"/>
                    </a:lnTo>
                    <a:lnTo>
                      <a:pt x="79" y="147"/>
                    </a:lnTo>
                    <a:lnTo>
                      <a:pt x="78" y="144"/>
                    </a:lnTo>
                    <a:lnTo>
                      <a:pt x="78" y="144"/>
                    </a:lnTo>
                    <a:lnTo>
                      <a:pt x="77" y="136"/>
                    </a:lnTo>
                    <a:lnTo>
                      <a:pt x="77" y="129"/>
                    </a:lnTo>
                    <a:lnTo>
                      <a:pt x="77" y="129"/>
                    </a:lnTo>
                    <a:lnTo>
                      <a:pt x="74" y="116"/>
                    </a:lnTo>
                    <a:lnTo>
                      <a:pt x="74" y="107"/>
                    </a:lnTo>
                    <a:lnTo>
                      <a:pt x="74" y="95"/>
                    </a:lnTo>
                    <a:lnTo>
                      <a:pt x="74" y="95"/>
                    </a:lnTo>
                    <a:lnTo>
                      <a:pt x="75" y="91"/>
                    </a:lnTo>
                    <a:lnTo>
                      <a:pt x="75" y="91"/>
                    </a:lnTo>
                    <a:lnTo>
                      <a:pt x="74" y="62"/>
                    </a:lnTo>
                    <a:lnTo>
                      <a:pt x="74" y="62"/>
                    </a:lnTo>
                    <a:lnTo>
                      <a:pt x="73" y="31"/>
                    </a:lnTo>
                    <a:lnTo>
                      <a:pt x="73" y="31"/>
                    </a:lnTo>
                    <a:lnTo>
                      <a:pt x="74" y="25"/>
                    </a:lnTo>
                    <a:lnTo>
                      <a:pt x="74" y="20"/>
                    </a:lnTo>
                    <a:lnTo>
                      <a:pt x="73" y="16"/>
                    </a:lnTo>
                    <a:lnTo>
                      <a:pt x="69" y="12"/>
                    </a:lnTo>
                    <a:lnTo>
                      <a:pt x="69" y="12"/>
                    </a:lnTo>
                    <a:lnTo>
                      <a:pt x="62" y="10"/>
                    </a:lnTo>
                    <a:lnTo>
                      <a:pt x="57" y="8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28" y="4"/>
                    </a:lnTo>
                    <a:lnTo>
                      <a:pt x="20" y="2"/>
                    </a:lnTo>
                    <a:lnTo>
                      <a:pt x="14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CC55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" name="Freeform 728">
                <a:extLst>
                  <a:ext uri="{FF2B5EF4-FFF2-40B4-BE49-F238E27FC236}">
                    <a16:creationId xmlns:a16="http://schemas.microsoft.com/office/drawing/2014/main" id="{0D65B8DD-1258-1497-DD9B-00F7E15A04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2113" y="3197523"/>
                <a:ext cx="33338" cy="793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11" y="2"/>
                  </a:cxn>
                  <a:cxn ang="0">
                    <a:pos x="21" y="5"/>
                  </a:cxn>
                  <a:cxn ang="0">
                    <a:pos x="21" y="5"/>
                  </a:cxn>
                  <a:cxn ang="0">
                    <a:pos x="9" y="2"/>
                  </a:cxn>
                  <a:cxn ang="0">
                    <a:pos x="9" y="2"/>
                  </a:cxn>
                  <a:cxn ang="0">
                    <a:pos x="0" y="0"/>
                  </a:cxn>
                </a:cxnLst>
                <a:rect l="0" t="0" r="r" b="b"/>
                <a:pathLst>
                  <a:path w="21" h="5">
                    <a:moveTo>
                      <a:pt x="0" y="0"/>
                    </a:moveTo>
                    <a:lnTo>
                      <a:pt x="0" y="0"/>
                    </a:lnTo>
                    <a:lnTo>
                      <a:pt x="11" y="2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9" y="2"/>
                    </a:lnTo>
                    <a:lnTo>
                      <a:pt x="9" y="2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" name="Freeform 729">
                <a:extLst>
                  <a:ext uri="{FF2B5EF4-FFF2-40B4-BE49-F238E27FC236}">
                    <a16:creationId xmlns:a16="http://schemas.microsoft.com/office/drawing/2014/main" id="{E240FC3C-F276-DF92-5BF8-98F09E72A9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2113" y="3197523"/>
                <a:ext cx="1588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" name="Freeform 730">
                <a:extLst>
                  <a:ext uri="{FF2B5EF4-FFF2-40B4-BE49-F238E27FC236}">
                    <a16:creationId xmlns:a16="http://schemas.microsoft.com/office/drawing/2014/main" id="{DDBFD965-AC64-279F-C4D1-9264572603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2113" y="3197523"/>
                <a:ext cx="1588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" name="Freeform 731">
                <a:extLst>
                  <a:ext uri="{FF2B5EF4-FFF2-40B4-BE49-F238E27FC236}">
                    <a16:creationId xmlns:a16="http://schemas.microsoft.com/office/drawing/2014/main" id="{8CF8F01E-3733-8E74-A781-0C85443670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4013" y="2754611"/>
                <a:ext cx="128588" cy="442913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2" y="2"/>
                  </a:cxn>
                  <a:cxn ang="0">
                    <a:pos x="0" y="8"/>
                  </a:cxn>
                  <a:cxn ang="0">
                    <a:pos x="3" y="69"/>
                  </a:cxn>
                  <a:cxn ang="0">
                    <a:pos x="6" y="120"/>
                  </a:cxn>
                  <a:cxn ang="0">
                    <a:pos x="10" y="170"/>
                  </a:cxn>
                  <a:cxn ang="0">
                    <a:pos x="16" y="243"/>
                  </a:cxn>
                  <a:cxn ang="0">
                    <a:pos x="15" y="253"/>
                  </a:cxn>
                  <a:cxn ang="0">
                    <a:pos x="16" y="262"/>
                  </a:cxn>
                  <a:cxn ang="0">
                    <a:pos x="19" y="276"/>
                  </a:cxn>
                  <a:cxn ang="0">
                    <a:pos x="24" y="279"/>
                  </a:cxn>
                  <a:cxn ang="0">
                    <a:pos x="20" y="276"/>
                  </a:cxn>
                  <a:cxn ang="0">
                    <a:pos x="18" y="266"/>
                  </a:cxn>
                  <a:cxn ang="0">
                    <a:pos x="20" y="259"/>
                  </a:cxn>
                  <a:cxn ang="0">
                    <a:pos x="32" y="229"/>
                  </a:cxn>
                  <a:cxn ang="0">
                    <a:pos x="36" y="220"/>
                  </a:cxn>
                  <a:cxn ang="0">
                    <a:pos x="54" y="186"/>
                  </a:cxn>
                  <a:cxn ang="0">
                    <a:pos x="65" y="168"/>
                  </a:cxn>
                  <a:cxn ang="0">
                    <a:pos x="75" y="154"/>
                  </a:cxn>
                  <a:cxn ang="0">
                    <a:pos x="81" y="149"/>
                  </a:cxn>
                  <a:cxn ang="0">
                    <a:pos x="78" y="144"/>
                  </a:cxn>
                  <a:cxn ang="0">
                    <a:pos x="77" y="136"/>
                  </a:cxn>
                  <a:cxn ang="0">
                    <a:pos x="77" y="129"/>
                  </a:cxn>
                  <a:cxn ang="0">
                    <a:pos x="74" y="107"/>
                  </a:cxn>
                  <a:cxn ang="0">
                    <a:pos x="74" y="95"/>
                  </a:cxn>
                  <a:cxn ang="0">
                    <a:pos x="75" y="91"/>
                  </a:cxn>
                  <a:cxn ang="0">
                    <a:pos x="74" y="62"/>
                  </a:cxn>
                  <a:cxn ang="0">
                    <a:pos x="73" y="31"/>
                  </a:cxn>
                  <a:cxn ang="0">
                    <a:pos x="74" y="20"/>
                  </a:cxn>
                  <a:cxn ang="0">
                    <a:pos x="69" y="12"/>
                  </a:cxn>
                  <a:cxn ang="0">
                    <a:pos x="62" y="10"/>
                  </a:cxn>
                  <a:cxn ang="0">
                    <a:pos x="39" y="6"/>
                  </a:cxn>
                  <a:cxn ang="0">
                    <a:pos x="28" y="4"/>
                  </a:cxn>
                  <a:cxn ang="0">
                    <a:pos x="14" y="0"/>
                  </a:cxn>
                </a:cxnLst>
                <a:rect l="0" t="0" r="r" b="b"/>
                <a:pathLst>
                  <a:path w="81" h="279">
                    <a:moveTo>
                      <a:pt x="8" y="0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3" y="69"/>
                    </a:lnTo>
                    <a:lnTo>
                      <a:pt x="3" y="69"/>
                    </a:lnTo>
                    <a:lnTo>
                      <a:pt x="6" y="120"/>
                    </a:lnTo>
                    <a:lnTo>
                      <a:pt x="10" y="170"/>
                    </a:lnTo>
                    <a:lnTo>
                      <a:pt x="10" y="170"/>
                    </a:lnTo>
                    <a:lnTo>
                      <a:pt x="14" y="209"/>
                    </a:lnTo>
                    <a:lnTo>
                      <a:pt x="16" y="243"/>
                    </a:lnTo>
                    <a:lnTo>
                      <a:pt x="16" y="243"/>
                    </a:lnTo>
                    <a:lnTo>
                      <a:pt x="15" y="253"/>
                    </a:lnTo>
                    <a:lnTo>
                      <a:pt x="16" y="262"/>
                    </a:lnTo>
                    <a:lnTo>
                      <a:pt x="16" y="262"/>
                    </a:lnTo>
                    <a:lnTo>
                      <a:pt x="16" y="272"/>
                    </a:lnTo>
                    <a:lnTo>
                      <a:pt x="19" y="276"/>
                    </a:lnTo>
                    <a:lnTo>
                      <a:pt x="20" y="277"/>
                    </a:lnTo>
                    <a:lnTo>
                      <a:pt x="24" y="279"/>
                    </a:lnTo>
                    <a:lnTo>
                      <a:pt x="24" y="279"/>
                    </a:lnTo>
                    <a:lnTo>
                      <a:pt x="20" y="276"/>
                    </a:lnTo>
                    <a:lnTo>
                      <a:pt x="18" y="271"/>
                    </a:lnTo>
                    <a:lnTo>
                      <a:pt x="18" y="266"/>
                    </a:lnTo>
                    <a:lnTo>
                      <a:pt x="20" y="259"/>
                    </a:lnTo>
                    <a:lnTo>
                      <a:pt x="20" y="259"/>
                    </a:lnTo>
                    <a:lnTo>
                      <a:pt x="25" y="245"/>
                    </a:lnTo>
                    <a:lnTo>
                      <a:pt x="32" y="229"/>
                    </a:lnTo>
                    <a:lnTo>
                      <a:pt x="32" y="229"/>
                    </a:lnTo>
                    <a:lnTo>
                      <a:pt x="36" y="220"/>
                    </a:lnTo>
                    <a:lnTo>
                      <a:pt x="42" y="207"/>
                    </a:lnTo>
                    <a:lnTo>
                      <a:pt x="54" y="186"/>
                    </a:lnTo>
                    <a:lnTo>
                      <a:pt x="54" y="186"/>
                    </a:lnTo>
                    <a:lnTo>
                      <a:pt x="65" y="168"/>
                    </a:lnTo>
                    <a:lnTo>
                      <a:pt x="75" y="154"/>
                    </a:lnTo>
                    <a:lnTo>
                      <a:pt x="75" y="154"/>
                    </a:lnTo>
                    <a:lnTo>
                      <a:pt x="81" y="149"/>
                    </a:lnTo>
                    <a:lnTo>
                      <a:pt x="81" y="149"/>
                    </a:lnTo>
                    <a:lnTo>
                      <a:pt x="79" y="147"/>
                    </a:lnTo>
                    <a:lnTo>
                      <a:pt x="78" y="144"/>
                    </a:lnTo>
                    <a:lnTo>
                      <a:pt x="78" y="144"/>
                    </a:lnTo>
                    <a:lnTo>
                      <a:pt x="77" y="136"/>
                    </a:lnTo>
                    <a:lnTo>
                      <a:pt x="77" y="129"/>
                    </a:lnTo>
                    <a:lnTo>
                      <a:pt x="77" y="129"/>
                    </a:lnTo>
                    <a:lnTo>
                      <a:pt x="74" y="116"/>
                    </a:lnTo>
                    <a:lnTo>
                      <a:pt x="74" y="107"/>
                    </a:lnTo>
                    <a:lnTo>
                      <a:pt x="74" y="95"/>
                    </a:lnTo>
                    <a:lnTo>
                      <a:pt x="74" y="95"/>
                    </a:lnTo>
                    <a:lnTo>
                      <a:pt x="75" y="91"/>
                    </a:lnTo>
                    <a:lnTo>
                      <a:pt x="75" y="91"/>
                    </a:lnTo>
                    <a:lnTo>
                      <a:pt x="74" y="62"/>
                    </a:lnTo>
                    <a:lnTo>
                      <a:pt x="74" y="62"/>
                    </a:lnTo>
                    <a:lnTo>
                      <a:pt x="73" y="31"/>
                    </a:lnTo>
                    <a:lnTo>
                      <a:pt x="73" y="31"/>
                    </a:lnTo>
                    <a:lnTo>
                      <a:pt x="74" y="25"/>
                    </a:lnTo>
                    <a:lnTo>
                      <a:pt x="74" y="20"/>
                    </a:lnTo>
                    <a:lnTo>
                      <a:pt x="73" y="16"/>
                    </a:lnTo>
                    <a:lnTo>
                      <a:pt x="69" y="12"/>
                    </a:lnTo>
                    <a:lnTo>
                      <a:pt x="69" y="12"/>
                    </a:lnTo>
                    <a:lnTo>
                      <a:pt x="62" y="10"/>
                    </a:lnTo>
                    <a:lnTo>
                      <a:pt x="57" y="8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28" y="4"/>
                    </a:lnTo>
                    <a:lnTo>
                      <a:pt x="20" y="2"/>
                    </a:lnTo>
                    <a:lnTo>
                      <a:pt x="14" y="0"/>
                    </a:lnTo>
                    <a:lnTo>
                      <a:pt x="8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" name="Freeform 732">
                <a:extLst>
                  <a:ext uri="{FF2B5EF4-FFF2-40B4-BE49-F238E27FC236}">
                    <a16:creationId xmlns:a16="http://schemas.microsoft.com/office/drawing/2014/main" id="{4988743A-CE4B-5749-E72D-40AB0FFBB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588" y="2991148"/>
                <a:ext cx="123825" cy="227013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63" y="0"/>
                  </a:cxn>
                  <a:cxn ang="0">
                    <a:pos x="57" y="5"/>
                  </a:cxn>
                  <a:cxn ang="0">
                    <a:pos x="57" y="5"/>
                  </a:cxn>
                  <a:cxn ang="0">
                    <a:pos x="47" y="19"/>
                  </a:cxn>
                  <a:cxn ang="0">
                    <a:pos x="36" y="37"/>
                  </a:cxn>
                  <a:cxn ang="0">
                    <a:pos x="36" y="37"/>
                  </a:cxn>
                  <a:cxn ang="0">
                    <a:pos x="24" y="58"/>
                  </a:cxn>
                  <a:cxn ang="0">
                    <a:pos x="18" y="71"/>
                  </a:cxn>
                  <a:cxn ang="0">
                    <a:pos x="14" y="80"/>
                  </a:cxn>
                  <a:cxn ang="0">
                    <a:pos x="14" y="80"/>
                  </a:cxn>
                  <a:cxn ang="0">
                    <a:pos x="7" y="96"/>
                  </a:cxn>
                  <a:cxn ang="0">
                    <a:pos x="2" y="110"/>
                  </a:cxn>
                  <a:cxn ang="0">
                    <a:pos x="2" y="110"/>
                  </a:cxn>
                  <a:cxn ang="0">
                    <a:pos x="0" y="117"/>
                  </a:cxn>
                  <a:cxn ang="0">
                    <a:pos x="0" y="122"/>
                  </a:cxn>
                  <a:cxn ang="0">
                    <a:pos x="2" y="127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15" y="132"/>
                  </a:cxn>
                  <a:cxn ang="0">
                    <a:pos x="15" y="132"/>
                  </a:cxn>
                  <a:cxn ang="0">
                    <a:pos x="27" y="135"/>
                  </a:cxn>
                  <a:cxn ang="0">
                    <a:pos x="27" y="135"/>
                  </a:cxn>
                  <a:cxn ang="0">
                    <a:pos x="30" y="135"/>
                  </a:cxn>
                  <a:cxn ang="0">
                    <a:pos x="30" y="135"/>
                  </a:cxn>
                  <a:cxn ang="0">
                    <a:pos x="35" y="135"/>
                  </a:cxn>
                  <a:cxn ang="0">
                    <a:pos x="39" y="136"/>
                  </a:cxn>
                  <a:cxn ang="0">
                    <a:pos x="48" y="139"/>
                  </a:cxn>
                  <a:cxn ang="0">
                    <a:pos x="48" y="139"/>
                  </a:cxn>
                  <a:cxn ang="0">
                    <a:pos x="57" y="140"/>
                  </a:cxn>
                  <a:cxn ang="0">
                    <a:pos x="65" y="142"/>
                  </a:cxn>
                  <a:cxn ang="0">
                    <a:pos x="65" y="142"/>
                  </a:cxn>
                  <a:cxn ang="0">
                    <a:pos x="69" y="142"/>
                  </a:cxn>
                  <a:cxn ang="0">
                    <a:pos x="73" y="143"/>
                  </a:cxn>
                  <a:cxn ang="0">
                    <a:pos x="73" y="143"/>
                  </a:cxn>
                  <a:cxn ang="0">
                    <a:pos x="76" y="142"/>
                  </a:cxn>
                  <a:cxn ang="0">
                    <a:pos x="77" y="140"/>
                  </a:cxn>
                  <a:cxn ang="0">
                    <a:pos x="77" y="140"/>
                  </a:cxn>
                  <a:cxn ang="0">
                    <a:pos x="78" y="136"/>
                  </a:cxn>
                  <a:cxn ang="0">
                    <a:pos x="78" y="132"/>
                  </a:cxn>
                  <a:cxn ang="0">
                    <a:pos x="76" y="126"/>
                  </a:cxn>
                  <a:cxn ang="0">
                    <a:pos x="76" y="126"/>
                  </a:cxn>
                  <a:cxn ang="0">
                    <a:pos x="74" y="123"/>
                  </a:cxn>
                  <a:cxn ang="0">
                    <a:pos x="72" y="122"/>
                  </a:cxn>
                  <a:cxn ang="0">
                    <a:pos x="69" y="121"/>
                  </a:cxn>
                  <a:cxn ang="0">
                    <a:pos x="69" y="117"/>
                  </a:cxn>
                  <a:cxn ang="0">
                    <a:pos x="69" y="117"/>
                  </a:cxn>
                  <a:cxn ang="0">
                    <a:pos x="66" y="77"/>
                  </a:cxn>
                  <a:cxn ang="0">
                    <a:pos x="65" y="34"/>
                  </a:cxn>
                  <a:cxn ang="0">
                    <a:pos x="65" y="34"/>
                  </a:cxn>
                  <a:cxn ang="0">
                    <a:pos x="65" y="19"/>
                  </a:cxn>
                  <a:cxn ang="0">
                    <a:pos x="64" y="1"/>
                  </a:cxn>
                  <a:cxn ang="0">
                    <a:pos x="64" y="1"/>
                  </a:cxn>
                  <a:cxn ang="0">
                    <a:pos x="63" y="0"/>
                  </a:cxn>
                </a:cxnLst>
                <a:rect l="0" t="0" r="r" b="b"/>
                <a:pathLst>
                  <a:path w="78" h="143">
                    <a:moveTo>
                      <a:pt x="63" y="0"/>
                    </a:moveTo>
                    <a:lnTo>
                      <a:pt x="63" y="0"/>
                    </a:lnTo>
                    <a:lnTo>
                      <a:pt x="57" y="5"/>
                    </a:lnTo>
                    <a:lnTo>
                      <a:pt x="57" y="5"/>
                    </a:lnTo>
                    <a:lnTo>
                      <a:pt x="47" y="19"/>
                    </a:lnTo>
                    <a:lnTo>
                      <a:pt x="36" y="37"/>
                    </a:lnTo>
                    <a:lnTo>
                      <a:pt x="36" y="37"/>
                    </a:lnTo>
                    <a:lnTo>
                      <a:pt x="24" y="58"/>
                    </a:lnTo>
                    <a:lnTo>
                      <a:pt x="18" y="71"/>
                    </a:lnTo>
                    <a:lnTo>
                      <a:pt x="14" y="80"/>
                    </a:lnTo>
                    <a:lnTo>
                      <a:pt x="14" y="80"/>
                    </a:lnTo>
                    <a:lnTo>
                      <a:pt x="7" y="96"/>
                    </a:lnTo>
                    <a:lnTo>
                      <a:pt x="2" y="110"/>
                    </a:lnTo>
                    <a:lnTo>
                      <a:pt x="2" y="110"/>
                    </a:lnTo>
                    <a:lnTo>
                      <a:pt x="0" y="117"/>
                    </a:lnTo>
                    <a:lnTo>
                      <a:pt x="0" y="122"/>
                    </a:lnTo>
                    <a:lnTo>
                      <a:pt x="2" y="127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15" y="132"/>
                    </a:lnTo>
                    <a:lnTo>
                      <a:pt x="15" y="132"/>
                    </a:lnTo>
                    <a:lnTo>
                      <a:pt x="27" y="135"/>
                    </a:lnTo>
                    <a:lnTo>
                      <a:pt x="27" y="135"/>
                    </a:lnTo>
                    <a:lnTo>
                      <a:pt x="30" y="135"/>
                    </a:lnTo>
                    <a:lnTo>
                      <a:pt x="30" y="135"/>
                    </a:lnTo>
                    <a:lnTo>
                      <a:pt x="35" y="135"/>
                    </a:lnTo>
                    <a:lnTo>
                      <a:pt x="39" y="136"/>
                    </a:lnTo>
                    <a:lnTo>
                      <a:pt x="48" y="139"/>
                    </a:lnTo>
                    <a:lnTo>
                      <a:pt x="48" y="139"/>
                    </a:lnTo>
                    <a:lnTo>
                      <a:pt x="57" y="140"/>
                    </a:lnTo>
                    <a:lnTo>
                      <a:pt x="65" y="142"/>
                    </a:lnTo>
                    <a:lnTo>
                      <a:pt x="65" y="142"/>
                    </a:lnTo>
                    <a:lnTo>
                      <a:pt x="69" y="142"/>
                    </a:lnTo>
                    <a:lnTo>
                      <a:pt x="73" y="143"/>
                    </a:lnTo>
                    <a:lnTo>
                      <a:pt x="73" y="143"/>
                    </a:lnTo>
                    <a:lnTo>
                      <a:pt x="76" y="142"/>
                    </a:lnTo>
                    <a:lnTo>
                      <a:pt x="77" y="140"/>
                    </a:lnTo>
                    <a:lnTo>
                      <a:pt x="77" y="140"/>
                    </a:lnTo>
                    <a:lnTo>
                      <a:pt x="78" y="136"/>
                    </a:lnTo>
                    <a:lnTo>
                      <a:pt x="78" y="132"/>
                    </a:lnTo>
                    <a:lnTo>
                      <a:pt x="76" y="126"/>
                    </a:lnTo>
                    <a:lnTo>
                      <a:pt x="76" y="126"/>
                    </a:lnTo>
                    <a:lnTo>
                      <a:pt x="74" y="123"/>
                    </a:lnTo>
                    <a:lnTo>
                      <a:pt x="72" y="122"/>
                    </a:lnTo>
                    <a:lnTo>
                      <a:pt x="69" y="121"/>
                    </a:lnTo>
                    <a:lnTo>
                      <a:pt x="69" y="117"/>
                    </a:lnTo>
                    <a:lnTo>
                      <a:pt x="69" y="117"/>
                    </a:lnTo>
                    <a:lnTo>
                      <a:pt x="66" y="77"/>
                    </a:lnTo>
                    <a:lnTo>
                      <a:pt x="65" y="34"/>
                    </a:lnTo>
                    <a:lnTo>
                      <a:pt x="65" y="34"/>
                    </a:lnTo>
                    <a:lnTo>
                      <a:pt x="65" y="19"/>
                    </a:lnTo>
                    <a:lnTo>
                      <a:pt x="64" y="1"/>
                    </a:lnTo>
                    <a:lnTo>
                      <a:pt x="64" y="1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FBB625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1" name="Freeform 733">
                <a:extLst>
                  <a:ext uri="{FF2B5EF4-FFF2-40B4-BE49-F238E27FC236}">
                    <a16:creationId xmlns:a16="http://schemas.microsoft.com/office/drawing/2014/main" id="{4A33EBC7-3CDB-AFFB-93CF-20FB96514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588" y="2991148"/>
                <a:ext cx="123825" cy="227013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63" y="0"/>
                  </a:cxn>
                  <a:cxn ang="0">
                    <a:pos x="57" y="5"/>
                  </a:cxn>
                  <a:cxn ang="0">
                    <a:pos x="57" y="5"/>
                  </a:cxn>
                  <a:cxn ang="0">
                    <a:pos x="47" y="19"/>
                  </a:cxn>
                  <a:cxn ang="0">
                    <a:pos x="36" y="37"/>
                  </a:cxn>
                  <a:cxn ang="0">
                    <a:pos x="36" y="37"/>
                  </a:cxn>
                  <a:cxn ang="0">
                    <a:pos x="24" y="58"/>
                  </a:cxn>
                  <a:cxn ang="0">
                    <a:pos x="18" y="71"/>
                  </a:cxn>
                  <a:cxn ang="0">
                    <a:pos x="14" y="80"/>
                  </a:cxn>
                  <a:cxn ang="0">
                    <a:pos x="14" y="80"/>
                  </a:cxn>
                  <a:cxn ang="0">
                    <a:pos x="7" y="96"/>
                  </a:cxn>
                  <a:cxn ang="0">
                    <a:pos x="2" y="110"/>
                  </a:cxn>
                  <a:cxn ang="0">
                    <a:pos x="2" y="110"/>
                  </a:cxn>
                  <a:cxn ang="0">
                    <a:pos x="0" y="117"/>
                  </a:cxn>
                  <a:cxn ang="0">
                    <a:pos x="0" y="122"/>
                  </a:cxn>
                  <a:cxn ang="0">
                    <a:pos x="2" y="127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15" y="132"/>
                  </a:cxn>
                  <a:cxn ang="0">
                    <a:pos x="15" y="132"/>
                  </a:cxn>
                  <a:cxn ang="0">
                    <a:pos x="27" y="135"/>
                  </a:cxn>
                  <a:cxn ang="0">
                    <a:pos x="27" y="135"/>
                  </a:cxn>
                  <a:cxn ang="0">
                    <a:pos x="30" y="135"/>
                  </a:cxn>
                  <a:cxn ang="0">
                    <a:pos x="30" y="135"/>
                  </a:cxn>
                  <a:cxn ang="0">
                    <a:pos x="35" y="135"/>
                  </a:cxn>
                  <a:cxn ang="0">
                    <a:pos x="39" y="136"/>
                  </a:cxn>
                  <a:cxn ang="0">
                    <a:pos x="48" y="139"/>
                  </a:cxn>
                  <a:cxn ang="0">
                    <a:pos x="48" y="139"/>
                  </a:cxn>
                  <a:cxn ang="0">
                    <a:pos x="57" y="140"/>
                  </a:cxn>
                  <a:cxn ang="0">
                    <a:pos x="65" y="142"/>
                  </a:cxn>
                  <a:cxn ang="0">
                    <a:pos x="65" y="142"/>
                  </a:cxn>
                  <a:cxn ang="0">
                    <a:pos x="69" y="142"/>
                  </a:cxn>
                  <a:cxn ang="0">
                    <a:pos x="73" y="143"/>
                  </a:cxn>
                  <a:cxn ang="0">
                    <a:pos x="73" y="143"/>
                  </a:cxn>
                  <a:cxn ang="0">
                    <a:pos x="76" y="142"/>
                  </a:cxn>
                  <a:cxn ang="0">
                    <a:pos x="77" y="140"/>
                  </a:cxn>
                  <a:cxn ang="0">
                    <a:pos x="77" y="140"/>
                  </a:cxn>
                  <a:cxn ang="0">
                    <a:pos x="78" y="136"/>
                  </a:cxn>
                  <a:cxn ang="0">
                    <a:pos x="78" y="132"/>
                  </a:cxn>
                  <a:cxn ang="0">
                    <a:pos x="76" y="126"/>
                  </a:cxn>
                  <a:cxn ang="0">
                    <a:pos x="76" y="126"/>
                  </a:cxn>
                  <a:cxn ang="0">
                    <a:pos x="74" y="123"/>
                  </a:cxn>
                  <a:cxn ang="0">
                    <a:pos x="72" y="122"/>
                  </a:cxn>
                  <a:cxn ang="0">
                    <a:pos x="69" y="121"/>
                  </a:cxn>
                  <a:cxn ang="0">
                    <a:pos x="69" y="117"/>
                  </a:cxn>
                  <a:cxn ang="0">
                    <a:pos x="69" y="117"/>
                  </a:cxn>
                  <a:cxn ang="0">
                    <a:pos x="66" y="77"/>
                  </a:cxn>
                  <a:cxn ang="0">
                    <a:pos x="65" y="34"/>
                  </a:cxn>
                  <a:cxn ang="0">
                    <a:pos x="65" y="34"/>
                  </a:cxn>
                  <a:cxn ang="0">
                    <a:pos x="65" y="19"/>
                  </a:cxn>
                  <a:cxn ang="0">
                    <a:pos x="64" y="1"/>
                  </a:cxn>
                  <a:cxn ang="0">
                    <a:pos x="64" y="1"/>
                  </a:cxn>
                  <a:cxn ang="0">
                    <a:pos x="63" y="0"/>
                  </a:cxn>
                </a:cxnLst>
                <a:rect l="0" t="0" r="r" b="b"/>
                <a:pathLst>
                  <a:path w="78" h="143">
                    <a:moveTo>
                      <a:pt x="63" y="0"/>
                    </a:moveTo>
                    <a:lnTo>
                      <a:pt x="63" y="0"/>
                    </a:lnTo>
                    <a:lnTo>
                      <a:pt x="57" y="5"/>
                    </a:lnTo>
                    <a:lnTo>
                      <a:pt x="57" y="5"/>
                    </a:lnTo>
                    <a:lnTo>
                      <a:pt x="47" y="19"/>
                    </a:lnTo>
                    <a:lnTo>
                      <a:pt x="36" y="37"/>
                    </a:lnTo>
                    <a:lnTo>
                      <a:pt x="36" y="37"/>
                    </a:lnTo>
                    <a:lnTo>
                      <a:pt x="24" y="58"/>
                    </a:lnTo>
                    <a:lnTo>
                      <a:pt x="18" y="71"/>
                    </a:lnTo>
                    <a:lnTo>
                      <a:pt x="14" y="80"/>
                    </a:lnTo>
                    <a:lnTo>
                      <a:pt x="14" y="80"/>
                    </a:lnTo>
                    <a:lnTo>
                      <a:pt x="7" y="96"/>
                    </a:lnTo>
                    <a:lnTo>
                      <a:pt x="2" y="110"/>
                    </a:lnTo>
                    <a:lnTo>
                      <a:pt x="2" y="110"/>
                    </a:lnTo>
                    <a:lnTo>
                      <a:pt x="0" y="117"/>
                    </a:lnTo>
                    <a:lnTo>
                      <a:pt x="0" y="122"/>
                    </a:lnTo>
                    <a:lnTo>
                      <a:pt x="2" y="127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15" y="132"/>
                    </a:lnTo>
                    <a:lnTo>
                      <a:pt x="15" y="132"/>
                    </a:lnTo>
                    <a:lnTo>
                      <a:pt x="27" y="135"/>
                    </a:lnTo>
                    <a:lnTo>
                      <a:pt x="27" y="135"/>
                    </a:lnTo>
                    <a:lnTo>
                      <a:pt x="30" y="135"/>
                    </a:lnTo>
                    <a:lnTo>
                      <a:pt x="30" y="135"/>
                    </a:lnTo>
                    <a:lnTo>
                      <a:pt x="35" y="135"/>
                    </a:lnTo>
                    <a:lnTo>
                      <a:pt x="39" y="136"/>
                    </a:lnTo>
                    <a:lnTo>
                      <a:pt x="48" y="139"/>
                    </a:lnTo>
                    <a:lnTo>
                      <a:pt x="48" y="139"/>
                    </a:lnTo>
                    <a:lnTo>
                      <a:pt x="57" y="140"/>
                    </a:lnTo>
                    <a:lnTo>
                      <a:pt x="65" y="142"/>
                    </a:lnTo>
                    <a:lnTo>
                      <a:pt x="65" y="142"/>
                    </a:lnTo>
                    <a:lnTo>
                      <a:pt x="69" y="142"/>
                    </a:lnTo>
                    <a:lnTo>
                      <a:pt x="73" y="143"/>
                    </a:lnTo>
                    <a:lnTo>
                      <a:pt x="73" y="143"/>
                    </a:lnTo>
                    <a:lnTo>
                      <a:pt x="76" y="142"/>
                    </a:lnTo>
                    <a:lnTo>
                      <a:pt x="77" y="140"/>
                    </a:lnTo>
                    <a:lnTo>
                      <a:pt x="77" y="140"/>
                    </a:lnTo>
                    <a:lnTo>
                      <a:pt x="78" y="136"/>
                    </a:lnTo>
                    <a:lnTo>
                      <a:pt x="78" y="132"/>
                    </a:lnTo>
                    <a:lnTo>
                      <a:pt x="76" y="126"/>
                    </a:lnTo>
                    <a:lnTo>
                      <a:pt x="76" y="126"/>
                    </a:lnTo>
                    <a:lnTo>
                      <a:pt x="74" y="123"/>
                    </a:lnTo>
                    <a:lnTo>
                      <a:pt x="72" y="122"/>
                    </a:lnTo>
                    <a:lnTo>
                      <a:pt x="69" y="121"/>
                    </a:lnTo>
                    <a:lnTo>
                      <a:pt x="69" y="117"/>
                    </a:lnTo>
                    <a:lnTo>
                      <a:pt x="69" y="117"/>
                    </a:lnTo>
                    <a:lnTo>
                      <a:pt x="66" y="77"/>
                    </a:lnTo>
                    <a:lnTo>
                      <a:pt x="65" y="34"/>
                    </a:lnTo>
                    <a:lnTo>
                      <a:pt x="65" y="34"/>
                    </a:lnTo>
                    <a:lnTo>
                      <a:pt x="65" y="19"/>
                    </a:lnTo>
                    <a:lnTo>
                      <a:pt x="64" y="1"/>
                    </a:lnTo>
                    <a:lnTo>
                      <a:pt x="64" y="1"/>
                    </a:lnTo>
                    <a:lnTo>
                      <a:pt x="63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2" name="Freeform 734">
                <a:extLst>
                  <a:ext uri="{FF2B5EF4-FFF2-40B4-BE49-F238E27FC236}">
                    <a16:creationId xmlns:a16="http://schemas.microsoft.com/office/drawing/2014/main" id="{719AE54A-F15E-B39D-8EA4-6FEC41A2A1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3075" y="2192636"/>
                <a:ext cx="379413" cy="795338"/>
              </a:xfrm>
              <a:custGeom>
                <a:avLst/>
                <a:gdLst/>
                <a:ahLst/>
                <a:cxnLst>
                  <a:cxn ang="0">
                    <a:pos x="180" y="1"/>
                  </a:cxn>
                  <a:cxn ang="0">
                    <a:pos x="175" y="4"/>
                  </a:cxn>
                  <a:cxn ang="0">
                    <a:pos x="146" y="47"/>
                  </a:cxn>
                  <a:cxn ang="0">
                    <a:pos x="107" y="116"/>
                  </a:cxn>
                  <a:cxn ang="0">
                    <a:pos x="80" y="164"/>
                  </a:cxn>
                  <a:cxn ang="0">
                    <a:pos x="46" y="263"/>
                  </a:cxn>
                  <a:cxn ang="0">
                    <a:pos x="27" y="331"/>
                  </a:cxn>
                  <a:cxn ang="0">
                    <a:pos x="0" y="445"/>
                  </a:cxn>
                  <a:cxn ang="0">
                    <a:pos x="4" y="486"/>
                  </a:cxn>
                  <a:cxn ang="0">
                    <a:pos x="29" y="477"/>
                  </a:cxn>
                  <a:cxn ang="0">
                    <a:pos x="29" y="477"/>
                  </a:cxn>
                  <a:cxn ang="0">
                    <a:pos x="53" y="372"/>
                  </a:cxn>
                  <a:cxn ang="0">
                    <a:pos x="90" y="245"/>
                  </a:cxn>
                  <a:cxn ang="0">
                    <a:pos x="95" y="239"/>
                  </a:cxn>
                  <a:cxn ang="0">
                    <a:pos x="95" y="240"/>
                  </a:cxn>
                  <a:cxn ang="0">
                    <a:pos x="97" y="238"/>
                  </a:cxn>
                  <a:cxn ang="0">
                    <a:pos x="109" y="211"/>
                  </a:cxn>
                  <a:cxn ang="0">
                    <a:pos x="116" y="197"/>
                  </a:cxn>
                  <a:cxn ang="0">
                    <a:pos x="107" y="224"/>
                  </a:cxn>
                  <a:cxn ang="0">
                    <a:pos x="95" y="261"/>
                  </a:cxn>
                  <a:cxn ang="0">
                    <a:pos x="57" y="398"/>
                  </a:cxn>
                  <a:cxn ang="0">
                    <a:pos x="42" y="463"/>
                  </a:cxn>
                  <a:cxn ang="0">
                    <a:pos x="48" y="457"/>
                  </a:cxn>
                  <a:cxn ang="0">
                    <a:pos x="62" y="400"/>
                  </a:cxn>
                  <a:cxn ang="0">
                    <a:pos x="79" y="337"/>
                  </a:cxn>
                  <a:cxn ang="0">
                    <a:pos x="103" y="280"/>
                  </a:cxn>
                  <a:cxn ang="0">
                    <a:pos x="133" y="209"/>
                  </a:cxn>
                  <a:cxn ang="0">
                    <a:pos x="133" y="209"/>
                  </a:cxn>
                  <a:cxn ang="0">
                    <a:pos x="128" y="221"/>
                  </a:cxn>
                  <a:cxn ang="0">
                    <a:pos x="132" y="217"/>
                  </a:cxn>
                  <a:cxn ang="0">
                    <a:pos x="150" y="179"/>
                  </a:cxn>
                  <a:cxn ang="0">
                    <a:pos x="166" y="147"/>
                  </a:cxn>
                  <a:cxn ang="0">
                    <a:pos x="180" y="122"/>
                  </a:cxn>
                  <a:cxn ang="0">
                    <a:pos x="183" y="123"/>
                  </a:cxn>
                  <a:cxn ang="0">
                    <a:pos x="174" y="140"/>
                  </a:cxn>
                  <a:cxn ang="0">
                    <a:pos x="159" y="164"/>
                  </a:cxn>
                  <a:cxn ang="0">
                    <a:pos x="146" y="192"/>
                  </a:cxn>
                  <a:cxn ang="0">
                    <a:pos x="141" y="203"/>
                  </a:cxn>
                  <a:cxn ang="0">
                    <a:pos x="142" y="202"/>
                  </a:cxn>
                  <a:cxn ang="0">
                    <a:pos x="159" y="168"/>
                  </a:cxn>
                  <a:cxn ang="0">
                    <a:pos x="205" y="93"/>
                  </a:cxn>
                  <a:cxn ang="0">
                    <a:pos x="239" y="53"/>
                  </a:cxn>
                  <a:cxn ang="0">
                    <a:pos x="239" y="47"/>
                  </a:cxn>
                  <a:cxn ang="0">
                    <a:pos x="230" y="34"/>
                  </a:cxn>
                  <a:cxn ang="0">
                    <a:pos x="205" y="12"/>
                  </a:cxn>
                  <a:cxn ang="0">
                    <a:pos x="192" y="1"/>
                  </a:cxn>
                </a:cxnLst>
                <a:rect l="0" t="0" r="r" b="b"/>
                <a:pathLst>
                  <a:path w="239" h="501">
                    <a:moveTo>
                      <a:pt x="188" y="0"/>
                    </a:moveTo>
                    <a:lnTo>
                      <a:pt x="188" y="0"/>
                    </a:lnTo>
                    <a:lnTo>
                      <a:pt x="180" y="1"/>
                    </a:lnTo>
                    <a:lnTo>
                      <a:pt x="180" y="1"/>
                    </a:lnTo>
                    <a:lnTo>
                      <a:pt x="176" y="3"/>
                    </a:lnTo>
                    <a:lnTo>
                      <a:pt x="175" y="4"/>
                    </a:lnTo>
                    <a:lnTo>
                      <a:pt x="172" y="9"/>
                    </a:lnTo>
                    <a:lnTo>
                      <a:pt x="172" y="9"/>
                    </a:lnTo>
                    <a:lnTo>
                      <a:pt x="146" y="47"/>
                    </a:lnTo>
                    <a:lnTo>
                      <a:pt x="146" y="47"/>
                    </a:lnTo>
                    <a:lnTo>
                      <a:pt x="125" y="83"/>
                    </a:lnTo>
                    <a:lnTo>
                      <a:pt x="107" y="116"/>
                    </a:lnTo>
                    <a:lnTo>
                      <a:pt x="88" y="148"/>
                    </a:lnTo>
                    <a:lnTo>
                      <a:pt x="88" y="148"/>
                    </a:lnTo>
                    <a:lnTo>
                      <a:pt x="80" y="164"/>
                    </a:lnTo>
                    <a:lnTo>
                      <a:pt x="72" y="184"/>
                    </a:lnTo>
                    <a:lnTo>
                      <a:pt x="58" y="223"/>
                    </a:lnTo>
                    <a:lnTo>
                      <a:pt x="46" y="263"/>
                    </a:lnTo>
                    <a:lnTo>
                      <a:pt x="36" y="297"/>
                    </a:lnTo>
                    <a:lnTo>
                      <a:pt x="36" y="297"/>
                    </a:lnTo>
                    <a:lnTo>
                      <a:pt x="27" y="331"/>
                    </a:lnTo>
                    <a:lnTo>
                      <a:pt x="15" y="375"/>
                    </a:lnTo>
                    <a:lnTo>
                      <a:pt x="0" y="445"/>
                    </a:lnTo>
                    <a:lnTo>
                      <a:pt x="0" y="445"/>
                    </a:lnTo>
                    <a:lnTo>
                      <a:pt x="2" y="469"/>
                    </a:lnTo>
                    <a:lnTo>
                      <a:pt x="4" y="486"/>
                    </a:lnTo>
                    <a:lnTo>
                      <a:pt x="4" y="486"/>
                    </a:lnTo>
                    <a:lnTo>
                      <a:pt x="7" y="501"/>
                    </a:lnTo>
                    <a:lnTo>
                      <a:pt x="7" y="501"/>
                    </a:lnTo>
                    <a:lnTo>
                      <a:pt x="29" y="477"/>
                    </a:lnTo>
                    <a:lnTo>
                      <a:pt x="29" y="477"/>
                    </a:lnTo>
                    <a:lnTo>
                      <a:pt x="29" y="477"/>
                    </a:lnTo>
                    <a:lnTo>
                      <a:pt x="29" y="477"/>
                    </a:lnTo>
                    <a:lnTo>
                      <a:pt x="41" y="423"/>
                    </a:lnTo>
                    <a:lnTo>
                      <a:pt x="53" y="372"/>
                    </a:lnTo>
                    <a:lnTo>
                      <a:pt x="53" y="372"/>
                    </a:lnTo>
                    <a:lnTo>
                      <a:pt x="72" y="305"/>
                    </a:lnTo>
                    <a:lnTo>
                      <a:pt x="83" y="266"/>
                    </a:lnTo>
                    <a:lnTo>
                      <a:pt x="90" y="245"/>
                    </a:lnTo>
                    <a:lnTo>
                      <a:pt x="90" y="245"/>
                    </a:lnTo>
                    <a:lnTo>
                      <a:pt x="93" y="240"/>
                    </a:lnTo>
                    <a:lnTo>
                      <a:pt x="95" y="239"/>
                    </a:lnTo>
                    <a:lnTo>
                      <a:pt x="95" y="239"/>
                    </a:lnTo>
                    <a:lnTo>
                      <a:pt x="95" y="240"/>
                    </a:lnTo>
                    <a:lnTo>
                      <a:pt x="95" y="240"/>
                    </a:lnTo>
                    <a:lnTo>
                      <a:pt x="95" y="242"/>
                    </a:lnTo>
                    <a:lnTo>
                      <a:pt x="95" y="242"/>
                    </a:lnTo>
                    <a:lnTo>
                      <a:pt x="97" y="238"/>
                    </a:lnTo>
                    <a:lnTo>
                      <a:pt x="103" y="227"/>
                    </a:lnTo>
                    <a:lnTo>
                      <a:pt x="103" y="227"/>
                    </a:lnTo>
                    <a:lnTo>
                      <a:pt x="109" y="211"/>
                    </a:lnTo>
                    <a:lnTo>
                      <a:pt x="114" y="198"/>
                    </a:lnTo>
                    <a:lnTo>
                      <a:pt x="114" y="198"/>
                    </a:lnTo>
                    <a:lnTo>
                      <a:pt x="116" y="197"/>
                    </a:lnTo>
                    <a:lnTo>
                      <a:pt x="116" y="197"/>
                    </a:lnTo>
                    <a:lnTo>
                      <a:pt x="113" y="206"/>
                    </a:lnTo>
                    <a:lnTo>
                      <a:pt x="107" y="224"/>
                    </a:lnTo>
                    <a:lnTo>
                      <a:pt x="107" y="224"/>
                    </a:lnTo>
                    <a:lnTo>
                      <a:pt x="95" y="261"/>
                    </a:lnTo>
                    <a:lnTo>
                      <a:pt x="95" y="261"/>
                    </a:lnTo>
                    <a:lnTo>
                      <a:pt x="62" y="373"/>
                    </a:lnTo>
                    <a:lnTo>
                      <a:pt x="62" y="373"/>
                    </a:lnTo>
                    <a:lnTo>
                      <a:pt x="57" y="398"/>
                    </a:lnTo>
                    <a:lnTo>
                      <a:pt x="51" y="423"/>
                    </a:lnTo>
                    <a:lnTo>
                      <a:pt x="51" y="423"/>
                    </a:lnTo>
                    <a:lnTo>
                      <a:pt x="42" y="463"/>
                    </a:lnTo>
                    <a:lnTo>
                      <a:pt x="42" y="463"/>
                    </a:lnTo>
                    <a:lnTo>
                      <a:pt x="48" y="457"/>
                    </a:lnTo>
                    <a:lnTo>
                      <a:pt x="48" y="457"/>
                    </a:lnTo>
                    <a:lnTo>
                      <a:pt x="53" y="437"/>
                    </a:lnTo>
                    <a:lnTo>
                      <a:pt x="53" y="437"/>
                    </a:lnTo>
                    <a:lnTo>
                      <a:pt x="62" y="400"/>
                    </a:lnTo>
                    <a:lnTo>
                      <a:pt x="62" y="400"/>
                    </a:lnTo>
                    <a:lnTo>
                      <a:pt x="71" y="368"/>
                    </a:lnTo>
                    <a:lnTo>
                      <a:pt x="79" y="337"/>
                    </a:lnTo>
                    <a:lnTo>
                      <a:pt x="79" y="337"/>
                    </a:lnTo>
                    <a:lnTo>
                      <a:pt x="103" y="280"/>
                    </a:lnTo>
                    <a:lnTo>
                      <a:pt x="103" y="280"/>
                    </a:lnTo>
                    <a:lnTo>
                      <a:pt x="125" y="222"/>
                    </a:lnTo>
                    <a:lnTo>
                      <a:pt x="125" y="222"/>
                    </a:lnTo>
                    <a:lnTo>
                      <a:pt x="133" y="209"/>
                    </a:lnTo>
                    <a:lnTo>
                      <a:pt x="133" y="209"/>
                    </a:lnTo>
                    <a:lnTo>
                      <a:pt x="133" y="209"/>
                    </a:lnTo>
                    <a:lnTo>
                      <a:pt x="133" y="209"/>
                    </a:lnTo>
                    <a:lnTo>
                      <a:pt x="130" y="213"/>
                    </a:lnTo>
                    <a:lnTo>
                      <a:pt x="128" y="221"/>
                    </a:lnTo>
                    <a:lnTo>
                      <a:pt x="128" y="221"/>
                    </a:lnTo>
                    <a:lnTo>
                      <a:pt x="128" y="222"/>
                    </a:lnTo>
                    <a:lnTo>
                      <a:pt x="128" y="222"/>
                    </a:lnTo>
                    <a:lnTo>
                      <a:pt x="132" y="217"/>
                    </a:lnTo>
                    <a:lnTo>
                      <a:pt x="137" y="206"/>
                    </a:lnTo>
                    <a:lnTo>
                      <a:pt x="137" y="206"/>
                    </a:lnTo>
                    <a:lnTo>
                      <a:pt x="150" y="179"/>
                    </a:lnTo>
                    <a:lnTo>
                      <a:pt x="150" y="179"/>
                    </a:lnTo>
                    <a:lnTo>
                      <a:pt x="166" y="147"/>
                    </a:lnTo>
                    <a:lnTo>
                      <a:pt x="166" y="147"/>
                    </a:lnTo>
                    <a:lnTo>
                      <a:pt x="172" y="135"/>
                    </a:lnTo>
                    <a:lnTo>
                      <a:pt x="180" y="122"/>
                    </a:lnTo>
                    <a:lnTo>
                      <a:pt x="180" y="122"/>
                    </a:lnTo>
                    <a:lnTo>
                      <a:pt x="183" y="121"/>
                    </a:lnTo>
                    <a:lnTo>
                      <a:pt x="183" y="121"/>
                    </a:lnTo>
                    <a:lnTo>
                      <a:pt x="183" y="123"/>
                    </a:lnTo>
                    <a:lnTo>
                      <a:pt x="180" y="126"/>
                    </a:lnTo>
                    <a:lnTo>
                      <a:pt x="180" y="126"/>
                    </a:lnTo>
                    <a:lnTo>
                      <a:pt x="174" y="140"/>
                    </a:lnTo>
                    <a:lnTo>
                      <a:pt x="174" y="140"/>
                    </a:lnTo>
                    <a:lnTo>
                      <a:pt x="167" y="151"/>
                    </a:lnTo>
                    <a:lnTo>
                      <a:pt x="159" y="164"/>
                    </a:lnTo>
                    <a:lnTo>
                      <a:pt x="159" y="164"/>
                    </a:lnTo>
                    <a:lnTo>
                      <a:pt x="153" y="176"/>
                    </a:lnTo>
                    <a:lnTo>
                      <a:pt x="146" y="192"/>
                    </a:lnTo>
                    <a:lnTo>
                      <a:pt x="146" y="192"/>
                    </a:lnTo>
                    <a:lnTo>
                      <a:pt x="142" y="200"/>
                    </a:lnTo>
                    <a:lnTo>
                      <a:pt x="141" y="203"/>
                    </a:lnTo>
                    <a:lnTo>
                      <a:pt x="141" y="203"/>
                    </a:lnTo>
                    <a:lnTo>
                      <a:pt x="142" y="202"/>
                    </a:lnTo>
                    <a:lnTo>
                      <a:pt x="142" y="202"/>
                    </a:lnTo>
                    <a:lnTo>
                      <a:pt x="150" y="185"/>
                    </a:lnTo>
                    <a:lnTo>
                      <a:pt x="159" y="168"/>
                    </a:lnTo>
                    <a:lnTo>
                      <a:pt x="159" y="168"/>
                    </a:lnTo>
                    <a:lnTo>
                      <a:pt x="180" y="133"/>
                    </a:lnTo>
                    <a:lnTo>
                      <a:pt x="180" y="133"/>
                    </a:lnTo>
                    <a:lnTo>
                      <a:pt x="205" y="93"/>
                    </a:lnTo>
                    <a:lnTo>
                      <a:pt x="205" y="93"/>
                    </a:lnTo>
                    <a:lnTo>
                      <a:pt x="222" y="72"/>
                    </a:lnTo>
                    <a:lnTo>
                      <a:pt x="239" y="53"/>
                    </a:lnTo>
                    <a:lnTo>
                      <a:pt x="239" y="53"/>
                    </a:lnTo>
                    <a:lnTo>
                      <a:pt x="239" y="50"/>
                    </a:lnTo>
                    <a:lnTo>
                      <a:pt x="239" y="47"/>
                    </a:lnTo>
                    <a:lnTo>
                      <a:pt x="237" y="42"/>
                    </a:lnTo>
                    <a:lnTo>
                      <a:pt x="234" y="37"/>
                    </a:lnTo>
                    <a:lnTo>
                      <a:pt x="230" y="34"/>
                    </a:lnTo>
                    <a:lnTo>
                      <a:pt x="230" y="34"/>
                    </a:lnTo>
                    <a:lnTo>
                      <a:pt x="217" y="24"/>
                    </a:lnTo>
                    <a:lnTo>
                      <a:pt x="205" y="12"/>
                    </a:lnTo>
                    <a:lnTo>
                      <a:pt x="205" y="12"/>
                    </a:lnTo>
                    <a:lnTo>
                      <a:pt x="198" y="7"/>
                    </a:lnTo>
                    <a:lnTo>
                      <a:pt x="192" y="1"/>
                    </a:lnTo>
                    <a:lnTo>
                      <a:pt x="192" y="1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rgbClr val="FCC55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0" name="Freeform 735">
                <a:extLst>
                  <a:ext uri="{FF2B5EF4-FFF2-40B4-BE49-F238E27FC236}">
                    <a16:creationId xmlns:a16="http://schemas.microsoft.com/office/drawing/2014/main" id="{4FD897EA-C376-33C0-983D-AE2126888F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3075" y="2192636"/>
                <a:ext cx="379413" cy="795338"/>
              </a:xfrm>
              <a:custGeom>
                <a:avLst/>
                <a:gdLst/>
                <a:ahLst/>
                <a:cxnLst>
                  <a:cxn ang="0">
                    <a:pos x="180" y="1"/>
                  </a:cxn>
                  <a:cxn ang="0">
                    <a:pos x="175" y="4"/>
                  </a:cxn>
                  <a:cxn ang="0">
                    <a:pos x="146" y="47"/>
                  </a:cxn>
                  <a:cxn ang="0">
                    <a:pos x="107" y="116"/>
                  </a:cxn>
                  <a:cxn ang="0">
                    <a:pos x="80" y="164"/>
                  </a:cxn>
                  <a:cxn ang="0">
                    <a:pos x="46" y="263"/>
                  </a:cxn>
                  <a:cxn ang="0">
                    <a:pos x="27" y="331"/>
                  </a:cxn>
                  <a:cxn ang="0">
                    <a:pos x="0" y="445"/>
                  </a:cxn>
                  <a:cxn ang="0">
                    <a:pos x="4" y="486"/>
                  </a:cxn>
                  <a:cxn ang="0">
                    <a:pos x="29" y="477"/>
                  </a:cxn>
                  <a:cxn ang="0">
                    <a:pos x="29" y="477"/>
                  </a:cxn>
                  <a:cxn ang="0">
                    <a:pos x="53" y="372"/>
                  </a:cxn>
                  <a:cxn ang="0">
                    <a:pos x="90" y="245"/>
                  </a:cxn>
                  <a:cxn ang="0">
                    <a:pos x="95" y="239"/>
                  </a:cxn>
                  <a:cxn ang="0">
                    <a:pos x="95" y="240"/>
                  </a:cxn>
                  <a:cxn ang="0">
                    <a:pos x="97" y="238"/>
                  </a:cxn>
                  <a:cxn ang="0">
                    <a:pos x="109" y="211"/>
                  </a:cxn>
                  <a:cxn ang="0">
                    <a:pos x="116" y="197"/>
                  </a:cxn>
                  <a:cxn ang="0">
                    <a:pos x="107" y="224"/>
                  </a:cxn>
                  <a:cxn ang="0">
                    <a:pos x="95" y="261"/>
                  </a:cxn>
                  <a:cxn ang="0">
                    <a:pos x="57" y="398"/>
                  </a:cxn>
                  <a:cxn ang="0">
                    <a:pos x="42" y="463"/>
                  </a:cxn>
                  <a:cxn ang="0">
                    <a:pos x="48" y="457"/>
                  </a:cxn>
                  <a:cxn ang="0">
                    <a:pos x="62" y="400"/>
                  </a:cxn>
                  <a:cxn ang="0">
                    <a:pos x="79" y="337"/>
                  </a:cxn>
                  <a:cxn ang="0">
                    <a:pos x="103" y="280"/>
                  </a:cxn>
                  <a:cxn ang="0">
                    <a:pos x="133" y="209"/>
                  </a:cxn>
                  <a:cxn ang="0">
                    <a:pos x="133" y="209"/>
                  </a:cxn>
                  <a:cxn ang="0">
                    <a:pos x="128" y="221"/>
                  </a:cxn>
                  <a:cxn ang="0">
                    <a:pos x="132" y="217"/>
                  </a:cxn>
                  <a:cxn ang="0">
                    <a:pos x="150" y="179"/>
                  </a:cxn>
                  <a:cxn ang="0">
                    <a:pos x="166" y="147"/>
                  </a:cxn>
                  <a:cxn ang="0">
                    <a:pos x="180" y="122"/>
                  </a:cxn>
                  <a:cxn ang="0">
                    <a:pos x="183" y="123"/>
                  </a:cxn>
                  <a:cxn ang="0">
                    <a:pos x="174" y="140"/>
                  </a:cxn>
                  <a:cxn ang="0">
                    <a:pos x="159" y="164"/>
                  </a:cxn>
                  <a:cxn ang="0">
                    <a:pos x="146" y="192"/>
                  </a:cxn>
                  <a:cxn ang="0">
                    <a:pos x="141" y="203"/>
                  </a:cxn>
                  <a:cxn ang="0">
                    <a:pos x="142" y="202"/>
                  </a:cxn>
                  <a:cxn ang="0">
                    <a:pos x="159" y="168"/>
                  </a:cxn>
                  <a:cxn ang="0">
                    <a:pos x="205" y="93"/>
                  </a:cxn>
                  <a:cxn ang="0">
                    <a:pos x="239" y="53"/>
                  </a:cxn>
                  <a:cxn ang="0">
                    <a:pos x="239" y="47"/>
                  </a:cxn>
                  <a:cxn ang="0">
                    <a:pos x="230" y="34"/>
                  </a:cxn>
                  <a:cxn ang="0">
                    <a:pos x="205" y="12"/>
                  </a:cxn>
                  <a:cxn ang="0">
                    <a:pos x="192" y="1"/>
                  </a:cxn>
                </a:cxnLst>
                <a:rect l="0" t="0" r="r" b="b"/>
                <a:pathLst>
                  <a:path w="239" h="501">
                    <a:moveTo>
                      <a:pt x="188" y="0"/>
                    </a:moveTo>
                    <a:lnTo>
                      <a:pt x="188" y="0"/>
                    </a:lnTo>
                    <a:lnTo>
                      <a:pt x="180" y="1"/>
                    </a:lnTo>
                    <a:lnTo>
                      <a:pt x="180" y="1"/>
                    </a:lnTo>
                    <a:lnTo>
                      <a:pt x="176" y="3"/>
                    </a:lnTo>
                    <a:lnTo>
                      <a:pt x="175" y="4"/>
                    </a:lnTo>
                    <a:lnTo>
                      <a:pt x="172" y="9"/>
                    </a:lnTo>
                    <a:lnTo>
                      <a:pt x="172" y="9"/>
                    </a:lnTo>
                    <a:lnTo>
                      <a:pt x="146" y="47"/>
                    </a:lnTo>
                    <a:lnTo>
                      <a:pt x="146" y="47"/>
                    </a:lnTo>
                    <a:lnTo>
                      <a:pt x="125" y="83"/>
                    </a:lnTo>
                    <a:lnTo>
                      <a:pt x="107" y="116"/>
                    </a:lnTo>
                    <a:lnTo>
                      <a:pt x="88" y="148"/>
                    </a:lnTo>
                    <a:lnTo>
                      <a:pt x="88" y="148"/>
                    </a:lnTo>
                    <a:lnTo>
                      <a:pt x="80" y="164"/>
                    </a:lnTo>
                    <a:lnTo>
                      <a:pt x="72" y="184"/>
                    </a:lnTo>
                    <a:lnTo>
                      <a:pt x="58" y="223"/>
                    </a:lnTo>
                    <a:lnTo>
                      <a:pt x="46" y="263"/>
                    </a:lnTo>
                    <a:lnTo>
                      <a:pt x="36" y="297"/>
                    </a:lnTo>
                    <a:lnTo>
                      <a:pt x="36" y="297"/>
                    </a:lnTo>
                    <a:lnTo>
                      <a:pt x="27" y="331"/>
                    </a:lnTo>
                    <a:lnTo>
                      <a:pt x="15" y="375"/>
                    </a:lnTo>
                    <a:lnTo>
                      <a:pt x="0" y="445"/>
                    </a:lnTo>
                    <a:lnTo>
                      <a:pt x="0" y="445"/>
                    </a:lnTo>
                    <a:lnTo>
                      <a:pt x="2" y="469"/>
                    </a:lnTo>
                    <a:lnTo>
                      <a:pt x="4" y="486"/>
                    </a:lnTo>
                    <a:lnTo>
                      <a:pt x="4" y="486"/>
                    </a:lnTo>
                    <a:lnTo>
                      <a:pt x="7" y="501"/>
                    </a:lnTo>
                    <a:lnTo>
                      <a:pt x="7" y="501"/>
                    </a:lnTo>
                    <a:lnTo>
                      <a:pt x="29" y="477"/>
                    </a:lnTo>
                    <a:lnTo>
                      <a:pt x="29" y="477"/>
                    </a:lnTo>
                    <a:lnTo>
                      <a:pt x="29" y="477"/>
                    </a:lnTo>
                    <a:lnTo>
                      <a:pt x="29" y="477"/>
                    </a:lnTo>
                    <a:lnTo>
                      <a:pt x="41" y="423"/>
                    </a:lnTo>
                    <a:lnTo>
                      <a:pt x="53" y="372"/>
                    </a:lnTo>
                    <a:lnTo>
                      <a:pt x="53" y="372"/>
                    </a:lnTo>
                    <a:lnTo>
                      <a:pt x="72" y="305"/>
                    </a:lnTo>
                    <a:lnTo>
                      <a:pt x="83" y="266"/>
                    </a:lnTo>
                    <a:lnTo>
                      <a:pt x="90" y="245"/>
                    </a:lnTo>
                    <a:lnTo>
                      <a:pt x="90" y="245"/>
                    </a:lnTo>
                    <a:lnTo>
                      <a:pt x="93" y="240"/>
                    </a:lnTo>
                    <a:lnTo>
                      <a:pt x="95" y="239"/>
                    </a:lnTo>
                    <a:lnTo>
                      <a:pt x="95" y="239"/>
                    </a:lnTo>
                    <a:lnTo>
                      <a:pt x="95" y="240"/>
                    </a:lnTo>
                    <a:lnTo>
                      <a:pt x="95" y="240"/>
                    </a:lnTo>
                    <a:lnTo>
                      <a:pt x="95" y="242"/>
                    </a:lnTo>
                    <a:lnTo>
                      <a:pt x="95" y="242"/>
                    </a:lnTo>
                    <a:lnTo>
                      <a:pt x="97" y="238"/>
                    </a:lnTo>
                    <a:lnTo>
                      <a:pt x="103" y="227"/>
                    </a:lnTo>
                    <a:lnTo>
                      <a:pt x="103" y="227"/>
                    </a:lnTo>
                    <a:lnTo>
                      <a:pt x="109" y="211"/>
                    </a:lnTo>
                    <a:lnTo>
                      <a:pt x="114" y="198"/>
                    </a:lnTo>
                    <a:lnTo>
                      <a:pt x="114" y="198"/>
                    </a:lnTo>
                    <a:lnTo>
                      <a:pt x="116" y="197"/>
                    </a:lnTo>
                    <a:lnTo>
                      <a:pt x="116" y="197"/>
                    </a:lnTo>
                    <a:lnTo>
                      <a:pt x="113" y="206"/>
                    </a:lnTo>
                    <a:lnTo>
                      <a:pt x="107" y="224"/>
                    </a:lnTo>
                    <a:lnTo>
                      <a:pt x="107" y="224"/>
                    </a:lnTo>
                    <a:lnTo>
                      <a:pt x="95" y="261"/>
                    </a:lnTo>
                    <a:lnTo>
                      <a:pt x="95" y="261"/>
                    </a:lnTo>
                    <a:lnTo>
                      <a:pt x="62" y="373"/>
                    </a:lnTo>
                    <a:lnTo>
                      <a:pt x="62" y="373"/>
                    </a:lnTo>
                    <a:lnTo>
                      <a:pt x="57" y="398"/>
                    </a:lnTo>
                    <a:lnTo>
                      <a:pt x="51" y="423"/>
                    </a:lnTo>
                    <a:lnTo>
                      <a:pt x="51" y="423"/>
                    </a:lnTo>
                    <a:lnTo>
                      <a:pt x="42" y="463"/>
                    </a:lnTo>
                    <a:lnTo>
                      <a:pt x="42" y="463"/>
                    </a:lnTo>
                    <a:lnTo>
                      <a:pt x="48" y="457"/>
                    </a:lnTo>
                    <a:lnTo>
                      <a:pt x="48" y="457"/>
                    </a:lnTo>
                    <a:lnTo>
                      <a:pt x="53" y="437"/>
                    </a:lnTo>
                    <a:lnTo>
                      <a:pt x="53" y="437"/>
                    </a:lnTo>
                    <a:lnTo>
                      <a:pt x="62" y="400"/>
                    </a:lnTo>
                    <a:lnTo>
                      <a:pt x="62" y="400"/>
                    </a:lnTo>
                    <a:lnTo>
                      <a:pt x="71" y="368"/>
                    </a:lnTo>
                    <a:lnTo>
                      <a:pt x="79" y="337"/>
                    </a:lnTo>
                    <a:lnTo>
                      <a:pt x="79" y="337"/>
                    </a:lnTo>
                    <a:lnTo>
                      <a:pt x="103" y="280"/>
                    </a:lnTo>
                    <a:lnTo>
                      <a:pt x="103" y="280"/>
                    </a:lnTo>
                    <a:lnTo>
                      <a:pt x="125" y="222"/>
                    </a:lnTo>
                    <a:lnTo>
                      <a:pt x="125" y="222"/>
                    </a:lnTo>
                    <a:lnTo>
                      <a:pt x="133" y="209"/>
                    </a:lnTo>
                    <a:lnTo>
                      <a:pt x="133" y="209"/>
                    </a:lnTo>
                    <a:lnTo>
                      <a:pt x="133" y="209"/>
                    </a:lnTo>
                    <a:lnTo>
                      <a:pt x="133" y="209"/>
                    </a:lnTo>
                    <a:lnTo>
                      <a:pt x="130" y="213"/>
                    </a:lnTo>
                    <a:lnTo>
                      <a:pt x="128" y="221"/>
                    </a:lnTo>
                    <a:lnTo>
                      <a:pt x="128" y="221"/>
                    </a:lnTo>
                    <a:lnTo>
                      <a:pt x="128" y="222"/>
                    </a:lnTo>
                    <a:lnTo>
                      <a:pt x="128" y="222"/>
                    </a:lnTo>
                    <a:lnTo>
                      <a:pt x="132" y="217"/>
                    </a:lnTo>
                    <a:lnTo>
                      <a:pt x="137" y="206"/>
                    </a:lnTo>
                    <a:lnTo>
                      <a:pt x="137" y="206"/>
                    </a:lnTo>
                    <a:lnTo>
                      <a:pt x="150" y="179"/>
                    </a:lnTo>
                    <a:lnTo>
                      <a:pt x="150" y="179"/>
                    </a:lnTo>
                    <a:lnTo>
                      <a:pt x="166" y="147"/>
                    </a:lnTo>
                    <a:lnTo>
                      <a:pt x="166" y="147"/>
                    </a:lnTo>
                    <a:lnTo>
                      <a:pt x="172" y="135"/>
                    </a:lnTo>
                    <a:lnTo>
                      <a:pt x="180" y="122"/>
                    </a:lnTo>
                    <a:lnTo>
                      <a:pt x="180" y="122"/>
                    </a:lnTo>
                    <a:lnTo>
                      <a:pt x="183" y="121"/>
                    </a:lnTo>
                    <a:lnTo>
                      <a:pt x="183" y="121"/>
                    </a:lnTo>
                    <a:lnTo>
                      <a:pt x="183" y="123"/>
                    </a:lnTo>
                    <a:lnTo>
                      <a:pt x="180" y="126"/>
                    </a:lnTo>
                    <a:lnTo>
                      <a:pt x="180" y="126"/>
                    </a:lnTo>
                    <a:lnTo>
                      <a:pt x="174" y="140"/>
                    </a:lnTo>
                    <a:lnTo>
                      <a:pt x="174" y="140"/>
                    </a:lnTo>
                    <a:lnTo>
                      <a:pt x="167" y="151"/>
                    </a:lnTo>
                    <a:lnTo>
                      <a:pt x="159" y="164"/>
                    </a:lnTo>
                    <a:lnTo>
                      <a:pt x="159" y="164"/>
                    </a:lnTo>
                    <a:lnTo>
                      <a:pt x="153" y="176"/>
                    </a:lnTo>
                    <a:lnTo>
                      <a:pt x="146" y="192"/>
                    </a:lnTo>
                    <a:lnTo>
                      <a:pt x="146" y="192"/>
                    </a:lnTo>
                    <a:lnTo>
                      <a:pt x="142" y="200"/>
                    </a:lnTo>
                    <a:lnTo>
                      <a:pt x="141" y="203"/>
                    </a:lnTo>
                    <a:lnTo>
                      <a:pt x="141" y="203"/>
                    </a:lnTo>
                    <a:lnTo>
                      <a:pt x="142" y="202"/>
                    </a:lnTo>
                    <a:lnTo>
                      <a:pt x="142" y="202"/>
                    </a:lnTo>
                    <a:lnTo>
                      <a:pt x="150" y="185"/>
                    </a:lnTo>
                    <a:lnTo>
                      <a:pt x="159" y="168"/>
                    </a:lnTo>
                    <a:lnTo>
                      <a:pt x="159" y="168"/>
                    </a:lnTo>
                    <a:lnTo>
                      <a:pt x="180" y="133"/>
                    </a:lnTo>
                    <a:lnTo>
                      <a:pt x="180" y="133"/>
                    </a:lnTo>
                    <a:lnTo>
                      <a:pt x="205" y="93"/>
                    </a:lnTo>
                    <a:lnTo>
                      <a:pt x="205" y="93"/>
                    </a:lnTo>
                    <a:lnTo>
                      <a:pt x="222" y="72"/>
                    </a:lnTo>
                    <a:lnTo>
                      <a:pt x="239" y="53"/>
                    </a:lnTo>
                    <a:lnTo>
                      <a:pt x="239" y="53"/>
                    </a:lnTo>
                    <a:lnTo>
                      <a:pt x="239" y="50"/>
                    </a:lnTo>
                    <a:lnTo>
                      <a:pt x="239" y="47"/>
                    </a:lnTo>
                    <a:lnTo>
                      <a:pt x="237" y="42"/>
                    </a:lnTo>
                    <a:lnTo>
                      <a:pt x="234" y="37"/>
                    </a:lnTo>
                    <a:lnTo>
                      <a:pt x="230" y="34"/>
                    </a:lnTo>
                    <a:lnTo>
                      <a:pt x="230" y="34"/>
                    </a:lnTo>
                    <a:lnTo>
                      <a:pt x="217" y="24"/>
                    </a:lnTo>
                    <a:lnTo>
                      <a:pt x="205" y="12"/>
                    </a:lnTo>
                    <a:lnTo>
                      <a:pt x="205" y="12"/>
                    </a:lnTo>
                    <a:lnTo>
                      <a:pt x="198" y="7"/>
                    </a:lnTo>
                    <a:lnTo>
                      <a:pt x="192" y="1"/>
                    </a:lnTo>
                    <a:lnTo>
                      <a:pt x="192" y="1"/>
                    </a:lnTo>
                    <a:lnTo>
                      <a:pt x="188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1" name="Freeform 736">
                <a:extLst>
                  <a:ext uri="{FF2B5EF4-FFF2-40B4-BE49-F238E27FC236}">
                    <a16:creationId xmlns:a16="http://schemas.microsoft.com/office/drawing/2014/main" id="{6632114F-0A4C-E4E5-7F0E-54A3AD45CC8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54188" y="2918123"/>
                <a:ext cx="65088" cy="103188"/>
              </a:xfrm>
              <a:custGeom>
                <a:avLst/>
                <a:gdLst/>
                <a:ahLst/>
                <a:cxnLst>
                  <a:cxn ang="0">
                    <a:pos x="22" y="20"/>
                  </a:cxn>
                  <a:cxn ang="0">
                    <a:pos x="22" y="20"/>
                  </a:cxn>
                  <a:cxn ang="0">
                    <a:pos x="22" y="20"/>
                  </a:cxn>
                  <a:cxn ang="0">
                    <a:pos x="22" y="20"/>
                  </a:cxn>
                  <a:cxn ang="0">
                    <a:pos x="0" y="44"/>
                  </a:cxn>
                  <a:cxn ang="0">
                    <a:pos x="0" y="44"/>
                  </a:cxn>
                  <a:cxn ang="0">
                    <a:pos x="0" y="47"/>
                  </a:cxn>
                  <a:cxn ang="0">
                    <a:pos x="0" y="47"/>
                  </a:cxn>
                  <a:cxn ang="0">
                    <a:pos x="1" y="48"/>
                  </a:cxn>
                  <a:cxn ang="0">
                    <a:pos x="2" y="50"/>
                  </a:cxn>
                  <a:cxn ang="0">
                    <a:pos x="2" y="50"/>
                  </a:cxn>
                  <a:cxn ang="0">
                    <a:pos x="2" y="54"/>
                  </a:cxn>
                  <a:cxn ang="0">
                    <a:pos x="2" y="54"/>
                  </a:cxn>
                  <a:cxn ang="0">
                    <a:pos x="2" y="52"/>
                  </a:cxn>
                  <a:cxn ang="0">
                    <a:pos x="6" y="56"/>
                  </a:cxn>
                  <a:cxn ang="0">
                    <a:pos x="6" y="56"/>
                  </a:cxn>
                  <a:cxn ang="0">
                    <a:pos x="8" y="59"/>
                  </a:cxn>
                  <a:cxn ang="0">
                    <a:pos x="9" y="62"/>
                  </a:cxn>
                  <a:cxn ang="0">
                    <a:pos x="10" y="64"/>
                  </a:cxn>
                  <a:cxn ang="0">
                    <a:pos x="10" y="64"/>
                  </a:cxn>
                  <a:cxn ang="0">
                    <a:pos x="10" y="65"/>
                  </a:cxn>
                  <a:cxn ang="0">
                    <a:pos x="10" y="65"/>
                  </a:cxn>
                  <a:cxn ang="0">
                    <a:pos x="13" y="59"/>
                  </a:cxn>
                  <a:cxn ang="0">
                    <a:pos x="16" y="47"/>
                  </a:cxn>
                  <a:cxn ang="0">
                    <a:pos x="16" y="47"/>
                  </a:cxn>
                  <a:cxn ang="0">
                    <a:pos x="18" y="35"/>
                  </a:cxn>
                  <a:cxn ang="0">
                    <a:pos x="21" y="26"/>
                  </a:cxn>
                  <a:cxn ang="0">
                    <a:pos x="21" y="26"/>
                  </a:cxn>
                  <a:cxn ang="0">
                    <a:pos x="22" y="20"/>
                  </a:cxn>
                  <a:cxn ang="0">
                    <a:pos x="41" y="0"/>
                  </a:cxn>
                  <a:cxn ang="0">
                    <a:pos x="41" y="0"/>
                  </a:cxn>
                  <a:cxn ang="0">
                    <a:pos x="35" y="6"/>
                  </a:cxn>
                  <a:cxn ang="0">
                    <a:pos x="35" y="6"/>
                  </a:cxn>
                  <a:cxn ang="0">
                    <a:pos x="29" y="35"/>
                  </a:cxn>
                  <a:cxn ang="0">
                    <a:pos x="29" y="35"/>
                  </a:cxn>
                  <a:cxn ang="0">
                    <a:pos x="29" y="37"/>
                  </a:cxn>
                  <a:cxn ang="0">
                    <a:pos x="29" y="38"/>
                  </a:cxn>
                  <a:cxn ang="0">
                    <a:pos x="29" y="38"/>
                  </a:cxn>
                  <a:cxn ang="0">
                    <a:pos x="30" y="37"/>
                  </a:cxn>
                  <a:cxn ang="0">
                    <a:pos x="31" y="35"/>
                  </a:cxn>
                  <a:cxn ang="0">
                    <a:pos x="31" y="35"/>
                  </a:cxn>
                  <a:cxn ang="0">
                    <a:pos x="38" y="8"/>
                  </a:cxn>
                  <a:cxn ang="0">
                    <a:pos x="38" y="8"/>
                  </a:cxn>
                  <a:cxn ang="0">
                    <a:pos x="41" y="0"/>
                  </a:cxn>
                </a:cxnLst>
                <a:rect l="0" t="0" r="r" b="b"/>
                <a:pathLst>
                  <a:path w="41" h="65">
                    <a:moveTo>
                      <a:pt x="22" y="20"/>
                    </a:moveTo>
                    <a:lnTo>
                      <a:pt x="22" y="20"/>
                    </a:lnTo>
                    <a:lnTo>
                      <a:pt x="22" y="20"/>
                    </a:lnTo>
                    <a:lnTo>
                      <a:pt x="22" y="20"/>
                    </a:lnTo>
                    <a:lnTo>
                      <a:pt x="0" y="44"/>
                    </a:lnTo>
                    <a:lnTo>
                      <a:pt x="0" y="44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1" y="48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54"/>
                    </a:lnTo>
                    <a:lnTo>
                      <a:pt x="2" y="54"/>
                    </a:lnTo>
                    <a:lnTo>
                      <a:pt x="2" y="52"/>
                    </a:lnTo>
                    <a:lnTo>
                      <a:pt x="6" y="56"/>
                    </a:lnTo>
                    <a:lnTo>
                      <a:pt x="6" y="56"/>
                    </a:lnTo>
                    <a:lnTo>
                      <a:pt x="8" y="59"/>
                    </a:lnTo>
                    <a:lnTo>
                      <a:pt x="9" y="62"/>
                    </a:lnTo>
                    <a:lnTo>
                      <a:pt x="10" y="64"/>
                    </a:lnTo>
                    <a:lnTo>
                      <a:pt x="10" y="64"/>
                    </a:lnTo>
                    <a:lnTo>
                      <a:pt x="10" y="65"/>
                    </a:lnTo>
                    <a:lnTo>
                      <a:pt x="10" y="65"/>
                    </a:lnTo>
                    <a:lnTo>
                      <a:pt x="13" y="59"/>
                    </a:lnTo>
                    <a:lnTo>
                      <a:pt x="16" y="47"/>
                    </a:lnTo>
                    <a:lnTo>
                      <a:pt x="16" y="47"/>
                    </a:lnTo>
                    <a:lnTo>
                      <a:pt x="18" y="35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2" y="20"/>
                    </a:lnTo>
                    <a:close/>
                    <a:moveTo>
                      <a:pt x="41" y="0"/>
                    </a:moveTo>
                    <a:lnTo>
                      <a:pt x="41" y="0"/>
                    </a:lnTo>
                    <a:lnTo>
                      <a:pt x="35" y="6"/>
                    </a:lnTo>
                    <a:lnTo>
                      <a:pt x="35" y="6"/>
                    </a:lnTo>
                    <a:lnTo>
                      <a:pt x="29" y="35"/>
                    </a:lnTo>
                    <a:lnTo>
                      <a:pt x="29" y="35"/>
                    </a:lnTo>
                    <a:lnTo>
                      <a:pt x="29" y="37"/>
                    </a:lnTo>
                    <a:lnTo>
                      <a:pt x="29" y="38"/>
                    </a:lnTo>
                    <a:lnTo>
                      <a:pt x="29" y="38"/>
                    </a:lnTo>
                    <a:lnTo>
                      <a:pt x="30" y="37"/>
                    </a:lnTo>
                    <a:lnTo>
                      <a:pt x="31" y="35"/>
                    </a:lnTo>
                    <a:lnTo>
                      <a:pt x="31" y="35"/>
                    </a:lnTo>
                    <a:lnTo>
                      <a:pt x="38" y="8"/>
                    </a:lnTo>
                    <a:lnTo>
                      <a:pt x="38" y="8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FBB625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2" name="Freeform 737">
                <a:extLst>
                  <a:ext uri="{FF2B5EF4-FFF2-40B4-BE49-F238E27FC236}">
                    <a16:creationId xmlns:a16="http://schemas.microsoft.com/office/drawing/2014/main" id="{A226CDA4-0EEA-FBF7-DA19-4240DD7C85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188" y="2949873"/>
                <a:ext cx="34925" cy="71438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22" y="0"/>
                  </a:cxn>
                  <a:cxn ang="0">
                    <a:pos x="22" y="0"/>
                  </a:cxn>
                  <a:cxn ang="0">
                    <a:pos x="22" y="0"/>
                  </a:cxn>
                  <a:cxn ang="0">
                    <a:pos x="0" y="24"/>
                  </a:cxn>
                  <a:cxn ang="0">
                    <a:pos x="0" y="24"/>
                  </a:cxn>
                  <a:cxn ang="0">
                    <a:pos x="0" y="27"/>
                  </a:cxn>
                  <a:cxn ang="0">
                    <a:pos x="0" y="27"/>
                  </a:cxn>
                  <a:cxn ang="0">
                    <a:pos x="1" y="28"/>
                  </a:cxn>
                  <a:cxn ang="0">
                    <a:pos x="2" y="30"/>
                  </a:cxn>
                  <a:cxn ang="0">
                    <a:pos x="2" y="30"/>
                  </a:cxn>
                  <a:cxn ang="0">
                    <a:pos x="2" y="34"/>
                  </a:cxn>
                  <a:cxn ang="0">
                    <a:pos x="2" y="34"/>
                  </a:cxn>
                  <a:cxn ang="0">
                    <a:pos x="2" y="32"/>
                  </a:cxn>
                  <a:cxn ang="0">
                    <a:pos x="6" y="36"/>
                  </a:cxn>
                  <a:cxn ang="0">
                    <a:pos x="6" y="36"/>
                  </a:cxn>
                  <a:cxn ang="0">
                    <a:pos x="8" y="39"/>
                  </a:cxn>
                  <a:cxn ang="0">
                    <a:pos x="9" y="42"/>
                  </a:cxn>
                  <a:cxn ang="0">
                    <a:pos x="10" y="44"/>
                  </a:cxn>
                  <a:cxn ang="0">
                    <a:pos x="10" y="44"/>
                  </a:cxn>
                  <a:cxn ang="0">
                    <a:pos x="10" y="45"/>
                  </a:cxn>
                  <a:cxn ang="0">
                    <a:pos x="10" y="45"/>
                  </a:cxn>
                  <a:cxn ang="0">
                    <a:pos x="13" y="39"/>
                  </a:cxn>
                  <a:cxn ang="0">
                    <a:pos x="16" y="27"/>
                  </a:cxn>
                  <a:cxn ang="0">
                    <a:pos x="16" y="27"/>
                  </a:cxn>
                  <a:cxn ang="0">
                    <a:pos x="18" y="15"/>
                  </a:cxn>
                  <a:cxn ang="0">
                    <a:pos x="21" y="6"/>
                  </a:cxn>
                  <a:cxn ang="0">
                    <a:pos x="21" y="6"/>
                  </a:cxn>
                  <a:cxn ang="0">
                    <a:pos x="22" y="0"/>
                  </a:cxn>
                </a:cxnLst>
                <a:rect l="0" t="0" r="r" b="b"/>
                <a:pathLst>
                  <a:path w="22" h="45">
                    <a:moveTo>
                      <a:pt x="22" y="0"/>
                    </a:moveTo>
                    <a:lnTo>
                      <a:pt x="22" y="0"/>
                    </a:lnTo>
                    <a:lnTo>
                      <a:pt x="22" y="0"/>
                    </a:lnTo>
                    <a:lnTo>
                      <a:pt x="22" y="0"/>
                    </a:lnTo>
                    <a:lnTo>
                      <a:pt x="0" y="24"/>
                    </a:lnTo>
                    <a:lnTo>
                      <a:pt x="0" y="24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8"/>
                    </a:lnTo>
                    <a:lnTo>
                      <a:pt x="2" y="30"/>
                    </a:lnTo>
                    <a:lnTo>
                      <a:pt x="2" y="30"/>
                    </a:lnTo>
                    <a:lnTo>
                      <a:pt x="2" y="34"/>
                    </a:lnTo>
                    <a:lnTo>
                      <a:pt x="2" y="34"/>
                    </a:lnTo>
                    <a:lnTo>
                      <a:pt x="2" y="32"/>
                    </a:lnTo>
                    <a:lnTo>
                      <a:pt x="6" y="36"/>
                    </a:lnTo>
                    <a:lnTo>
                      <a:pt x="6" y="36"/>
                    </a:lnTo>
                    <a:lnTo>
                      <a:pt x="8" y="39"/>
                    </a:lnTo>
                    <a:lnTo>
                      <a:pt x="9" y="42"/>
                    </a:lnTo>
                    <a:lnTo>
                      <a:pt x="10" y="44"/>
                    </a:lnTo>
                    <a:lnTo>
                      <a:pt x="10" y="44"/>
                    </a:lnTo>
                    <a:lnTo>
                      <a:pt x="10" y="45"/>
                    </a:lnTo>
                    <a:lnTo>
                      <a:pt x="10" y="45"/>
                    </a:lnTo>
                    <a:lnTo>
                      <a:pt x="13" y="39"/>
                    </a:lnTo>
                    <a:lnTo>
                      <a:pt x="16" y="27"/>
                    </a:lnTo>
                    <a:lnTo>
                      <a:pt x="16" y="27"/>
                    </a:lnTo>
                    <a:lnTo>
                      <a:pt x="18" y="15"/>
                    </a:lnTo>
                    <a:lnTo>
                      <a:pt x="21" y="6"/>
                    </a:lnTo>
                    <a:lnTo>
                      <a:pt x="21" y="6"/>
                    </a:lnTo>
                    <a:lnTo>
                      <a:pt x="22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3" name="Freeform 738">
                <a:extLst>
                  <a:ext uri="{FF2B5EF4-FFF2-40B4-BE49-F238E27FC236}">
                    <a16:creationId xmlns:a16="http://schemas.microsoft.com/office/drawing/2014/main" id="{4901181E-6D49-57E7-E9E6-E3B68C9E16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225" y="2918123"/>
                <a:ext cx="19050" cy="6032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2" y="0"/>
                  </a:cxn>
                  <a:cxn ang="0">
                    <a:pos x="6" y="6"/>
                  </a:cxn>
                  <a:cxn ang="0">
                    <a:pos x="6" y="6"/>
                  </a:cxn>
                  <a:cxn ang="0">
                    <a:pos x="0" y="35"/>
                  </a:cxn>
                  <a:cxn ang="0">
                    <a:pos x="0" y="35"/>
                  </a:cxn>
                  <a:cxn ang="0">
                    <a:pos x="0" y="37"/>
                  </a:cxn>
                  <a:cxn ang="0">
                    <a:pos x="0" y="38"/>
                  </a:cxn>
                  <a:cxn ang="0">
                    <a:pos x="0" y="38"/>
                  </a:cxn>
                  <a:cxn ang="0">
                    <a:pos x="1" y="37"/>
                  </a:cxn>
                  <a:cxn ang="0">
                    <a:pos x="2" y="35"/>
                  </a:cxn>
                  <a:cxn ang="0">
                    <a:pos x="2" y="35"/>
                  </a:cxn>
                  <a:cxn ang="0">
                    <a:pos x="9" y="8"/>
                  </a:cxn>
                  <a:cxn ang="0">
                    <a:pos x="9" y="8"/>
                  </a:cxn>
                  <a:cxn ang="0">
                    <a:pos x="12" y="0"/>
                  </a:cxn>
                </a:cxnLst>
                <a:rect l="0" t="0" r="r" b="b"/>
                <a:pathLst>
                  <a:path w="12" h="38">
                    <a:moveTo>
                      <a:pt x="12" y="0"/>
                    </a:moveTo>
                    <a:lnTo>
                      <a:pt x="12" y="0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0" y="37"/>
                    </a:lnTo>
                    <a:lnTo>
                      <a:pt x="0" y="38"/>
                    </a:lnTo>
                    <a:lnTo>
                      <a:pt x="0" y="38"/>
                    </a:lnTo>
                    <a:lnTo>
                      <a:pt x="1" y="37"/>
                    </a:lnTo>
                    <a:lnTo>
                      <a:pt x="2" y="35"/>
                    </a:lnTo>
                    <a:lnTo>
                      <a:pt x="2" y="35"/>
                    </a:lnTo>
                    <a:lnTo>
                      <a:pt x="9" y="8"/>
                    </a:lnTo>
                    <a:lnTo>
                      <a:pt x="9" y="8"/>
                    </a:lnTo>
                    <a:lnTo>
                      <a:pt x="12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4" name="Freeform 739">
                <a:extLst>
                  <a:ext uri="{FF2B5EF4-FFF2-40B4-BE49-F238E27FC236}">
                    <a16:creationId xmlns:a16="http://schemas.microsoft.com/office/drawing/2014/main" id="{066A2D8E-E986-6517-ECC2-AE8B9355D7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1488" y="2899073"/>
                <a:ext cx="12700" cy="920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0" y="4"/>
                  </a:cxn>
                  <a:cxn ang="0">
                    <a:pos x="0" y="4"/>
                  </a:cxn>
                  <a:cxn ang="0">
                    <a:pos x="0" y="16"/>
                  </a:cxn>
                  <a:cxn ang="0">
                    <a:pos x="0" y="25"/>
                  </a:cxn>
                  <a:cxn ang="0">
                    <a:pos x="3" y="38"/>
                  </a:cxn>
                  <a:cxn ang="0">
                    <a:pos x="3" y="38"/>
                  </a:cxn>
                  <a:cxn ang="0">
                    <a:pos x="3" y="45"/>
                  </a:cxn>
                  <a:cxn ang="0">
                    <a:pos x="4" y="53"/>
                  </a:cxn>
                  <a:cxn ang="0">
                    <a:pos x="4" y="53"/>
                  </a:cxn>
                  <a:cxn ang="0">
                    <a:pos x="5" y="56"/>
                  </a:cxn>
                  <a:cxn ang="0">
                    <a:pos x="7" y="58"/>
                  </a:cxn>
                  <a:cxn ang="0">
                    <a:pos x="7" y="58"/>
                  </a:cxn>
                  <a:cxn ang="0">
                    <a:pos x="8" y="56"/>
                  </a:cxn>
                  <a:cxn ang="0">
                    <a:pos x="8" y="56"/>
                  </a:cxn>
                  <a:cxn ang="0">
                    <a:pos x="5" y="41"/>
                  </a:cxn>
                  <a:cxn ang="0">
                    <a:pos x="5" y="41"/>
                  </a:cxn>
                  <a:cxn ang="0">
                    <a:pos x="3" y="24"/>
                  </a:cxn>
                  <a:cxn ang="0">
                    <a:pos x="1" y="0"/>
                  </a:cxn>
                </a:cxnLst>
                <a:rect l="0" t="0" r="r" b="b"/>
                <a:pathLst>
                  <a:path w="8" h="58">
                    <a:moveTo>
                      <a:pt x="1" y="0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16"/>
                    </a:lnTo>
                    <a:lnTo>
                      <a:pt x="0" y="25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3" y="45"/>
                    </a:lnTo>
                    <a:lnTo>
                      <a:pt x="4" y="53"/>
                    </a:lnTo>
                    <a:lnTo>
                      <a:pt x="4" y="53"/>
                    </a:lnTo>
                    <a:lnTo>
                      <a:pt x="5" y="56"/>
                    </a:lnTo>
                    <a:lnTo>
                      <a:pt x="7" y="58"/>
                    </a:lnTo>
                    <a:lnTo>
                      <a:pt x="7" y="58"/>
                    </a:lnTo>
                    <a:lnTo>
                      <a:pt x="8" y="56"/>
                    </a:lnTo>
                    <a:lnTo>
                      <a:pt x="8" y="56"/>
                    </a:lnTo>
                    <a:lnTo>
                      <a:pt x="5" y="41"/>
                    </a:lnTo>
                    <a:lnTo>
                      <a:pt x="5" y="41"/>
                    </a:lnTo>
                    <a:lnTo>
                      <a:pt x="3" y="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BB625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5" name="Freeform 740">
                <a:extLst>
                  <a:ext uri="{FF2B5EF4-FFF2-40B4-BE49-F238E27FC236}">
                    <a16:creationId xmlns:a16="http://schemas.microsoft.com/office/drawing/2014/main" id="{2EEB895A-FB75-AE87-1311-FA6D9106F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1488" y="2899073"/>
                <a:ext cx="12700" cy="920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0" y="4"/>
                  </a:cxn>
                  <a:cxn ang="0">
                    <a:pos x="0" y="4"/>
                  </a:cxn>
                  <a:cxn ang="0">
                    <a:pos x="0" y="16"/>
                  </a:cxn>
                  <a:cxn ang="0">
                    <a:pos x="0" y="25"/>
                  </a:cxn>
                  <a:cxn ang="0">
                    <a:pos x="3" y="38"/>
                  </a:cxn>
                  <a:cxn ang="0">
                    <a:pos x="3" y="38"/>
                  </a:cxn>
                  <a:cxn ang="0">
                    <a:pos x="3" y="45"/>
                  </a:cxn>
                  <a:cxn ang="0">
                    <a:pos x="4" y="53"/>
                  </a:cxn>
                  <a:cxn ang="0">
                    <a:pos x="4" y="53"/>
                  </a:cxn>
                  <a:cxn ang="0">
                    <a:pos x="5" y="56"/>
                  </a:cxn>
                  <a:cxn ang="0">
                    <a:pos x="7" y="58"/>
                  </a:cxn>
                  <a:cxn ang="0">
                    <a:pos x="7" y="58"/>
                  </a:cxn>
                  <a:cxn ang="0">
                    <a:pos x="8" y="56"/>
                  </a:cxn>
                  <a:cxn ang="0">
                    <a:pos x="8" y="56"/>
                  </a:cxn>
                  <a:cxn ang="0">
                    <a:pos x="5" y="41"/>
                  </a:cxn>
                  <a:cxn ang="0">
                    <a:pos x="5" y="41"/>
                  </a:cxn>
                  <a:cxn ang="0">
                    <a:pos x="3" y="24"/>
                  </a:cxn>
                  <a:cxn ang="0">
                    <a:pos x="1" y="0"/>
                  </a:cxn>
                </a:cxnLst>
                <a:rect l="0" t="0" r="r" b="b"/>
                <a:pathLst>
                  <a:path w="8" h="58">
                    <a:moveTo>
                      <a:pt x="1" y="0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16"/>
                    </a:lnTo>
                    <a:lnTo>
                      <a:pt x="0" y="25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3" y="45"/>
                    </a:lnTo>
                    <a:lnTo>
                      <a:pt x="4" y="53"/>
                    </a:lnTo>
                    <a:lnTo>
                      <a:pt x="4" y="53"/>
                    </a:lnTo>
                    <a:lnTo>
                      <a:pt x="5" y="56"/>
                    </a:lnTo>
                    <a:lnTo>
                      <a:pt x="7" y="58"/>
                    </a:lnTo>
                    <a:lnTo>
                      <a:pt x="7" y="58"/>
                    </a:lnTo>
                    <a:lnTo>
                      <a:pt x="8" y="56"/>
                    </a:lnTo>
                    <a:lnTo>
                      <a:pt x="8" y="56"/>
                    </a:lnTo>
                    <a:lnTo>
                      <a:pt x="5" y="41"/>
                    </a:lnTo>
                    <a:lnTo>
                      <a:pt x="5" y="41"/>
                    </a:lnTo>
                    <a:lnTo>
                      <a:pt x="3" y="24"/>
                    </a:lnTo>
                    <a:lnTo>
                      <a:pt x="1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6" name="Freeform 741">
                <a:extLst>
                  <a:ext uri="{FF2B5EF4-FFF2-40B4-BE49-F238E27FC236}">
                    <a16:creationId xmlns:a16="http://schemas.microsoft.com/office/drawing/2014/main" id="{D22FBAAD-D4A8-675C-AF75-5363F54C0A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2600" y="2987973"/>
                <a:ext cx="1588" cy="476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3"/>
                  </a:cxn>
                  <a:cxn ang="0">
                    <a:pos x="1" y="3"/>
                  </a:cxn>
                  <a:cxn ang="0">
                    <a:pos x="1" y="0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BB21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7" name="Freeform 742">
                <a:extLst>
                  <a:ext uri="{FF2B5EF4-FFF2-40B4-BE49-F238E27FC236}">
                    <a16:creationId xmlns:a16="http://schemas.microsoft.com/office/drawing/2014/main" id="{53F9C959-69DD-39DE-AFF1-F14A9FB722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2600" y="2987973"/>
                <a:ext cx="1588" cy="476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3"/>
                  </a:cxn>
                  <a:cxn ang="0">
                    <a:pos x="1" y="3"/>
                  </a:cxn>
                  <a:cxn ang="0">
                    <a:pos x="1" y="0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88" name="Group 812">
              <a:extLst>
                <a:ext uri="{FF2B5EF4-FFF2-40B4-BE49-F238E27FC236}">
                  <a16:creationId xmlns:a16="http://schemas.microsoft.com/office/drawing/2014/main" id="{63118291-8E6E-50F2-E170-C3946620754B}"/>
                </a:ext>
              </a:extLst>
            </p:cNvPr>
            <p:cNvGrpSpPr/>
            <p:nvPr/>
          </p:nvGrpSpPr>
          <p:grpSpPr>
            <a:xfrm rot="20694129" flipH="1">
              <a:off x="7280754" y="2090224"/>
              <a:ext cx="466882" cy="932324"/>
              <a:chOff x="1624013" y="2192636"/>
              <a:chExt cx="515938" cy="1030288"/>
            </a:xfrm>
          </p:grpSpPr>
          <p:sp>
            <p:nvSpPr>
              <p:cNvPr id="89" name="Freeform 723">
                <a:extLst>
                  <a:ext uri="{FF2B5EF4-FFF2-40B4-BE49-F238E27FC236}">
                    <a16:creationId xmlns:a16="http://schemas.microsoft.com/office/drawing/2014/main" id="{B9AC8317-F4BE-F238-FDC3-33548B2498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62113" y="2716511"/>
                <a:ext cx="477838" cy="506413"/>
              </a:xfrm>
              <a:custGeom>
                <a:avLst/>
                <a:gdLst/>
                <a:ahLst/>
                <a:cxnLst>
                  <a:cxn ang="0">
                    <a:pos x="0" y="303"/>
                  </a:cxn>
                  <a:cxn ang="0">
                    <a:pos x="0" y="303"/>
                  </a:cxn>
                  <a:cxn ang="0">
                    <a:pos x="251" y="0"/>
                  </a:cxn>
                  <a:cxn ang="0">
                    <a:pos x="242" y="1"/>
                  </a:cxn>
                  <a:cxn ang="0">
                    <a:pos x="218" y="11"/>
                  </a:cxn>
                  <a:cxn ang="0">
                    <a:pos x="177" y="48"/>
                  </a:cxn>
                  <a:cxn ang="0">
                    <a:pos x="129" y="98"/>
                  </a:cxn>
                  <a:cxn ang="0">
                    <a:pos x="99" y="127"/>
                  </a:cxn>
                  <a:cxn ang="0">
                    <a:pos x="96" y="135"/>
                  </a:cxn>
                  <a:cxn ang="0">
                    <a:pos x="88" y="164"/>
                  </a:cxn>
                  <a:cxn ang="0">
                    <a:pos x="87" y="164"/>
                  </a:cxn>
                  <a:cxn ang="0">
                    <a:pos x="93" y="133"/>
                  </a:cxn>
                  <a:cxn ang="0">
                    <a:pos x="80" y="147"/>
                  </a:cxn>
                  <a:cxn ang="0">
                    <a:pos x="76" y="162"/>
                  </a:cxn>
                  <a:cxn ang="0">
                    <a:pos x="71" y="186"/>
                  </a:cxn>
                  <a:cxn ang="0">
                    <a:pos x="68" y="191"/>
                  </a:cxn>
                  <a:cxn ang="0">
                    <a:pos x="66" y="186"/>
                  </a:cxn>
                  <a:cxn ang="0">
                    <a:pos x="60" y="179"/>
                  </a:cxn>
                  <a:cxn ang="0">
                    <a:pos x="60" y="177"/>
                  </a:cxn>
                  <a:cxn ang="0">
                    <a:pos x="58" y="174"/>
                  </a:cxn>
                  <a:cxn ang="0">
                    <a:pos x="59" y="207"/>
                  </a:cxn>
                  <a:cxn ang="0">
                    <a:pos x="63" y="290"/>
                  </a:cxn>
                  <a:cxn ang="0">
                    <a:pos x="66" y="295"/>
                  </a:cxn>
                  <a:cxn ang="0">
                    <a:pos x="70" y="299"/>
                  </a:cxn>
                  <a:cxn ang="0">
                    <a:pos x="71" y="313"/>
                  </a:cxn>
                  <a:cxn ang="0">
                    <a:pos x="67" y="316"/>
                  </a:cxn>
                  <a:cxn ang="0">
                    <a:pos x="59" y="315"/>
                  </a:cxn>
                  <a:cxn ang="0">
                    <a:pos x="42" y="312"/>
                  </a:cxn>
                  <a:cxn ang="0">
                    <a:pos x="29" y="308"/>
                  </a:cxn>
                  <a:cxn ang="0">
                    <a:pos x="21" y="308"/>
                  </a:cxn>
                  <a:cxn ang="0">
                    <a:pos x="34" y="312"/>
                  </a:cxn>
                  <a:cxn ang="0">
                    <a:pos x="59" y="319"/>
                  </a:cxn>
                  <a:cxn ang="0">
                    <a:pos x="68" y="316"/>
                  </a:cxn>
                  <a:cxn ang="0">
                    <a:pos x="78" y="301"/>
                  </a:cxn>
                  <a:cxn ang="0">
                    <a:pos x="84" y="280"/>
                  </a:cxn>
                  <a:cxn ang="0">
                    <a:pos x="120" y="213"/>
                  </a:cxn>
                  <a:cxn ang="0">
                    <a:pos x="141" y="181"/>
                  </a:cxn>
                  <a:cxn ang="0">
                    <a:pos x="223" y="89"/>
                  </a:cxn>
                  <a:cxn ang="0">
                    <a:pos x="269" y="49"/>
                  </a:cxn>
                  <a:cxn ang="0">
                    <a:pos x="295" y="34"/>
                  </a:cxn>
                  <a:cxn ang="0">
                    <a:pos x="301" y="28"/>
                  </a:cxn>
                  <a:cxn ang="0">
                    <a:pos x="295" y="22"/>
                  </a:cxn>
                  <a:cxn ang="0">
                    <a:pos x="285" y="15"/>
                  </a:cxn>
                  <a:cxn ang="0">
                    <a:pos x="277" y="14"/>
                  </a:cxn>
                  <a:cxn ang="0">
                    <a:pos x="265" y="6"/>
                  </a:cxn>
                  <a:cxn ang="0">
                    <a:pos x="261" y="5"/>
                  </a:cxn>
                  <a:cxn ang="0">
                    <a:pos x="261" y="5"/>
                  </a:cxn>
                  <a:cxn ang="0">
                    <a:pos x="255" y="1"/>
                  </a:cxn>
                </a:cxnLst>
                <a:rect l="0" t="0" r="r" b="b"/>
                <a:pathLst>
                  <a:path w="301" h="319">
                    <a:moveTo>
                      <a:pt x="0" y="303"/>
                    </a:moveTo>
                    <a:lnTo>
                      <a:pt x="0" y="303"/>
                    </a:lnTo>
                    <a:lnTo>
                      <a:pt x="0" y="303"/>
                    </a:lnTo>
                    <a:close/>
                    <a:moveTo>
                      <a:pt x="0" y="303"/>
                    </a:moveTo>
                    <a:lnTo>
                      <a:pt x="0" y="303"/>
                    </a:lnTo>
                    <a:lnTo>
                      <a:pt x="0" y="303"/>
                    </a:lnTo>
                    <a:lnTo>
                      <a:pt x="0" y="303"/>
                    </a:lnTo>
                    <a:lnTo>
                      <a:pt x="0" y="303"/>
                    </a:lnTo>
                    <a:close/>
                    <a:moveTo>
                      <a:pt x="251" y="0"/>
                    </a:moveTo>
                    <a:lnTo>
                      <a:pt x="251" y="0"/>
                    </a:lnTo>
                    <a:lnTo>
                      <a:pt x="242" y="1"/>
                    </a:lnTo>
                    <a:lnTo>
                      <a:pt x="242" y="1"/>
                    </a:lnTo>
                    <a:lnTo>
                      <a:pt x="235" y="3"/>
                    </a:lnTo>
                    <a:lnTo>
                      <a:pt x="227" y="6"/>
                    </a:lnTo>
                    <a:lnTo>
                      <a:pt x="218" y="11"/>
                    </a:lnTo>
                    <a:lnTo>
                      <a:pt x="207" y="21"/>
                    </a:lnTo>
                    <a:lnTo>
                      <a:pt x="207" y="21"/>
                    </a:lnTo>
                    <a:lnTo>
                      <a:pt x="177" y="48"/>
                    </a:lnTo>
                    <a:lnTo>
                      <a:pt x="151" y="74"/>
                    </a:lnTo>
                    <a:lnTo>
                      <a:pt x="151" y="74"/>
                    </a:lnTo>
                    <a:lnTo>
                      <a:pt x="129" y="98"/>
                    </a:lnTo>
                    <a:lnTo>
                      <a:pt x="109" y="118"/>
                    </a:lnTo>
                    <a:lnTo>
                      <a:pt x="109" y="118"/>
                    </a:lnTo>
                    <a:lnTo>
                      <a:pt x="99" y="127"/>
                    </a:lnTo>
                    <a:lnTo>
                      <a:pt x="99" y="127"/>
                    </a:lnTo>
                    <a:lnTo>
                      <a:pt x="96" y="135"/>
                    </a:lnTo>
                    <a:lnTo>
                      <a:pt x="96" y="135"/>
                    </a:lnTo>
                    <a:lnTo>
                      <a:pt x="89" y="162"/>
                    </a:lnTo>
                    <a:lnTo>
                      <a:pt x="89" y="162"/>
                    </a:lnTo>
                    <a:lnTo>
                      <a:pt x="88" y="164"/>
                    </a:lnTo>
                    <a:lnTo>
                      <a:pt x="87" y="165"/>
                    </a:lnTo>
                    <a:lnTo>
                      <a:pt x="87" y="165"/>
                    </a:lnTo>
                    <a:lnTo>
                      <a:pt x="87" y="164"/>
                    </a:lnTo>
                    <a:lnTo>
                      <a:pt x="87" y="162"/>
                    </a:lnTo>
                    <a:lnTo>
                      <a:pt x="87" y="162"/>
                    </a:lnTo>
                    <a:lnTo>
                      <a:pt x="93" y="133"/>
                    </a:lnTo>
                    <a:lnTo>
                      <a:pt x="93" y="133"/>
                    </a:lnTo>
                    <a:lnTo>
                      <a:pt x="80" y="147"/>
                    </a:lnTo>
                    <a:lnTo>
                      <a:pt x="80" y="147"/>
                    </a:lnTo>
                    <a:lnTo>
                      <a:pt x="79" y="153"/>
                    </a:lnTo>
                    <a:lnTo>
                      <a:pt x="79" y="153"/>
                    </a:lnTo>
                    <a:lnTo>
                      <a:pt x="76" y="162"/>
                    </a:lnTo>
                    <a:lnTo>
                      <a:pt x="74" y="174"/>
                    </a:lnTo>
                    <a:lnTo>
                      <a:pt x="74" y="174"/>
                    </a:lnTo>
                    <a:lnTo>
                      <a:pt x="71" y="186"/>
                    </a:lnTo>
                    <a:lnTo>
                      <a:pt x="68" y="192"/>
                    </a:lnTo>
                    <a:lnTo>
                      <a:pt x="68" y="192"/>
                    </a:lnTo>
                    <a:lnTo>
                      <a:pt x="68" y="191"/>
                    </a:lnTo>
                    <a:lnTo>
                      <a:pt x="68" y="191"/>
                    </a:lnTo>
                    <a:lnTo>
                      <a:pt x="67" y="189"/>
                    </a:lnTo>
                    <a:lnTo>
                      <a:pt x="66" y="186"/>
                    </a:lnTo>
                    <a:lnTo>
                      <a:pt x="64" y="183"/>
                    </a:lnTo>
                    <a:lnTo>
                      <a:pt x="60" y="179"/>
                    </a:lnTo>
                    <a:lnTo>
                      <a:pt x="60" y="179"/>
                    </a:lnTo>
                    <a:lnTo>
                      <a:pt x="60" y="181"/>
                    </a:lnTo>
                    <a:lnTo>
                      <a:pt x="60" y="181"/>
                    </a:lnTo>
                    <a:lnTo>
                      <a:pt x="60" y="177"/>
                    </a:lnTo>
                    <a:lnTo>
                      <a:pt x="60" y="177"/>
                    </a:lnTo>
                    <a:lnTo>
                      <a:pt x="59" y="175"/>
                    </a:lnTo>
                    <a:lnTo>
                      <a:pt x="58" y="174"/>
                    </a:lnTo>
                    <a:lnTo>
                      <a:pt x="58" y="174"/>
                    </a:lnTo>
                    <a:lnTo>
                      <a:pt x="59" y="192"/>
                    </a:lnTo>
                    <a:lnTo>
                      <a:pt x="59" y="207"/>
                    </a:lnTo>
                    <a:lnTo>
                      <a:pt x="59" y="207"/>
                    </a:lnTo>
                    <a:lnTo>
                      <a:pt x="60" y="250"/>
                    </a:lnTo>
                    <a:lnTo>
                      <a:pt x="63" y="290"/>
                    </a:lnTo>
                    <a:lnTo>
                      <a:pt x="63" y="290"/>
                    </a:lnTo>
                    <a:lnTo>
                      <a:pt x="63" y="294"/>
                    </a:lnTo>
                    <a:lnTo>
                      <a:pt x="66" y="295"/>
                    </a:lnTo>
                    <a:lnTo>
                      <a:pt x="68" y="296"/>
                    </a:lnTo>
                    <a:lnTo>
                      <a:pt x="70" y="299"/>
                    </a:lnTo>
                    <a:lnTo>
                      <a:pt x="70" y="299"/>
                    </a:lnTo>
                    <a:lnTo>
                      <a:pt x="72" y="305"/>
                    </a:lnTo>
                    <a:lnTo>
                      <a:pt x="72" y="309"/>
                    </a:lnTo>
                    <a:lnTo>
                      <a:pt x="71" y="313"/>
                    </a:lnTo>
                    <a:lnTo>
                      <a:pt x="71" y="313"/>
                    </a:lnTo>
                    <a:lnTo>
                      <a:pt x="70" y="315"/>
                    </a:lnTo>
                    <a:lnTo>
                      <a:pt x="67" y="316"/>
                    </a:lnTo>
                    <a:lnTo>
                      <a:pt x="67" y="316"/>
                    </a:lnTo>
                    <a:lnTo>
                      <a:pt x="63" y="315"/>
                    </a:lnTo>
                    <a:lnTo>
                      <a:pt x="59" y="315"/>
                    </a:lnTo>
                    <a:lnTo>
                      <a:pt x="59" y="315"/>
                    </a:lnTo>
                    <a:lnTo>
                      <a:pt x="51" y="313"/>
                    </a:lnTo>
                    <a:lnTo>
                      <a:pt x="42" y="312"/>
                    </a:lnTo>
                    <a:lnTo>
                      <a:pt x="42" y="312"/>
                    </a:lnTo>
                    <a:lnTo>
                      <a:pt x="33" y="309"/>
                    </a:lnTo>
                    <a:lnTo>
                      <a:pt x="29" y="308"/>
                    </a:lnTo>
                    <a:lnTo>
                      <a:pt x="24" y="308"/>
                    </a:lnTo>
                    <a:lnTo>
                      <a:pt x="24" y="308"/>
                    </a:lnTo>
                    <a:lnTo>
                      <a:pt x="21" y="308"/>
                    </a:lnTo>
                    <a:lnTo>
                      <a:pt x="21" y="308"/>
                    </a:lnTo>
                    <a:lnTo>
                      <a:pt x="34" y="312"/>
                    </a:lnTo>
                    <a:lnTo>
                      <a:pt x="34" y="312"/>
                    </a:lnTo>
                    <a:lnTo>
                      <a:pt x="47" y="316"/>
                    </a:lnTo>
                    <a:lnTo>
                      <a:pt x="59" y="319"/>
                    </a:lnTo>
                    <a:lnTo>
                      <a:pt x="59" y="319"/>
                    </a:lnTo>
                    <a:lnTo>
                      <a:pt x="66" y="317"/>
                    </a:lnTo>
                    <a:lnTo>
                      <a:pt x="66" y="317"/>
                    </a:lnTo>
                    <a:lnTo>
                      <a:pt x="68" y="316"/>
                    </a:lnTo>
                    <a:lnTo>
                      <a:pt x="71" y="315"/>
                    </a:lnTo>
                    <a:lnTo>
                      <a:pt x="75" y="309"/>
                    </a:lnTo>
                    <a:lnTo>
                      <a:pt x="78" y="301"/>
                    </a:lnTo>
                    <a:lnTo>
                      <a:pt x="80" y="292"/>
                    </a:lnTo>
                    <a:lnTo>
                      <a:pt x="80" y="292"/>
                    </a:lnTo>
                    <a:lnTo>
                      <a:pt x="84" y="280"/>
                    </a:lnTo>
                    <a:lnTo>
                      <a:pt x="91" y="265"/>
                    </a:lnTo>
                    <a:lnTo>
                      <a:pt x="102" y="242"/>
                    </a:lnTo>
                    <a:lnTo>
                      <a:pt x="120" y="213"/>
                    </a:lnTo>
                    <a:lnTo>
                      <a:pt x="120" y="213"/>
                    </a:lnTo>
                    <a:lnTo>
                      <a:pt x="130" y="196"/>
                    </a:lnTo>
                    <a:lnTo>
                      <a:pt x="141" y="181"/>
                    </a:lnTo>
                    <a:lnTo>
                      <a:pt x="167" y="148"/>
                    </a:lnTo>
                    <a:lnTo>
                      <a:pt x="196" y="118"/>
                    </a:lnTo>
                    <a:lnTo>
                      <a:pt x="223" y="89"/>
                    </a:lnTo>
                    <a:lnTo>
                      <a:pt x="223" y="89"/>
                    </a:lnTo>
                    <a:lnTo>
                      <a:pt x="248" y="65"/>
                    </a:lnTo>
                    <a:lnTo>
                      <a:pt x="269" y="49"/>
                    </a:lnTo>
                    <a:lnTo>
                      <a:pt x="285" y="39"/>
                    </a:lnTo>
                    <a:lnTo>
                      <a:pt x="295" y="34"/>
                    </a:lnTo>
                    <a:lnTo>
                      <a:pt x="295" y="34"/>
                    </a:lnTo>
                    <a:lnTo>
                      <a:pt x="298" y="32"/>
                    </a:lnTo>
                    <a:lnTo>
                      <a:pt x="299" y="31"/>
                    </a:lnTo>
                    <a:lnTo>
                      <a:pt x="301" y="28"/>
                    </a:lnTo>
                    <a:lnTo>
                      <a:pt x="301" y="27"/>
                    </a:lnTo>
                    <a:lnTo>
                      <a:pt x="298" y="24"/>
                    </a:lnTo>
                    <a:lnTo>
                      <a:pt x="295" y="22"/>
                    </a:lnTo>
                    <a:lnTo>
                      <a:pt x="295" y="22"/>
                    </a:lnTo>
                    <a:lnTo>
                      <a:pt x="285" y="15"/>
                    </a:lnTo>
                    <a:lnTo>
                      <a:pt x="285" y="15"/>
                    </a:lnTo>
                    <a:lnTo>
                      <a:pt x="280" y="15"/>
                    </a:lnTo>
                    <a:lnTo>
                      <a:pt x="280" y="15"/>
                    </a:lnTo>
                    <a:lnTo>
                      <a:pt x="277" y="14"/>
                    </a:lnTo>
                    <a:lnTo>
                      <a:pt x="274" y="13"/>
                    </a:lnTo>
                    <a:lnTo>
                      <a:pt x="265" y="6"/>
                    </a:lnTo>
                    <a:lnTo>
                      <a:pt x="265" y="6"/>
                    </a:lnTo>
                    <a:lnTo>
                      <a:pt x="260" y="3"/>
                    </a:lnTo>
                    <a:lnTo>
                      <a:pt x="260" y="3"/>
                    </a:lnTo>
                    <a:lnTo>
                      <a:pt x="261" y="5"/>
                    </a:lnTo>
                    <a:lnTo>
                      <a:pt x="261" y="5"/>
                    </a:lnTo>
                    <a:lnTo>
                      <a:pt x="261" y="5"/>
                    </a:lnTo>
                    <a:lnTo>
                      <a:pt x="261" y="5"/>
                    </a:lnTo>
                    <a:lnTo>
                      <a:pt x="259" y="2"/>
                    </a:lnTo>
                    <a:lnTo>
                      <a:pt x="259" y="2"/>
                    </a:lnTo>
                    <a:lnTo>
                      <a:pt x="255" y="1"/>
                    </a:lnTo>
                    <a:lnTo>
                      <a:pt x="251" y="0"/>
                    </a:lnTo>
                    <a:close/>
                  </a:path>
                </a:pathLst>
              </a:custGeom>
              <a:solidFill>
                <a:srgbClr val="FCC55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0" name="Freeform 724">
                <a:extLst>
                  <a:ext uri="{FF2B5EF4-FFF2-40B4-BE49-F238E27FC236}">
                    <a16:creationId xmlns:a16="http://schemas.microsoft.com/office/drawing/2014/main" id="{05F6FD50-009D-60C6-B55E-FAD7509AA3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2113" y="3197523"/>
                <a:ext cx="1588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1" name="Rectangle 725">
                <a:extLst>
                  <a:ext uri="{FF2B5EF4-FFF2-40B4-BE49-F238E27FC236}">
                    <a16:creationId xmlns:a16="http://schemas.microsoft.com/office/drawing/2014/main" id="{DCBD18CA-E086-4425-254E-A7C38BC1CE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2113" y="3197523"/>
                <a:ext cx="1588" cy="15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2" name="Freeform 726">
                <a:extLst>
                  <a:ext uri="{FF2B5EF4-FFF2-40B4-BE49-F238E27FC236}">
                    <a16:creationId xmlns:a16="http://schemas.microsoft.com/office/drawing/2014/main" id="{83115059-971B-6824-28B7-080E3A6609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450" y="2716511"/>
                <a:ext cx="444500" cy="506413"/>
              </a:xfrm>
              <a:custGeom>
                <a:avLst/>
                <a:gdLst/>
                <a:ahLst/>
                <a:cxnLst>
                  <a:cxn ang="0">
                    <a:pos x="221" y="1"/>
                  </a:cxn>
                  <a:cxn ang="0">
                    <a:pos x="206" y="6"/>
                  </a:cxn>
                  <a:cxn ang="0">
                    <a:pos x="186" y="21"/>
                  </a:cxn>
                  <a:cxn ang="0">
                    <a:pos x="130" y="74"/>
                  </a:cxn>
                  <a:cxn ang="0">
                    <a:pos x="88" y="118"/>
                  </a:cxn>
                  <a:cxn ang="0">
                    <a:pos x="75" y="135"/>
                  </a:cxn>
                  <a:cxn ang="0">
                    <a:pos x="68" y="162"/>
                  </a:cxn>
                  <a:cxn ang="0">
                    <a:pos x="66" y="165"/>
                  </a:cxn>
                  <a:cxn ang="0">
                    <a:pos x="66" y="162"/>
                  </a:cxn>
                  <a:cxn ang="0">
                    <a:pos x="59" y="147"/>
                  </a:cxn>
                  <a:cxn ang="0">
                    <a:pos x="58" y="153"/>
                  </a:cxn>
                  <a:cxn ang="0">
                    <a:pos x="53" y="174"/>
                  </a:cxn>
                  <a:cxn ang="0">
                    <a:pos x="47" y="192"/>
                  </a:cxn>
                  <a:cxn ang="0">
                    <a:pos x="46" y="189"/>
                  </a:cxn>
                  <a:cxn ang="0">
                    <a:pos x="39" y="179"/>
                  </a:cxn>
                  <a:cxn ang="0">
                    <a:pos x="39" y="181"/>
                  </a:cxn>
                  <a:cxn ang="0">
                    <a:pos x="38" y="175"/>
                  </a:cxn>
                  <a:cxn ang="0">
                    <a:pos x="38" y="192"/>
                  </a:cxn>
                  <a:cxn ang="0">
                    <a:pos x="39" y="250"/>
                  </a:cxn>
                  <a:cxn ang="0">
                    <a:pos x="42" y="294"/>
                  </a:cxn>
                  <a:cxn ang="0">
                    <a:pos x="49" y="299"/>
                  </a:cxn>
                  <a:cxn ang="0">
                    <a:pos x="51" y="309"/>
                  </a:cxn>
                  <a:cxn ang="0">
                    <a:pos x="49" y="315"/>
                  </a:cxn>
                  <a:cxn ang="0">
                    <a:pos x="42" y="315"/>
                  </a:cxn>
                  <a:cxn ang="0">
                    <a:pos x="30" y="313"/>
                  </a:cxn>
                  <a:cxn ang="0">
                    <a:pos x="12" y="309"/>
                  </a:cxn>
                  <a:cxn ang="0">
                    <a:pos x="3" y="308"/>
                  </a:cxn>
                  <a:cxn ang="0">
                    <a:pos x="13" y="312"/>
                  </a:cxn>
                  <a:cxn ang="0">
                    <a:pos x="38" y="319"/>
                  </a:cxn>
                  <a:cxn ang="0">
                    <a:pos x="45" y="317"/>
                  </a:cxn>
                  <a:cxn ang="0">
                    <a:pos x="54" y="309"/>
                  </a:cxn>
                  <a:cxn ang="0">
                    <a:pos x="59" y="292"/>
                  </a:cxn>
                  <a:cxn ang="0">
                    <a:pos x="81" y="242"/>
                  </a:cxn>
                  <a:cxn ang="0">
                    <a:pos x="109" y="196"/>
                  </a:cxn>
                  <a:cxn ang="0">
                    <a:pos x="175" y="118"/>
                  </a:cxn>
                  <a:cxn ang="0">
                    <a:pos x="227" y="65"/>
                  </a:cxn>
                  <a:cxn ang="0">
                    <a:pos x="274" y="34"/>
                  </a:cxn>
                  <a:cxn ang="0">
                    <a:pos x="278" y="31"/>
                  </a:cxn>
                  <a:cxn ang="0">
                    <a:pos x="277" y="24"/>
                  </a:cxn>
                  <a:cxn ang="0">
                    <a:pos x="264" y="15"/>
                  </a:cxn>
                  <a:cxn ang="0">
                    <a:pos x="259" y="15"/>
                  </a:cxn>
                  <a:cxn ang="0">
                    <a:pos x="244" y="6"/>
                  </a:cxn>
                  <a:cxn ang="0">
                    <a:pos x="239" y="3"/>
                  </a:cxn>
                  <a:cxn ang="0">
                    <a:pos x="240" y="5"/>
                  </a:cxn>
                  <a:cxn ang="0">
                    <a:pos x="238" y="2"/>
                  </a:cxn>
                </a:cxnLst>
                <a:rect l="0" t="0" r="r" b="b"/>
                <a:pathLst>
                  <a:path w="280" h="319">
                    <a:moveTo>
                      <a:pt x="230" y="0"/>
                    </a:moveTo>
                    <a:lnTo>
                      <a:pt x="230" y="0"/>
                    </a:lnTo>
                    <a:lnTo>
                      <a:pt x="221" y="1"/>
                    </a:lnTo>
                    <a:lnTo>
                      <a:pt x="221" y="1"/>
                    </a:lnTo>
                    <a:lnTo>
                      <a:pt x="214" y="3"/>
                    </a:lnTo>
                    <a:lnTo>
                      <a:pt x="206" y="6"/>
                    </a:lnTo>
                    <a:lnTo>
                      <a:pt x="197" y="11"/>
                    </a:lnTo>
                    <a:lnTo>
                      <a:pt x="186" y="21"/>
                    </a:lnTo>
                    <a:lnTo>
                      <a:pt x="186" y="21"/>
                    </a:lnTo>
                    <a:lnTo>
                      <a:pt x="156" y="48"/>
                    </a:lnTo>
                    <a:lnTo>
                      <a:pt x="130" y="74"/>
                    </a:lnTo>
                    <a:lnTo>
                      <a:pt x="130" y="74"/>
                    </a:lnTo>
                    <a:lnTo>
                      <a:pt x="108" y="98"/>
                    </a:lnTo>
                    <a:lnTo>
                      <a:pt x="88" y="118"/>
                    </a:lnTo>
                    <a:lnTo>
                      <a:pt x="88" y="118"/>
                    </a:lnTo>
                    <a:lnTo>
                      <a:pt x="78" y="127"/>
                    </a:lnTo>
                    <a:lnTo>
                      <a:pt x="78" y="127"/>
                    </a:lnTo>
                    <a:lnTo>
                      <a:pt x="75" y="135"/>
                    </a:lnTo>
                    <a:lnTo>
                      <a:pt x="75" y="135"/>
                    </a:lnTo>
                    <a:lnTo>
                      <a:pt x="68" y="162"/>
                    </a:lnTo>
                    <a:lnTo>
                      <a:pt x="68" y="162"/>
                    </a:lnTo>
                    <a:lnTo>
                      <a:pt x="67" y="164"/>
                    </a:lnTo>
                    <a:lnTo>
                      <a:pt x="66" y="165"/>
                    </a:lnTo>
                    <a:lnTo>
                      <a:pt x="66" y="165"/>
                    </a:lnTo>
                    <a:lnTo>
                      <a:pt x="66" y="164"/>
                    </a:lnTo>
                    <a:lnTo>
                      <a:pt x="66" y="162"/>
                    </a:lnTo>
                    <a:lnTo>
                      <a:pt x="66" y="162"/>
                    </a:lnTo>
                    <a:lnTo>
                      <a:pt x="72" y="133"/>
                    </a:lnTo>
                    <a:lnTo>
                      <a:pt x="72" y="133"/>
                    </a:lnTo>
                    <a:lnTo>
                      <a:pt x="59" y="147"/>
                    </a:lnTo>
                    <a:lnTo>
                      <a:pt x="59" y="147"/>
                    </a:lnTo>
                    <a:lnTo>
                      <a:pt x="58" y="153"/>
                    </a:lnTo>
                    <a:lnTo>
                      <a:pt x="58" y="153"/>
                    </a:lnTo>
                    <a:lnTo>
                      <a:pt x="55" y="162"/>
                    </a:lnTo>
                    <a:lnTo>
                      <a:pt x="53" y="174"/>
                    </a:lnTo>
                    <a:lnTo>
                      <a:pt x="53" y="174"/>
                    </a:lnTo>
                    <a:lnTo>
                      <a:pt x="50" y="186"/>
                    </a:lnTo>
                    <a:lnTo>
                      <a:pt x="47" y="192"/>
                    </a:lnTo>
                    <a:lnTo>
                      <a:pt x="47" y="192"/>
                    </a:lnTo>
                    <a:lnTo>
                      <a:pt x="47" y="191"/>
                    </a:lnTo>
                    <a:lnTo>
                      <a:pt x="47" y="191"/>
                    </a:lnTo>
                    <a:lnTo>
                      <a:pt x="46" y="189"/>
                    </a:lnTo>
                    <a:lnTo>
                      <a:pt x="45" y="186"/>
                    </a:lnTo>
                    <a:lnTo>
                      <a:pt x="43" y="183"/>
                    </a:lnTo>
                    <a:lnTo>
                      <a:pt x="39" y="179"/>
                    </a:lnTo>
                    <a:lnTo>
                      <a:pt x="39" y="179"/>
                    </a:lnTo>
                    <a:lnTo>
                      <a:pt x="39" y="181"/>
                    </a:lnTo>
                    <a:lnTo>
                      <a:pt x="39" y="181"/>
                    </a:lnTo>
                    <a:lnTo>
                      <a:pt x="39" y="177"/>
                    </a:lnTo>
                    <a:lnTo>
                      <a:pt x="39" y="177"/>
                    </a:lnTo>
                    <a:lnTo>
                      <a:pt x="38" y="175"/>
                    </a:lnTo>
                    <a:lnTo>
                      <a:pt x="37" y="174"/>
                    </a:lnTo>
                    <a:lnTo>
                      <a:pt x="37" y="174"/>
                    </a:lnTo>
                    <a:lnTo>
                      <a:pt x="38" y="192"/>
                    </a:lnTo>
                    <a:lnTo>
                      <a:pt x="38" y="207"/>
                    </a:lnTo>
                    <a:lnTo>
                      <a:pt x="38" y="207"/>
                    </a:lnTo>
                    <a:lnTo>
                      <a:pt x="39" y="250"/>
                    </a:lnTo>
                    <a:lnTo>
                      <a:pt x="42" y="290"/>
                    </a:lnTo>
                    <a:lnTo>
                      <a:pt x="42" y="290"/>
                    </a:lnTo>
                    <a:lnTo>
                      <a:pt x="42" y="294"/>
                    </a:lnTo>
                    <a:lnTo>
                      <a:pt x="45" y="295"/>
                    </a:lnTo>
                    <a:lnTo>
                      <a:pt x="47" y="296"/>
                    </a:lnTo>
                    <a:lnTo>
                      <a:pt x="49" y="299"/>
                    </a:lnTo>
                    <a:lnTo>
                      <a:pt x="49" y="299"/>
                    </a:lnTo>
                    <a:lnTo>
                      <a:pt x="51" y="305"/>
                    </a:lnTo>
                    <a:lnTo>
                      <a:pt x="51" y="309"/>
                    </a:lnTo>
                    <a:lnTo>
                      <a:pt x="50" y="313"/>
                    </a:lnTo>
                    <a:lnTo>
                      <a:pt x="50" y="313"/>
                    </a:lnTo>
                    <a:lnTo>
                      <a:pt x="49" y="315"/>
                    </a:lnTo>
                    <a:lnTo>
                      <a:pt x="46" y="316"/>
                    </a:lnTo>
                    <a:lnTo>
                      <a:pt x="46" y="316"/>
                    </a:lnTo>
                    <a:lnTo>
                      <a:pt x="42" y="315"/>
                    </a:lnTo>
                    <a:lnTo>
                      <a:pt x="38" y="315"/>
                    </a:lnTo>
                    <a:lnTo>
                      <a:pt x="38" y="315"/>
                    </a:lnTo>
                    <a:lnTo>
                      <a:pt x="30" y="313"/>
                    </a:lnTo>
                    <a:lnTo>
                      <a:pt x="21" y="312"/>
                    </a:lnTo>
                    <a:lnTo>
                      <a:pt x="21" y="312"/>
                    </a:lnTo>
                    <a:lnTo>
                      <a:pt x="12" y="309"/>
                    </a:lnTo>
                    <a:lnTo>
                      <a:pt x="8" y="308"/>
                    </a:lnTo>
                    <a:lnTo>
                      <a:pt x="3" y="308"/>
                    </a:lnTo>
                    <a:lnTo>
                      <a:pt x="3" y="308"/>
                    </a:lnTo>
                    <a:lnTo>
                      <a:pt x="0" y="308"/>
                    </a:lnTo>
                    <a:lnTo>
                      <a:pt x="0" y="308"/>
                    </a:lnTo>
                    <a:lnTo>
                      <a:pt x="13" y="312"/>
                    </a:lnTo>
                    <a:lnTo>
                      <a:pt x="13" y="312"/>
                    </a:lnTo>
                    <a:lnTo>
                      <a:pt x="26" y="316"/>
                    </a:lnTo>
                    <a:lnTo>
                      <a:pt x="38" y="319"/>
                    </a:lnTo>
                    <a:lnTo>
                      <a:pt x="38" y="319"/>
                    </a:lnTo>
                    <a:lnTo>
                      <a:pt x="45" y="317"/>
                    </a:lnTo>
                    <a:lnTo>
                      <a:pt x="45" y="317"/>
                    </a:lnTo>
                    <a:lnTo>
                      <a:pt x="47" y="316"/>
                    </a:lnTo>
                    <a:lnTo>
                      <a:pt x="50" y="315"/>
                    </a:lnTo>
                    <a:lnTo>
                      <a:pt x="54" y="309"/>
                    </a:lnTo>
                    <a:lnTo>
                      <a:pt x="57" y="301"/>
                    </a:lnTo>
                    <a:lnTo>
                      <a:pt x="59" y="292"/>
                    </a:lnTo>
                    <a:lnTo>
                      <a:pt x="59" y="292"/>
                    </a:lnTo>
                    <a:lnTo>
                      <a:pt x="63" y="280"/>
                    </a:lnTo>
                    <a:lnTo>
                      <a:pt x="70" y="265"/>
                    </a:lnTo>
                    <a:lnTo>
                      <a:pt x="81" y="242"/>
                    </a:lnTo>
                    <a:lnTo>
                      <a:pt x="99" y="213"/>
                    </a:lnTo>
                    <a:lnTo>
                      <a:pt x="99" y="213"/>
                    </a:lnTo>
                    <a:lnTo>
                      <a:pt x="109" y="196"/>
                    </a:lnTo>
                    <a:lnTo>
                      <a:pt x="120" y="181"/>
                    </a:lnTo>
                    <a:lnTo>
                      <a:pt x="146" y="148"/>
                    </a:lnTo>
                    <a:lnTo>
                      <a:pt x="175" y="118"/>
                    </a:lnTo>
                    <a:lnTo>
                      <a:pt x="202" y="89"/>
                    </a:lnTo>
                    <a:lnTo>
                      <a:pt x="202" y="89"/>
                    </a:lnTo>
                    <a:lnTo>
                      <a:pt x="227" y="65"/>
                    </a:lnTo>
                    <a:lnTo>
                      <a:pt x="248" y="49"/>
                    </a:lnTo>
                    <a:lnTo>
                      <a:pt x="264" y="39"/>
                    </a:lnTo>
                    <a:lnTo>
                      <a:pt x="274" y="34"/>
                    </a:lnTo>
                    <a:lnTo>
                      <a:pt x="274" y="34"/>
                    </a:lnTo>
                    <a:lnTo>
                      <a:pt x="277" y="32"/>
                    </a:lnTo>
                    <a:lnTo>
                      <a:pt x="278" y="31"/>
                    </a:lnTo>
                    <a:lnTo>
                      <a:pt x="280" y="28"/>
                    </a:lnTo>
                    <a:lnTo>
                      <a:pt x="280" y="27"/>
                    </a:lnTo>
                    <a:lnTo>
                      <a:pt x="277" y="24"/>
                    </a:lnTo>
                    <a:lnTo>
                      <a:pt x="274" y="22"/>
                    </a:lnTo>
                    <a:lnTo>
                      <a:pt x="274" y="22"/>
                    </a:lnTo>
                    <a:lnTo>
                      <a:pt x="264" y="15"/>
                    </a:lnTo>
                    <a:lnTo>
                      <a:pt x="264" y="15"/>
                    </a:lnTo>
                    <a:lnTo>
                      <a:pt x="259" y="15"/>
                    </a:lnTo>
                    <a:lnTo>
                      <a:pt x="259" y="15"/>
                    </a:lnTo>
                    <a:lnTo>
                      <a:pt x="256" y="14"/>
                    </a:lnTo>
                    <a:lnTo>
                      <a:pt x="253" y="13"/>
                    </a:lnTo>
                    <a:lnTo>
                      <a:pt x="244" y="6"/>
                    </a:lnTo>
                    <a:lnTo>
                      <a:pt x="244" y="6"/>
                    </a:lnTo>
                    <a:lnTo>
                      <a:pt x="239" y="3"/>
                    </a:lnTo>
                    <a:lnTo>
                      <a:pt x="239" y="3"/>
                    </a:lnTo>
                    <a:lnTo>
                      <a:pt x="240" y="5"/>
                    </a:lnTo>
                    <a:lnTo>
                      <a:pt x="240" y="5"/>
                    </a:lnTo>
                    <a:lnTo>
                      <a:pt x="240" y="5"/>
                    </a:lnTo>
                    <a:lnTo>
                      <a:pt x="240" y="5"/>
                    </a:lnTo>
                    <a:lnTo>
                      <a:pt x="238" y="2"/>
                    </a:lnTo>
                    <a:lnTo>
                      <a:pt x="238" y="2"/>
                    </a:lnTo>
                    <a:lnTo>
                      <a:pt x="234" y="1"/>
                    </a:lnTo>
                    <a:lnTo>
                      <a:pt x="230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3" name="Freeform 727">
                <a:extLst>
                  <a:ext uri="{FF2B5EF4-FFF2-40B4-BE49-F238E27FC236}">
                    <a16:creationId xmlns:a16="http://schemas.microsoft.com/office/drawing/2014/main" id="{CD53386D-7028-3E57-7335-B228077160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624013" y="2754611"/>
                <a:ext cx="128588" cy="450850"/>
              </a:xfrm>
              <a:custGeom>
                <a:avLst/>
                <a:gdLst/>
                <a:ahLst/>
                <a:cxnLst>
                  <a:cxn ang="0">
                    <a:pos x="24" y="279"/>
                  </a:cxn>
                  <a:cxn ang="0">
                    <a:pos x="45" y="284"/>
                  </a:cxn>
                  <a:cxn ang="0">
                    <a:pos x="33" y="281"/>
                  </a:cxn>
                  <a:cxn ang="0">
                    <a:pos x="24" y="279"/>
                  </a:cxn>
                  <a:cxn ang="0">
                    <a:pos x="24" y="279"/>
                  </a:cxn>
                  <a:cxn ang="0">
                    <a:pos x="24" y="279"/>
                  </a:cxn>
                  <a:cxn ang="0">
                    <a:pos x="24" y="279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0" y="8"/>
                  </a:cxn>
                  <a:cxn ang="0">
                    <a:pos x="3" y="69"/>
                  </a:cxn>
                  <a:cxn ang="0">
                    <a:pos x="10" y="170"/>
                  </a:cxn>
                  <a:cxn ang="0">
                    <a:pos x="14" y="209"/>
                  </a:cxn>
                  <a:cxn ang="0">
                    <a:pos x="16" y="243"/>
                  </a:cxn>
                  <a:cxn ang="0">
                    <a:pos x="16" y="262"/>
                  </a:cxn>
                  <a:cxn ang="0">
                    <a:pos x="16" y="272"/>
                  </a:cxn>
                  <a:cxn ang="0">
                    <a:pos x="20" y="277"/>
                  </a:cxn>
                  <a:cxn ang="0">
                    <a:pos x="24" y="279"/>
                  </a:cxn>
                  <a:cxn ang="0">
                    <a:pos x="18" y="271"/>
                  </a:cxn>
                  <a:cxn ang="0">
                    <a:pos x="20" y="259"/>
                  </a:cxn>
                  <a:cxn ang="0">
                    <a:pos x="25" y="245"/>
                  </a:cxn>
                  <a:cxn ang="0">
                    <a:pos x="32" y="229"/>
                  </a:cxn>
                  <a:cxn ang="0">
                    <a:pos x="42" y="207"/>
                  </a:cxn>
                  <a:cxn ang="0">
                    <a:pos x="54" y="186"/>
                  </a:cxn>
                  <a:cxn ang="0">
                    <a:pos x="75" y="154"/>
                  </a:cxn>
                  <a:cxn ang="0">
                    <a:pos x="81" y="149"/>
                  </a:cxn>
                  <a:cxn ang="0">
                    <a:pos x="79" y="147"/>
                  </a:cxn>
                  <a:cxn ang="0">
                    <a:pos x="78" y="144"/>
                  </a:cxn>
                  <a:cxn ang="0">
                    <a:pos x="77" y="129"/>
                  </a:cxn>
                  <a:cxn ang="0">
                    <a:pos x="74" y="116"/>
                  </a:cxn>
                  <a:cxn ang="0">
                    <a:pos x="74" y="95"/>
                  </a:cxn>
                  <a:cxn ang="0">
                    <a:pos x="75" y="91"/>
                  </a:cxn>
                  <a:cxn ang="0">
                    <a:pos x="74" y="62"/>
                  </a:cxn>
                  <a:cxn ang="0">
                    <a:pos x="73" y="31"/>
                  </a:cxn>
                  <a:cxn ang="0">
                    <a:pos x="74" y="25"/>
                  </a:cxn>
                  <a:cxn ang="0">
                    <a:pos x="73" y="16"/>
                  </a:cxn>
                  <a:cxn ang="0">
                    <a:pos x="69" y="12"/>
                  </a:cxn>
                  <a:cxn ang="0">
                    <a:pos x="57" y="8"/>
                  </a:cxn>
                  <a:cxn ang="0">
                    <a:pos x="39" y="6"/>
                  </a:cxn>
                  <a:cxn ang="0">
                    <a:pos x="20" y="2"/>
                  </a:cxn>
                  <a:cxn ang="0">
                    <a:pos x="8" y="0"/>
                  </a:cxn>
                </a:cxnLst>
                <a:rect l="0" t="0" r="r" b="b"/>
                <a:pathLst>
                  <a:path w="81" h="284">
                    <a:moveTo>
                      <a:pt x="24" y="279"/>
                    </a:moveTo>
                    <a:lnTo>
                      <a:pt x="24" y="279"/>
                    </a:lnTo>
                    <a:lnTo>
                      <a:pt x="35" y="281"/>
                    </a:lnTo>
                    <a:lnTo>
                      <a:pt x="45" y="284"/>
                    </a:lnTo>
                    <a:lnTo>
                      <a:pt x="45" y="284"/>
                    </a:lnTo>
                    <a:lnTo>
                      <a:pt x="33" y="281"/>
                    </a:lnTo>
                    <a:lnTo>
                      <a:pt x="33" y="281"/>
                    </a:lnTo>
                    <a:lnTo>
                      <a:pt x="24" y="279"/>
                    </a:lnTo>
                    <a:close/>
                    <a:moveTo>
                      <a:pt x="24" y="279"/>
                    </a:moveTo>
                    <a:lnTo>
                      <a:pt x="24" y="279"/>
                    </a:lnTo>
                    <a:lnTo>
                      <a:pt x="24" y="279"/>
                    </a:lnTo>
                    <a:close/>
                    <a:moveTo>
                      <a:pt x="24" y="279"/>
                    </a:moveTo>
                    <a:lnTo>
                      <a:pt x="24" y="279"/>
                    </a:lnTo>
                    <a:lnTo>
                      <a:pt x="24" y="279"/>
                    </a:lnTo>
                    <a:lnTo>
                      <a:pt x="24" y="279"/>
                    </a:lnTo>
                    <a:close/>
                    <a:moveTo>
                      <a:pt x="8" y="0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3" y="69"/>
                    </a:lnTo>
                    <a:lnTo>
                      <a:pt x="3" y="69"/>
                    </a:lnTo>
                    <a:lnTo>
                      <a:pt x="6" y="120"/>
                    </a:lnTo>
                    <a:lnTo>
                      <a:pt x="10" y="170"/>
                    </a:lnTo>
                    <a:lnTo>
                      <a:pt x="10" y="170"/>
                    </a:lnTo>
                    <a:lnTo>
                      <a:pt x="14" y="209"/>
                    </a:lnTo>
                    <a:lnTo>
                      <a:pt x="16" y="243"/>
                    </a:lnTo>
                    <a:lnTo>
                      <a:pt x="16" y="243"/>
                    </a:lnTo>
                    <a:lnTo>
                      <a:pt x="15" y="253"/>
                    </a:lnTo>
                    <a:lnTo>
                      <a:pt x="16" y="262"/>
                    </a:lnTo>
                    <a:lnTo>
                      <a:pt x="16" y="262"/>
                    </a:lnTo>
                    <a:lnTo>
                      <a:pt x="16" y="272"/>
                    </a:lnTo>
                    <a:lnTo>
                      <a:pt x="19" y="276"/>
                    </a:lnTo>
                    <a:lnTo>
                      <a:pt x="20" y="277"/>
                    </a:lnTo>
                    <a:lnTo>
                      <a:pt x="24" y="279"/>
                    </a:lnTo>
                    <a:lnTo>
                      <a:pt x="24" y="279"/>
                    </a:lnTo>
                    <a:lnTo>
                      <a:pt x="20" y="276"/>
                    </a:lnTo>
                    <a:lnTo>
                      <a:pt x="18" y="271"/>
                    </a:lnTo>
                    <a:lnTo>
                      <a:pt x="18" y="266"/>
                    </a:lnTo>
                    <a:lnTo>
                      <a:pt x="20" y="259"/>
                    </a:lnTo>
                    <a:lnTo>
                      <a:pt x="20" y="259"/>
                    </a:lnTo>
                    <a:lnTo>
                      <a:pt x="25" y="245"/>
                    </a:lnTo>
                    <a:lnTo>
                      <a:pt x="32" y="229"/>
                    </a:lnTo>
                    <a:lnTo>
                      <a:pt x="32" y="229"/>
                    </a:lnTo>
                    <a:lnTo>
                      <a:pt x="36" y="220"/>
                    </a:lnTo>
                    <a:lnTo>
                      <a:pt x="42" y="207"/>
                    </a:lnTo>
                    <a:lnTo>
                      <a:pt x="54" y="186"/>
                    </a:lnTo>
                    <a:lnTo>
                      <a:pt x="54" y="186"/>
                    </a:lnTo>
                    <a:lnTo>
                      <a:pt x="65" y="168"/>
                    </a:lnTo>
                    <a:lnTo>
                      <a:pt x="75" y="154"/>
                    </a:lnTo>
                    <a:lnTo>
                      <a:pt x="75" y="154"/>
                    </a:lnTo>
                    <a:lnTo>
                      <a:pt x="81" y="149"/>
                    </a:lnTo>
                    <a:lnTo>
                      <a:pt x="81" y="149"/>
                    </a:lnTo>
                    <a:lnTo>
                      <a:pt x="79" y="147"/>
                    </a:lnTo>
                    <a:lnTo>
                      <a:pt x="78" y="144"/>
                    </a:lnTo>
                    <a:lnTo>
                      <a:pt x="78" y="144"/>
                    </a:lnTo>
                    <a:lnTo>
                      <a:pt x="77" y="136"/>
                    </a:lnTo>
                    <a:lnTo>
                      <a:pt x="77" y="129"/>
                    </a:lnTo>
                    <a:lnTo>
                      <a:pt x="77" y="129"/>
                    </a:lnTo>
                    <a:lnTo>
                      <a:pt x="74" y="116"/>
                    </a:lnTo>
                    <a:lnTo>
                      <a:pt x="74" y="107"/>
                    </a:lnTo>
                    <a:lnTo>
                      <a:pt x="74" y="95"/>
                    </a:lnTo>
                    <a:lnTo>
                      <a:pt x="74" y="95"/>
                    </a:lnTo>
                    <a:lnTo>
                      <a:pt x="75" y="91"/>
                    </a:lnTo>
                    <a:lnTo>
                      <a:pt x="75" y="91"/>
                    </a:lnTo>
                    <a:lnTo>
                      <a:pt x="74" y="62"/>
                    </a:lnTo>
                    <a:lnTo>
                      <a:pt x="74" y="62"/>
                    </a:lnTo>
                    <a:lnTo>
                      <a:pt x="73" y="31"/>
                    </a:lnTo>
                    <a:lnTo>
                      <a:pt x="73" y="31"/>
                    </a:lnTo>
                    <a:lnTo>
                      <a:pt x="74" y="25"/>
                    </a:lnTo>
                    <a:lnTo>
                      <a:pt x="74" y="20"/>
                    </a:lnTo>
                    <a:lnTo>
                      <a:pt x="73" y="16"/>
                    </a:lnTo>
                    <a:lnTo>
                      <a:pt x="69" y="12"/>
                    </a:lnTo>
                    <a:lnTo>
                      <a:pt x="69" y="12"/>
                    </a:lnTo>
                    <a:lnTo>
                      <a:pt x="62" y="10"/>
                    </a:lnTo>
                    <a:lnTo>
                      <a:pt x="57" y="8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28" y="4"/>
                    </a:lnTo>
                    <a:lnTo>
                      <a:pt x="20" y="2"/>
                    </a:lnTo>
                    <a:lnTo>
                      <a:pt x="14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CC55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4" name="Freeform 728">
                <a:extLst>
                  <a:ext uri="{FF2B5EF4-FFF2-40B4-BE49-F238E27FC236}">
                    <a16:creationId xmlns:a16="http://schemas.microsoft.com/office/drawing/2014/main" id="{B517E30D-2267-E97E-75A0-B7E28F567B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2113" y="3197523"/>
                <a:ext cx="33338" cy="793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11" y="2"/>
                  </a:cxn>
                  <a:cxn ang="0">
                    <a:pos x="21" y="5"/>
                  </a:cxn>
                  <a:cxn ang="0">
                    <a:pos x="21" y="5"/>
                  </a:cxn>
                  <a:cxn ang="0">
                    <a:pos x="9" y="2"/>
                  </a:cxn>
                  <a:cxn ang="0">
                    <a:pos x="9" y="2"/>
                  </a:cxn>
                  <a:cxn ang="0">
                    <a:pos x="0" y="0"/>
                  </a:cxn>
                </a:cxnLst>
                <a:rect l="0" t="0" r="r" b="b"/>
                <a:pathLst>
                  <a:path w="21" h="5">
                    <a:moveTo>
                      <a:pt x="0" y="0"/>
                    </a:moveTo>
                    <a:lnTo>
                      <a:pt x="0" y="0"/>
                    </a:lnTo>
                    <a:lnTo>
                      <a:pt x="11" y="2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9" y="2"/>
                    </a:lnTo>
                    <a:lnTo>
                      <a:pt x="9" y="2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5" name="Freeform 729">
                <a:extLst>
                  <a:ext uri="{FF2B5EF4-FFF2-40B4-BE49-F238E27FC236}">
                    <a16:creationId xmlns:a16="http://schemas.microsoft.com/office/drawing/2014/main" id="{0F517669-F331-1E2D-800F-60C05F65EA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2113" y="3197523"/>
                <a:ext cx="1588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6" name="Freeform 730">
                <a:extLst>
                  <a:ext uri="{FF2B5EF4-FFF2-40B4-BE49-F238E27FC236}">
                    <a16:creationId xmlns:a16="http://schemas.microsoft.com/office/drawing/2014/main" id="{6873D88E-3197-3992-B1F5-C1BE86DEB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2113" y="3197523"/>
                <a:ext cx="1588" cy="15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7" name="Freeform 731">
                <a:extLst>
                  <a:ext uri="{FF2B5EF4-FFF2-40B4-BE49-F238E27FC236}">
                    <a16:creationId xmlns:a16="http://schemas.microsoft.com/office/drawing/2014/main" id="{89C52AC8-B449-CC0A-4B60-1F53F2493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4013" y="2754611"/>
                <a:ext cx="128588" cy="442913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2" y="2"/>
                  </a:cxn>
                  <a:cxn ang="0">
                    <a:pos x="0" y="8"/>
                  </a:cxn>
                  <a:cxn ang="0">
                    <a:pos x="3" y="69"/>
                  </a:cxn>
                  <a:cxn ang="0">
                    <a:pos x="6" y="120"/>
                  </a:cxn>
                  <a:cxn ang="0">
                    <a:pos x="10" y="170"/>
                  </a:cxn>
                  <a:cxn ang="0">
                    <a:pos x="16" y="243"/>
                  </a:cxn>
                  <a:cxn ang="0">
                    <a:pos x="15" y="253"/>
                  </a:cxn>
                  <a:cxn ang="0">
                    <a:pos x="16" y="262"/>
                  </a:cxn>
                  <a:cxn ang="0">
                    <a:pos x="19" y="276"/>
                  </a:cxn>
                  <a:cxn ang="0">
                    <a:pos x="24" y="279"/>
                  </a:cxn>
                  <a:cxn ang="0">
                    <a:pos x="20" y="276"/>
                  </a:cxn>
                  <a:cxn ang="0">
                    <a:pos x="18" y="266"/>
                  </a:cxn>
                  <a:cxn ang="0">
                    <a:pos x="20" y="259"/>
                  </a:cxn>
                  <a:cxn ang="0">
                    <a:pos x="32" y="229"/>
                  </a:cxn>
                  <a:cxn ang="0">
                    <a:pos x="36" y="220"/>
                  </a:cxn>
                  <a:cxn ang="0">
                    <a:pos x="54" y="186"/>
                  </a:cxn>
                  <a:cxn ang="0">
                    <a:pos x="65" y="168"/>
                  </a:cxn>
                  <a:cxn ang="0">
                    <a:pos x="75" y="154"/>
                  </a:cxn>
                  <a:cxn ang="0">
                    <a:pos x="81" y="149"/>
                  </a:cxn>
                  <a:cxn ang="0">
                    <a:pos x="78" y="144"/>
                  </a:cxn>
                  <a:cxn ang="0">
                    <a:pos x="77" y="136"/>
                  </a:cxn>
                  <a:cxn ang="0">
                    <a:pos x="77" y="129"/>
                  </a:cxn>
                  <a:cxn ang="0">
                    <a:pos x="74" y="107"/>
                  </a:cxn>
                  <a:cxn ang="0">
                    <a:pos x="74" y="95"/>
                  </a:cxn>
                  <a:cxn ang="0">
                    <a:pos x="75" y="91"/>
                  </a:cxn>
                  <a:cxn ang="0">
                    <a:pos x="74" y="62"/>
                  </a:cxn>
                  <a:cxn ang="0">
                    <a:pos x="73" y="31"/>
                  </a:cxn>
                  <a:cxn ang="0">
                    <a:pos x="74" y="20"/>
                  </a:cxn>
                  <a:cxn ang="0">
                    <a:pos x="69" y="12"/>
                  </a:cxn>
                  <a:cxn ang="0">
                    <a:pos x="62" y="10"/>
                  </a:cxn>
                  <a:cxn ang="0">
                    <a:pos x="39" y="6"/>
                  </a:cxn>
                  <a:cxn ang="0">
                    <a:pos x="28" y="4"/>
                  </a:cxn>
                  <a:cxn ang="0">
                    <a:pos x="14" y="0"/>
                  </a:cxn>
                </a:cxnLst>
                <a:rect l="0" t="0" r="r" b="b"/>
                <a:pathLst>
                  <a:path w="81" h="279">
                    <a:moveTo>
                      <a:pt x="8" y="0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3" y="69"/>
                    </a:lnTo>
                    <a:lnTo>
                      <a:pt x="3" y="69"/>
                    </a:lnTo>
                    <a:lnTo>
                      <a:pt x="6" y="120"/>
                    </a:lnTo>
                    <a:lnTo>
                      <a:pt x="10" y="170"/>
                    </a:lnTo>
                    <a:lnTo>
                      <a:pt x="10" y="170"/>
                    </a:lnTo>
                    <a:lnTo>
                      <a:pt x="14" y="209"/>
                    </a:lnTo>
                    <a:lnTo>
                      <a:pt x="16" y="243"/>
                    </a:lnTo>
                    <a:lnTo>
                      <a:pt x="16" y="243"/>
                    </a:lnTo>
                    <a:lnTo>
                      <a:pt x="15" y="253"/>
                    </a:lnTo>
                    <a:lnTo>
                      <a:pt x="16" y="262"/>
                    </a:lnTo>
                    <a:lnTo>
                      <a:pt x="16" y="262"/>
                    </a:lnTo>
                    <a:lnTo>
                      <a:pt x="16" y="272"/>
                    </a:lnTo>
                    <a:lnTo>
                      <a:pt x="19" y="276"/>
                    </a:lnTo>
                    <a:lnTo>
                      <a:pt x="20" y="277"/>
                    </a:lnTo>
                    <a:lnTo>
                      <a:pt x="24" y="279"/>
                    </a:lnTo>
                    <a:lnTo>
                      <a:pt x="24" y="279"/>
                    </a:lnTo>
                    <a:lnTo>
                      <a:pt x="20" y="276"/>
                    </a:lnTo>
                    <a:lnTo>
                      <a:pt x="18" y="271"/>
                    </a:lnTo>
                    <a:lnTo>
                      <a:pt x="18" y="266"/>
                    </a:lnTo>
                    <a:lnTo>
                      <a:pt x="20" y="259"/>
                    </a:lnTo>
                    <a:lnTo>
                      <a:pt x="20" y="259"/>
                    </a:lnTo>
                    <a:lnTo>
                      <a:pt x="25" y="245"/>
                    </a:lnTo>
                    <a:lnTo>
                      <a:pt x="32" y="229"/>
                    </a:lnTo>
                    <a:lnTo>
                      <a:pt x="32" y="229"/>
                    </a:lnTo>
                    <a:lnTo>
                      <a:pt x="36" y="220"/>
                    </a:lnTo>
                    <a:lnTo>
                      <a:pt x="42" y="207"/>
                    </a:lnTo>
                    <a:lnTo>
                      <a:pt x="54" y="186"/>
                    </a:lnTo>
                    <a:lnTo>
                      <a:pt x="54" y="186"/>
                    </a:lnTo>
                    <a:lnTo>
                      <a:pt x="65" y="168"/>
                    </a:lnTo>
                    <a:lnTo>
                      <a:pt x="75" y="154"/>
                    </a:lnTo>
                    <a:lnTo>
                      <a:pt x="75" y="154"/>
                    </a:lnTo>
                    <a:lnTo>
                      <a:pt x="81" y="149"/>
                    </a:lnTo>
                    <a:lnTo>
                      <a:pt x="81" y="149"/>
                    </a:lnTo>
                    <a:lnTo>
                      <a:pt x="79" y="147"/>
                    </a:lnTo>
                    <a:lnTo>
                      <a:pt x="78" y="144"/>
                    </a:lnTo>
                    <a:lnTo>
                      <a:pt x="78" y="144"/>
                    </a:lnTo>
                    <a:lnTo>
                      <a:pt x="77" y="136"/>
                    </a:lnTo>
                    <a:lnTo>
                      <a:pt x="77" y="129"/>
                    </a:lnTo>
                    <a:lnTo>
                      <a:pt x="77" y="129"/>
                    </a:lnTo>
                    <a:lnTo>
                      <a:pt x="74" y="116"/>
                    </a:lnTo>
                    <a:lnTo>
                      <a:pt x="74" y="107"/>
                    </a:lnTo>
                    <a:lnTo>
                      <a:pt x="74" y="95"/>
                    </a:lnTo>
                    <a:lnTo>
                      <a:pt x="74" y="95"/>
                    </a:lnTo>
                    <a:lnTo>
                      <a:pt x="75" y="91"/>
                    </a:lnTo>
                    <a:lnTo>
                      <a:pt x="75" y="91"/>
                    </a:lnTo>
                    <a:lnTo>
                      <a:pt x="74" y="62"/>
                    </a:lnTo>
                    <a:lnTo>
                      <a:pt x="74" y="62"/>
                    </a:lnTo>
                    <a:lnTo>
                      <a:pt x="73" y="31"/>
                    </a:lnTo>
                    <a:lnTo>
                      <a:pt x="73" y="31"/>
                    </a:lnTo>
                    <a:lnTo>
                      <a:pt x="74" y="25"/>
                    </a:lnTo>
                    <a:lnTo>
                      <a:pt x="74" y="20"/>
                    </a:lnTo>
                    <a:lnTo>
                      <a:pt x="73" y="16"/>
                    </a:lnTo>
                    <a:lnTo>
                      <a:pt x="69" y="12"/>
                    </a:lnTo>
                    <a:lnTo>
                      <a:pt x="69" y="12"/>
                    </a:lnTo>
                    <a:lnTo>
                      <a:pt x="62" y="10"/>
                    </a:lnTo>
                    <a:lnTo>
                      <a:pt x="57" y="8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28" y="4"/>
                    </a:lnTo>
                    <a:lnTo>
                      <a:pt x="20" y="2"/>
                    </a:lnTo>
                    <a:lnTo>
                      <a:pt x="14" y="0"/>
                    </a:lnTo>
                    <a:lnTo>
                      <a:pt x="8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8" name="Freeform 732">
                <a:extLst>
                  <a:ext uri="{FF2B5EF4-FFF2-40B4-BE49-F238E27FC236}">
                    <a16:creationId xmlns:a16="http://schemas.microsoft.com/office/drawing/2014/main" id="{DC5B09BC-C5AD-AFFA-525B-FB4B876181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588" y="2991148"/>
                <a:ext cx="123825" cy="227013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63" y="0"/>
                  </a:cxn>
                  <a:cxn ang="0">
                    <a:pos x="57" y="5"/>
                  </a:cxn>
                  <a:cxn ang="0">
                    <a:pos x="57" y="5"/>
                  </a:cxn>
                  <a:cxn ang="0">
                    <a:pos x="47" y="19"/>
                  </a:cxn>
                  <a:cxn ang="0">
                    <a:pos x="36" y="37"/>
                  </a:cxn>
                  <a:cxn ang="0">
                    <a:pos x="36" y="37"/>
                  </a:cxn>
                  <a:cxn ang="0">
                    <a:pos x="24" y="58"/>
                  </a:cxn>
                  <a:cxn ang="0">
                    <a:pos x="18" y="71"/>
                  </a:cxn>
                  <a:cxn ang="0">
                    <a:pos x="14" y="80"/>
                  </a:cxn>
                  <a:cxn ang="0">
                    <a:pos x="14" y="80"/>
                  </a:cxn>
                  <a:cxn ang="0">
                    <a:pos x="7" y="96"/>
                  </a:cxn>
                  <a:cxn ang="0">
                    <a:pos x="2" y="110"/>
                  </a:cxn>
                  <a:cxn ang="0">
                    <a:pos x="2" y="110"/>
                  </a:cxn>
                  <a:cxn ang="0">
                    <a:pos x="0" y="117"/>
                  </a:cxn>
                  <a:cxn ang="0">
                    <a:pos x="0" y="122"/>
                  </a:cxn>
                  <a:cxn ang="0">
                    <a:pos x="2" y="127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15" y="132"/>
                  </a:cxn>
                  <a:cxn ang="0">
                    <a:pos x="15" y="132"/>
                  </a:cxn>
                  <a:cxn ang="0">
                    <a:pos x="27" y="135"/>
                  </a:cxn>
                  <a:cxn ang="0">
                    <a:pos x="27" y="135"/>
                  </a:cxn>
                  <a:cxn ang="0">
                    <a:pos x="30" y="135"/>
                  </a:cxn>
                  <a:cxn ang="0">
                    <a:pos x="30" y="135"/>
                  </a:cxn>
                  <a:cxn ang="0">
                    <a:pos x="35" y="135"/>
                  </a:cxn>
                  <a:cxn ang="0">
                    <a:pos x="39" y="136"/>
                  </a:cxn>
                  <a:cxn ang="0">
                    <a:pos x="48" y="139"/>
                  </a:cxn>
                  <a:cxn ang="0">
                    <a:pos x="48" y="139"/>
                  </a:cxn>
                  <a:cxn ang="0">
                    <a:pos x="57" y="140"/>
                  </a:cxn>
                  <a:cxn ang="0">
                    <a:pos x="65" y="142"/>
                  </a:cxn>
                  <a:cxn ang="0">
                    <a:pos x="65" y="142"/>
                  </a:cxn>
                  <a:cxn ang="0">
                    <a:pos x="69" y="142"/>
                  </a:cxn>
                  <a:cxn ang="0">
                    <a:pos x="73" y="143"/>
                  </a:cxn>
                  <a:cxn ang="0">
                    <a:pos x="73" y="143"/>
                  </a:cxn>
                  <a:cxn ang="0">
                    <a:pos x="76" y="142"/>
                  </a:cxn>
                  <a:cxn ang="0">
                    <a:pos x="77" y="140"/>
                  </a:cxn>
                  <a:cxn ang="0">
                    <a:pos x="77" y="140"/>
                  </a:cxn>
                  <a:cxn ang="0">
                    <a:pos x="78" y="136"/>
                  </a:cxn>
                  <a:cxn ang="0">
                    <a:pos x="78" y="132"/>
                  </a:cxn>
                  <a:cxn ang="0">
                    <a:pos x="76" y="126"/>
                  </a:cxn>
                  <a:cxn ang="0">
                    <a:pos x="76" y="126"/>
                  </a:cxn>
                  <a:cxn ang="0">
                    <a:pos x="74" y="123"/>
                  </a:cxn>
                  <a:cxn ang="0">
                    <a:pos x="72" y="122"/>
                  </a:cxn>
                  <a:cxn ang="0">
                    <a:pos x="69" y="121"/>
                  </a:cxn>
                  <a:cxn ang="0">
                    <a:pos x="69" y="117"/>
                  </a:cxn>
                  <a:cxn ang="0">
                    <a:pos x="69" y="117"/>
                  </a:cxn>
                  <a:cxn ang="0">
                    <a:pos x="66" y="77"/>
                  </a:cxn>
                  <a:cxn ang="0">
                    <a:pos x="65" y="34"/>
                  </a:cxn>
                  <a:cxn ang="0">
                    <a:pos x="65" y="34"/>
                  </a:cxn>
                  <a:cxn ang="0">
                    <a:pos x="65" y="19"/>
                  </a:cxn>
                  <a:cxn ang="0">
                    <a:pos x="64" y="1"/>
                  </a:cxn>
                  <a:cxn ang="0">
                    <a:pos x="64" y="1"/>
                  </a:cxn>
                  <a:cxn ang="0">
                    <a:pos x="63" y="0"/>
                  </a:cxn>
                </a:cxnLst>
                <a:rect l="0" t="0" r="r" b="b"/>
                <a:pathLst>
                  <a:path w="78" h="143">
                    <a:moveTo>
                      <a:pt x="63" y="0"/>
                    </a:moveTo>
                    <a:lnTo>
                      <a:pt x="63" y="0"/>
                    </a:lnTo>
                    <a:lnTo>
                      <a:pt x="57" y="5"/>
                    </a:lnTo>
                    <a:lnTo>
                      <a:pt x="57" y="5"/>
                    </a:lnTo>
                    <a:lnTo>
                      <a:pt x="47" y="19"/>
                    </a:lnTo>
                    <a:lnTo>
                      <a:pt x="36" y="37"/>
                    </a:lnTo>
                    <a:lnTo>
                      <a:pt x="36" y="37"/>
                    </a:lnTo>
                    <a:lnTo>
                      <a:pt x="24" y="58"/>
                    </a:lnTo>
                    <a:lnTo>
                      <a:pt x="18" y="71"/>
                    </a:lnTo>
                    <a:lnTo>
                      <a:pt x="14" y="80"/>
                    </a:lnTo>
                    <a:lnTo>
                      <a:pt x="14" y="80"/>
                    </a:lnTo>
                    <a:lnTo>
                      <a:pt x="7" y="96"/>
                    </a:lnTo>
                    <a:lnTo>
                      <a:pt x="2" y="110"/>
                    </a:lnTo>
                    <a:lnTo>
                      <a:pt x="2" y="110"/>
                    </a:lnTo>
                    <a:lnTo>
                      <a:pt x="0" y="117"/>
                    </a:lnTo>
                    <a:lnTo>
                      <a:pt x="0" y="122"/>
                    </a:lnTo>
                    <a:lnTo>
                      <a:pt x="2" y="127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15" y="132"/>
                    </a:lnTo>
                    <a:lnTo>
                      <a:pt x="15" y="132"/>
                    </a:lnTo>
                    <a:lnTo>
                      <a:pt x="27" y="135"/>
                    </a:lnTo>
                    <a:lnTo>
                      <a:pt x="27" y="135"/>
                    </a:lnTo>
                    <a:lnTo>
                      <a:pt x="30" y="135"/>
                    </a:lnTo>
                    <a:lnTo>
                      <a:pt x="30" y="135"/>
                    </a:lnTo>
                    <a:lnTo>
                      <a:pt x="35" y="135"/>
                    </a:lnTo>
                    <a:lnTo>
                      <a:pt x="39" y="136"/>
                    </a:lnTo>
                    <a:lnTo>
                      <a:pt x="48" y="139"/>
                    </a:lnTo>
                    <a:lnTo>
                      <a:pt x="48" y="139"/>
                    </a:lnTo>
                    <a:lnTo>
                      <a:pt x="57" y="140"/>
                    </a:lnTo>
                    <a:lnTo>
                      <a:pt x="65" y="142"/>
                    </a:lnTo>
                    <a:lnTo>
                      <a:pt x="65" y="142"/>
                    </a:lnTo>
                    <a:lnTo>
                      <a:pt x="69" y="142"/>
                    </a:lnTo>
                    <a:lnTo>
                      <a:pt x="73" y="143"/>
                    </a:lnTo>
                    <a:lnTo>
                      <a:pt x="73" y="143"/>
                    </a:lnTo>
                    <a:lnTo>
                      <a:pt x="76" y="142"/>
                    </a:lnTo>
                    <a:lnTo>
                      <a:pt x="77" y="140"/>
                    </a:lnTo>
                    <a:lnTo>
                      <a:pt x="77" y="140"/>
                    </a:lnTo>
                    <a:lnTo>
                      <a:pt x="78" y="136"/>
                    </a:lnTo>
                    <a:lnTo>
                      <a:pt x="78" y="132"/>
                    </a:lnTo>
                    <a:lnTo>
                      <a:pt x="76" y="126"/>
                    </a:lnTo>
                    <a:lnTo>
                      <a:pt x="76" y="126"/>
                    </a:lnTo>
                    <a:lnTo>
                      <a:pt x="74" y="123"/>
                    </a:lnTo>
                    <a:lnTo>
                      <a:pt x="72" y="122"/>
                    </a:lnTo>
                    <a:lnTo>
                      <a:pt x="69" y="121"/>
                    </a:lnTo>
                    <a:lnTo>
                      <a:pt x="69" y="117"/>
                    </a:lnTo>
                    <a:lnTo>
                      <a:pt x="69" y="117"/>
                    </a:lnTo>
                    <a:lnTo>
                      <a:pt x="66" y="77"/>
                    </a:lnTo>
                    <a:lnTo>
                      <a:pt x="65" y="34"/>
                    </a:lnTo>
                    <a:lnTo>
                      <a:pt x="65" y="34"/>
                    </a:lnTo>
                    <a:lnTo>
                      <a:pt x="65" y="19"/>
                    </a:lnTo>
                    <a:lnTo>
                      <a:pt x="64" y="1"/>
                    </a:lnTo>
                    <a:lnTo>
                      <a:pt x="64" y="1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rgbClr val="FBB625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9" name="Freeform 733">
                <a:extLst>
                  <a:ext uri="{FF2B5EF4-FFF2-40B4-BE49-F238E27FC236}">
                    <a16:creationId xmlns:a16="http://schemas.microsoft.com/office/drawing/2014/main" id="{B050532A-B312-173F-3736-38CEE65F21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588" y="2991148"/>
                <a:ext cx="123825" cy="227013"/>
              </a:xfrm>
              <a:custGeom>
                <a:avLst/>
                <a:gdLst/>
                <a:ahLst/>
                <a:cxnLst>
                  <a:cxn ang="0">
                    <a:pos x="63" y="0"/>
                  </a:cxn>
                  <a:cxn ang="0">
                    <a:pos x="63" y="0"/>
                  </a:cxn>
                  <a:cxn ang="0">
                    <a:pos x="57" y="5"/>
                  </a:cxn>
                  <a:cxn ang="0">
                    <a:pos x="57" y="5"/>
                  </a:cxn>
                  <a:cxn ang="0">
                    <a:pos x="47" y="19"/>
                  </a:cxn>
                  <a:cxn ang="0">
                    <a:pos x="36" y="37"/>
                  </a:cxn>
                  <a:cxn ang="0">
                    <a:pos x="36" y="37"/>
                  </a:cxn>
                  <a:cxn ang="0">
                    <a:pos x="24" y="58"/>
                  </a:cxn>
                  <a:cxn ang="0">
                    <a:pos x="18" y="71"/>
                  </a:cxn>
                  <a:cxn ang="0">
                    <a:pos x="14" y="80"/>
                  </a:cxn>
                  <a:cxn ang="0">
                    <a:pos x="14" y="80"/>
                  </a:cxn>
                  <a:cxn ang="0">
                    <a:pos x="7" y="96"/>
                  </a:cxn>
                  <a:cxn ang="0">
                    <a:pos x="2" y="110"/>
                  </a:cxn>
                  <a:cxn ang="0">
                    <a:pos x="2" y="110"/>
                  </a:cxn>
                  <a:cxn ang="0">
                    <a:pos x="0" y="117"/>
                  </a:cxn>
                  <a:cxn ang="0">
                    <a:pos x="0" y="122"/>
                  </a:cxn>
                  <a:cxn ang="0">
                    <a:pos x="2" y="127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6" y="130"/>
                  </a:cxn>
                  <a:cxn ang="0">
                    <a:pos x="15" y="132"/>
                  </a:cxn>
                  <a:cxn ang="0">
                    <a:pos x="15" y="132"/>
                  </a:cxn>
                  <a:cxn ang="0">
                    <a:pos x="27" y="135"/>
                  </a:cxn>
                  <a:cxn ang="0">
                    <a:pos x="27" y="135"/>
                  </a:cxn>
                  <a:cxn ang="0">
                    <a:pos x="30" y="135"/>
                  </a:cxn>
                  <a:cxn ang="0">
                    <a:pos x="30" y="135"/>
                  </a:cxn>
                  <a:cxn ang="0">
                    <a:pos x="35" y="135"/>
                  </a:cxn>
                  <a:cxn ang="0">
                    <a:pos x="39" y="136"/>
                  </a:cxn>
                  <a:cxn ang="0">
                    <a:pos x="48" y="139"/>
                  </a:cxn>
                  <a:cxn ang="0">
                    <a:pos x="48" y="139"/>
                  </a:cxn>
                  <a:cxn ang="0">
                    <a:pos x="57" y="140"/>
                  </a:cxn>
                  <a:cxn ang="0">
                    <a:pos x="65" y="142"/>
                  </a:cxn>
                  <a:cxn ang="0">
                    <a:pos x="65" y="142"/>
                  </a:cxn>
                  <a:cxn ang="0">
                    <a:pos x="69" y="142"/>
                  </a:cxn>
                  <a:cxn ang="0">
                    <a:pos x="73" y="143"/>
                  </a:cxn>
                  <a:cxn ang="0">
                    <a:pos x="73" y="143"/>
                  </a:cxn>
                  <a:cxn ang="0">
                    <a:pos x="76" y="142"/>
                  </a:cxn>
                  <a:cxn ang="0">
                    <a:pos x="77" y="140"/>
                  </a:cxn>
                  <a:cxn ang="0">
                    <a:pos x="77" y="140"/>
                  </a:cxn>
                  <a:cxn ang="0">
                    <a:pos x="78" y="136"/>
                  </a:cxn>
                  <a:cxn ang="0">
                    <a:pos x="78" y="132"/>
                  </a:cxn>
                  <a:cxn ang="0">
                    <a:pos x="76" y="126"/>
                  </a:cxn>
                  <a:cxn ang="0">
                    <a:pos x="76" y="126"/>
                  </a:cxn>
                  <a:cxn ang="0">
                    <a:pos x="74" y="123"/>
                  </a:cxn>
                  <a:cxn ang="0">
                    <a:pos x="72" y="122"/>
                  </a:cxn>
                  <a:cxn ang="0">
                    <a:pos x="69" y="121"/>
                  </a:cxn>
                  <a:cxn ang="0">
                    <a:pos x="69" y="117"/>
                  </a:cxn>
                  <a:cxn ang="0">
                    <a:pos x="69" y="117"/>
                  </a:cxn>
                  <a:cxn ang="0">
                    <a:pos x="66" y="77"/>
                  </a:cxn>
                  <a:cxn ang="0">
                    <a:pos x="65" y="34"/>
                  </a:cxn>
                  <a:cxn ang="0">
                    <a:pos x="65" y="34"/>
                  </a:cxn>
                  <a:cxn ang="0">
                    <a:pos x="65" y="19"/>
                  </a:cxn>
                  <a:cxn ang="0">
                    <a:pos x="64" y="1"/>
                  </a:cxn>
                  <a:cxn ang="0">
                    <a:pos x="64" y="1"/>
                  </a:cxn>
                  <a:cxn ang="0">
                    <a:pos x="63" y="0"/>
                  </a:cxn>
                </a:cxnLst>
                <a:rect l="0" t="0" r="r" b="b"/>
                <a:pathLst>
                  <a:path w="78" h="143">
                    <a:moveTo>
                      <a:pt x="63" y="0"/>
                    </a:moveTo>
                    <a:lnTo>
                      <a:pt x="63" y="0"/>
                    </a:lnTo>
                    <a:lnTo>
                      <a:pt x="57" y="5"/>
                    </a:lnTo>
                    <a:lnTo>
                      <a:pt x="57" y="5"/>
                    </a:lnTo>
                    <a:lnTo>
                      <a:pt x="47" y="19"/>
                    </a:lnTo>
                    <a:lnTo>
                      <a:pt x="36" y="37"/>
                    </a:lnTo>
                    <a:lnTo>
                      <a:pt x="36" y="37"/>
                    </a:lnTo>
                    <a:lnTo>
                      <a:pt x="24" y="58"/>
                    </a:lnTo>
                    <a:lnTo>
                      <a:pt x="18" y="71"/>
                    </a:lnTo>
                    <a:lnTo>
                      <a:pt x="14" y="80"/>
                    </a:lnTo>
                    <a:lnTo>
                      <a:pt x="14" y="80"/>
                    </a:lnTo>
                    <a:lnTo>
                      <a:pt x="7" y="96"/>
                    </a:lnTo>
                    <a:lnTo>
                      <a:pt x="2" y="110"/>
                    </a:lnTo>
                    <a:lnTo>
                      <a:pt x="2" y="110"/>
                    </a:lnTo>
                    <a:lnTo>
                      <a:pt x="0" y="117"/>
                    </a:lnTo>
                    <a:lnTo>
                      <a:pt x="0" y="122"/>
                    </a:lnTo>
                    <a:lnTo>
                      <a:pt x="2" y="127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6" y="130"/>
                    </a:lnTo>
                    <a:lnTo>
                      <a:pt x="15" y="132"/>
                    </a:lnTo>
                    <a:lnTo>
                      <a:pt x="15" y="132"/>
                    </a:lnTo>
                    <a:lnTo>
                      <a:pt x="27" y="135"/>
                    </a:lnTo>
                    <a:lnTo>
                      <a:pt x="27" y="135"/>
                    </a:lnTo>
                    <a:lnTo>
                      <a:pt x="30" y="135"/>
                    </a:lnTo>
                    <a:lnTo>
                      <a:pt x="30" y="135"/>
                    </a:lnTo>
                    <a:lnTo>
                      <a:pt x="35" y="135"/>
                    </a:lnTo>
                    <a:lnTo>
                      <a:pt x="39" y="136"/>
                    </a:lnTo>
                    <a:lnTo>
                      <a:pt x="48" y="139"/>
                    </a:lnTo>
                    <a:lnTo>
                      <a:pt x="48" y="139"/>
                    </a:lnTo>
                    <a:lnTo>
                      <a:pt x="57" y="140"/>
                    </a:lnTo>
                    <a:lnTo>
                      <a:pt x="65" y="142"/>
                    </a:lnTo>
                    <a:lnTo>
                      <a:pt x="65" y="142"/>
                    </a:lnTo>
                    <a:lnTo>
                      <a:pt x="69" y="142"/>
                    </a:lnTo>
                    <a:lnTo>
                      <a:pt x="73" y="143"/>
                    </a:lnTo>
                    <a:lnTo>
                      <a:pt x="73" y="143"/>
                    </a:lnTo>
                    <a:lnTo>
                      <a:pt x="76" y="142"/>
                    </a:lnTo>
                    <a:lnTo>
                      <a:pt x="77" y="140"/>
                    </a:lnTo>
                    <a:lnTo>
                      <a:pt x="77" y="140"/>
                    </a:lnTo>
                    <a:lnTo>
                      <a:pt x="78" y="136"/>
                    </a:lnTo>
                    <a:lnTo>
                      <a:pt x="78" y="132"/>
                    </a:lnTo>
                    <a:lnTo>
                      <a:pt x="76" y="126"/>
                    </a:lnTo>
                    <a:lnTo>
                      <a:pt x="76" y="126"/>
                    </a:lnTo>
                    <a:lnTo>
                      <a:pt x="74" y="123"/>
                    </a:lnTo>
                    <a:lnTo>
                      <a:pt x="72" y="122"/>
                    </a:lnTo>
                    <a:lnTo>
                      <a:pt x="69" y="121"/>
                    </a:lnTo>
                    <a:lnTo>
                      <a:pt x="69" y="117"/>
                    </a:lnTo>
                    <a:lnTo>
                      <a:pt x="69" y="117"/>
                    </a:lnTo>
                    <a:lnTo>
                      <a:pt x="66" y="77"/>
                    </a:lnTo>
                    <a:lnTo>
                      <a:pt x="65" y="34"/>
                    </a:lnTo>
                    <a:lnTo>
                      <a:pt x="65" y="34"/>
                    </a:lnTo>
                    <a:lnTo>
                      <a:pt x="65" y="19"/>
                    </a:lnTo>
                    <a:lnTo>
                      <a:pt x="64" y="1"/>
                    </a:lnTo>
                    <a:lnTo>
                      <a:pt x="64" y="1"/>
                    </a:lnTo>
                    <a:lnTo>
                      <a:pt x="63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0" name="Freeform 734">
                <a:extLst>
                  <a:ext uri="{FF2B5EF4-FFF2-40B4-BE49-F238E27FC236}">
                    <a16:creationId xmlns:a16="http://schemas.microsoft.com/office/drawing/2014/main" id="{7948937B-C7F1-9893-A00F-0D40D5A113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3075" y="2192636"/>
                <a:ext cx="379413" cy="795338"/>
              </a:xfrm>
              <a:custGeom>
                <a:avLst/>
                <a:gdLst/>
                <a:ahLst/>
                <a:cxnLst>
                  <a:cxn ang="0">
                    <a:pos x="180" y="1"/>
                  </a:cxn>
                  <a:cxn ang="0">
                    <a:pos x="175" y="4"/>
                  </a:cxn>
                  <a:cxn ang="0">
                    <a:pos x="146" y="47"/>
                  </a:cxn>
                  <a:cxn ang="0">
                    <a:pos x="107" y="116"/>
                  </a:cxn>
                  <a:cxn ang="0">
                    <a:pos x="80" y="164"/>
                  </a:cxn>
                  <a:cxn ang="0">
                    <a:pos x="46" y="263"/>
                  </a:cxn>
                  <a:cxn ang="0">
                    <a:pos x="27" y="331"/>
                  </a:cxn>
                  <a:cxn ang="0">
                    <a:pos x="0" y="445"/>
                  </a:cxn>
                  <a:cxn ang="0">
                    <a:pos x="4" y="486"/>
                  </a:cxn>
                  <a:cxn ang="0">
                    <a:pos x="29" y="477"/>
                  </a:cxn>
                  <a:cxn ang="0">
                    <a:pos x="29" y="477"/>
                  </a:cxn>
                  <a:cxn ang="0">
                    <a:pos x="53" y="372"/>
                  </a:cxn>
                  <a:cxn ang="0">
                    <a:pos x="90" y="245"/>
                  </a:cxn>
                  <a:cxn ang="0">
                    <a:pos x="95" y="239"/>
                  </a:cxn>
                  <a:cxn ang="0">
                    <a:pos x="95" y="240"/>
                  </a:cxn>
                  <a:cxn ang="0">
                    <a:pos x="97" y="238"/>
                  </a:cxn>
                  <a:cxn ang="0">
                    <a:pos x="109" y="211"/>
                  </a:cxn>
                  <a:cxn ang="0">
                    <a:pos x="116" y="197"/>
                  </a:cxn>
                  <a:cxn ang="0">
                    <a:pos x="107" y="224"/>
                  </a:cxn>
                  <a:cxn ang="0">
                    <a:pos x="95" y="261"/>
                  </a:cxn>
                  <a:cxn ang="0">
                    <a:pos x="57" y="398"/>
                  </a:cxn>
                  <a:cxn ang="0">
                    <a:pos x="42" y="463"/>
                  </a:cxn>
                  <a:cxn ang="0">
                    <a:pos x="48" y="457"/>
                  </a:cxn>
                  <a:cxn ang="0">
                    <a:pos x="62" y="400"/>
                  </a:cxn>
                  <a:cxn ang="0">
                    <a:pos x="79" y="337"/>
                  </a:cxn>
                  <a:cxn ang="0">
                    <a:pos x="103" y="280"/>
                  </a:cxn>
                  <a:cxn ang="0">
                    <a:pos x="133" y="209"/>
                  </a:cxn>
                  <a:cxn ang="0">
                    <a:pos x="133" y="209"/>
                  </a:cxn>
                  <a:cxn ang="0">
                    <a:pos x="128" y="221"/>
                  </a:cxn>
                  <a:cxn ang="0">
                    <a:pos x="132" y="217"/>
                  </a:cxn>
                  <a:cxn ang="0">
                    <a:pos x="150" y="179"/>
                  </a:cxn>
                  <a:cxn ang="0">
                    <a:pos x="166" y="147"/>
                  </a:cxn>
                  <a:cxn ang="0">
                    <a:pos x="180" y="122"/>
                  </a:cxn>
                  <a:cxn ang="0">
                    <a:pos x="183" y="123"/>
                  </a:cxn>
                  <a:cxn ang="0">
                    <a:pos x="174" y="140"/>
                  </a:cxn>
                  <a:cxn ang="0">
                    <a:pos x="159" y="164"/>
                  </a:cxn>
                  <a:cxn ang="0">
                    <a:pos x="146" y="192"/>
                  </a:cxn>
                  <a:cxn ang="0">
                    <a:pos x="141" y="203"/>
                  </a:cxn>
                  <a:cxn ang="0">
                    <a:pos x="142" y="202"/>
                  </a:cxn>
                  <a:cxn ang="0">
                    <a:pos x="159" y="168"/>
                  </a:cxn>
                  <a:cxn ang="0">
                    <a:pos x="205" y="93"/>
                  </a:cxn>
                  <a:cxn ang="0">
                    <a:pos x="239" y="53"/>
                  </a:cxn>
                  <a:cxn ang="0">
                    <a:pos x="239" y="47"/>
                  </a:cxn>
                  <a:cxn ang="0">
                    <a:pos x="230" y="34"/>
                  </a:cxn>
                  <a:cxn ang="0">
                    <a:pos x="205" y="12"/>
                  </a:cxn>
                  <a:cxn ang="0">
                    <a:pos x="192" y="1"/>
                  </a:cxn>
                </a:cxnLst>
                <a:rect l="0" t="0" r="r" b="b"/>
                <a:pathLst>
                  <a:path w="239" h="501">
                    <a:moveTo>
                      <a:pt x="188" y="0"/>
                    </a:moveTo>
                    <a:lnTo>
                      <a:pt x="188" y="0"/>
                    </a:lnTo>
                    <a:lnTo>
                      <a:pt x="180" y="1"/>
                    </a:lnTo>
                    <a:lnTo>
                      <a:pt x="180" y="1"/>
                    </a:lnTo>
                    <a:lnTo>
                      <a:pt x="176" y="3"/>
                    </a:lnTo>
                    <a:lnTo>
                      <a:pt x="175" y="4"/>
                    </a:lnTo>
                    <a:lnTo>
                      <a:pt x="172" y="9"/>
                    </a:lnTo>
                    <a:lnTo>
                      <a:pt x="172" y="9"/>
                    </a:lnTo>
                    <a:lnTo>
                      <a:pt x="146" y="47"/>
                    </a:lnTo>
                    <a:lnTo>
                      <a:pt x="146" y="47"/>
                    </a:lnTo>
                    <a:lnTo>
                      <a:pt x="125" y="83"/>
                    </a:lnTo>
                    <a:lnTo>
                      <a:pt x="107" y="116"/>
                    </a:lnTo>
                    <a:lnTo>
                      <a:pt x="88" y="148"/>
                    </a:lnTo>
                    <a:lnTo>
                      <a:pt x="88" y="148"/>
                    </a:lnTo>
                    <a:lnTo>
                      <a:pt x="80" y="164"/>
                    </a:lnTo>
                    <a:lnTo>
                      <a:pt x="72" y="184"/>
                    </a:lnTo>
                    <a:lnTo>
                      <a:pt x="58" y="223"/>
                    </a:lnTo>
                    <a:lnTo>
                      <a:pt x="46" y="263"/>
                    </a:lnTo>
                    <a:lnTo>
                      <a:pt x="36" y="297"/>
                    </a:lnTo>
                    <a:lnTo>
                      <a:pt x="36" y="297"/>
                    </a:lnTo>
                    <a:lnTo>
                      <a:pt x="27" y="331"/>
                    </a:lnTo>
                    <a:lnTo>
                      <a:pt x="15" y="375"/>
                    </a:lnTo>
                    <a:lnTo>
                      <a:pt x="0" y="445"/>
                    </a:lnTo>
                    <a:lnTo>
                      <a:pt x="0" y="445"/>
                    </a:lnTo>
                    <a:lnTo>
                      <a:pt x="2" y="469"/>
                    </a:lnTo>
                    <a:lnTo>
                      <a:pt x="4" y="486"/>
                    </a:lnTo>
                    <a:lnTo>
                      <a:pt x="4" y="486"/>
                    </a:lnTo>
                    <a:lnTo>
                      <a:pt x="7" y="501"/>
                    </a:lnTo>
                    <a:lnTo>
                      <a:pt x="7" y="501"/>
                    </a:lnTo>
                    <a:lnTo>
                      <a:pt x="29" y="477"/>
                    </a:lnTo>
                    <a:lnTo>
                      <a:pt x="29" y="477"/>
                    </a:lnTo>
                    <a:lnTo>
                      <a:pt x="29" y="477"/>
                    </a:lnTo>
                    <a:lnTo>
                      <a:pt x="29" y="477"/>
                    </a:lnTo>
                    <a:lnTo>
                      <a:pt x="41" y="423"/>
                    </a:lnTo>
                    <a:lnTo>
                      <a:pt x="53" y="372"/>
                    </a:lnTo>
                    <a:lnTo>
                      <a:pt x="53" y="372"/>
                    </a:lnTo>
                    <a:lnTo>
                      <a:pt x="72" y="305"/>
                    </a:lnTo>
                    <a:lnTo>
                      <a:pt x="83" y="266"/>
                    </a:lnTo>
                    <a:lnTo>
                      <a:pt x="90" y="245"/>
                    </a:lnTo>
                    <a:lnTo>
                      <a:pt x="90" y="245"/>
                    </a:lnTo>
                    <a:lnTo>
                      <a:pt x="93" y="240"/>
                    </a:lnTo>
                    <a:lnTo>
                      <a:pt x="95" y="239"/>
                    </a:lnTo>
                    <a:lnTo>
                      <a:pt x="95" y="239"/>
                    </a:lnTo>
                    <a:lnTo>
                      <a:pt x="95" y="240"/>
                    </a:lnTo>
                    <a:lnTo>
                      <a:pt x="95" y="240"/>
                    </a:lnTo>
                    <a:lnTo>
                      <a:pt x="95" y="242"/>
                    </a:lnTo>
                    <a:lnTo>
                      <a:pt x="95" y="242"/>
                    </a:lnTo>
                    <a:lnTo>
                      <a:pt x="97" y="238"/>
                    </a:lnTo>
                    <a:lnTo>
                      <a:pt x="103" y="227"/>
                    </a:lnTo>
                    <a:lnTo>
                      <a:pt x="103" y="227"/>
                    </a:lnTo>
                    <a:lnTo>
                      <a:pt x="109" y="211"/>
                    </a:lnTo>
                    <a:lnTo>
                      <a:pt x="114" y="198"/>
                    </a:lnTo>
                    <a:lnTo>
                      <a:pt x="114" y="198"/>
                    </a:lnTo>
                    <a:lnTo>
                      <a:pt x="116" y="197"/>
                    </a:lnTo>
                    <a:lnTo>
                      <a:pt x="116" y="197"/>
                    </a:lnTo>
                    <a:lnTo>
                      <a:pt x="113" y="206"/>
                    </a:lnTo>
                    <a:lnTo>
                      <a:pt x="107" y="224"/>
                    </a:lnTo>
                    <a:lnTo>
                      <a:pt x="107" y="224"/>
                    </a:lnTo>
                    <a:lnTo>
                      <a:pt x="95" y="261"/>
                    </a:lnTo>
                    <a:lnTo>
                      <a:pt x="95" y="261"/>
                    </a:lnTo>
                    <a:lnTo>
                      <a:pt x="62" y="373"/>
                    </a:lnTo>
                    <a:lnTo>
                      <a:pt x="62" y="373"/>
                    </a:lnTo>
                    <a:lnTo>
                      <a:pt x="57" y="398"/>
                    </a:lnTo>
                    <a:lnTo>
                      <a:pt x="51" y="423"/>
                    </a:lnTo>
                    <a:lnTo>
                      <a:pt x="51" y="423"/>
                    </a:lnTo>
                    <a:lnTo>
                      <a:pt x="42" y="463"/>
                    </a:lnTo>
                    <a:lnTo>
                      <a:pt x="42" y="463"/>
                    </a:lnTo>
                    <a:lnTo>
                      <a:pt x="48" y="457"/>
                    </a:lnTo>
                    <a:lnTo>
                      <a:pt x="48" y="457"/>
                    </a:lnTo>
                    <a:lnTo>
                      <a:pt x="53" y="437"/>
                    </a:lnTo>
                    <a:lnTo>
                      <a:pt x="53" y="437"/>
                    </a:lnTo>
                    <a:lnTo>
                      <a:pt x="62" y="400"/>
                    </a:lnTo>
                    <a:lnTo>
                      <a:pt x="62" y="400"/>
                    </a:lnTo>
                    <a:lnTo>
                      <a:pt x="71" y="368"/>
                    </a:lnTo>
                    <a:lnTo>
                      <a:pt x="79" y="337"/>
                    </a:lnTo>
                    <a:lnTo>
                      <a:pt x="79" y="337"/>
                    </a:lnTo>
                    <a:lnTo>
                      <a:pt x="103" y="280"/>
                    </a:lnTo>
                    <a:lnTo>
                      <a:pt x="103" y="280"/>
                    </a:lnTo>
                    <a:lnTo>
                      <a:pt x="125" y="222"/>
                    </a:lnTo>
                    <a:lnTo>
                      <a:pt x="125" y="222"/>
                    </a:lnTo>
                    <a:lnTo>
                      <a:pt x="133" y="209"/>
                    </a:lnTo>
                    <a:lnTo>
                      <a:pt x="133" y="209"/>
                    </a:lnTo>
                    <a:lnTo>
                      <a:pt x="133" y="209"/>
                    </a:lnTo>
                    <a:lnTo>
                      <a:pt x="133" y="209"/>
                    </a:lnTo>
                    <a:lnTo>
                      <a:pt x="130" y="213"/>
                    </a:lnTo>
                    <a:lnTo>
                      <a:pt x="128" y="221"/>
                    </a:lnTo>
                    <a:lnTo>
                      <a:pt x="128" y="221"/>
                    </a:lnTo>
                    <a:lnTo>
                      <a:pt x="128" y="222"/>
                    </a:lnTo>
                    <a:lnTo>
                      <a:pt x="128" y="222"/>
                    </a:lnTo>
                    <a:lnTo>
                      <a:pt x="132" y="217"/>
                    </a:lnTo>
                    <a:lnTo>
                      <a:pt x="137" y="206"/>
                    </a:lnTo>
                    <a:lnTo>
                      <a:pt x="137" y="206"/>
                    </a:lnTo>
                    <a:lnTo>
                      <a:pt x="150" y="179"/>
                    </a:lnTo>
                    <a:lnTo>
                      <a:pt x="150" y="179"/>
                    </a:lnTo>
                    <a:lnTo>
                      <a:pt x="166" y="147"/>
                    </a:lnTo>
                    <a:lnTo>
                      <a:pt x="166" y="147"/>
                    </a:lnTo>
                    <a:lnTo>
                      <a:pt x="172" y="135"/>
                    </a:lnTo>
                    <a:lnTo>
                      <a:pt x="180" y="122"/>
                    </a:lnTo>
                    <a:lnTo>
                      <a:pt x="180" y="122"/>
                    </a:lnTo>
                    <a:lnTo>
                      <a:pt x="183" y="121"/>
                    </a:lnTo>
                    <a:lnTo>
                      <a:pt x="183" y="121"/>
                    </a:lnTo>
                    <a:lnTo>
                      <a:pt x="183" y="123"/>
                    </a:lnTo>
                    <a:lnTo>
                      <a:pt x="180" y="126"/>
                    </a:lnTo>
                    <a:lnTo>
                      <a:pt x="180" y="126"/>
                    </a:lnTo>
                    <a:lnTo>
                      <a:pt x="174" y="140"/>
                    </a:lnTo>
                    <a:lnTo>
                      <a:pt x="174" y="140"/>
                    </a:lnTo>
                    <a:lnTo>
                      <a:pt x="167" y="151"/>
                    </a:lnTo>
                    <a:lnTo>
                      <a:pt x="159" y="164"/>
                    </a:lnTo>
                    <a:lnTo>
                      <a:pt x="159" y="164"/>
                    </a:lnTo>
                    <a:lnTo>
                      <a:pt x="153" y="176"/>
                    </a:lnTo>
                    <a:lnTo>
                      <a:pt x="146" y="192"/>
                    </a:lnTo>
                    <a:lnTo>
                      <a:pt x="146" y="192"/>
                    </a:lnTo>
                    <a:lnTo>
                      <a:pt x="142" y="200"/>
                    </a:lnTo>
                    <a:lnTo>
                      <a:pt x="141" y="203"/>
                    </a:lnTo>
                    <a:lnTo>
                      <a:pt x="141" y="203"/>
                    </a:lnTo>
                    <a:lnTo>
                      <a:pt x="142" y="202"/>
                    </a:lnTo>
                    <a:lnTo>
                      <a:pt x="142" y="202"/>
                    </a:lnTo>
                    <a:lnTo>
                      <a:pt x="150" y="185"/>
                    </a:lnTo>
                    <a:lnTo>
                      <a:pt x="159" y="168"/>
                    </a:lnTo>
                    <a:lnTo>
                      <a:pt x="159" y="168"/>
                    </a:lnTo>
                    <a:lnTo>
                      <a:pt x="180" y="133"/>
                    </a:lnTo>
                    <a:lnTo>
                      <a:pt x="180" y="133"/>
                    </a:lnTo>
                    <a:lnTo>
                      <a:pt x="205" y="93"/>
                    </a:lnTo>
                    <a:lnTo>
                      <a:pt x="205" y="93"/>
                    </a:lnTo>
                    <a:lnTo>
                      <a:pt x="222" y="72"/>
                    </a:lnTo>
                    <a:lnTo>
                      <a:pt x="239" y="53"/>
                    </a:lnTo>
                    <a:lnTo>
                      <a:pt x="239" y="53"/>
                    </a:lnTo>
                    <a:lnTo>
                      <a:pt x="239" y="50"/>
                    </a:lnTo>
                    <a:lnTo>
                      <a:pt x="239" y="47"/>
                    </a:lnTo>
                    <a:lnTo>
                      <a:pt x="237" y="42"/>
                    </a:lnTo>
                    <a:lnTo>
                      <a:pt x="234" y="37"/>
                    </a:lnTo>
                    <a:lnTo>
                      <a:pt x="230" y="34"/>
                    </a:lnTo>
                    <a:lnTo>
                      <a:pt x="230" y="34"/>
                    </a:lnTo>
                    <a:lnTo>
                      <a:pt x="217" y="24"/>
                    </a:lnTo>
                    <a:lnTo>
                      <a:pt x="205" y="12"/>
                    </a:lnTo>
                    <a:lnTo>
                      <a:pt x="205" y="12"/>
                    </a:lnTo>
                    <a:lnTo>
                      <a:pt x="198" y="7"/>
                    </a:lnTo>
                    <a:lnTo>
                      <a:pt x="192" y="1"/>
                    </a:lnTo>
                    <a:lnTo>
                      <a:pt x="192" y="1"/>
                    </a:lnTo>
                    <a:lnTo>
                      <a:pt x="188" y="0"/>
                    </a:lnTo>
                    <a:close/>
                  </a:path>
                </a:pathLst>
              </a:custGeom>
              <a:solidFill>
                <a:srgbClr val="FCC55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1" name="Freeform 735">
                <a:extLst>
                  <a:ext uri="{FF2B5EF4-FFF2-40B4-BE49-F238E27FC236}">
                    <a16:creationId xmlns:a16="http://schemas.microsoft.com/office/drawing/2014/main" id="{58BEFD88-C904-34E2-C97C-36A747CB35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3075" y="2192636"/>
                <a:ext cx="379413" cy="795338"/>
              </a:xfrm>
              <a:custGeom>
                <a:avLst/>
                <a:gdLst/>
                <a:ahLst/>
                <a:cxnLst>
                  <a:cxn ang="0">
                    <a:pos x="180" y="1"/>
                  </a:cxn>
                  <a:cxn ang="0">
                    <a:pos x="175" y="4"/>
                  </a:cxn>
                  <a:cxn ang="0">
                    <a:pos x="146" y="47"/>
                  </a:cxn>
                  <a:cxn ang="0">
                    <a:pos x="107" y="116"/>
                  </a:cxn>
                  <a:cxn ang="0">
                    <a:pos x="80" y="164"/>
                  </a:cxn>
                  <a:cxn ang="0">
                    <a:pos x="46" y="263"/>
                  </a:cxn>
                  <a:cxn ang="0">
                    <a:pos x="27" y="331"/>
                  </a:cxn>
                  <a:cxn ang="0">
                    <a:pos x="0" y="445"/>
                  </a:cxn>
                  <a:cxn ang="0">
                    <a:pos x="4" y="486"/>
                  </a:cxn>
                  <a:cxn ang="0">
                    <a:pos x="29" y="477"/>
                  </a:cxn>
                  <a:cxn ang="0">
                    <a:pos x="29" y="477"/>
                  </a:cxn>
                  <a:cxn ang="0">
                    <a:pos x="53" y="372"/>
                  </a:cxn>
                  <a:cxn ang="0">
                    <a:pos x="90" y="245"/>
                  </a:cxn>
                  <a:cxn ang="0">
                    <a:pos x="95" y="239"/>
                  </a:cxn>
                  <a:cxn ang="0">
                    <a:pos x="95" y="240"/>
                  </a:cxn>
                  <a:cxn ang="0">
                    <a:pos x="97" y="238"/>
                  </a:cxn>
                  <a:cxn ang="0">
                    <a:pos x="109" y="211"/>
                  </a:cxn>
                  <a:cxn ang="0">
                    <a:pos x="116" y="197"/>
                  </a:cxn>
                  <a:cxn ang="0">
                    <a:pos x="107" y="224"/>
                  </a:cxn>
                  <a:cxn ang="0">
                    <a:pos x="95" y="261"/>
                  </a:cxn>
                  <a:cxn ang="0">
                    <a:pos x="57" y="398"/>
                  </a:cxn>
                  <a:cxn ang="0">
                    <a:pos x="42" y="463"/>
                  </a:cxn>
                  <a:cxn ang="0">
                    <a:pos x="48" y="457"/>
                  </a:cxn>
                  <a:cxn ang="0">
                    <a:pos x="62" y="400"/>
                  </a:cxn>
                  <a:cxn ang="0">
                    <a:pos x="79" y="337"/>
                  </a:cxn>
                  <a:cxn ang="0">
                    <a:pos x="103" y="280"/>
                  </a:cxn>
                  <a:cxn ang="0">
                    <a:pos x="133" y="209"/>
                  </a:cxn>
                  <a:cxn ang="0">
                    <a:pos x="133" y="209"/>
                  </a:cxn>
                  <a:cxn ang="0">
                    <a:pos x="128" y="221"/>
                  </a:cxn>
                  <a:cxn ang="0">
                    <a:pos x="132" y="217"/>
                  </a:cxn>
                  <a:cxn ang="0">
                    <a:pos x="150" y="179"/>
                  </a:cxn>
                  <a:cxn ang="0">
                    <a:pos x="166" y="147"/>
                  </a:cxn>
                  <a:cxn ang="0">
                    <a:pos x="180" y="122"/>
                  </a:cxn>
                  <a:cxn ang="0">
                    <a:pos x="183" y="123"/>
                  </a:cxn>
                  <a:cxn ang="0">
                    <a:pos x="174" y="140"/>
                  </a:cxn>
                  <a:cxn ang="0">
                    <a:pos x="159" y="164"/>
                  </a:cxn>
                  <a:cxn ang="0">
                    <a:pos x="146" y="192"/>
                  </a:cxn>
                  <a:cxn ang="0">
                    <a:pos x="141" y="203"/>
                  </a:cxn>
                  <a:cxn ang="0">
                    <a:pos x="142" y="202"/>
                  </a:cxn>
                  <a:cxn ang="0">
                    <a:pos x="159" y="168"/>
                  </a:cxn>
                  <a:cxn ang="0">
                    <a:pos x="205" y="93"/>
                  </a:cxn>
                  <a:cxn ang="0">
                    <a:pos x="239" y="53"/>
                  </a:cxn>
                  <a:cxn ang="0">
                    <a:pos x="239" y="47"/>
                  </a:cxn>
                  <a:cxn ang="0">
                    <a:pos x="230" y="34"/>
                  </a:cxn>
                  <a:cxn ang="0">
                    <a:pos x="205" y="12"/>
                  </a:cxn>
                  <a:cxn ang="0">
                    <a:pos x="192" y="1"/>
                  </a:cxn>
                </a:cxnLst>
                <a:rect l="0" t="0" r="r" b="b"/>
                <a:pathLst>
                  <a:path w="239" h="501">
                    <a:moveTo>
                      <a:pt x="188" y="0"/>
                    </a:moveTo>
                    <a:lnTo>
                      <a:pt x="188" y="0"/>
                    </a:lnTo>
                    <a:lnTo>
                      <a:pt x="180" y="1"/>
                    </a:lnTo>
                    <a:lnTo>
                      <a:pt x="180" y="1"/>
                    </a:lnTo>
                    <a:lnTo>
                      <a:pt x="176" y="3"/>
                    </a:lnTo>
                    <a:lnTo>
                      <a:pt x="175" y="4"/>
                    </a:lnTo>
                    <a:lnTo>
                      <a:pt x="172" y="9"/>
                    </a:lnTo>
                    <a:lnTo>
                      <a:pt x="172" y="9"/>
                    </a:lnTo>
                    <a:lnTo>
                      <a:pt x="146" y="47"/>
                    </a:lnTo>
                    <a:lnTo>
                      <a:pt x="146" y="47"/>
                    </a:lnTo>
                    <a:lnTo>
                      <a:pt x="125" y="83"/>
                    </a:lnTo>
                    <a:lnTo>
                      <a:pt x="107" y="116"/>
                    </a:lnTo>
                    <a:lnTo>
                      <a:pt x="88" y="148"/>
                    </a:lnTo>
                    <a:lnTo>
                      <a:pt x="88" y="148"/>
                    </a:lnTo>
                    <a:lnTo>
                      <a:pt x="80" y="164"/>
                    </a:lnTo>
                    <a:lnTo>
                      <a:pt x="72" y="184"/>
                    </a:lnTo>
                    <a:lnTo>
                      <a:pt x="58" y="223"/>
                    </a:lnTo>
                    <a:lnTo>
                      <a:pt x="46" y="263"/>
                    </a:lnTo>
                    <a:lnTo>
                      <a:pt x="36" y="297"/>
                    </a:lnTo>
                    <a:lnTo>
                      <a:pt x="36" y="297"/>
                    </a:lnTo>
                    <a:lnTo>
                      <a:pt x="27" y="331"/>
                    </a:lnTo>
                    <a:lnTo>
                      <a:pt x="15" y="375"/>
                    </a:lnTo>
                    <a:lnTo>
                      <a:pt x="0" y="445"/>
                    </a:lnTo>
                    <a:lnTo>
                      <a:pt x="0" y="445"/>
                    </a:lnTo>
                    <a:lnTo>
                      <a:pt x="2" y="469"/>
                    </a:lnTo>
                    <a:lnTo>
                      <a:pt x="4" y="486"/>
                    </a:lnTo>
                    <a:lnTo>
                      <a:pt x="4" y="486"/>
                    </a:lnTo>
                    <a:lnTo>
                      <a:pt x="7" y="501"/>
                    </a:lnTo>
                    <a:lnTo>
                      <a:pt x="7" y="501"/>
                    </a:lnTo>
                    <a:lnTo>
                      <a:pt x="29" y="477"/>
                    </a:lnTo>
                    <a:lnTo>
                      <a:pt x="29" y="477"/>
                    </a:lnTo>
                    <a:lnTo>
                      <a:pt x="29" y="477"/>
                    </a:lnTo>
                    <a:lnTo>
                      <a:pt x="29" y="477"/>
                    </a:lnTo>
                    <a:lnTo>
                      <a:pt x="41" y="423"/>
                    </a:lnTo>
                    <a:lnTo>
                      <a:pt x="53" y="372"/>
                    </a:lnTo>
                    <a:lnTo>
                      <a:pt x="53" y="372"/>
                    </a:lnTo>
                    <a:lnTo>
                      <a:pt x="72" y="305"/>
                    </a:lnTo>
                    <a:lnTo>
                      <a:pt x="83" y="266"/>
                    </a:lnTo>
                    <a:lnTo>
                      <a:pt x="90" y="245"/>
                    </a:lnTo>
                    <a:lnTo>
                      <a:pt x="90" y="245"/>
                    </a:lnTo>
                    <a:lnTo>
                      <a:pt x="93" y="240"/>
                    </a:lnTo>
                    <a:lnTo>
                      <a:pt x="95" y="239"/>
                    </a:lnTo>
                    <a:lnTo>
                      <a:pt x="95" y="239"/>
                    </a:lnTo>
                    <a:lnTo>
                      <a:pt x="95" y="240"/>
                    </a:lnTo>
                    <a:lnTo>
                      <a:pt x="95" y="240"/>
                    </a:lnTo>
                    <a:lnTo>
                      <a:pt x="95" y="242"/>
                    </a:lnTo>
                    <a:lnTo>
                      <a:pt x="95" y="242"/>
                    </a:lnTo>
                    <a:lnTo>
                      <a:pt x="97" y="238"/>
                    </a:lnTo>
                    <a:lnTo>
                      <a:pt x="103" y="227"/>
                    </a:lnTo>
                    <a:lnTo>
                      <a:pt x="103" y="227"/>
                    </a:lnTo>
                    <a:lnTo>
                      <a:pt x="109" y="211"/>
                    </a:lnTo>
                    <a:lnTo>
                      <a:pt x="114" y="198"/>
                    </a:lnTo>
                    <a:lnTo>
                      <a:pt x="114" y="198"/>
                    </a:lnTo>
                    <a:lnTo>
                      <a:pt x="116" y="197"/>
                    </a:lnTo>
                    <a:lnTo>
                      <a:pt x="116" y="197"/>
                    </a:lnTo>
                    <a:lnTo>
                      <a:pt x="113" y="206"/>
                    </a:lnTo>
                    <a:lnTo>
                      <a:pt x="107" y="224"/>
                    </a:lnTo>
                    <a:lnTo>
                      <a:pt x="107" y="224"/>
                    </a:lnTo>
                    <a:lnTo>
                      <a:pt x="95" y="261"/>
                    </a:lnTo>
                    <a:lnTo>
                      <a:pt x="95" y="261"/>
                    </a:lnTo>
                    <a:lnTo>
                      <a:pt x="62" y="373"/>
                    </a:lnTo>
                    <a:lnTo>
                      <a:pt x="62" y="373"/>
                    </a:lnTo>
                    <a:lnTo>
                      <a:pt x="57" y="398"/>
                    </a:lnTo>
                    <a:lnTo>
                      <a:pt x="51" y="423"/>
                    </a:lnTo>
                    <a:lnTo>
                      <a:pt x="51" y="423"/>
                    </a:lnTo>
                    <a:lnTo>
                      <a:pt x="42" y="463"/>
                    </a:lnTo>
                    <a:lnTo>
                      <a:pt x="42" y="463"/>
                    </a:lnTo>
                    <a:lnTo>
                      <a:pt x="48" y="457"/>
                    </a:lnTo>
                    <a:lnTo>
                      <a:pt x="48" y="457"/>
                    </a:lnTo>
                    <a:lnTo>
                      <a:pt x="53" y="437"/>
                    </a:lnTo>
                    <a:lnTo>
                      <a:pt x="53" y="437"/>
                    </a:lnTo>
                    <a:lnTo>
                      <a:pt x="62" y="400"/>
                    </a:lnTo>
                    <a:lnTo>
                      <a:pt x="62" y="400"/>
                    </a:lnTo>
                    <a:lnTo>
                      <a:pt x="71" y="368"/>
                    </a:lnTo>
                    <a:lnTo>
                      <a:pt x="79" y="337"/>
                    </a:lnTo>
                    <a:lnTo>
                      <a:pt x="79" y="337"/>
                    </a:lnTo>
                    <a:lnTo>
                      <a:pt x="103" y="280"/>
                    </a:lnTo>
                    <a:lnTo>
                      <a:pt x="103" y="280"/>
                    </a:lnTo>
                    <a:lnTo>
                      <a:pt x="125" y="222"/>
                    </a:lnTo>
                    <a:lnTo>
                      <a:pt x="125" y="222"/>
                    </a:lnTo>
                    <a:lnTo>
                      <a:pt x="133" y="209"/>
                    </a:lnTo>
                    <a:lnTo>
                      <a:pt x="133" y="209"/>
                    </a:lnTo>
                    <a:lnTo>
                      <a:pt x="133" y="209"/>
                    </a:lnTo>
                    <a:lnTo>
                      <a:pt x="133" y="209"/>
                    </a:lnTo>
                    <a:lnTo>
                      <a:pt x="130" y="213"/>
                    </a:lnTo>
                    <a:lnTo>
                      <a:pt x="128" y="221"/>
                    </a:lnTo>
                    <a:lnTo>
                      <a:pt x="128" y="221"/>
                    </a:lnTo>
                    <a:lnTo>
                      <a:pt x="128" y="222"/>
                    </a:lnTo>
                    <a:lnTo>
                      <a:pt x="128" y="222"/>
                    </a:lnTo>
                    <a:lnTo>
                      <a:pt x="132" y="217"/>
                    </a:lnTo>
                    <a:lnTo>
                      <a:pt x="137" y="206"/>
                    </a:lnTo>
                    <a:lnTo>
                      <a:pt x="137" y="206"/>
                    </a:lnTo>
                    <a:lnTo>
                      <a:pt x="150" y="179"/>
                    </a:lnTo>
                    <a:lnTo>
                      <a:pt x="150" y="179"/>
                    </a:lnTo>
                    <a:lnTo>
                      <a:pt x="166" y="147"/>
                    </a:lnTo>
                    <a:lnTo>
                      <a:pt x="166" y="147"/>
                    </a:lnTo>
                    <a:lnTo>
                      <a:pt x="172" y="135"/>
                    </a:lnTo>
                    <a:lnTo>
                      <a:pt x="180" y="122"/>
                    </a:lnTo>
                    <a:lnTo>
                      <a:pt x="180" y="122"/>
                    </a:lnTo>
                    <a:lnTo>
                      <a:pt x="183" y="121"/>
                    </a:lnTo>
                    <a:lnTo>
                      <a:pt x="183" y="121"/>
                    </a:lnTo>
                    <a:lnTo>
                      <a:pt x="183" y="123"/>
                    </a:lnTo>
                    <a:lnTo>
                      <a:pt x="180" y="126"/>
                    </a:lnTo>
                    <a:lnTo>
                      <a:pt x="180" y="126"/>
                    </a:lnTo>
                    <a:lnTo>
                      <a:pt x="174" y="140"/>
                    </a:lnTo>
                    <a:lnTo>
                      <a:pt x="174" y="140"/>
                    </a:lnTo>
                    <a:lnTo>
                      <a:pt x="167" y="151"/>
                    </a:lnTo>
                    <a:lnTo>
                      <a:pt x="159" y="164"/>
                    </a:lnTo>
                    <a:lnTo>
                      <a:pt x="159" y="164"/>
                    </a:lnTo>
                    <a:lnTo>
                      <a:pt x="153" y="176"/>
                    </a:lnTo>
                    <a:lnTo>
                      <a:pt x="146" y="192"/>
                    </a:lnTo>
                    <a:lnTo>
                      <a:pt x="146" y="192"/>
                    </a:lnTo>
                    <a:lnTo>
                      <a:pt x="142" y="200"/>
                    </a:lnTo>
                    <a:lnTo>
                      <a:pt x="141" y="203"/>
                    </a:lnTo>
                    <a:lnTo>
                      <a:pt x="141" y="203"/>
                    </a:lnTo>
                    <a:lnTo>
                      <a:pt x="142" y="202"/>
                    </a:lnTo>
                    <a:lnTo>
                      <a:pt x="142" y="202"/>
                    </a:lnTo>
                    <a:lnTo>
                      <a:pt x="150" y="185"/>
                    </a:lnTo>
                    <a:lnTo>
                      <a:pt x="159" y="168"/>
                    </a:lnTo>
                    <a:lnTo>
                      <a:pt x="159" y="168"/>
                    </a:lnTo>
                    <a:lnTo>
                      <a:pt x="180" y="133"/>
                    </a:lnTo>
                    <a:lnTo>
                      <a:pt x="180" y="133"/>
                    </a:lnTo>
                    <a:lnTo>
                      <a:pt x="205" y="93"/>
                    </a:lnTo>
                    <a:lnTo>
                      <a:pt x="205" y="93"/>
                    </a:lnTo>
                    <a:lnTo>
                      <a:pt x="222" y="72"/>
                    </a:lnTo>
                    <a:lnTo>
                      <a:pt x="239" y="53"/>
                    </a:lnTo>
                    <a:lnTo>
                      <a:pt x="239" y="53"/>
                    </a:lnTo>
                    <a:lnTo>
                      <a:pt x="239" y="50"/>
                    </a:lnTo>
                    <a:lnTo>
                      <a:pt x="239" y="47"/>
                    </a:lnTo>
                    <a:lnTo>
                      <a:pt x="237" y="42"/>
                    </a:lnTo>
                    <a:lnTo>
                      <a:pt x="234" y="37"/>
                    </a:lnTo>
                    <a:lnTo>
                      <a:pt x="230" y="34"/>
                    </a:lnTo>
                    <a:lnTo>
                      <a:pt x="230" y="34"/>
                    </a:lnTo>
                    <a:lnTo>
                      <a:pt x="217" y="24"/>
                    </a:lnTo>
                    <a:lnTo>
                      <a:pt x="205" y="12"/>
                    </a:lnTo>
                    <a:lnTo>
                      <a:pt x="205" y="12"/>
                    </a:lnTo>
                    <a:lnTo>
                      <a:pt x="198" y="7"/>
                    </a:lnTo>
                    <a:lnTo>
                      <a:pt x="192" y="1"/>
                    </a:lnTo>
                    <a:lnTo>
                      <a:pt x="192" y="1"/>
                    </a:lnTo>
                    <a:lnTo>
                      <a:pt x="188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2" name="Freeform 736">
                <a:extLst>
                  <a:ext uri="{FF2B5EF4-FFF2-40B4-BE49-F238E27FC236}">
                    <a16:creationId xmlns:a16="http://schemas.microsoft.com/office/drawing/2014/main" id="{AB890AD6-7342-CEA5-A74B-4273C29F7D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54188" y="2918123"/>
                <a:ext cx="65088" cy="103188"/>
              </a:xfrm>
              <a:custGeom>
                <a:avLst/>
                <a:gdLst/>
                <a:ahLst/>
                <a:cxnLst>
                  <a:cxn ang="0">
                    <a:pos x="22" y="20"/>
                  </a:cxn>
                  <a:cxn ang="0">
                    <a:pos x="22" y="20"/>
                  </a:cxn>
                  <a:cxn ang="0">
                    <a:pos x="22" y="20"/>
                  </a:cxn>
                  <a:cxn ang="0">
                    <a:pos x="22" y="20"/>
                  </a:cxn>
                  <a:cxn ang="0">
                    <a:pos x="0" y="44"/>
                  </a:cxn>
                  <a:cxn ang="0">
                    <a:pos x="0" y="44"/>
                  </a:cxn>
                  <a:cxn ang="0">
                    <a:pos x="0" y="47"/>
                  </a:cxn>
                  <a:cxn ang="0">
                    <a:pos x="0" y="47"/>
                  </a:cxn>
                  <a:cxn ang="0">
                    <a:pos x="1" y="48"/>
                  </a:cxn>
                  <a:cxn ang="0">
                    <a:pos x="2" y="50"/>
                  </a:cxn>
                  <a:cxn ang="0">
                    <a:pos x="2" y="50"/>
                  </a:cxn>
                  <a:cxn ang="0">
                    <a:pos x="2" y="54"/>
                  </a:cxn>
                  <a:cxn ang="0">
                    <a:pos x="2" y="54"/>
                  </a:cxn>
                  <a:cxn ang="0">
                    <a:pos x="2" y="52"/>
                  </a:cxn>
                  <a:cxn ang="0">
                    <a:pos x="6" y="56"/>
                  </a:cxn>
                  <a:cxn ang="0">
                    <a:pos x="6" y="56"/>
                  </a:cxn>
                  <a:cxn ang="0">
                    <a:pos x="8" y="59"/>
                  </a:cxn>
                  <a:cxn ang="0">
                    <a:pos x="9" y="62"/>
                  </a:cxn>
                  <a:cxn ang="0">
                    <a:pos x="10" y="64"/>
                  </a:cxn>
                  <a:cxn ang="0">
                    <a:pos x="10" y="64"/>
                  </a:cxn>
                  <a:cxn ang="0">
                    <a:pos x="10" y="65"/>
                  </a:cxn>
                  <a:cxn ang="0">
                    <a:pos x="10" y="65"/>
                  </a:cxn>
                  <a:cxn ang="0">
                    <a:pos x="13" y="59"/>
                  </a:cxn>
                  <a:cxn ang="0">
                    <a:pos x="16" y="47"/>
                  </a:cxn>
                  <a:cxn ang="0">
                    <a:pos x="16" y="47"/>
                  </a:cxn>
                  <a:cxn ang="0">
                    <a:pos x="18" y="35"/>
                  </a:cxn>
                  <a:cxn ang="0">
                    <a:pos x="21" y="26"/>
                  </a:cxn>
                  <a:cxn ang="0">
                    <a:pos x="21" y="26"/>
                  </a:cxn>
                  <a:cxn ang="0">
                    <a:pos x="22" y="20"/>
                  </a:cxn>
                  <a:cxn ang="0">
                    <a:pos x="41" y="0"/>
                  </a:cxn>
                  <a:cxn ang="0">
                    <a:pos x="41" y="0"/>
                  </a:cxn>
                  <a:cxn ang="0">
                    <a:pos x="35" y="6"/>
                  </a:cxn>
                  <a:cxn ang="0">
                    <a:pos x="35" y="6"/>
                  </a:cxn>
                  <a:cxn ang="0">
                    <a:pos x="29" y="35"/>
                  </a:cxn>
                  <a:cxn ang="0">
                    <a:pos x="29" y="35"/>
                  </a:cxn>
                  <a:cxn ang="0">
                    <a:pos x="29" y="37"/>
                  </a:cxn>
                  <a:cxn ang="0">
                    <a:pos x="29" y="38"/>
                  </a:cxn>
                  <a:cxn ang="0">
                    <a:pos x="29" y="38"/>
                  </a:cxn>
                  <a:cxn ang="0">
                    <a:pos x="30" y="37"/>
                  </a:cxn>
                  <a:cxn ang="0">
                    <a:pos x="31" y="35"/>
                  </a:cxn>
                  <a:cxn ang="0">
                    <a:pos x="31" y="35"/>
                  </a:cxn>
                  <a:cxn ang="0">
                    <a:pos x="38" y="8"/>
                  </a:cxn>
                  <a:cxn ang="0">
                    <a:pos x="38" y="8"/>
                  </a:cxn>
                  <a:cxn ang="0">
                    <a:pos x="41" y="0"/>
                  </a:cxn>
                </a:cxnLst>
                <a:rect l="0" t="0" r="r" b="b"/>
                <a:pathLst>
                  <a:path w="41" h="65">
                    <a:moveTo>
                      <a:pt x="22" y="20"/>
                    </a:moveTo>
                    <a:lnTo>
                      <a:pt x="22" y="20"/>
                    </a:lnTo>
                    <a:lnTo>
                      <a:pt x="22" y="20"/>
                    </a:lnTo>
                    <a:lnTo>
                      <a:pt x="22" y="20"/>
                    </a:lnTo>
                    <a:lnTo>
                      <a:pt x="0" y="44"/>
                    </a:lnTo>
                    <a:lnTo>
                      <a:pt x="0" y="44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1" y="48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54"/>
                    </a:lnTo>
                    <a:lnTo>
                      <a:pt x="2" y="54"/>
                    </a:lnTo>
                    <a:lnTo>
                      <a:pt x="2" y="52"/>
                    </a:lnTo>
                    <a:lnTo>
                      <a:pt x="6" y="56"/>
                    </a:lnTo>
                    <a:lnTo>
                      <a:pt x="6" y="56"/>
                    </a:lnTo>
                    <a:lnTo>
                      <a:pt x="8" y="59"/>
                    </a:lnTo>
                    <a:lnTo>
                      <a:pt x="9" y="62"/>
                    </a:lnTo>
                    <a:lnTo>
                      <a:pt x="10" y="64"/>
                    </a:lnTo>
                    <a:lnTo>
                      <a:pt x="10" y="64"/>
                    </a:lnTo>
                    <a:lnTo>
                      <a:pt x="10" y="65"/>
                    </a:lnTo>
                    <a:lnTo>
                      <a:pt x="10" y="65"/>
                    </a:lnTo>
                    <a:lnTo>
                      <a:pt x="13" y="59"/>
                    </a:lnTo>
                    <a:lnTo>
                      <a:pt x="16" y="47"/>
                    </a:lnTo>
                    <a:lnTo>
                      <a:pt x="16" y="47"/>
                    </a:lnTo>
                    <a:lnTo>
                      <a:pt x="18" y="35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2" y="20"/>
                    </a:lnTo>
                    <a:close/>
                    <a:moveTo>
                      <a:pt x="41" y="0"/>
                    </a:moveTo>
                    <a:lnTo>
                      <a:pt x="41" y="0"/>
                    </a:lnTo>
                    <a:lnTo>
                      <a:pt x="35" y="6"/>
                    </a:lnTo>
                    <a:lnTo>
                      <a:pt x="35" y="6"/>
                    </a:lnTo>
                    <a:lnTo>
                      <a:pt x="29" y="35"/>
                    </a:lnTo>
                    <a:lnTo>
                      <a:pt x="29" y="35"/>
                    </a:lnTo>
                    <a:lnTo>
                      <a:pt x="29" y="37"/>
                    </a:lnTo>
                    <a:lnTo>
                      <a:pt x="29" y="38"/>
                    </a:lnTo>
                    <a:lnTo>
                      <a:pt x="29" y="38"/>
                    </a:lnTo>
                    <a:lnTo>
                      <a:pt x="30" y="37"/>
                    </a:lnTo>
                    <a:lnTo>
                      <a:pt x="31" y="35"/>
                    </a:lnTo>
                    <a:lnTo>
                      <a:pt x="31" y="35"/>
                    </a:lnTo>
                    <a:lnTo>
                      <a:pt x="38" y="8"/>
                    </a:lnTo>
                    <a:lnTo>
                      <a:pt x="38" y="8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FBB625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3" name="Freeform 737">
                <a:extLst>
                  <a:ext uri="{FF2B5EF4-FFF2-40B4-BE49-F238E27FC236}">
                    <a16:creationId xmlns:a16="http://schemas.microsoft.com/office/drawing/2014/main" id="{08E43F14-2EEE-3328-2FCF-D1983DEC1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188" y="2949873"/>
                <a:ext cx="34925" cy="71438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22" y="0"/>
                  </a:cxn>
                  <a:cxn ang="0">
                    <a:pos x="22" y="0"/>
                  </a:cxn>
                  <a:cxn ang="0">
                    <a:pos x="22" y="0"/>
                  </a:cxn>
                  <a:cxn ang="0">
                    <a:pos x="0" y="24"/>
                  </a:cxn>
                  <a:cxn ang="0">
                    <a:pos x="0" y="24"/>
                  </a:cxn>
                  <a:cxn ang="0">
                    <a:pos x="0" y="27"/>
                  </a:cxn>
                  <a:cxn ang="0">
                    <a:pos x="0" y="27"/>
                  </a:cxn>
                  <a:cxn ang="0">
                    <a:pos x="1" y="28"/>
                  </a:cxn>
                  <a:cxn ang="0">
                    <a:pos x="2" y="30"/>
                  </a:cxn>
                  <a:cxn ang="0">
                    <a:pos x="2" y="30"/>
                  </a:cxn>
                  <a:cxn ang="0">
                    <a:pos x="2" y="34"/>
                  </a:cxn>
                  <a:cxn ang="0">
                    <a:pos x="2" y="34"/>
                  </a:cxn>
                  <a:cxn ang="0">
                    <a:pos x="2" y="32"/>
                  </a:cxn>
                  <a:cxn ang="0">
                    <a:pos x="6" y="36"/>
                  </a:cxn>
                  <a:cxn ang="0">
                    <a:pos x="6" y="36"/>
                  </a:cxn>
                  <a:cxn ang="0">
                    <a:pos x="8" y="39"/>
                  </a:cxn>
                  <a:cxn ang="0">
                    <a:pos x="9" y="42"/>
                  </a:cxn>
                  <a:cxn ang="0">
                    <a:pos x="10" y="44"/>
                  </a:cxn>
                  <a:cxn ang="0">
                    <a:pos x="10" y="44"/>
                  </a:cxn>
                  <a:cxn ang="0">
                    <a:pos x="10" y="45"/>
                  </a:cxn>
                  <a:cxn ang="0">
                    <a:pos x="10" y="45"/>
                  </a:cxn>
                  <a:cxn ang="0">
                    <a:pos x="13" y="39"/>
                  </a:cxn>
                  <a:cxn ang="0">
                    <a:pos x="16" y="27"/>
                  </a:cxn>
                  <a:cxn ang="0">
                    <a:pos x="16" y="27"/>
                  </a:cxn>
                  <a:cxn ang="0">
                    <a:pos x="18" y="15"/>
                  </a:cxn>
                  <a:cxn ang="0">
                    <a:pos x="21" y="6"/>
                  </a:cxn>
                  <a:cxn ang="0">
                    <a:pos x="21" y="6"/>
                  </a:cxn>
                  <a:cxn ang="0">
                    <a:pos x="22" y="0"/>
                  </a:cxn>
                </a:cxnLst>
                <a:rect l="0" t="0" r="r" b="b"/>
                <a:pathLst>
                  <a:path w="22" h="45">
                    <a:moveTo>
                      <a:pt x="22" y="0"/>
                    </a:moveTo>
                    <a:lnTo>
                      <a:pt x="22" y="0"/>
                    </a:lnTo>
                    <a:lnTo>
                      <a:pt x="22" y="0"/>
                    </a:lnTo>
                    <a:lnTo>
                      <a:pt x="22" y="0"/>
                    </a:lnTo>
                    <a:lnTo>
                      <a:pt x="0" y="24"/>
                    </a:lnTo>
                    <a:lnTo>
                      <a:pt x="0" y="24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8"/>
                    </a:lnTo>
                    <a:lnTo>
                      <a:pt x="2" y="30"/>
                    </a:lnTo>
                    <a:lnTo>
                      <a:pt x="2" y="30"/>
                    </a:lnTo>
                    <a:lnTo>
                      <a:pt x="2" y="34"/>
                    </a:lnTo>
                    <a:lnTo>
                      <a:pt x="2" y="34"/>
                    </a:lnTo>
                    <a:lnTo>
                      <a:pt x="2" y="32"/>
                    </a:lnTo>
                    <a:lnTo>
                      <a:pt x="6" y="36"/>
                    </a:lnTo>
                    <a:lnTo>
                      <a:pt x="6" y="36"/>
                    </a:lnTo>
                    <a:lnTo>
                      <a:pt x="8" y="39"/>
                    </a:lnTo>
                    <a:lnTo>
                      <a:pt x="9" y="42"/>
                    </a:lnTo>
                    <a:lnTo>
                      <a:pt x="10" y="44"/>
                    </a:lnTo>
                    <a:lnTo>
                      <a:pt x="10" y="44"/>
                    </a:lnTo>
                    <a:lnTo>
                      <a:pt x="10" y="45"/>
                    </a:lnTo>
                    <a:lnTo>
                      <a:pt x="10" y="45"/>
                    </a:lnTo>
                    <a:lnTo>
                      <a:pt x="13" y="39"/>
                    </a:lnTo>
                    <a:lnTo>
                      <a:pt x="16" y="27"/>
                    </a:lnTo>
                    <a:lnTo>
                      <a:pt x="16" y="27"/>
                    </a:lnTo>
                    <a:lnTo>
                      <a:pt x="18" y="15"/>
                    </a:lnTo>
                    <a:lnTo>
                      <a:pt x="21" y="6"/>
                    </a:lnTo>
                    <a:lnTo>
                      <a:pt x="21" y="6"/>
                    </a:lnTo>
                    <a:lnTo>
                      <a:pt x="22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4" name="Freeform 738">
                <a:extLst>
                  <a:ext uri="{FF2B5EF4-FFF2-40B4-BE49-F238E27FC236}">
                    <a16:creationId xmlns:a16="http://schemas.microsoft.com/office/drawing/2014/main" id="{5CFF303D-7C1C-B6EE-5E5F-B86DD0F301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225" y="2918123"/>
                <a:ext cx="19050" cy="6032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2" y="0"/>
                  </a:cxn>
                  <a:cxn ang="0">
                    <a:pos x="6" y="6"/>
                  </a:cxn>
                  <a:cxn ang="0">
                    <a:pos x="6" y="6"/>
                  </a:cxn>
                  <a:cxn ang="0">
                    <a:pos x="0" y="35"/>
                  </a:cxn>
                  <a:cxn ang="0">
                    <a:pos x="0" y="35"/>
                  </a:cxn>
                  <a:cxn ang="0">
                    <a:pos x="0" y="37"/>
                  </a:cxn>
                  <a:cxn ang="0">
                    <a:pos x="0" y="38"/>
                  </a:cxn>
                  <a:cxn ang="0">
                    <a:pos x="0" y="38"/>
                  </a:cxn>
                  <a:cxn ang="0">
                    <a:pos x="1" y="37"/>
                  </a:cxn>
                  <a:cxn ang="0">
                    <a:pos x="2" y="35"/>
                  </a:cxn>
                  <a:cxn ang="0">
                    <a:pos x="2" y="35"/>
                  </a:cxn>
                  <a:cxn ang="0">
                    <a:pos x="9" y="8"/>
                  </a:cxn>
                  <a:cxn ang="0">
                    <a:pos x="9" y="8"/>
                  </a:cxn>
                  <a:cxn ang="0">
                    <a:pos x="12" y="0"/>
                  </a:cxn>
                </a:cxnLst>
                <a:rect l="0" t="0" r="r" b="b"/>
                <a:pathLst>
                  <a:path w="12" h="38">
                    <a:moveTo>
                      <a:pt x="12" y="0"/>
                    </a:moveTo>
                    <a:lnTo>
                      <a:pt x="12" y="0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0" y="37"/>
                    </a:lnTo>
                    <a:lnTo>
                      <a:pt x="0" y="38"/>
                    </a:lnTo>
                    <a:lnTo>
                      <a:pt x="0" y="38"/>
                    </a:lnTo>
                    <a:lnTo>
                      <a:pt x="1" y="37"/>
                    </a:lnTo>
                    <a:lnTo>
                      <a:pt x="2" y="35"/>
                    </a:lnTo>
                    <a:lnTo>
                      <a:pt x="2" y="35"/>
                    </a:lnTo>
                    <a:lnTo>
                      <a:pt x="9" y="8"/>
                    </a:lnTo>
                    <a:lnTo>
                      <a:pt x="9" y="8"/>
                    </a:lnTo>
                    <a:lnTo>
                      <a:pt x="12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5" name="Freeform 739">
                <a:extLst>
                  <a:ext uri="{FF2B5EF4-FFF2-40B4-BE49-F238E27FC236}">
                    <a16:creationId xmlns:a16="http://schemas.microsoft.com/office/drawing/2014/main" id="{637C7C6C-35E4-53BB-C56D-ADD05D6E27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1488" y="2899073"/>
                <a:ext cx="12700" cy="920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0" y="4"/>
                  </a:cxn>
                  <a:cxn ang="0">
                    <a:pos x="0" y="4"/>
                  </a:cxn>
                  <a:cxn ang="0">
                    <a:pos x="0" y="16"/>
                  </a:cxn>
                  <a:cxn ang="0">
                    <a:pos x="0" y="25"/>
                  </a:cxn>
                  <a:cxn ang="0">
                    <a:pos x="3" y="38"/>
                  </a:cxn>
                  <a:cxn ang="0">
                    <a:pos x="3" y="38"/>
                  </a:cxn>
                  <a:cxn ang="0">
                    <a:pos x="3" y="45"/>
                  </a:cxn>
                  <a:cxn ang="0">
                    <a:pos x="4" y="53"/>
                  </a:cxn>
                  <a:cxn ang="0">
                    <a:pos x="4" y="53"/>
                  </a:cxn>
                  <a:cxn ang="0">
                    <a:pos x="5" y="56"/>
                  </a:cxn>
                  <a:cxn ang="0">
                    <a:pos x="7" y="58"/>
                  </a:cxn>
                  <a:cxn ang="0">
                    <a:pos x="7" y="58"/>
                  </a:cxn>
                  <a:cxn ang="0">
                    <a:pos x="8" y="56"/>
                  </a:cxn>
                  <a:cxn ang="0">
                    <a:pos x="8" y="56"/>
                  </a:cxn>
                  <a:cxn ang="0">
                    <a:pos x="5" y="41"/>
                  </a:cxn>
                  <a:cxn ang="0">
                    <a:pos x="5" y="41"/>
                  </a:cxn>
                  <a:cxn ang="0">
                    <a:pos x="3" y="24"/>
                  </a:cxn>
                  <a:cxn ang="0">
                    <a:pos x="1" y="0"/>
                  </a:cxn>
                </a:cxnLst>
                <a:rect l="0" t="0" r="r" b="b"/>
                <a:pathLst>
                  <a:path w="8" h="58">
                    <a:moveTo>
                      <a:pt x="1" y="0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16"/>
                    </a:lnTo>
                    <a:lnTo>
                      <a:pt x="0" y="25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3" y="45"/>
                    </a:lnTo>
                    <a:lnTo>
                      <a:pt x="4" y="53"/>
                    </a:lnTo>
                    <a:lnTo>
                      <a:pt x="4" y="53"/>
                    </a:lnTo>
                    <a:lnTo>
                      <a:pt x="5" y="56"/>
                    </a:lnTo>
                    <a:lnTo>
                      <a:pt x="7" y="58"/>
                    </a:lnTo>
                    <a:lnTo>
                      <a:pt x="7" y="58"/>
                    </a:lnTo>
                    <a:lnTo>
                      <a:pt x="8" y="56"/>
                    </a:lnTo>
                    <a:lnTo>
                      <a:pt x="8" y="56"/>
                    </a:lnTo>
                    <a:lnTo>
                      <a:pt x="5" y="41"/>
                    </a:lnTo>
                    <a:lnTo>
                      <a:pt x="5" y="41"/>
                    </a:lnTo>
                    <a:lnTo>
                      <a:pt x="3" y="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BB625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6" name="Freeform 740">
                <a:extLst>
                  <a:ext uri="{FF2B5EF4-FFF2-40B4-BE49-F238E27FC236}">
                    <a16:creationId xmlns:a16="http://schemas.microsoft.com/office/drawing/2014/main" id="{91C78C11-C4F9-81BF-D209-58C6794BE5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1488" y="2899073"/>
                <a:ext cx="12700" cy="92075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0" y="4"/>
                  </a:cxn>
                  <a:cxn ang="0">
                    <a:pos x="0" y="4"/>
                  </a:cxn>
                  <a:cxn ang="0">
                    <a:pos x="0" y="16"/>
                  </a:cxn>
                  <a:cxn ang="0">
                    <a:pos x="0" y="25"/>
                  </a:cxn>
                  <a:cxn ang="0">
                    <a:pos x="3" y="38"/>
                  </a:cxn>
                  <a:cxn ang="0">
                    <a:pos x="3" y="38"/>
                  </a:cxn>
                  <a:cxn ang="0">
                    <a:pos x="3" y="45"/>
                  </a:cxn>
                  <a:cxn ang="0">
                    <a:pos x="4" y="53"/>
                  </a:cxn>
                  <a:cxn ang="0">
                    <a:pos x="4" y="53"/>
                  </a:cxn>
                  <a:cxn ang="0">
                    <a:pos x="5" y="56"/>
                  </a:cxn>
                  <a:cxn ang="0">
                    <a:pos x="7" y="58"/>
                  </a:cxn>
                  <a:cxn ang="0">
                    <a:pos x="7" y="58"/>
                  </a:cxn>
                  <a:cxn ang="0">
                    <a:pos x="8" y="56"/>
                  </a:cxn>
                  <a:cxn ang="0">
                    <a:pos x="8" y="56"/>
                  </a:cxn>
                  <a:cxn ang="0">
                    <a:pos x="5" y="41"/>
                  </a:cxn>
                  <a:cxn ang="0">
                    <a:pos x="5" y="41"/>
                  </a:cxn>
                  <a:cxn ang="0">
                    <a:pos x="3" y="24"/>
                  </a:cxn>
                  <a:cxn ang="0">
                    <a:pos x="1" y="0"/>
                  </a:cxn>
                </a:cxnLst>
                <a:rect l="0" t="0" r="r" b="b"/>
                <a:pathLst>
                  <a:path w="8" h="58">
                    <a:moveTo>
                      <a:pt x="1" y="0"/>
                    </a:moveTo>
                    <a:lnTo>
                      <a:pt x="1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16"/>
                    </a:lnTo>
                    <a:lnTo>
                      <a:pt x="0" y="25"/>
                    </a:lnTo>
                    <a:lnTo>
                      <a:pt x="3" y="38"/>
                    </a:lnTo>
                    <a:lnTo>
                      <a:pt x="3" y="38"/>
                    </a:lnTo>
                    <a:lnTo>
                      <a:pt x="3" y="45"/>
                    </a:lnTo>
                    <a:lnTo>
                      <a:pt x="4" y="53"/>
                    </a:lnTo>
                    <a:lnTo>
                      <a:pt x="4" y="53"/>
                    </a:lnTo>
                    <a:lnTo>
                      <a:pt x="5" y="56"/>
                    </a:lnTo>
                    <a:lnTo>
                      <a:pt x="7" y="58"/>
                    </a:lnTo>
                    <a:lnTo>
                      <a:pt x="7" y="58"/>
                    </a:lnTo>
                    <a:lnTo>
                      <a:pt x="8" y="56"/>
                    </a:lnTo>
                    <a:lnTo>
                      <a:pt x="8" y="56"/>
                    </a:lnTo>
                    <a:lnTo>
                      <a:pt x="5" y="41"/>
                    </a:lnTo>
                    <a:lnTo>
                      <a:pt x="5" y="41"/>
                    </a:lnTo>
                    <a:lnTo>
                      <a:pt x="3" y="24"/>
                    </a:lnTo>
                    <a:lnTo>
                      <a:pt x="1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7" name="Freeform 741">
                <a:extLst>
                  <a:ext uri="{FF2B5EF4-FFF2-40B4-BE49-F238E27FC236}">
                    <a16:creationId xmlns:a16="http://schemas.microsoft.com/office/drawing/2014/main" id="{EAE222C5-5E0F-DDAD-8F7C-235286784F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2600" y="2987973"/>
                <a:ext cx="1588" cy="476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3"/>
                  </a:cxn>
                  <a:cxn ang="0">
                    <a:pos x="1" y="3"/>
                  </a:cxn>
                  <a:cxn ang="0">
                    <a:pos x="1" y="0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BB21A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8" name="Freeform 742">
                <a:extLst>
                  <a:ext uri="{FF2B5EF4-FFF2-40B4-BE49-F238E27FC236}">
                    <a16:creationId xmlns:a16="http://schemas.microsoft.com/office/drawing/2014/main" id="{B63C175F-1B08-9289-5A3E-A5BF347C96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2600" y="2987973"/>
                <a:ext cx="1588" cy="476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1" y="3"/>
                  </a:cxn>
                  <a:cxn ang="0">
                    <a:pos x="1" y="3"/>
                  </a:cxn>
                  <a:cxn ang="0">
                    <a:pos x="1" y="0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0"/>
                    </a:lnTo>
                  </a:path>
                </a:pathLst>
              </a:custGeom>
              <a:no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</p:grpSp>
      <p:sp>
        <p:nvSpPr>
          <p:cNvPr id="7" name="Folded Corner 15">
            <a:extLst>
              <a:ext uri="{FF2B5EF4-FFF2-40B4-BE49-F238E27FC236}">
                <a16:creationId xmlns:a16="http://schemas.microsoft.com/office/drawing/2014/main" id="{C58899A5-DA29-2FF9-10C8-2EEE38CBD8BC}"/>
              </a:ext>
            </a:extLst>
          </p:cNvPr>
          <p:cNvSpPr/>
          <p:nvPr/>
        </p:nvSpPr>
        <p:spPr>
          <a:xfrm>
            <a:off x="798087" y="2856858"/>
            <a:ext cx="5606885" cy="3799576"/>
          </a:xfrm>
          <a:prstGeom prst="foldedCorner">
            <a:avLst>
              <a:gd name="adj" fmla="val 11427"/>
            </a:avLst>
          </a:prstGeom>
          <a:solidFill>
            <a:srgbClr val="EBF3FB"/>
          </a:solidFill>
          <a:ln w="19050" cap="flat" cmpd="sng" algn="ctr">
            <a:solidFill>
              <a:srgbClr val="0F3250"/>
            </a:solidFill>
            <a:prstDash val="solid"/>
          </a:ln>
          <a:effectLst/>
        </p:spPr>
        <p:txBody>
          <a:bodyPr tIns="864000" rtlCol="0" anchor="ctr"/>
          <a:lstStyle/>
          <a:p>
            <a:endParaRPr lang="it-IT" sz="2400" b="1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2CB762E6-0472-4543-ECF7-5E848D6C1D67}"/>
              </a:ext>
            </a:extLst>
          </p:cNvPr>
          <p:cNvSpPr/>
          <p:nvPr/>
        </p:nvSpPr>
        <p:spPr>
          <a:xfrm>
            <a:off x="1407525" y="2590860"/>
            <a:ext cx="4778659" cy="631910"/>
          </a:xfrm>
          <a:prstGeom prst="round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36000" bIns="0" rtlCol="0" anchor="ctr"/>
          <a:lstStyle/>
          <a:p>
            <a:pPr algn="ctr"/>
            <a:r>
              <a:rPr lang="it-IT" sz="2400" b="1" dirty="0">
                <a:solidFill>
                  <a:schemeClr val="bg1"/>
                </a:solidFill>
              </a:rPr>
              <a:t>GESTIONE PUNTI VENDITA</a:t>
            </a:r>
          </a:p>
        </p:txBody>
      </p:sp>
      <p:sp>
        <p:nvSpPr>
          <p:cNvPr id="8" name="Sev01">
            <a:extLst>
              <a:ext uri="{FF2B5EF4-FFF2-40B4-BE49-F238E27FC236}">
                <a16:creationId xmlns:a16="http://schemas.microsoft.com/office/drawing/2014/main" id="{F9149678-883B-4B77-2EFE-8BD1454AA065}"/>
              </a:ext>
            </a:extLst>
          </p:cNvPr>
          <p:cNvSpPr>
            <a:spLocks noChangeAspect="1"/>
          </p:cNvSpPr>
          <p:nvPr/>
        </p:nvSpPr>
        <p:spPr>
          <a:xfrm>
            <a:off x="999119" y="2683170"/>
            <a:ext cx="587936" cy="460087"/>
          </a:xfrm>
          <a:prstGeom prst="round1Rect">
            <a:avLst>
              <a:gd name="adj" fmla="val 0"/>
            </a:avLst>
          </a:prstGeom>
          <a:solidFill>
            <a:srgbClr val="0070C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2a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76FD21D4-EDB6-1996-CC8C-1CEE70AA9F7F}"/>
              </a:ext>
            </a:extLst>
          </p:cNvPr>
          <p:cNvSpPr/>
          <p:nvPr/>
        </p:nvSpPr>
        <p:spPr>
          <a:xfrm>
            <a:off x="7550229" y="2590860"/>
            <a:ext cx="4872672" cy="631910"/>
          </a:xfrm>
          <a:prstGeom prst="round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36000" bIns="0" rtlCol="0" anchor="ctr"/>
          <a:lstStyle/>
          <a:p>
            <a:pPr algn="ctr"/>
            <a:r>
              <a:rPr lang="it-IT" sz="2400" b="1">
                <a:solidFill>
                  <a:schemeClr val="bg1"/>
                </a:solidFill>
              </a:rPr>
              <a:t>GESTIONE ECCEZIONI: BLACKLIST</a:t>
            </a:r>
          </a:p>
        </p:txBody>
      </p:sp>
      <p:sp>
        <p:nvSpPr>
          <p:cNvPr id="22" name="Sev01">
            <a:extLst>
              <a:ext uri="{FF2B5EF4-FFF2-40B4-BE49-F238E27FC236}">
                <a16:creationId xmlns:a16="http://schemas.microsoft.com/office/drawing/2014/main" id="{C859EB70-5AA7-9645-8964-CF585253954B}"/>
              </a:ext>
            </a:extLst>
          </p:cNvPr>
          <p:cNvSpPr>
            <a:spLocks noChangeAspect="1"/>
          </p:cNvSpPr>
          <p:nvPr/>
        </p:nvSpPr>
        <p:spPr>
          <a:xfrm>
            <a:off x="7215563" y="2683170"/>
            <a:ext cx="587936" cy="460087"/>
          </a:xfrm>
          <a:prstGeom prst="round1Rect">
            <a:avLst>
              <a:gd name="adj" fmla="val 0"/>
            </a:avLst>
          </a:prstGeom>
          <a:solidFill>
            <a:srgbClr val="0070C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2b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32770909-25DE-FD33-028F-746D66F49EEA}"/>
              </a:ext>
            </a:extLst>
          </p:cNvPr>
          <p:cNvSpPr/>
          <p:nvPr/>
        </p:nvSpPr>
        <p:spPr>
          <a:xfrm>
            <a:off x="991028" y="3382659"/>
            <a:ext cx="5221003" cy="158424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0" rIns="108000" bIns="0" rtlCol="0" anchor="ctr"/>
          <a:lstStyle/>
          <a:p>
            <a:pPr>
              <a:spcAft>
                <a:spcPts val="300"/>
              </a:spcAft>
            </a:pPr>
            <a:r>
              <a:rPr lang="it-IT" sz="2000" b="1" dirty="0">
                <a:solidFill>
                  <a:schemeClr val="tx1"/>
                </a:solidFill>
              </a:rPr>
              <a:t>AGENZIE:</a:t>
            </a:r>
            <a:r>
              <a:rPr lang="it-IT" sz="2000" dirty="0">
                <a:solidFill>
                  <a:schemeClr val="tx1"/>
                </a:solidFill>
              </a:rPr>
              <a:t> presenti </a:t>
            </a:r>
            <a:r>
              <a:rPr lang="it-IT" sz="2000" b="1" dirty="0">
                <a:solidFill>
                  <a:schemeClr val="tx1"/>
                </a:solidFill>
              </a:rPr>
              <a:t>cancelletti ex-ante </a:t>
            </a:r>
            <a:r>
              <a:rPr lang="it-IT" sz="2000" dirty="0">
                <a:solidFill>
                  <a:schemeClr val="tx1"/>
                </a:solidFill>
              </a:rPr>
              <a:t>per l'accesso al modello di assegnazione: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t-IT" sz="2000" dirty="0">
                <a:solidFill>
                  <a:schemeClr val="tx1"/>
                </a:solidFill>
              </a:rPr>
              <a:t>firma del </a:t>
            </a:r>
            <a:r>
              <a:rPr lang="it-IT" sz="2000" b="1" dirty="0">
                <a:solidFill>
                  <a:schemeClr val="tx1"/>
                </a:solidFill>
              </a:rPr>
              <a:t>Patto Omnicanale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it-IT" sz="2000" b="1" dirty="0">
                <a:solidFill>
                  <a:schemeClr val="tx1"/>
                </a:solidFill>
              </a:rPr>
              <a:t>mandato </a:t>
            </a:r>
            <a:r>
              <a:rPr lang="it-IT" sz="2000" b="1" dirty="0" err="1">
                <a:solidFill>
                  <a:schemeClr val="tx1"/>
                </a:solidFill>
              </a:rPr>
              <a:t>UniSalute</a:t>
            </a:r>
            <a:r>
              <a:rPr lang="it-IT" sz="2000" dirty="0">
                <a:solidFill>
                  <a:schemeClr val="tx1"/>
                </a:solidFill>
              </a:rPr>
              <a:t> </a:t>
            </a:r>
            <a:r>
              <a:rPr lang="it-IT" sz="1600" i="1" dirty="0">
                <a:solidFill>
                  <a:schemeClr val="tx1"/>
                </a:solidFill>
              </a:rPr>
              <a:t>(gestione lead </a:t>
            </a:r>
            <a:r>
              <a:rPr lang="it-IT" sz="1600" i="1" dirty="0" err="1">
                <a:solidFill>
                  <a:schemeClr val="tx1"/>
                </a:solidFill>
              </a:rPr>
              <a:t>UniSalute</a:t>
            </a:r>
            <a:r>
              <a:rPr lang="it-IT" sz="1600" i="1" dirty="0">
                <a:solidFill>
                  <a:schemeClr val="tx1"/>
                </a:solidFill>
              </a:rPr>
              <a:t>)</a:t>
            </a:r>
            <a:endParaRPr lang="it-IT" sz="2200" dirty="0">
              <a:solidFill>
                <a:schemeClr val="tx1"/>
              </a:solidFill>
            </a:endParaRP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1C1A3EF3-2A4B-1350-9E95-BDFB50EF32BC}"/>
              </a:ext>
            </a:extLst>
          </p:cNvPr>
          <p:cNvSpPr/>
          <p:nvPr/>
        </p:nvSpPr>
        <p:spPr>
          <a:xfrm>
            <a:off x="991028" y="5097359"/>
            <a:ext cx="5221003" cy="109124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0" rIns="108000" bIns="0" rtlCol="0" anchor="ctr"/>
          <a:lstStyle/>
          <a:p>
            <a:pPr>
              <a:spcAft>
                <a:spcPts val="300"/>
              </a:spcAft>
            </a:pPr>
            <a:r>
              <a:rPr lang="it-IT" sz="2000" b="1" dirty="0">
                <a:solidFill>
                  <a:schemeClr val="tx1"/>
                </a:solidFill>
              </a:rPr>
              <a:t>SUBAGENZIE E SEDI SECONDARIE:</a:t>
            </a:r>
            <a:r>
              <a:rPr lang="it-IT" sz="2000" dirty="0">
                <a:solidFill>
                  <a:schemeClr val="tx1"/>
                </a:solidFill>
              </a:rPr>
              <a:t> definita </a:t>
            </a:r>
            <a:r>
              <a:rPr lang="it-IT" sz="2000" b="1" dirty="0">
                <a:solidFill>
                  <a:schemeClr val="tx1"/>
                </a:solidFill>
              </a:rPr>
              <a:t>gestione ad hoc </a:t>
            </a:r>
            <a:r>
              <a:rPr lang="it-IT" sz="2000" dirty="0">
                <a:solidFill>
                  <a:schemeClr val="tx1"/>
                </a:solidFill>
              </a:rPr>
              <a:t>nel modello di assegnazione </a:t>
            </a:r>
            <a:r>
              <a:rPr lang="it-IT" sz="2000" i="1" dirty="0">
                <a:solidFill>
                  <a:schemeClr val="tx1"/>
                </a:solidFill>
              </a:rPr>
              <a:t>(focus slide successive)</a:t>
            </a:r>
            <a:endParaRPr lang="it-IT" sz="2200" i="1" dirty="0">
              <a:solidFill>
                <a:schemeClr val="tx1"/>
              </a:solidFill>
            </a:endParaRP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A78434BD-593A-6973-F701-D3675BF7324B}"/>
              </a:ext>
            </a:extLst>
          </p:cNvPr>
          <p:cNvSpPr/>
          <p:nvPr/>
        </p:nvSpPr>
        <p:spPr>
          <a:xfrm>
            <a:off x="7227744" y="3382659"/>
            <a:ext cx="5221003" cy="158424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0" rIns="108000" bIns="0" rtlCol="0" anchor="ctr"/>
          <a:lstStyle/>
          <a:p>
            <a:r>
              <a:rPr lang="it-IT" sz="2000" dirty="0">
                <a:solidFill>
                  <a:schemeClr val="tx1"/>
                </a:solidFill>
              </a:rPr>
              <a:t>Strumento di </a:t>
            </a:r>
            <a:r>
              <a:rPr lang="it-IT" sz="2000" b="1" dirty="0">
                <a:solidFill>
                  <a:schemeClr val="tx1"/>
                </a:solidFill>
              </a:rPr>
              <a:t>governo del modello lato Direzione</a:t>
            </a:r>
            <a:r>
              <a:rPr lang="it-IT" sz="20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it-IT" sz="2000" b="1" dirty="0">
                <a:solidFill>
                  <a:schemeClr val="tx1"/>
                </a:solidFill>
                <a:sym typeface="Wingdings" panose="05000000000000000000" pitchFamily="2" charset="2"/>
              </a:rPr>
              <a:t>per </a:t>
            </a:r>
            <a:r>
              <a:rPr lang="it-IT" sz="2000" b="1" dirty="0">
                <a:solidFill>
                  <a:schemeClr val="tx1"/>
                </a:solidFill>
              </a:rPr>
              <a:t>inibire </a:t>
            </a:r>
            <a:r>
              <a:rPr lang="it-IT" sz="2000" dirty="0">
                <a:solidFill>
                  <a:schemeClr val="tx1"/>
                </a:solidFill>
              </a:rPr>
              <a:t>temporaneamente </a:t>
            </a:r>
            <a:r>
              <a:rPr lang="it-IT" sz="2000" b="1" dirty="0">
                <a:solidFill>
                  <a:schemeClr val="tx1"/>
                </a:solidFill>
              </a:rPr>
              <a:t>la ricezione dei lead da parte della Rete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9A317CEC-8F40-934B-92A8-EF6B0BA90DA0}"/>
              </a:ext>
            </a:extLst>
          </p:cNvPr>
          <p:cNvSpPr/>
          <p:nvPr/>
        </p:nvSpPr>
        <p:spPr>
          <a:xfrm>
            <a:off x="7227744" y="5097359"/>
            <a:ext cx="5221003" cy="109124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0" rIns="108000" bIns="0" rtlCol="0" anchor="ctr"/>
          <a:lstStyle/>
          <a:p>
            <a:r>
              <a:rPr lang="it-IT" sz="2000" dirty="0">
                <a:solidFill>
                  <a:schemeClr val="tx1"/>
                </a:solidFill>
              </a:rPr>
              <a:t>Previsti </a:t>
            </a:r>
            <a:r>
              <a:rPr lang="it-IT" sz="2000" b="1" dirty="0">
                <a:solidFill>
                  <a:schemeClr val="tx1"/>
                </a:solidFill>
              </a:rPr>
              <a:t>diversi perimetri di applicazione </a:t>
            </a:r>
            <a:r>
              <a:rPr lang="it-IT" sz="2000" dirty="0">
                <a:solidFill>
                  <a:schemeClr val="tx1"/>
                </a:solidFill>
              </a:rPr>
              <a:t>in funzione di valutazioni ad hoc lato Direzione</a:t>
            </a:r>
            <a:endParaRPr lang="it-IT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47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4F0A3-349E-A54E-71F5-E58C944F9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D1FEEB8-A935-AD0A-1499-CC59F4B249D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4351" y="8738"/>
          <a:ext cx="1747" cy="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0" name="Diapositiva think-cell" r:id="rId5" imgW="424" imgH="425" progId="TCLayout.ActiveDocument.1">
                  <p:embed/>
                </p:oleObj>
              </mc:Choice>
              <mc:Fallback>
                <p:oleObj name="Diapositiva think-cell" r:id="rId5" imgW="424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1FEEB8-A935-AD0A-1499-CC59F4B249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351" y="8738"/>
                        <a:ext cx="1747" cy="1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itolo 4">
            <a:extLst>
              <a:ext uri="{FF2B5EF4-FFF2-40B4-BE49-F238E27FC236}">
                <a16:creationId xmlns:a16="http://schemas.microsoft.com/office/drawing/2014/main" id="{CF89F41E-9A87-C5F7-098B-996BC73E9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8" y="87404"/>
            <a:ext cx="12986979" cy="520054"/>
          </a:xfrm>
        </p:spPr>
        <p:txBody>
          <a:bodyPr vert="horz" lIns="0"/>
          <a:lstStyle/>
          <a:p>
            <a:pPr indent="715963"/>
            <a:r>
              <a:rPr lang="it-IT" sz="2800" dirty="0"/>
              <a:t>GESTIONE SUBAGENZIE | Logiche di applicazione del modello</a:t>
            </a:r>
          </a:p>
        </p:txBody>
      </p:sp>
      <p:sp>
        <p:nvSpPr>
          <p:cNvPr id="9" name="Rectangle 27">
            <a:extLst>
              <a:ext uri="{FF2B5EF4-FFF2-40B4-BE49-F238E27FC236}">
                <a16:creationId xmlns:a16="http://schemas.microsoft.com/office/drawing/2014/main" id="{05B032B5-18A7-FEB4-6191-A0F8C007350A}"/>
              </a:ext>
            </a:extLst>
          </p:cNvPr>
          <p:cNvSpPr/>
          <p:nvPr/>
        </p:nvSpPr>
        <p:spPr>
          <a:xfrm>
            <a:off x="542366" y="963299"/>
            <a:ext cx="12355043" cy="5864684"/>
          </a:xfrm>
          <a:prstGeom prst="rect">
            <a:avLst/>
          </a:prstGeom>
          <a:solidFill>
            <a:srgbClr val="F0F6FC"/>
          </a:solidFill>
          <a:ln>
            <a:solidFill>
              <a:schemeClr val="tx1">
                <a:lumMod val="25000"/>
                <a:lumOff val="75000"/>
              </a:schemeClr>
            </a:solidFill>
          </a:ln>
          <a:effectLst>
            <a:glow rad="101600">
              <a:schemeClr val="tx1">
                <a:lumMod val="50000"/>
                <a:lumOff val="50000"/>
                <a:alpha val="6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r>
              <a:rPr lang="it-IT" sz="14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61" name="TextBox 123">
            <a:extLst>
              <a:ext uri="{FF2B5EF4-FFF2-40B4-BE49-F238E27FC236}">
                <a16:creationId xmlns:a16="http://schemas.microsoft.com/office/drawing/2014/main" id="{4146FC49-74D5-57E3-2D49-61DBADC1AA33}"/>
              </a:ext>
            </a:extLst>
          </p:cNvPr>
          <p:cNvSpPr txBox="1"/>
          <p:nvPr/>
        </p:nvSpPr>
        <p:spPr>
          <a:xfrm>
            <a:off x="826418" y="4980286"/>
            <a:ext cx="11786938" cy="1488137"/>
          </a:xfrm>
          <a:prstGeom prst="rect">
            <a:avLst/>
          </a:prstGeom>
          <a:noFill/>
          <a:ln w="12700">
            <a:noFill/>
          </a:ln>
        </p:spPr>
        <p:txBody>
          <a:bodyPr wrap="square" lIns="108000" tIns="0" rIns="72000" bIns="0" rtlCol="0" anchor="ctr">
            <a:noAutofit/>
          </a:bodyPr>
          <a:lstStyle/>
          <a:p>
            <a:pPr lvl="0">
              <a:spcAft>
                <a:spcPts val="600"/>
              </a:spcAft>
              <a:defRPr/>
            </a:pPr>
            <a:r>
              <a:rPr lang="it-IT" sz="2400" b="1" dirty="0"/>
              <a:t>SOLUZIONE FUNZIONALE A:</a:t>
            </a:r>
          </a:p>
          <a:p>
            <a:pPr marL="342900" lvl="0" indent="-342900"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it-IT" sz="2400" b="1" u="sng" dirty="0"/>
              <a:t>VALORIZZARE GLI INVESTIMENTI EFFETTUATI DALLE AGENZIE</a:t>
            </a:r>
            <a:r>
              <a:rPr lang="it-IT" sz="2400" b="1" dirty="0"/>
              <a:t> PER INCREMENTARE IL SERVIZIO AL CLIENTE</a:t>
            </a:r>
            <a:endParaRPr lang="it-IT" sz="2400" i="1" dirty="0"/>
          </a:p>
          <a:p>
            <a:pPr marL="266700" lvl="0" indent="-266700"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it-IT" sz="2400" b="1" u="sng" dirty="0"/>
              <a:t>GARANTIRE FLESSIBILITA' LATO COMPAGNIA</a:t>
            </a:r>
            <a:r>
              <a:rPr lang="it-IT" sz="2400" b="1" dirty="0"/>
              <a:t> NELLA GESTIONE DELLE SUBAGENZIE ALL'INTERNO DEL MODELLO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814076E8-B753-5639-A189-CEFA4D032DF7}"/>
              </a:ext>
            </a:extLst>
          </p:cNvPr>
          <p:cNvSpPr/>
          <p:nvPr/>
        </p:nvSpPr>
        <p:spPr>
          <a:xfrm>
            <a:off x="836069" y="1119325"/>
            <a:ext cx="11767636" cy="3255147"/>
          </a:xfrm>
          <a:prstGeom prst="roundRect">
            <a:avLst>
              <a:gd name="adj" fmla="val 7777"/>
            </a:avLst>
          </a:prstGeom>
          <a:solidFill>
            <a:srgbClr val="35547A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3" name="Connettore diritto 52">
            <a:extLst>
              <a:ext uri="{FF2B5EF4-FFF2-40B4-BE49-F238E27FC236}">
                <a16:creationId xmlns:a16="http://schemas.microsoft.com/office/drawing/2014/main" id="{DDD8A449-078D-54EE-2BA4-96C5B596D677}"/>
              </a:ext>
            </a:extLst>
          </p:cNvPr>
          <p:cNvCxnSpPr>
            <a:cxnSpLocks/>
          </p:cNvCxnSpPr>
          <p:nvPr/>
        </p:nvCxnSpPr>
        <p:spPr>
          <a:xfrm rot="5400000">
            <a:off x="6719887" y="-998281"/>
            <a:ext cx="0" cy="11282249"/>
          </a:xfrm>
          <a:prstGeom prst="line">
            <a:avLst/>
          </a:prstGeom>
          <a:solidFill>
            <a:srgbClr val="FFFFFF"/>
          </a:solidFill>
          <a:ln w="28575" cap="flat" cmpd="sng" algn="ctr">
            <a:solidFill>
              <a:srgbClr val="0F3250"/>
            </a:solidFill>
            <a:prstDash val="solid"/>
            <a:miter lim="800000"/>
          </a:ln>
          <a:effectLst/>
        </p:spPr>
      </p:cxn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035AD715-C521-E801-1925-D2391FE72BAB}"/>
              </a:ext>
            </a:extLst>
          </p:cNvPr>
          <p:cNvGrpSpPr/>
          <p:nvPr/>
        </p:nvGrpSpPr>
        <p:grpSpPr>
          <a:xfrm>
            <a:off x="6201132" y="4441516"/>
            <a:ext cx="1008834" cy="310426"/>
            <a:chOff x="6449274" y="4015025"/>
            <a:chExt cx="802469" cy="275488"/>
          </a:xfrm>
        </p:grpSpPr>
        <p:sp>
          <p:nvSpPr>
            <p:cNvPr id="55" name="Freccia a gallone 54">
              <a:extLst>
                <a:ext uri="{FF2B5EF4-FFF2-40B4-BE49-F238E27FC236}">
                  <a16:creationId xmlns:a16="http://schemas.microsoft.com/office/drawing/2014/main" id="{BDF078C2-4EC0-16CE-FE67-1F556FAF5FE4}"/>
                </a:ext>
              </a:extLst>
            </p:cNvPr>
            <p:cNvSpPr/>
            <p:nvPr/>
          </p:nvSpPr>
          <p:spPr>
            <a:xfrm rot="5400000">
              <a:off x="6743616" y="3720683"/>
              <a:ext cx="213785" cy="802469"/>
            </a:xfrm>
            <a:prstGeom prst="chevron">
              <a:avLst>
                <a:gd name="adj" fmla="val 76973"/>
              </a:avLst>
            </a:prstGeom>
            <a:solidFill>
              <a:srgbClr val="FFFFFF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399" b="0" i="0" u="none" strike="noStrike" kern="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Freccia a gallone 55">
              <a:extLst>
                <a:ext uri="{FF2B5EF4-FFF2-40B4-BE49-F238E27FC236}">
                  <a16:creationId xmlns:a16="http://schemas.microsoft.com/office/drawing/2014/main" id="{701E453B-35DD-ACCE-9CEA-983D681468C1}"/>
                </a:ext>
              </a:extLst>
            </p:cNvPr>
            <p:cNvSpPr/>
            <p:nvPr/>
          </p:nvSpPr>
          <p:spPr>
            <a:xfrm rot="5400000">
              <a:off x="6743616" y="3782386"/>
              <a:ext cx="213785" cy="802469"/>
            </a:xfrm>
            <a:prstGeom prst="chevron">
              <a:avLst>
                <a:gd name="adj" fmla="val 76973"/>
              </a:avLst>
            </a:prstGeom>
            <a:solidFill>
              <a:srgbClr val="0F3250"/>
            </a:solidFill>
            <a:ln w="12700" cap="flat" cmpd="sng" algn="ctr">
              <a:solidFill>
                <a:srgbClr val="0F325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399" b="0" i="0" u="none" strike="noStrike" kern="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7" name="Rettangolo 46">
            <a:extLst>
              <a:ext uri="{FF2B5EF4-FFF2-40B4-BE49-F238E27FC236}">
                <a16:creationId xmlns:a16="http://schemas.microsoft.com/office/drawing/2014/main" id="{0853DCA1-B158-4D23-03FA-1042BF58A84D}"/>
              </a:ext>
            </a:extLst>
          </p:cNvPr>
          <p:cNvSpPr/>
          <p:nvPr/>
        </p:nvSpPr>
        <p:spPr>
          <a:xfrm>
            <a:off x="116539" y="127320"/>
            <a:ext cx="561887" cy="43941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>
                <a:solidFill>
                  <a:schemeClr val="bg1"/>
                </a:solidFill>
              </a:rPr>
              <a:t>2a</a:t>
            </a:r>
          </a:p>
        </p:txBody>
      </p:sp>
      <p:sp>
        <p:nvSpPr>
          <p:cNvPr id="94" name="TextBox 123">
            <a:extLst>
              <a:ext uri="{FF2B5EF4-FFF2-40B4-BE49-F238E27FC236}">
                <a16:creationId xmlns:a16="http://schemas.microsoft.com/office/drawing/2014/main" id="{C60EF59A-DB56-1F50-C1B0-90C6824092EE}"/>
              </a:ext>
            </a:extLst>
          </p:cNvPr>
          <p:cNvSpPr txBox="1"/>
          <p:nvPr/>
        </p:nvSpPr>
        <p:spPr>
          <a:xfrm>
            <a:off x="1226128" y="1267905"/>
            <a:ext cx="11258828" cy="1157253"/>
          </a:xfrm>
          <a:prstGeom prst="roundRect">
            <a:avLst>
              <a:gd name="adj" fmla="val 8217"/>
            </a:avLst>
          </a:prstGeom>
          <a:solidFill>
            <a:srgbClr val="FFFFFF"/>
          </a:solidFill>
          <a:ln>
            <a:solidFill>
              <a:srgbClr val="0F3250"/>
            </a:solidFill>
          </a:ln>
        </p:spPr>
        <p:txBody>
          <a:bodyPr wrap="square" lIns="432000" tIns="0" rIns="288000" bIns="0" rtlCol="0" anchor="ctr">
            <a:noAutofit/>
          </a:bodyPr>
          <a:lstStyle/>
          <a:p>
            <a:pPr>
              <a:spcAft>
                <a:spcPts val="600"/>
              </a:spcAft>
              <a:defRPr/>
            </a:pPr>
            <a:r>
              <a:rPr lang="it-IT" sz="2000" b="1" dirty="0">
                <a:solidFill>
                  <a:srgbClr val="0F3250"/>
                </a:solidFill>
              </a:rPr>
              <a:t>PARTECIPANO all'assegnazione dei lead competendo con le Agenzie</a:t>
            </a:r>
            <a:br>
              <a:rPr lang="it-IT" sz="2000" dirty="0">
                <a:solidFill>
                  <a:srgbClr val="0F3250"/>
                </a:solidFill>
              </a:rPr>
            </a:br>
            <a:r>
              <a:rPr lang="it-IT" sz="2000" i="1" dirty="0">
                <a:solidFill>
                  <a:srgbClr val="0F3250"/>
                </a:solidFill>
              </a:rPr>
              <a:t>N.B. Sempre possibile per il soggetto selezionare manualmente i singoli Punti Vendita a partire dal locator (previa abilitazione su canali digitali)</a:t>
            </a:r>
          </a:p>
        </p:txBody>
      </p:sp>
      <p:sp>
        <p:nvSpPr>
          <p:cNvPr id="98" name="TextBox 123">
            <a:extLst>
              <a:ext uri="{FF2B5EF4-FFF2-40B4-BE49-F238E27FC236}">
                <a16:creationId xmlns:a16="http://schemas.microsoft.com/office/drawing/2014/main" id="{C6C88C33-C19A-B9AC-9E1B-9EC94FF18BAF}"/>
              </a:ext>
            </a:extLst>
          </p:cNvPr>
          <p:cNvSpPr txBox="1"/>
          <p:nvPr/>
        </p:nvSpPr>
        <p:spPr>
          <a:xfrm>
            <a:off x="1226239" y="2507824"/>
            <a:ext cx="11258608" cy="817737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>
            <a:solidFill>
              <a:srgbClr val="0F3250"/>
            </a:solidFill>
          </a:ln>
        </p:spPr>
        <p:txBody>
          <a:bodyPr wrap="square" lIns="432000" tIns="0" rIns="144000" bIns="0" rtlCol="0" anchor="ctr">
            <a:noAutofit/>
          </a:bodyPr>
          <a:lstStyle/>
          <a:p>
            <a:pPr>
              <a:defRPr/>
            </a:pPr>
            <a:r>
              <a:rPr lang="it-IT" sz="2000" b="1" dirty="0">
                <a:solidFill>
                  <a:srgbClr val="0F3250"/>
                </a:solidFill>
              </a:rPr>
              <a:t>EREDITANO LO SCORE DI PERFORMANCE delle rispettive Agenzie</a:t>
            </a:r>
            <a:r>
              <a:rPr lang="it-IT" sz="2000" b="1" baseline="30000" dirty="0">
                <a:solidFill>
                  <a:srgbClr val="0F3250"/>
                </a:solidFill>
              </a:rPr>
              <a:t>1</a:t>
            </a:r>
            <a:r>
              <a:rPr lang="it-IT" sz="2000" b="1" dirty="0">
                <a:solidFill>
                  <a:srgbClr val="0F3250"/>
                </a:solidFill>
              </a:rPr>
              <a:t>, ma con CONTATORE SEPARATO</a:t>
            </a:r>
          </a:p>
        </p:txBody>
      </p:sp>
      <p:sp>
        <p:nvSpPr>
          <p:cNvPr id="7" name="TextBox 123">
            <a:extLst>
              <a:ext uri="{FF2B5EF4-FFF2-40B4-BE49-F238E27FC236}">
                <a16:creationId xmlns:a16="http://schemas.microsoft.com/office/drawing/2014/main" id="{354E6961-D71F-6FA2-6281-0B8F838FED41}"/>
              </a:ext>
            </a:extLst>
          </p:cNvPr>
          <p:cNvSpPr txBox="1"/>
          <p:nvPr/>
        </p:nvSpPr>
        <p:spPr>
          <a:xfrm>
            <a:off x="1226239" y="3408154"/>
            <a:ext cx="11258608" cy="817737"/>
          </a:xfrm>
          <a:prstGeom prst="roundRect">
            <a:avLst>
              <a:gd name="adj" fmla="val 11697"/>
            </a:avLst>
          </a:prstGeom>
          <a:solidFill>
            <a:srgbClr val="FFFFFF"/>
          </a:solidFill>
          <a:ln>
            <a:solidFill>
              <a:srgbClr val="0F3250"/>
            </a:solidFill>
          </a:ln>
        </p:spPr>
        <p:txBody>
          <a:bodyPr wrap="square" lIns="432000" tIns="0" rIns="144000" bIns="0" rtlCol="0" anchor="ctr">
            <a:noAutofit/>
          </a:bodyPr>
          <a:lstStyle/>
          <a:p>
            <a:pPr>
              <a:defRPr/>
            </a:pPr>
            <a:r>
              <a:rPr lang="it-IT" sz="2000" dirty="0">
                <a:solidFill>
                  <a:srgbClr val="0F3250"/>
                </a:solidFill>
              </a:rPr>
              <a:t>Previsto</a:t>
            </a:r>
            <a:r>
              <a:rPr lang="it-IT" sz="2000" b="1" dirty="0">
                <a:solidFill>
                  <a:srgbClr val="0F3250"/>
                </a:solidFill>
              </a:rPr>
              <a:t> FATTORE CORRETTIVO PARAMETRICO DA APPLICARE AL CONTATORE </a:t>
            </a:r>
            <a:r>
              <a:rPr lang="it-IT" sz="2000" i="1" dirty="0">
                <a:solidFill>
                  <a:srgbClr val="0F3250"/>
                </a:solidFill>
              </a:rPr>
              <a:t>(range 0-100%) </a:t>
            </a:r>
            <a:r>
              <a:rPr lang="it-IT" sz="2000" dirty="0">
                <a:solidFill>
                  <a:srgbClr val="0F3250"/>
                </a:solidFill>
              </a:rPr>
              <a:t>delle singole Subagenzie</a:t>
            </a:r>
            <a:r>
              <a:rPr lang="it-IT" sz="2000" i="1" dirty="0">
                <a:solidFill>
                  <a:srgbClr val="0F3250"/>
                </a:solidFill>
              </a:rPr>
              <a:t> </a:t>
            </a:r>
            <a:r>
              <a:rPr lang="it-IT" sz="2000" dirty="0">
                <a:solidFill>
                  <a:srgbClr val="0F3250"/>
                </a:solidFill>
              </a:rPr>
              <a:t>per bilanciarne il peso relativo nel modello</a:t>
            </a:r>
            <a:endParaRPr lang="it-IT" sz="2000" i="1" dirty="0">
              <a:solidFill>
                <a:srgbClr val="0F3250"/>
              </a:solidFill>
            </a:endParaRP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A3957070-60CB-5344-94CD-E9CEF0437FEB}"/>
              </a:ext>
            </a:extLst>
          </p:cNvPr>
          <p:cNvSpPr/>
          <p:nvPr/>
        </p:nvSpPr>
        <p:spPr>
          <a:xfrm>
            <a:off x="920429" y="2602020"/>
            <a:ext cx="654545" cy="65454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78EA2F67-45B0-32E0-A359-89B60FA8D96A}"/>
              </a:ext>
            </a:extLst>
          </p:cNvPr>
          <p:cNvSpPr/>
          <p:nvPr/>
        </p:nvSpPr>
        <p:spPr>
          <a:xfrm>
            <a:off x="920429" y="1527547"/>
            <a:ext cx="654545" cy="65454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C0645C9B-437F-49B2-534E-8A250AA66342}"/>
              </a:ext>
            </a:extLst>
          </p:cNvPr>
          <p:cNvSpPr/>
          <p:nvPr/>
        </p:nvSpPr>
        <p:spPr>
          <a:xfrm>
            <a:off x="920429" y="3511942"/>
            <a:ext cx="654545" cy="65454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9" name="Immagine 28" descr="Immagine che contiene simbolo, design&#10;&#10;Il contenuto generato dall'IA potrebbe non essere corretto.">
            <a:extLst>
              <a:ext uri="{FF2B5EF4-FFF2-40B4-BE49-F238E27FC236}">
                <a16:creationId xmlns:a16="http://schemas.microsoft.com/office/drawing/2014/main" id="{6F71170F-09AC-C973-44FD-F68EC418C0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57" y="3565370"/>
            <a:ext cx="547688" cy="547688"/>
          </a:xfrm>
          <a:prstGeom prst="rect">
            <a:avLst/>
          </a:prstGeom>
        </p:spPr>
      </p:pic>
      <p:pic>
        <p:nvPicPr>
          <p:cNvPr id="24" name="Immagine 23" descr="Immagine che contiene schermata, Elementi grafici, clipart, grafica&#10;&#10;Il contenuto generato dall'IA potrebbe non essere corretto.">
            <a:extLst>
              <a:ext uri="{FF2B5EF4-FFF2-40B4-BE49-F238E27FC236}">
                <a16:creationId xmlns:a16="http://schemas.microsoft.com/office/drawing/2014/main" id="{0CC7BA43-18B3-292B-6C02-C4A1075BAA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88" y="2704054"/>
            <a:ext cx="473626" cy="473626"/>
          </a:xfrm>
          <a:prstGeom prst="rect">
            <a:avLst/>
          </a:prstGeom>
        </p:spPr>
      </p:pic>
      <p:pic>
        <p:nvPicPr>
          <p:cNvPr id="4" name="Immagine 3" descr="Immagine che contiene simbolo, design&#10;&#10;Il contenuto generato dall'IA potrebbe non essere corretto.">
            <a:extLst>
              <a:ext uri="{FF2B5EF4-FFF2-40B4-BE49-F238E27FC236}">
                <a16:creationId xmlns:a16="http://schemas.microsoft.com/office/drawing/2014/main" id="{3FDCCD3A-5A2C-CA6C-3D61-DD5D16B9E0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07" y="1605900"/>
            <a:ext cx="520989" cy="52098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CB7231C-D27E-0F86-8F15-2143EBA032B6}"/>
              </a:ext>
            </a:extLst>
          </p:cNvPr>
          <p:cNvSpPr txBox="1"/>
          <p:nvPr/>
        </p:nvSpPr>
        <p:spPr>
          <a:xfrm>
            <a:off x="59195" y="7128397"/>
            <a:ext cx="61419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i="1" dirty="0">
                <a:solidFill>
                  <a:schemeClr val="bg1"/>
                </a:solidFill>
              </a:rPr>
              <a:t>Nota: 1) Lo score di Agenzia è la risultante delle performance registrate dall'Agenzia di riferimento e di tutti i Punti Vendita collegati</a:t>
            </a:r>
          </a:p>
        </p:txBody>
      </p:sp>
      <p:sp>
        <p:nvSpPr>
          <p:cNvPr id="2" name="Fumetto: rettangolo con angoli arrotondati 1">
            <a:extLst>
              <a:ext uri="{FF2B5EF4-FFF2-40B4-BE49-F238E27FC236}">
                <a16:creationId xmlns:a16="http://schemas.microsoft.com/office/drawing/2014/main" id="{E0B7805A-EAA4-D6C4-6475-C1AA5E0DCB3C}"/>
              </a:ext>
            </a:extLst>
          </p:cNvPr>
          <p:cNvSpPr/>
          <p:nvPr/>
        </p:nvSpPr>
        <p:spPr>
          <a:xfrm>
            <a:off x="8758284" y="3927014"/>
            <a:ext cx="2847152" cy="520186"/>
          </a:xfrm>
          <a:prstGeom prst="wedgeRoundRectCallout">
            <a:avLst>
              <a:gd name="adj1" fmla="val 16926"/>
              <a:gd name="adj2" fmla="val -71036"/>
              <a:gd name="adj3" fmla="val 16667"/>
            </a:avLst>
          </a:prstGeom>
          <a:solidFill>
            <a:srgbClr val="FFF7E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1400" i="1" dirty="0">
                <a:solidFill>
                  <a:schemeClr val="tx1"/>
                </a:solidFill>
              </a:rPr>
              <a:t>Valori 0-25-50-75-100%, con risultato arrotondato all'unità (per eccesso)</a:t>
            </a:r>
          </a:p>
        </p:txBody>
      </p:sp>
    </p:spTree>
    <p:extLst>
      <p:ext uri="{BB962C8B-B14F-4D97-AF65-F5344CB8AC3E}">
        <p14:creationId xmlns:p14="http://schemas.microsoft.com/office/powerpoint/2010/main" val="3610539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B9CD3-80F7-BB91-8E41-61020350A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53F7D85-4B8C-F7F2-B985-54D3C9B95D7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4351" y="8738"/>
          <a:ext cx="1747" cy="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4" name="Diapositiva think-cell" r:id="rId5" imgW="424" imgH="425" progId="TCLayout.ActiveDocument.1">
                  <p:embed/>
                </p:oleObj>
              </mc:Choice>
              <mc:Fallback>
                <p:oleObj name="Diapositiva think-cell" r:id="rId5" imgW="424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3F7D85-4B8C-F7F2-B985-54D3C9B95D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351" y="8738"/>
                        <a:ext cx="1747" cy="1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itolo 4">
            <a:extLst>
              <a:ext uri="{FF2B5EF4-FFF2-40B4-BE49-F238E27FC236}">
                <a16:creationId xmlns:a16="http://schemas.microsoft.com/office/drawing/2014/main" id="{D61510AC-5137-1C71-183B-5FC509C14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8" y="87404"/>
            <a:ext cx="12986979" cy="520054"/>
          </a:xfrm>
        </p:spPr>
        <p:txBody>
          <a:bodyPr vert="horz"/>
          <a:lstStyle/>
          <a:p>
            <a:pPr indent="627063"/>
            <a:r>
              <a:rPr lang="it-IT" sz="2800" dirty="0"/>
              <a:t>GESTIONE BLACKLIST | Logiche di applicazione</a:t>
            </a:r>
            <a:endParaRPr lang="it-IT" sz="2800" i="1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47D8A5A2-A41D-91D2-63A4-563382D34EC4}"/>
              </a:ext>
            </a:extLst>
          </p:cNvPr>
          <p:cNvSpPr/>
          <p:nvPr/>
        </p:nvSpPr>
        <p:spPr>
          <a:xfrm>
            <a:off x="116539" y="127320"/>
            <a:ext cx="561887" cy="43941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>
                <a:solidFill>
                  <a:schemeClr val="bg1"/>
                </a:solidFill>
              </a:rPr>
              <a:t>2b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A197343-235E-F68B-E4EB-A551B8C8F3EF}"/>
              </a:ext>
            </a:extLst>
          </p:cNvPr>
          <p:cNvSpPr txBox="1"/>
          <p:nvPr/>
        </p:nvSpPr>
        <p:spPr>
          <a:xfrm>
            <a:off x="7952005" y="1638355"/>
            <a:ext cx="5066223" cy="48910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t-IT" sz="2200" b="1" dirty="0"/>
              <a:t>COMPLETA NEL FUNNEL – Applicazione in tutte le fasi di preventivazione:</a:t>
            </a:r>
            <a:endParaRPr lang="it-IT" sz="2200" dirty="0"/>
          </a:p>
          <a:p>
            <a:pPr marL="800100" lvl="1" indent="-34290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it-IT" sz="2200" dirty="0"/>
              <a:t>L'inserimento in BL del Punto Vendita inibisce la partecipazione al modello di assegnazione</a:t>
            </a:r>
          </a:p>
          <a:p>
            <a:pPr marL="800100" lvl="1" indent="-34290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it-IT" sz="2200" dirty="0"/>
              <a:t>L'inserimento in BL del Punto Vendita inibisce la possibilità di scelta libera tramite locator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t-IT" sz="2200" b="1" dirty="0"/>
              <a:t>NON PREVISTA NELLA SEZIONE "DOVE SIAMO" DEL SITO ISTITUZIONALE – Sempre visibili tutti i PV abilitati</a:t>
            </a:r>
            <a:endParaRPr lang="it-IT" sz="2200" dirty="0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7BF1FEF9-F446-915E-AFE4-519239A8D3C7}"/>
              </a:ext>
            </a:extLst>
          </p:cNvPr>
          <p:cNvSpPr/>
          <p:nvPr/>
        </p:nvSpPr>
        <p:spPr>
          <a:xfrm>
            <a:off x="401308" y="1670818"/>
            <a:ext cx="7199315" cy="2808142"/>
          </a:xfrm>
          <a:prstGeom prst="roundRect">
            <a:avLst>
              <a:gd name="adj" fmla="val 4555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l"/>
            <a:endParaRPr lang="it-IT" sz="1400" b="1">
              <a:solidFill>
                <a:schemeClr val="tx1"/>
              </a:solidFill>
            </a:endParaRP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EDD9BDF4-487C-A8FE-598E-20218990BDE2}"/>
              </a:ext>
            </a:extLst>
          </p:cNvPr>
          <p:cNvSpPr/>
          <p:nvPr/>
        </p:nvSpPr>
        <p:spPr>
          <a:xfrm>
            <a:off x="401311" y="4215659"/>
            <a:ext cx="7199314" cy="2313759"/>
          </a:xfrm>
          <a:prstGeom prst="roundRect">
            <a:avLst>
              <a:gd name="adj" fmla="val 4555"/>
            </a:avLst>
          </a:prstGeom>
          <a:solidFill>
            <a:srgbClr val="EBF3F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l"/>
            <a:endParaRPr lang="it-IT" sz="1400" b="1">
              <a:solidFill>
                <a:schemeClr val="tx1"/>
              </a:solidFill>
            </a:endParaRP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3CD0CC1A-7CCA-D3C8-CE62-7F5748C06E03}"/>
              </a:ext>
            </a:extLst>
          </p:cNvPr>
          <p:cNvSpPr/>
          <p:nvPr/>
        </p:nvSpPr>
        <p:spPr>
          <a:xfrm>
            <a:off x="1306326" y="2991192"/>
            <a:ext cx="1553660" cy="54689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 </a:t>
            </a:r>
            <a:r>
              <a:rPr lang="it-IT" sz="1600" b="1" u="sng" dirty="0">
                <a:solidFill>
                  <a:schemeClr val="bg1"/>
                </a:solidFill>
                <a:latin typeface="Calibri"/>
              </a:rPr>
              <a:t>UNICA</a:t>
            </a:r>
            <a:endParaRPr kumimoji="0" lang="it-IT" sz="16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19">
            <a:extLst>
              <a:ext uri="{FF2B5EF4-FFF2-40B4-BE49-F238E27FC236}">
                <a16:creationId xmlns:a16="http://schemas.microsoft.com/office/drawing/2014/main" id="{CE5C8B49-EA8F-5EEB-49E5-178C3B725A60}"/>
              </a:ext>
            </a:extLst>
          </p:cNvPr>
          <p:cNvSpPr/>
          <p:nvPr/>
        </p:nvSpPr>
        <p:spPr>
          <a:xfrm>
            <a:off x="1306325" y="1862107"/>
            <a:ext cx="3298428" cy="727916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 "GENERALE"</a:t>
            </a:r>
            <a:endParaRPr kumimoji="0" lang="it-IT" sz="220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589D92E-B884-E6FE-8A1E-18BEB03656E8}"/>
              </a:ext>
            </a:extLst>
          </p:cNvPr>
          <p:cNvSpPr txBox="1"/>
          <p:nvPr/>
        </p:nvSpPr>
        <p:spPr>
          <a:xfrm>
            <a:off x="2799364" y="2623509"/>
            <a:ext cx="312351" cy="31804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it-IT" sz="4400" b="1" dirty="0"/>
              <a:t>+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CB6A8CB-4C92-A63C-BC4C-7022A1A3D899}"/>
              </a:ext>
            </a:extLst>
          </p:cNvPr>
          <p:cNvSpPr txBox="1"/>
          <p:nvPr/>
        </p:nvSpPr>
        <p:spPr>
          <a:xfrm>
            <a:off x="4810323" y="1819539"/>
            <a:ext cx="2720775" cy="41376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it-IT" sz="2200" dirty="0"/>
              <a:t>Possibilità di </a:t>
            </a:r>
            <a:r>
              <a:rPr lang="it-IT" sz="2200" b="1" dirty="0"/>
              <a:t>intervenire separatamente sulle </a:t>
            </a:r>
            <a:r>
              <a:rPr lang="it-IT" sz="2200" b="1" dirty="0" err="1"/>
              <a:t>Blacklist</a:t>
            </a:r>
            <a:r>
              <a:rPr lang="it-IT" sz="2200" b="1" dirty="0"/>
              <a:t> sia a livello complessivo </a:t>
            </a:r>
            <a:r>
              <a:rPr lang="it-IT" sz="2200" i="1" dirty="0"/>
              <a:t>(livello 1) </a:t>
            </a:r>
            <a:r>
              <a:rPr lang="it-IT" sz="2200" b="1" dirty="0"/>
              <a:t>che specifico </a:t>
            </a:r>
            <a:r>
              <a:rPr lang="it-IT" sz="2200" i="1" dirty="0"/>
              <a:t>(livello 2)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t-IT" sz="2200" b="1" dirty="0"/>
              <a:t>L'attivazione del primo livello condiziona l'inserimento in </a:t>
            </a:r>
            <a:r>
              <a:rPr lang="it-IT" sz="2200" b="1" dirty="0" err="1"/>
              <a:t>Blacklist</a:t>
            </a:r>
            <a:r>
              <a:rPr lang="it-IT" sz="2200" b="1" dirty="0"/>
              <a:t> di tutti i livelli secondari</a:t>
            </a:r>
            <a:endParaRPr lang="it-IT" sz="2200" dirty="0"/>
          </a:p>
        </p:txBody>
      </p:sp>
      <p:sp>
        <p:nvSpPr>
          <p:cNvPr id="11" name="Rectangle 19">
            <a:extLst>
              <a:ext uri="{FF2B5EF4-FFF2-40B4-BE49-F238E27FC236}">
                <a16:creationId xmlns:a16="http://schemas.microsoft.com/office/drawing/2014/main" id="{13C980F3-0832-9EC8-1AE9-40BAA6885F6A}"/>
              </a:ext>
            </a:extLst>
          </p:cNvPr>
          <p:cNvSpPr/>
          <p:nvPr/>
        </p:nvSpPr>
        <p:spPr>
          <a:xfrm>
            <a:off x="3051092" y="2991191"/>
            <a:ext cx="1553661" cy="54689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 UNI</a:t>
            </a:r>
            <a:r>
              <a:rPr lang="it-IT" sz="1600" b="1" u="sng" dirty="0">
                <a:solidFill>
                  <a:schemeClr val="bg1"/>
                </a:solidFill>
                <a:latin typeface="Calibri"/>
              </a:rPr>
              <a:t>SALUTE</a:t>
            </a:r>
            <a:endParaRPr kumimoji="0" lang="it-IT" sz="16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BB1D6A0A-0BEC-FC43-B0A2-B5BCC8679C7A}"/>
              </a:ext>
            </a:extLst>
          </p:cNvPr>
          <p:cNvSpPr/>
          <p:nvPr/>
        </p:nvSpPr>
        <p:spPr>
          <a:xfrm>
            <a:off x="3051092" y="3608152"/>
            <a:ext cx="1553661" cy="54689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…</a:t>
            </a:r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CBB8CC66-452B-FC9D-2F5B-14301D8C8B9E}"/>
              </a:ext>
            </a:extLst>
          </p:cNvPr>
          <p:cNvSpPr/>
          <p:nvPr/>
        </p:nvSpPr>
        <p:spPr>
          <a:xfrm>
            <a:off x="1264763" y="5765572"/>
            <a:ext cx="979678" cy="54689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600" b="1" u="sng" dirty="0">
                <a:solidFill>
                  <a:schemeClr val="bg1"/>
                </a:solidFill>
                <a:latin typeface="Calibri"/>
              </a:rPr>
              <a:t>BL </a:t>
            </a:r>
            <a:r>
              <a:rPr kumimoji="0" lang="it-IT" sz="1600" b="1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 1</a:t>
            </a:r>
            <a:endParaRPr kumimoji="0" lang="it-IT" sz="16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D304AE61-2C6D-9957-F2F4-080759913243}"/>
              </a:ext>
            </a:extLst>
          </p:cNvPr>
          <p:cNvSpPr/>
          <p:nvPr/>
        </p:nvSpPr>
        <p:spPr>
          <a:xfrm>
            <a:off x="1264761" y="4636487"/>
            <a:ext cx="3298428" cy="727916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 AGENZIA</a:t>
            </a:r>
            <a:endParaRPr kumimoji="0" lang="it-IT" sz="2200" b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AD0E8E8-CC90-348A-EDE4-AF278B1DB768}"/>
              </a:ext>
            </a:extLst>
          </p:cNvPr>
          <p:cNvSpPr txBox="1"/>
          <p:nvPr/>
        </p:nvSpPr>
        <p:spPr>
          <a:xfrm>
            <a:off x="2757800" y="5397889"/>
            <a:ext cx="312351" cy="31804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it-IT" sz="4400" b="1" dirty="0"/>
              <a:t>+</a:t>
            </a:r>
          </a:p>
        </p:txBody>
      </p:sp>
      <p:sp>
        <p:nvSpPr>
          <p:cNvPr id="24" name="Rectangle 19">
            <a:extLst>
              <a:ext uri="{FF2B5EF4-FFF2-40B4-BE49-F238E27FC236}">
                <a16:creationId xmlns:a16="http://schemas.microsoft.com/office/drawing/2014/main" id="{FFCE9043-419D-0645-6B52-3C933E820DC4}"/>
              </a:ext>
            </a:extLst>
          </p:cNvPr>
          <p:cNvSpPr/>
          <p:nvPr/>
        </p:nvSpPr>
        <p:spPr>
          <a:xfrm>
            <a:off x="1306325" y="3608152"/>
            <a:ext cx="1553661" cy="54689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 </a:t>
            </a:r>
            <a:r>
              <a:rPr lang="it-IT" sz="1600" b="1" u="sng" dirty="0">
                <a:solidFill>
                  <a:schemeClr val="bg1"/>
                </a:solidFill>
                <a:latin typeface="Calibri"/>
              </a:rPr>
              <a:t>PREVIDENZA</a:t>
            </a:r>
            <a:endParaRPr kumimoji="0" lang="it-IT" sz="16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19">
            <a:extLst>
              <a:ext uri="{FF2B5EF4-FFF2-40B4-BE49-F238E27FC236}">
                <a16:creationId xmlns:a16="http://schemas.microsoft.com/office/drawing/2014/main" id="{81C2BABB-1E39-B251-B663-8EF7CB85A29F}"/>
              </a:ext>
            </a:extLst>
          </p:cNvPr>
          <p:cNvSpPr/>
          <p:nvPr/>
        </p:nvSpPr>
        <p:spPr>
          <a:xfrm>
            <a:off x="2424137" y="5765572"/>
            <a:ext cx="979678" cy="54689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600" b="1" u="sng" dirty="0">
                <a:solidFill>
                  <a:schemeClr val="bg1"/>
                </a:solidFill>
                <a:latin typeface="Calibri"/>
              </a:rPr>
              <a:t>BL </a:t>
            </a:r>
            <a:r>
              <a:rPr kumimoji="0" lang="it-IT" sz="1600" b="1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 2</a:t>
            </a:r>
            <a:endParaRPr kumimoji="0" lang="it-IT" sz="16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19">
            <a:extLst>
              <a:ext uri="{FF2B5EF4-FFF2-40B4-BE49-F238E27FC236}">
                <a16:creationId xmlns:a16="http://schemas.microsoft.com/office/drawing/2014/main" id="{978535E5-2DA2-23C9-AA3E-044A85179272}"/>
              </a:ext>
            </a:extLst>
          </p:cNvPr>
          <p:cNvSpPr/>
          <p:nvPr/>
        </p:nvSpPr>
        <p:spPr>
          <a:xfrm>
            <a:off x="3583511" y="5765572"/>
            <a:ext cx="979678" cy="54689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600" b="1" u="sng" dirty="0">
                <a:solidFill>
                  <a:schemeClr val="bg1"/>
                </a:solidFill>
                <a:latin typeface="Calibri"/>
              </a:rPr>
              <a:t>BL </a:t>
            </a:r>
            <a:r>
              <a:rPr kumimoji="0" lang="it-IT" sz="1600" b="1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 N</a:t>
            </a:r>
            <a:endParaRPr kumimoji="0" lang="it-IT" sz="16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CF3C23B3-2BFE-8061-9F88-0D21DD2CFCAC}"/>
              </a:ext>
            </a:extLst>
          </p:cNvPr>
          <p:cNvCxnSpPr/>
          <p:nvPr/>
        </p:nvCxnSpPr>
        <p:spPr>
          <a:xfrm>
            <a:off x="1194959" y="2976015"/>
            <a:ext cx="0" cy="11895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AD656155-E07F-C97E-F1E9-50267B438893}"/>
              </a:ext>
            </a:extLst>
          </p:cNvPr>
          <p:cNvCxnSpPr/>
          <p:nvPr/>
        </p:nvCxnSpPr>
        <p:spPr>
          <a:xfrm>
            <a:off x="1194959" y="4654029"/>
            <a:ext cx="0" cy="6743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A213ED55-E251-35CE-D85B-D9FB046C0D25}"/>
              </a:ext>
            </a:extLst>
          </p:cNvPr>
          <p:cNvCxnSpPr/>
          <p:nvPr/>
        </p:nvCxnSpPr>
        <p:spPr>
          <a:xfrm>
            <a:off x="1194959" y="5763198"/>
            <a:ext cx="0" cy="5572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EEC69626-9DFE-E952-DC8E-7EEA72ABD9B5}"/>
              </a:ext>
            </a:extLst>
          </p:cNvPr>
          <p:cNvCxnSpPr/>
          <p:nvPr/>
        </p:nvCxnSpPr>
        <p:spPr>
          <a:xfrm>
            <a:off x="1194959" y="1869988"/>
            <a:ext cx="0" cy="6810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3DF49584-1843-FE0F-6068-675173CF27A4}"/>
              </a:ext>
            </a:extLst>
          </p:cNvPr>
          <p:cNvSpPr txBox="1"/>
          <p:nvPr/>
        </p:nvSpPr>
        <p:spPr>
          <a:xfrm>
            <a:off x="572246" y="2033639"/>
            <a:ext cx="655442" cy="359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 err="1"/>
              <a:t>Liv</a:t>
            </a:r>
            <a:r>
              <a:rPr lang="it-IT" i="1" dirty="0"/>
              <a:t>. 1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B5D3333E-ED5F-C502-37A8-F01B52FF0612}"/>
              </a:ext>
            </a:extLst>
          </p:cNvPr>
          <p:cNvSpPr txBox="1"/>
          <p:nvPr/>
        </p:nvSpPr>
        <p:spPr>
          <a:xfrm>
            <a:off x="572246" y="4849074"/>
            <a:ext cx="655442" cy="359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 err="1"/>
              <a:t>Liv</a:t>
            </a:r>
            <a:r>
              <a:rPr lang="it-IT" i="1" dirty="0"/>
              <a:t>. 1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174CA320-420A-61A2-9920-F93C0DA3D77C}"/>
              </a:ext>
            </a:extLst>
          </p:cNvPr>
          <p:cNvSpPr txBox="1"/>
          <p:nvPr/>
        </p:nvSpPr>
        <p:spPr>
          <a:xfrm>
            <a:off x="572246" y="5835765"/>
            <a:ext cx="655442" cy="39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 err="1"/>
              <a:t>Liv</a:t>
            </a:r>
            <a:r>
              <a:rPr lang="it-IT" i="1" dirty="0"/>
              <a:t>. 2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ECB3EC8B-CFE0-FF30-FAF1-5CEC38E43862}"/>
              </a:ext>
            </a:extLst>
          </p:cNvPr>
          <p:cNvSpPr txBox="1"/>
          <p:nvPr/>
        </p:nvSpPr>
        <p:spPr>
          <a:xfrm>
            <a:off x="572246" y="3389436"/>
            <a:ext cx="655442" cy="39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 err="1"/>
              <a:t>Liv</a:t>
            </a:r>
            <a:r>
              <a:rPr lang="it-IT" i="1" dirty="0"/>
              <a:t>. 2</a:t>
            </a:r>
          </a:p>
        </p:txBody>
      </p:sp>
      <p:cxnSp>
        <p:nvCxnSpPr>
          <p:cNvPr id="43" name="Connettore diritto 42">
            <a:extLst>
              <a:ext uri="{FF2B5EF4-FFF2-40B4-BE49-F238E27FC236}">
                <a16:creationId xmlns:a16="http://schemas.microsoft.com/office/drawing/2014/main" id="{653E8606-C15B-808F-DC2C-893D25B6ADCC}"/>
              </a:ext>
            </a:extLst>
          </p:cNvPr>
          <p:cNvCxnSpPr/>
          <p:nvPr/>
        </p:nvCxnSpPr>
        <p:spPr>
          <a:xfrm>
            <a:off x="678426" y="4397312"/>
            <a:ext cx="3884763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uppo 203">
            <a:extLst>
              <a:ext uri="{FF2B5EF4-FFF2-40B4-BE49-F238E27FC236}">
                <a16:creationId xmlns:a16="http://schemas.microsoft.com/office/drawing/2014/main" id="{2526E409-EC6D-F60E-E9C6-1D2E0C7AD93E}"/>
              </a:ext>
            </a:extLst>
          </p:cNvPr>
          <p:cNvGrpSpPr/>
          <p:nvPr/>
        </p:nvGrpSpPr>
        <p:grpSpPr>
          <a:xfrm>
            <a:off x="401307" y="1025986"/>
            <a:ext cx="7199311" cy="461383"/>
            <a:chOff x="1643063" y="1504137"/>
            <a:chExt cx="2462213" cy="364028"/>
          </a:xfrm>
          <a:noFill/>
        </p:grpSpPr>
        <p:sp>
          <p:nvSpPr>
            <p:cNvPr id="46" name="Rettangolo 204">
              <a:extLst>
                <a:ext uri="{FF2B5EF4-FFF2-40B4-BE49-F238E27FC236}">
                  <a16:creationId xmlns:a16="http://schemas.microsoft.com/office/drawing/2014/main" id="{70D76E00-4F08-5B6D-1029-FE3600185B66}"/>
                </a:ext>
              </a:extLst>
            </p:cNvPr>
            <p:cNvSpPr/>
            <p:nvPr/>
          </p:nvSpPr>
          <p:spPr>
            <a:xfrm>
              <a:off x="1643066" y="1504137"/>
              <a:ext cx="2462210" cy="3289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54000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800" b="1" i="0" u="none" strike="noStrike" kern="1200" cap="none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ARCHITETTURA</a:t>
              </a:r>
            </a:p>
          </p:txBody>
        </p:sp>
        <p:cxnSp>
          <p:nvCxnSpPr>
            <p:cNvPr id="47" name="Connettore 1 12">
              <a:extLst>
                <a:ext uri="{FF2B5EF4-FFF2-40B4-BE49-F238E27FC236}">
                  <a16:creationId xmlns:a16="http://schemas.microsoft.com/office/drawing/2014/main" id="{94014A60-AF44-D1B9-8234-55A7BA1138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3063" y="1868165"/>
              <a:ext cx="2462213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9" name="Immagine 58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66A72578-8652-4B90-E453-91F6BE21B6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298" y="817738"/>
            <a:ext cx="686705" cy="686705"/>
          </a:xfrm>
          <a:prstGeom prst="rect">
            <a:avLst/>
          </a:prstGeom>
        </p:spPr>
      </p:pic>
      <p:grpSp>
        <p:nvGrpSpPr>
          <p:cNvPr id="48" name="Gruppo 203">
            <a:extLst>
              <a:ext uri="{FF2B5EF4-FFF2-40B4-BE49-F238E27FC236}">
                <a16:creationId xmlns:a16="http://schemas.microsoft.com/office/drawing/2014/main" id="{BF268819-4A65-EAE1-1D9F-79290C49B042}"/>
              </a:ext>
            </a:extLst>
          </p:cNvPr>
          <p:cNvGrpSpPr/>
          <p:nvPr/>
        </p:nvGrpSpPr>
        <p:grpSpPr>
          <a:xfrm>
            <a:off x="7952003" y="1025986"/>
            <a:ext cx="5066224" cy="461383"/>
            <a:chOff x="1643063" y="1504137"/>
            <a:chExt cx="2462213" cy="364028"/>
          </a:xfrm>
          <a:noFill/>
        </p:grpSpPr>
        <p:sp>
          <p:nvSpPr>
            <p:cNvPr id="49" name="Rettangolo 204">
              <a:extLst>
                <a:ext uri="{FF2B5EF4-FFF2-40B4-BE49-F238E27FC236}">
                  <a16:creationId xmlns:a16="http://schemas.microsoft.com/office/drawing/2014/main" id="{880721C0-6895-F81C-705E-C9BC74AC65AD}"/>
                </a:ext>
              </a:extLst>
            </p:cNvPr>
            <p:cNvSpPr/>
            <p:nvPr/>
          </p:nvSpPr>
          <p:spPr>
            <a:xfrm>
              <a:off x="1643066" y="1504137"/>
              <a:ext cx="2462210" cy="3289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54000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800" b="1" i="0" u="none" strike="noStrike" kern="1200" cap="none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APPLICAZIONE</a:t>
              </a:r>
            </a:p>
          </p:txBody>
        </p:sp>
        <p:cxnSp>
          <p:nvCxnSpPr>
            <p:cNvPr id="50" name="Connettore 1 12">
              <a:extLst>
                <a:ext uri="{FF2B5EF4-FFF2-40B4-BE49-F238E27FC236}">
                  <a16:creationId xmlns:a16="http://schemas.microsoft.com/office/drawing/2014/main" id="{F3327CD0-33AA-F1C8-E7C5-567B0613C6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3063" y="1868165"/>
              <a:ext cx="2462213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Immagine 9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CE9BCEBC-2B57-6EB7-A464-5CED34F28A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515" y="837786"/>
            <a:ext cx="646609" cy="64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635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16F93-9A67-FB78-E591-59CE8626B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5733A82-8C1C-51D6-B6A1-11B8092B80C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8725" y="2333"/>
          <a:ext cx="2331" cy="2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98" name="Diapositiva think-cell" r:id="rId5" imgW="435" imgH="435" progId="TCLayout.ActiveDocument.1">
                  <p:embed/>
                </p:oleObj>
              </mc:Choice>
              <mc:Fallback>
                <p:oleObj name="Diapositiva think-cell" r:id="rId5" imgW="435" imgH="43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733A82-8C1C-51D6-B6A1-11B8092B80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25" y="2333"/>
                        <a:ext cx="2331" cy="2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olo 4">
            <a:extLst>
              <a:ext uri="{FF2B5EF4-FFF2-40B4-BE49-F238E27FC236}">
                <a16:creationId xmlns:a16="http://schemas.microsoft.com/office/drawing/2014/main" id="{6FD52F80-113C-CF31-E97F-CE5AFCCA5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8" y="87404"/>
            <a:ext cx="12055941" cy="520054"/>
          </a:xfrm>
        </p:spPr>
        <p:txBody>
          <a:bodyPr vert="horz"/>
          <a:lstStyle/>
          <a:p>
            <a:r>
              <a:rPr lang="it-IT" sz="2800"/>
              <a:t>ASSEGNAZIONE LEAD DIGITALI | Agenda</a:t>
            </a:r>
            <a:endParaRPr lang="it-IT" sz="2800" b="0"/>
          </a:p>
        </p:txBody>
      </p:sp>
      <p:sp>
        <p:nvSpPr>
          <p:cNvPr id="9" name="Freccia a pentagono 8">
            <a:extLst>
              <a:ext uri="{FF2B5EF4-FFF2-40B4-BE49-F238E27FC236}">
                <a16:creationId xmlns:a16="http://schemas.microsoft.com/office/drawing/2014/main" id="{DACB5824-1BB9-F20E-A0A5-2FB271B36BA6}"/>
              </a:ext>
            </a:extLst>
          </p:cNvPr>
          <p:cNvSpPr/>
          <p:nvPr/>
        </p:nvSpPr>
        <p:spPr>
          <a:xfrm>
            <a:off x="639135" y="1370397"/>
            <a:ext cx="4478776" cy="5078170"/>
          </a:xfrm>
          <a:prstGeom prst="homePlate">
            <a:avLst>
              <a:gd name="adj" fmla="val 0"/>
            </a:avLst>
          </a:prstGeom>
          <a:solidFill>
            <a:srgbClr val="F0F6FC"/>
          </a:solidFill>
          <a:ln w="190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aree principali per la definizione del modello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B160225B-500A-3B53-1F8E-97308D1AC853}"/>
              </a:ext>
            </a:extLst>
          </p:cNvPr>
          <p:cNvSpPr/>
          <p:nvPr/>
        </p:nvSpPr>
        <p:spPr>
          <a:xfrm>
            <a:off x="5813078" y="1501226"/>
            <a:ext cx="7081966" cy="1005276"/>
          </a:xfrm>
          <a:prstGeom prst="roundRect">
            <a:avLst>
              <a:gd name="adj" fmla="val 10375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LOGICHE DI ASSEGNAZIONE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BC509A7B-658A-AF06-33FC-9CD44285D29D}"/>
              </a:ext>
            </a:extLst>
          </p:cNvPr>
          <p:cNvSpPr/>
          <p:nvPr/>
        </p:nvSpPr>
        <p:spPr>
          <a:xfrm>
            <a:off x="5691806" y="1812893"/>
            <a:ext cx="334016" cy="381943"/>
          </a:xfrm>
          <a:prstGeom prst="rect">
            <a:avLst/>
          </a:prstGeom>
          <a:solidFill>
            <a:srgbClr val="EBF3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43" name="Rettangolo con angoli arrotondati 42">
            <a:extLst>
              <a:ext uri="{FF2B5EF4-FFF2-40B4-BE49-F238E27FC236}">
                <a16:creationId xmlns:a16="http://schemas.microsoft.com/office/drawing/2014/main" id="{02C6045C-903B-B48A-71C2-97170C63C2A8}"/>
              </a:ext>
            </a:extLst>
          </p:cNvPr>
          <p:cNvSpPr/>
          <p:nvPr/>
        </p:nvSpPr>
        <p:spPr>
          <a:xfrm>
            <a:off x="5813078" y="2879194"/>
            <a:ext cx="7081966" cy="2047638"/>
          </a:xfrm>
          <a:prstGeom prst="roundRect">
            <a:avLst>
              <a:gd name="adj" fmla="val 10375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PERIMETRO DI APPLICAZIONE SU RETE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800" b="1" i="0" u="none" strike="noStrike" kern="1200" cap="none" spc="0" normalizeH="0" baseline="0" noProof="0" dirty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800" b="1" i="0" u="none" strike="noStrike" kern="1200" cap="none" spc="0" normalizeH="0" baseline="0" noProof="0" dirty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800" b="1" i="0" u="none" strike="noStrike" kern="1200" cap="none" spc="0" normalizeH="0" baseline="0" noProof="0" dirty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168868AE-9EA0-697C-0BF8-A110E5429DB3}"/>
              </a:ext>
            </a:extLst>
          </p:cNvPr>
          <p:cNvSpPr/>
          <p:nvPr/>
        </p:nvSpPr>
        <p:spPr>
          <a:xfrm>
            <a:off x="5813078" y="5326421"/>
            <a:ext cx="7081966" cy="1005276"/>
          </a:xfrm>
          <a:prstGeom prst="roundRect">
            <a:avLst>
              <a:gd name="adj" fmla="val 10375"/>
            </a:avLst>
          </a:prstGeom>
          <a:solidFill>
            <a:schemeClr val="tx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KPI E SCORE DI AGENZIA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5AC78539-D5C3-7E91-EC20-BA300F2669FA}"/>
              </a:ext>
            </a:extLst>
          </p:cNvPr>
          <p:cNvSpPr/>
          <p:nvPr/>
        </p:nvSpPr>
        <p:spPr>
          <a:xfrm>
            <a:off x="5691806" y="5638088"/>
            <a:ext cx="334016" cy="381943"/>
          </a:xfrm>
          <a:prstGeom prst="rect">
            <a:avLst/>
          </a:prstGeom>
          <a:solidFill>
            <a:srgbClr val="EBF3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213C7A02-B91D-B778-9C2B-18A5D71DCFDB}"/>
              </a:ext>
            </a:extLst>
          </p:cNvPr>
          <p:cNvSpPr/>
          <p:nvPr/>
        </p:nvSpPr>
        <p:spPr>
          <a:xfrm>
            <a:off x="9488184" y="3637817"/>
            <a:ext cx="3218482" cy="1005277"/>
          </a:xfrm>
          <a:prstGeom prst="roundRect">
            <a:avLst>
              <a:gd name="adj" fmla="val 10375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GESTIONE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ECCEZIONI: BLACKIST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66AAA493-BEE9-F894-C53B-1965B8B7C7EC}"/>
              </a:ext>
            </a:extLst>
          </p:cNvPr>
          <p:cNvSpPr/>
          <p:nvPr/>
        </p:nvSpPr>
        <p:spPr>
          <a:xfrm>
            <a:off x="6012014" y="3637817"/>
            <a:ext cx="3218482" cy="1005277"/>
          </a:xfrm>
          <a:prstGeom prst="roundRect">
            <a:avLst>
              <a:gd name="adj" fmla="val 10375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GESTIONE</a:t>
            </a:r>
            <a:br>
              <a:rPr kumimoji="0" lang="it-IT" sz="22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it-IT" sz="22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PUNTI VENDITA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5AA1DE70-7834-C988-593E-87B4120B55FE}"/>
              </a:ext>
            </a:extLst>
          </p:cNvPr>
          <p:cNvSpPr/>
          <p:nvPr/>
        </p:nvSpPr>
        <p:spPr>
          <a:xfrm>
            <a:off x="5691806" y="3111434"/>
            <a:ext cx="334016" cy="381943"/>
          </a:xfrm>
          <a:prstGeom prst="rect">
            <a:avLst/>
          </a:prstGeom>
          <a:solidFill>
            <a:srgbClr val="EBF3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8050499-6502-3BFA-B0B9-28C0F0607F20}"/>
              </a:ext>
            </a:extLst>
          </p:cNvPr>
          <p:cNvSpPr/>
          <p:nvPr/>
        </p:nvSpPr>
        <p:spPr>
          <a:xfrm>
            <a:off x="8920670" y="3588865"/>
            <a:ext cx="404160" cy="381943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2a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5B8A1AD6-FF39-78BB-3B8C-AFDA8EBA268A}"/>
              </a:ext>
            </a:extLst>
          </p:cNvPr>
          <p:cNvSpPr/>
          <p:nvPr/>
        </p:nvSpPr>
        <p:spPr>
          <a:xfrm>
            <a:off x="12402395" y="3588865"/>
            <a:ext cx="404160" cy="381943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2b</a:t>
            </a:r>
          </a:p>
        </p:txBody>
      </p:sp>
    </p:spTree>
    <p:extLst>
      <p:ext uri="{BB962C8B-B14F-4D97-AF65-F5344CB8AC3E}">
        <p14:creationId xmlns:p14="http://schemas.microsoft.com/office/powerpoint/2010/main" val="1783771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E5E08-257A-9F3F-5B5B-BB48AF98A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5490E69-25EE-7899-12CA-DF2EE8509C2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4052937"/>
              </p:ext>
            </p:extLst>
          </p:nvPr>
        </p:nvGraphicFramePr>
        <p:xfrm>
          <a:off x="14351" y="8738"/>
          <a:ext cx="1747" cy="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2" name="Diapositiva think-cell" r:id="rId6" imgW="424" imgH="425" progId="TCLayout.ActiveDocument.1">
                  <p:embed/>
                </p:oleObj>
              </mc:Choice>
              <mc:Fallback>
                <p:oleObj name="Diapositiva think-cell" r:id="rId6" imgW="424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490E69-25EE-7899-12CA-DF2EE8509C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351" y="8738"/>
                        <a:ext cx="1747" cy="1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9">
            <a:extLst>
              <a:ext uri="{FF2B5EF4-FFF2-40B4-BE49-F238E27FC236}">
                <a16:creationId xmlns:a16="http://schemas.microsoft.com/office/drawing/2014/main" id="{7398B7A0-7A62-95F9-DBA6-781E3ADE9EEA}"/>
              </a:ext>
            </a:extLst>
          </p:cNvPr>
          <p:cNvSpPr/>
          <p:nvPr/>
        </p:nvSpPr>
        <p:spPr>
          <a:xfrm>
            <a:off x="186231" y="1445184"/>
            <a:ext cx="3460139" cy="475985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16000" rIns="144000" bIns="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 COMPONENTI DELLO SCORE DI AGENZIA NEL MODELLO GEO-MERITOCRATICO</a:t>
            </a:r>
            <a:r>
              <a:rPr kumimoji="0" lang="it-IT" sz="2200" b="0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endParaRPr kumimoji="0" lang="it-IT" sz="2200" b="0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E091239-2B59-4715-77E2-8A0A927E32F3}"/>
              </a:ext>
            </a:extLst>
          </p:cNvPr>
          <p:cNvSpPr/>
          <p:nvPr/>
        </p:nvSpPr>
        <p:spPr>
          <a:xfrm>
            <a:off x="292424" y="3325728"/>
            <a:ext cx="3232981" cy="1218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4DDA104-3D9E-41FF-1A7C-26F66CE31FE0}"/>
              </a:ext>
            </a:extLst>
          </p:cNvPr>
          <p:cNvSpPr/>
          <p:nvPr/>
        </p:nvSpPr>
        <p:spPr>
          <a:xfrm>
            <a:off x="355407" y="3405274"/>
            <a:ext cx="3107014" cy="722072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"PERFORMANCE"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2E822B6-ED61-62E9-4CAF-49C4A7268520}"/>
              </a:ext>
            </a:extLst>
          </p:cNvPr>
          <p:cNvSpPr txBox="1"/>
          <p:nvPr/>
        </p:nvSpPr>
        <p:spPr>
          <a:xfrm>
            <a:off x="333473" y="4183997"/>
            <a:ext cx="3150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Hp peso ca. 90% 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E73162D-F07F-CF89-2928-949D2CD15EA0}"/>
              </a:ext>
            </a:extLst>
          </p:cNvPr>
          <p:cNvSpPr/>
          <p:nvPr/>
        </p:nvSpPr>
        <p:spPr>
          <a:xfrm>
            <a:off x="292424" y="4652818"/>
            <a:ext cx="3232981" cy="1218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E2035DF-0E1E-4813-204D-562ADBF9DA41}"/>
              </a:ext>
            </a:extLst>
          </p:cNvPr>
          <p:cNvSpPr/>
          <p:nvPr/>
        </p:nvSpPr>
        <p:spPr>
          <a:xfrm>
            <a:off x="395519" y="4696238"/>
            <a:ext cx="3026791" cy="78264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"LIVELLO DI DIGITALIZZAZIONE"</a:t>
            </a:r>
            <a:br>
              <a:rPr kumimoji="0" lang="it-IT" sz="1800" b="1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it-IT" sz="12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(preventivi omnicanale, registrazioni AR, penetrazione digitale, contattabilità) </a:t>
            </a:r>
            <a:endParaRPr kumimoji="0" lang="it-IT" sz="1600" b="0" i="1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B0B44C5-7FA5-63A8-9D98-6E24BE78C3B1}"/>
              </a:ext>
            </a:extLst>
          </p:cNvPr>
          <p:cNvSpPr txBox="1"/>
          <p:nvPr/>
        </p:nvSpPr>
        <p:spPr>
          <a:xfrm>
            <a:off x="276654" y="5541390"/>
            <a:ext cx="3264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Hp peso ca. 10% </a:t>
            </a:r>
          </a:p>
        </p:txBody>
      </p:sp>
      <p:sp>
        <p:nvSpPr>
          <p:cNvPr id="58" name="Triangolo isoscele 57">
            <a:extLst>
              <a:ext uri="{FF2B5EF4-FFF2-40B4-BE49-F238E27FC236}">
                <a16:creationId xmlns:a16="http://schemas.microsoft.com/office/drawing/2014/main" id="{F3E073F3-9A02-7328-1E1B-3444FF105531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 rot="16200000">
            <a:off x="894126" y="3311297"/>
            <a:ext cx="5920086" cy="739626"/>
          </a:xfrm>
          <a:prstGeom prst="triangle">
            <a:avLst>
              <a:gd name="adj" fmla="val 50082"/>
            </a:avLst>
          </a:prstGeom>
          <a:gradFill>
            <a:gsLst>
              <a:gs pos="0">
                <a:srgbClr val="BFBFBF"/>
              </a:gs>
              <a:gs pos="40000">
                <a:srgbClr val="EAEAEA"/>
              </a:gs>
              <a:gs pos="77000">
                <a:srgbClr val="B2B2B2">
                  <a:lumMod val="20000"/>
                  <a:lumOff val="80000"/>
                </a:srgbClr>
              </a:gs>
              <a:gs pos="19000">
                <a:srgbClr val="D5D5D5"/>
              </a:gs>
              <a:gs pos="93000">
                <a:srgbClr val="FFFFFF"/>
              </a:gs>
            </a:gsLst>
            <a:lin ang="5400000" scaled="1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FF274FB9-B93C-D74A-3408-B5F2BB46A3FE}"/>
              </a:ext>
            </a:extLst>
          </p:cNvPr>
          <p:cNvSpPr/>
          <p:nvPr/>
        </p:nvSpPr>
        <p:spPr>
          <a:xfrm>
            <a:off x="4169391" y="816427"/>
            <a:ext cx="9068937" cy="600041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25000"/>
                <a:lumOff val="75000"/>
              </a:schemeClr>
            </a:solidFill>
          </a:ln>
          <a:effectLst>
            <a:glow rad="63500">
              <a:schemeClr val="tx1">
                <a:lumMod val="25000"/>
                <a:lumOff val="75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108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4CFE4229-D5C0-383E-4F0F-DE72372F2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8" y="87404"/>
            <a:ext cx="12986979" cy="520054"/>
          </a:xfrm>
        </p:spPr>
        <p:txBody>
          <a:bodyPr vert="horz"/>
          <a:lstStyle/>
          <a:p>
            <a:pPr indent="450850"/>
            <a:r>
              <a:rPr lang="it-IT" sz="2800"/>
              <a:t>SCORE DI AGENZIA | Logiche e metodologia di calcolo</a:t>
            </a:r>
            <a:endParaRPr lang="it-IT" sz="2800" i="1"/>
          </a:p>
        </p:txBody>
      </p:sp>
      <p:sp>
        <p:nvSpPr>
          <p:cNvPr id="51" name="Rectangle 19">
            <a:extLst>
              <a:ext uri="{FF2B5EF4-FFF2-40B4-BE49-F238E27FC236}">
                <a16:creationId xmlns:a16="http://schemas.microsoft.com/office/drawing/2014/main" id="{315B15D9-4E94-A1C4-36AA-7EEA1CF92675}"/>
              </a:ext>
            </a:extLst>
          </p:cNvPr>
          <p:cNvSpPr/>
          <p:nvPr/>
        </p:nvSpPr>
        <p:spPr>
          <a:xfrm>
            <a:off x="7180018" y="5233969"/>
            <a:ext cx="5879593" cy="1455705"/>
          </a:xfrm>
          <a:prstGeom prst="rect">
            <a:avLst/>
          </a:prstGeom>
          <a:solidFill>
            <a:srgbClr val="F0F6F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72000" bIns="0" rtlCol="0" anchor="ctr"/>
          <a:lstStyle/>
          <a:p>
            <a:pPr marL="266700" marR="0" lvl="0" indent="-2667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Performance distribuita in classi con relativo score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numero max di lead assegnabili</a:t>
            </a:r>
            <a:r>
              <a:rPr kumimoji="0" lang="it-IT" sz="1800" b="1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t-IT" sz="1800" b="0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(cd. "Contatore")</a:t>
            </a:r>
          </a:p>
          <a:p>
            <a:pPr marL="266700" marR="0" lvl="0" indent="-2667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Aggiornamento mensile score </a:t>
            </a:r>
            <a:r>
              <a:rPr kumimoji="0" lang="it-IT" sz="1800" b="0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(con refresh contatori)</a:t>
            </a:r>
          </a:p>
          <a:p>
            <a:pPr marL="266700" marR="0" lvl="0" indent="-2667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highlight>
                  <a:srgbClr val="FFF7E1"/>
                </a:highlight>
                <a:uLnTx/>
                <a:uFillTx/>
                <a:latin typeface="Calibri"/>
                <a:ea typeface="+mn-ea"/>
                <a:cs typeface="+mn-cs"/>
              </a:rPr>
              <a:t>N. max lead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highlight>
                  <a:srgbClr val="FFF7E1"/>
                </a:highlight>
                <a:uLnTx/>
                <a:uFillTx/>
                <a:latin typeface="Calibri"/>
                <a:ea typeface="+mn-ea"/>
                <a:cs typeface="+mn-cs"/>
              </a:rPr>
              <a:t>come leva per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highlight>
                  <a:srgbClr val="FFF7E1"/>
                </a:highlight>
                <a:uLnTx/>
                <a:uFillTx/>
                <a:latin typeface="Calibri"/>
                <a:ea typeface="+mn-ea"/>
                <a:cs typeface="+mn-cs"/>
              </a:rPr>
              <a:t>governare equità nel modello</a:t>
            </a:r>
          </a:p>
        </p:txBody>
      </p:sp>
      <p:graphicFrame>
        <p:nvGraphicFramePr>
          <p:cNvPr id="52" name="Tabella 51">
            <a:extLst>
              <a:ext uri="{FF2B5EF4-FFF2-40B4-BE49-F238E27FC236}">
                <a16:creationId xmlns:a16="http://schemas.microsoft.com/office/drawing/2014/main" id="{9E4DF428-69FD-4813-2234-E64270E01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160585"/>
              </p:ext>
            </p:extLst>
          </p:nvPr>
        </p:nvGraphicFramePr>
        <p:xfrm>
          <a:off x="4338555" y="5209965"/>
          <a:ext cx="2706114" cy="110827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46577">
                  <a:extLst>
                    <a:ext uri="{9D8B030D-6E8A-4147-A177-3AD203B41FA5}">
                      <a16:colId xmlns:a16="http://schemas.microsoft.com/office/drawing/2014/main" val="4071046451"/>
                    </a:ext>
                  </a:extLst>
                </a:gridCol>
                <a:gridCol w="706481">
                  <a:extLst>
                    <a:ext uri="{9D8B030D-6E8A-4147-A177-3AD203B41FA5}">
                      <a16:colId xmlns:a16="http://schemas.microsoft.com/office/drawing/2014/main" val="3443830689"/>
                    </a:ext>
                  </a:extLst>
                </a:gridCol>
                <a:gridCol w="676528">
                  <a:extLst>
                    <a:ext uri="{9D8B030D-6E8A-4147-A177-3AD203B41FA5}">
                      <a16:colId xmlns:a16="http://schemas.microsoft.com/office/drawing/2014/main" val="683528233"/>
                    </a:ext>
                  </a:extLst>
                </a:gridCol>
                <a:gridCol w="676528">
                  <a:extLst>
                    <a:ext uri="{9D8B030D-6E8A-4147-A177-3AD203B41FA5}">
                      <a16:colId xmlns:a16="http://schemas.microsoft.com/office/drawing/2014/main" val="1248955829"/>
                    </a:ext>
                  </a:extLst>
                </a:gridCol>
              </a:tblGrid>
              <a:tr h="17757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DA</a:t>
                      </a:r>
                      <a:endParaRPr lang="it-IT" sz="1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A (escl.)</a:t>
                      </a:r>
                      <a:endParaRPr lang="it-IT" sz="1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u="none" strike="noStrike">
                          <a:solidFill>
                            <a:schemeClr val="bg1"/>
                          </a:solidFill>
                          <a:effectLst/>
                        </a:rPr>
                        <a:t>SCORE</a:t>
                      </a:r>
                      <a:endParaRPr lang="it-IT" sz="1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LEAD MAX</a:t>
                      </a: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19647"/>
                  </a:ext>
                </a:extLst>
              </a:tr>
              <a:tr h="1551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8800927"/>
                  </a:ext>
                </a:extLst>
              </a:tr>
              <a:tr h="1551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605032"/>
                  </a:ext>
                </a:extLst>
              </a:tr>
              <a:tr h="1551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24265660"/>
                  </a:ext>
                </a:extLst>
              </a:tr>
              <a:tr h="1551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28619696"/>
                  </a:ext>
                </a:extLst>
              </a:tr>
              <a:tr h="1551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60%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70%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220696"/>
                  </a:ext>
                </a:extLst>
              </a:tr>
              <a:tr h="155117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70%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98891991"/>
                  </a:ext>
                </a:extLst>
              </a:tr>
            </a:tbl>
          </a:graphicData>
        </a:graphic>
      </p:graphicFrame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523540A4-67DF-C16D-2C1E-743038A0ED2E}"/>
              </a:ext>
            </a:extLst>
          </p:cNvPr>
          <p:cNvSpPr txBox="1"/>
          <p:nvPr/>
        </p:nvSpPr>
        <p:spPr>
          <a:xfrm>
            <a:off x="4351198" y="6341139"/>
            <a:ext cx="2726045" cy="426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marL="0" marR="0" lvl="0" indent="0" algn="ctr" defTabSz="8366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100" b="0" i="1" u="sng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NUMERICHE E PARAMETRI ESEMPLIFICATIVI, DA DEFINIRE LIVELLO DI GRANULARITA'</a:t>
            </a:r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5DE10EBE-6774-0BDD-C7C4-2BA381F65228}"/>
              </a:ext>
            </a:extLst>
          </p:cNvPr>
          <p:cNvSpPr/>
          <p:nvPr/>
        </p:nvSpPr>
        <p:spPr>
          <a:xfrm>
            <a:off x="6369356" y="5188668"/>
            <a:ext cx="675313" cy="113054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" name="Rectangle 19">
            <a:extLst>
              <a:ext uri="{FF2B5EF4-FFF2-40B4-BE49-F238E27FC236}">
                <a16:creationId xmlns:a16="http://schemas.microsoft.com/office/drawing/2014/main" id="{5583A7BC-56EE-5731-0494-CAD7E3A3B694}"/>
              </a:ext>
            </a:extLst>
          </p:cNvPr>
          <p:cNvSpPr/>
          <p:nvPr/>
        </p:nvSpPr>
        <p:spPr>
          <a:xfrm>
            <a:off x="7180018" y="3064780"/>
            <a:ext cx="5879593" cy="1862138"/>
          </a:xfrm>
          <a:prstGeom prst="rect">
            <a:avLst/>
          </a:prstGeom>
          <a:solidFill>
            <a:srgbClr val="F0F6F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72000" bIns="0" rtlCol="0" anchor="ctr"/>
          <a:lstStyle/>
          <a:p>
            <a:pPr marL="266700" marR="0" lvl="0" indent="-2667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t-IT" sz="1800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prevedere 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score </a:t>
            </a:r>
            <a:r>
              <a:rPr kumimoji="0" lang="it-IT" sz="1800" b="0" i="1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(e contatori)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it-IT" b="1" dirty="0">
                <a:solidFill>
                  <a:srgbClr val="0F3250"/>
                </a:solidFill>
                <a:latin typeface="Calibri"/>
              </a:rPr>
              <a:t>differenziati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per </a:t>
            </a:r>
            <a:r>
              <a:rPr lang="it-IT" b="1" dirty="0">
                <a:solidFill>
                  <a:srgbClr val="0F3250"/>
                </a:solidFill>
                <a:latin typeface="Calibri"/>
              </a:rPr>
              <a:t>canale di origine </a:t>
            </a:r>
            <a:r>
              <a:rPr lang="it-IT" i="1" dirty="0">
                <a:solidFill>
                  <a:srgbClr val="0F3250"/>
                </a:solidFill>
                <a:latin typeface="Calibri"/>
              </a:rPr>
              <a:t>(es. Digitale – Unica)</a:t>
            </a:r>
            <a:r>
              <a:rPr lang="it-IT" b="1" dirty="0">
                <a:solidFill>
                  <a:srgbClr val="0F3250"/>
                </a:solidFill>
                <a:latin typeface="Calibri"/>
              </a:rPr>
              <a:t> </a:t>
            </a:r>
            <a:r>
              <a:rPr kumimoji="0" lang="it-IT" sz="1800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 gestire le assegnazioni dei lead dal preventivatore corrispondente</a:t>
            </a:r>
            <a:endParaRPr lang="it-IT" dirty="0">
              <a:solidFill>
                <a:srgbClr val="0F3250"/>
              </a:solidFill>
              <a:latin typeface="Calibri"/>
            </a:endParaRPr>
          </a:p>
          <a:p>
            <a:pPr marL="266700" marR="0" lvl="0" indent="-2667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it-IT" dirty="0">
                <a:solidFill>
                  <a:srgbClr val="0F3250"/>
                </a:solidFill>
              </a:rPr>
              <a:t>Possibile evoluzione con calcolo</a:t>
            </a:r>
            <a:r>
              <a:rPr lang="it-IT" b="1" dirty="0">
                <a:solidFill>
                  <a:srgbClr val="0F3250"/>
                </a:solidFill>
              </a:rPr>
              <a:t> score specifici e contatori separati </a:t>
            </a:r>
            <a:r>
              <a:rPr lang="it-IT" dirty="0">
                <a:solidFill>
                  <a:srgbClr val="0F3250"/>
                </a:solidFill>
              </a:rPr>
              <a:t>in funzione della </a:t>
            </a:r>
            <a:r>
              <a:rPr lang="it-IT" b="1" dirty="0">
                <a:solidFill>
                  <a:srgbClr val="0F3250"/>
                </a:solidFill>
              </a:rPr>
              <a:t>classificazione della probabilità di </a:t>
            </a:r>
            <a:r>
              <a:rPr lang="it-IT" b="1" dirty="0" err="1">
                <a:solidFill>
                  <a:srgbClr val="0F3250"/>
                </a:solidFill>
              </a:rPr>
              <a:t>conversion</a:t>
            </a:r>
            <a:r>
              <a:rPr lang="it-IT" b="1" dirty="0">
                <a:solidFill>
                  <a:srgbClr val="0F3250"/>
                </a:solidFill>
              </a:rPr>
              <a:t> dei lead </a:t>
            </a:r>
            <a:r>
              <a:rPr lang="it-IT" i="1" dirty="0">
                <a:solidFill>
                  <a:srgbClr val="0F3250"/>
                </a:solidFill>
              </a:rPr>
              <a:t>(Unica – evoluzione calore)</a:t>
            </a:r>
          </a:p>
        </p:txBody>
      </p:sp>
      <p:cxnSp>
        <p:nvCxnSpPr>
          <p:cNvPr id="73" name="Connettore diritto 72">
            <a:extLst>
              <a:ext uri="{FF2B5EF4-FFF2-40B4-BE49-F238E27FC236}">
                <a16:creationId xmlns:a16="http://schemas.microsoft.com/office/drawing/2014/main" id="{AD5C8139-FE5A-6265-CB4C-5D66D7DFA900}"/>
              </a:ext>
            </a:extLst>
          </p:cNvPr>
          <p:cNvCxnSpPr/>
          <p:nvPr/>
        </p:nvCxnSpPr>
        <p:spPr>
          <a:xfrm>
            <a:off x="4351198" y="5069501"/>
            <a:ext cx="8679306" cy="0"/>
          </a:xfrm>
          <a:prstGeom prst="line">
            <a:avLst/>
          </a:prstGeom>
          <a:ln w="12700"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ttore diritto 75">
            <a:extLst>
              <a:ext uri="{FF2B5EF4-FFF2-40B4-BE49-F238E27FC236}">
                <a16:creationId xmlns:a16="http://schemas.microsoft.com/office/drawing/2014/main" id="{789A6A46-CAE3-ADC6-DE8D-00D663E21989}"/>
              </a:ext>
            </a:extLst>
          </p:cNvPr>
          <p:cNvCxnSpPr/>
          <p:nvPr/>
        </p:nvCxnSpPr>
        <p:spPr>
          <a:xfrm>
            <a:off x="4351198" y="2937160"/>
            <a:ext cx="8679306" cy="0"/>
          </a:xfrm>
          <a:prstGeom prst="line">
            <a:avLst/>
          </a:prstGeom>
          <a:ln w="12700"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tangolo 12">
            <a:extLst>
              <a:ext uri="{FF2B5EF4-FFF2-40B4-BE49-F238E27FC236}">
                <a16:creationId xmlns:a16="http://schemas.microsoft.com/office/drawing/2014/main" id="{58D18B6C-314E-50DE-6358-A7FE8CCDC4A3}"/>
              </a:ext>
            </a:extLst>
          </p:cNvPr>
          <p:cNvSpPr/>
          <p:nvPr/>
        </p:nvSpPr>
        <p:spPr>
          <a:xfrm>
            <a:off x="116539" y="127320"/>
            <a:ext cx="367807" cy="439410"/>
          </a:xfrm>
          <a:prstGeom prst="rect">
            <a:avLst/>
          </a:prstGeom>
          <a:solidFill>
            <a:srgbClr val="EBF3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800" b="1" dirty="0">
                <a:solidFill>
                  <a:srgbClr val="0F3250"/>
                </a:solidFill>
                <a:latin typeface="Calibri"/>
              </a:rPr>
              <a:t>3</a:t>
            </a:r>
            <a:endParaRPr kumimoji="0" lang="it-IT" sz="2800" b="1" i="0" u="none" strike="noStrike" kern="1200" cap="none" spc="0" normalizeH="0" baseline="0" noProof="0" dirty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ettangolo 55">
            <a:extLst>
              <a:ext uri="{FF2B5EF4-FFF2-40B4-BE49-F238E27FC236}">
                <a16:creationId xmlns:a16="http://schemas.microsoft.com/office/drawing/2014/main" id="{CCB9F241-A411-E848-AC9E-1BDFF158F0CF}"/>
              </a:ext>
            </a:extLst>
          </p:cNvPr>
          <p:cNvSpPr/>
          <p:nvPr/>
        </p:nvSpPr>
        <p:spPr>
          <a:xfrm>
            <a:off x="4307400" y="3267556"/>
            <a:ext cx="2737270" cy="44451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SCORE </a:t>
            </a:r>
            <a:r>
              <a:rPr lang="it-IT" sz="1600" b="1" cap="all" dirty="0">
                <a:solidFill>
                  <a:srgbClr val="FFFFFF"/>
                </a:solidFill>
                <a:latin typeface="Calibri"/>
              </a:rPr>
              <a:t>PER PREVENTIVATORE</a:t>
            </a:r>
            <a:endParaRPr kumimoji="0" lang="it-IT" sz="1600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C3553FD2-55C4-9187-02C3-61287A98B0AF}"/>
              </a:ext>
            </a:extLst>
          </p:cNvPr>
          <p:cNvSpPr/>
          <p:nvPr/>
        </p:nvSpPr>
        <p:spPr>
          <a:xfrm>
            <a:off x="4309996" y="3670554"/>
            <a:ext cx="750841" cy="41242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3" name="Immagine 62" descr="Schermata 2023-11-11 alle 07.29.07.png">
            <a:extLst>
              <a:ext uri="{FF2B5EF4-FFF2-40B4-BE49-F238E27FC236}">
                <a16:creationId xmlns:a16="http://schemas.microsoft.com/office/drawing/2014/main" id="{0520F883-CFD7-C3EB-3309-239B7C2448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797" y="3739724"/>
            <a:ext cx="662535" cy="310380"/>
          </a:xfrm>
          <a:prstGeom prst="roundRect">
            <a:avLst>
              <a:gd name="adj" fmla="val 0"/>
            </a:avLst>
          </a:prstGeom>
        </p:spPr>
      </p:pic>
      <p:sp>
        <p:nvSpPr>
          <p:cNvPr id="65" name="Rettangolo 64">
            <a:extLst>
              <a:ext uri="{FF2B5EF4-FFF2-40B4-BE49-F238E27FC236}">
                <a16:creationId xmlns:a16="http://schemas.microsoft.com/office/drawing/2014/main" id="{78AA9369-29C3-7571-18E5-414AE5F1BF66}"/>
              </a:ext>
            </a:extLst>
          </p:cNvPr>
          <p:cNvSpPr/>
          <p:nvPr/>
        </p:nvSpPr>
        <p:spPr>
          <a:xfrm>
            <a:off x="5116880" y="3672130"/>
            <a:ext cx="825925" cy="4124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6" name="Picture 2" descr="logo-unisalute - Pluriass Scuola">
            <a:extLst>
              <a:ext uri="{FF2B5EF4-FFF2-40B4-BE49-F238E27FC236}">
                <a16:creationId xmlns:a16="http://schemas.microsoft.com/office/drawing/2014/main" id="{E634B124-430C-9622-9089-32B55BAA8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920" y="3601381"/>
            <a:ext cx="962762" cy="58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Rettangolo 66">
            <a:extLst>
              <a:ext uri="{FF2B5EF4-FFF2-40B4-BE49-F238E27FC236}">
                <a16:creationId xmlns:a16="http://schemas.microsoft.com/office/drawing/2014/main" id="{54194CA7-63DF-F5A3-4C4B-ECBBC3702DFB}"/>
              </a:ext>
            </a:extLst>
          </p:cNvPr>
          <p:cNvSpPr/>
          <p:nvPr/>
        </p:nvSpPr>
        <p:spPr>
          <a:xfrm>
            <a:off x="5993066" y="3670554"/>
            <a:ext cx="1037955" cy="41242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</a:t>
            </a:r>
            <a:r>
              <a:rPr kumimoji="0" lang="it-IT" sz="1400" b="1" i="1" u="none" strike="noStrike" kern="1200" cap="none" spc="0" normalizeH="0" baseline="0" noProof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Prev</a:t>
            </a:r>
            <a:r>
              <a:rPr kumimoji="0" lang="it-IT" sz="1400" b="1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endParaRPr kumimoji="0" lang="it-IT" sz="1600" b="1" i="1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8" name="Picture 4" descr="I nostri Partners - Finanza e Previdenza">
            <a:extLst>
              <a:ext uri="{FF2B5EF4-FFF2-40B4-BE49-F238E27FC236}">
                <a16:creationId xmlns:a16="http://schemas.microsoft.com/office/drawing/2014/main" id="{D7DA2BA9-ED7E-2E4D-6A5A-77C457294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853" y="3691543"/>
            <a:ext cx="655828" cy="40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94D481A9-BF3A-E185-16F7-DCC7D3182223}"/>
              </a:ext>
            </a:extLst>
          </p:cNvPr>
          <p:cNvSpPr txBox="1"/>
          <p:nvPr/>
        </p:nvSpPr>
        <p:spPr>
          <a:xfrm>
            <a:off x="4351198" y="4649396"/>
            <a:ext cx="2726045" cy="264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marL="0" marR="0" lvl="0" indent="0" algn="ctr" defTabSz="8366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100" b="0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 eventuali altri insiemi definiti da Direzione per identificazione score ad hoc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D423C2E-C988-FEE8-2C98-676A45CD6870}"/>
              </a:ext>
            </a:extLst>
          </p:cNvPr>
          <p:cNvSpPr/>
          <p:nvPr/>
        </p:nvSpPr>
        <p:spPr>
          <a:xfrm>
            <a:off x="4309996" y="4108726"/>
            <a:ext cx="764748" cy="454415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44000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1" u="none" strike="noStrike" kern="1200" cap="all" spc="0" normalizeH="0" baseline="0" noProof="0" dirty="0">
                <a:ln>
                  <a:noFill/>
                </a:ln>
                <a:solidFill>
                  <a:srgbClr val="35547A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score 1</a:t>
            </a:r>
          </a:p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1" u="none" strike="noStrike" kern="1200" cap="all" spc="0" normalizeH="0" baseline="0" noProof="0" dirty="0">
              <a:ln>
                <a:noFill/>
              </a:ln>
              <a:solidFill>
                <a:srgbClr val="35547A">
                  <a:lumMod val="60000"/>
                  <a:lumOff val="4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63BCF62-DFE1-CAC0-4591-B11B05550186}"/>
              </a:ext>
            </a:extLst>
          </p:cNvPr>
          <p:cNvSpPr/>
          <p:nvPr/>
        </p:nvSpPr>
        <p:spPr>
          <a:xfrm>
            <a:off x="5116879" y="4108725"/>
            <a:ext cx="825925" cy="44451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1" u="none" strike="noStrike" kern="1200" cap="all" spc="0" normalizeH="0" baseline="0" noProof="0">
                <a:ln>
                  <a:noFill/>
                </a:ln>
                <a:solidFill>
                  <a:srgbClr val="35547A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score 2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18AD69D7-6883-8A30-0BF3-2E89C4933918}"/>
              </a:ext>
            </a:extLst>
          </p:cNvPr>
          <p:cNvSpPr/>
          <p:nvPr/>
        </p:nvSpPr>
        <p:spPr>
          <a:xfrm>
            <a:off x="6004868" y="4108726"/>
            <a:ext cx="1020949" cy="4423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1" u="none" strike="noStrike" kern="1200" cap="all" spc="0" normalizeH="0" baseline="0" noProof="0">
                <a:ln>
                  <a:noFill/>
                </a:ln>
                <a:solidFill>
                  <a:srgbClr val="35547A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score 3</a:t>
            </a: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6B217F65-DA5B-ACF1-FB0C-1CE27BCF7871}"/>
              </a:ext>
            </a:extLst>
          </p:cNvPr>
          <p:cNvSpPr/>
          <p:nvPr/>
        </p:nvSpPr>
        <p:spPr>
          <a:xfrm>
            <a:off x="7180018" y="949687"/>
            <a:ext cx="5879593" cy="1861234"/>
          </a:xfrm>
          <a:prstGeom prst="rect">
            <a:avLst/>
          </a:prstGeom>
          <a:solidFill>
            <a:srgbClr val="F0F6F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72000" bIns="0" rtlCol="0" anchor="ctr"/>
          <a:lstStyle/>
          <a:p>
            <a:pPr marL="266700" lvl="0" indent="-2667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Misurazione performance di Agenzia </a:t>
            </a:r>
            <a:r>
              <a:rPr lang="it-IT" i="1" dirty="0">
                <a:solidFill>
                  <a:srgbClr val="0F3250"/>
                </a:solidFill>
              </a:rPr>
              <a:t>(Age + PV abilitati)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 lavorazione delle Trattative da canale digitale,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coerenza con modello Lead Management</a:t>
            </a:r>
          </a:p>
          <a:p>
            <a:pPr marL="266700" lvl="0" indent="-2667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kumimoji="0" lang="it-IT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Considerate solo Trattative originate da "</a:t>
            </a:r>
            <a:r>
              <a:rPr kumimoji="0" lang="it-IT" b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prospect</a:t>
            </a:r>
            <a:r>
              <a:rPr lang="it-IT" b="1" dirty="0">
                <a:solidFill>
                  <a:schemeClr val="tx1"/>
                </a:solidFill>
                <a:latin typeface="Calibri"/>
              </a:rPr>
              <a:t>" </a:t>
            </a:r>
            <a:r>
              <a:rPr kumimoji="0" lang="it-IT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</a:t>
            </a:r>
            <a:r>
              <a:rPr kumimoji="0" lang="it-IT" b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neutralizzare gli impatti della dimensione portafoglio clienti delle singole Agenzie </a:t>
            </a:r>
            <a:endParaRPr kumimoji="0" lang="it-IT" b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B2F63A70-CF2C-A719-07B9-8DD4BCE54F48}"/>
              </a:ext>
            </a:extLst>
          </p:cNvPr>
          <p:cNvSpPr/>
          <p:nvPr/>
        </p:nvSpPr>
        <p:spPr>
          <a:xfrm>
            <a:off x="4387402" y="949686"/>
            <a:ext cx="2567780" cy="186123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bIns="144000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CONVERSION TRATTATIVE DA CANALE DIGITALE</a:t>
            </a:r>
          </a:p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b="1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11026E3E-0BE1-61FD-717F-8A7E899108B5}"/>
              </a:ext>
            </a:extLst>
          </p:cNvPr>
          <p:cNvSpPr txBox="1"/>
          <p:nvPr/>
        </p:nvSpPr>
        <p:spPr>
          <a:xfrm>
            <a:off x="4524285" y="1580889"/>
            <a:ext cx="2310806" cy="11191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Trattative chiuse "con vendita" da Agenzia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Trattative in prima assegnazione ad Agenzia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CE251AD7-64AC-FA3F-230A-6FD00A44CF84}"/>
              </a:ext>
            </a:extLst>
          </p:cNvPr>
          <p:cNvCxnSpPr>
            <a:cxnSpLocks/>
          </p:cNvCxnSpPr>
          <p:nvPr/>
        </p:nvCxnSpPr>
        <p:spPr>
          <a:xfrm>
            <a:off x="4629322" y="2120130"/>
            <a:ext cx="21007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A01C901-3E69-5B6B-2614-96760CC665C7}"/>
              </a:ext>
            </a:extLst>
          </p:cNvPr>
          <p:cNvSpPr txBox="1"/>
          <p:nvPr/>
        </p:nvSpPr>
        <p:spPr>
          <a:xfrm>
            <a:off x="189821" y="7073971"/>
            <a:ext cx="6287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Nota: 1) Focus su soli volumi di lead assegnati tramite modello per omogeneizzazione confronto su</a:t>
            </a:r>
            <a:br>
              <a:rPr kumimoji="0" lang="it-IT" sz="1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it-IT" sz="12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performance, neutralizzati impatti dimensione portafoglio clienti singole Agenzie 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31106616-A073-F41E-BF27-F0E1FE08ED64}"/>
              </a:ext>
            </a:extLst>
          </p:cNvPr>
          <p:cNvSpPr/>
          <p:nvPr/>
        </p:nvSpPr>
        <p:spPr>
          <a:xfrm>
            <a:off x="4351198" y="4320605"/>
            <a:ext cx="667372" cy="201519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100" b="1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 calore</a:t>
            </a:r>
          </a:p>
        </p:txBody>
      </p:sp>
      <p:grpSp>
        <p:nvGrpSpPr>
          <p:cNvPr id="24" name="Gruppo 37">
            <a:extLst>
              <a:ext uri="{FF2B5EF4-FFF2-40B4-BE49-F238E27FC236}">
                <a16:creationId xmlns:a16="http://schemas.microsoft.com/office/drawing/2014/main" id="{E785CE63-4503-81F6-C39E-C0935454CD8C}"/>
              </a:ext>
            </a:extLst>
          </p:cNvPr>
          <p:cNvGrpSpPr/>
          <p:nvPr/>
        </p:nvGrpSpPr>
        <p:grpSpPr>
          <a:xfrm>
            <a:off x="2521278" y="2594384"/>
            <a:ext cx="688941" cy="687005"/>
            <a:chOff x="8138470" y="4165713"/>
            <a:chExt cx="517612" cy="516157"/>
          </a:xfrm>
        </p:grpSpPr>
        <p:sp>
          <p:nvSpPr>
            <p:cNvPr id="25" name="Ovale 9">
              <a:extLst>
                <a:ext uri="{FF2B5EF4-FFF2-40B4-BE49-F238E27FC236}">
                  <a16:creationId xmlns:a16="http://schemas.microsoft.com/office/drawing/2014/main" id="{5ABA8903-E24D-A411-60CE-848F027B68F4}"/>
                </a:ext>
              </a:extLst>
            </p:cNvPr>
            <p:cNvSpPr/>
            <p:nvPr/>
          </p:nvSpPr>
          <p:spPr>
            <a:xfrm>
              <a:off x="8213856" y="4246814"/>
              <a:ext cx="255034" cy="255275"/>
            </a:xfrm>
            <a:prstGeom prst="ellipse">
              <a:avLst/>
            </a:prstGeom>
            <a:solidFill>
              <a:srgbClr val="0070C0"/>
            </a:solidFill>
            <a:ln w="3175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2400" b="1" kern="0">
                  <a:solidFill>
                    <a:schemeClr val="bg1"/>
                  </a:solidFill>
                  <a:latin typeface="Calibri"/>
                </a:rPr>
                <a:t>A</a:t>
              </a:r>
              <a:endParaRPr kumimoji="0" lang="it-IT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6" name="Elemento grafico 26" descr="Lente di ingrandimento con riempimento a tinta unita">
              <a:extLst>
                <a:ext uri="{FF2B5EF4-FFF2-40B4-BE49-F238E27FC236}">
                  <a16:creationId xmlns:a16="http://schemas.microsoft.com/office/drawing/2014/main" id="{2C19E189-E79F-9375-05DA-E22FE02BA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138470" y="4165713"/>
              <a:ext cx="517612" cy="516157"/>
            </a:xfrm>
            <a:prstGeom prst="rect">
              <a:avLst/>
            </a:prstGeom>
          </p:spPr>
        </p:pic>
      </p:grpSp>
      <p:grpSp>
        <p:nvGrpSpPr>
          <p:cNvPr id="27" name="Gruppo 37">
            <a:extLst>
              <a:ext uri="{FF2B5EF4-FFF2-40B4-BE49-F238E27FC236}">
                <a16:creationId xmlns:a16="http://schemas.microsoft.com/office/drawing/2014/main" id="{D8BF234A-2BAE-5A77-6825-313D6BD78C4F}"/>
              </a:ext>
            </a:extLst>
          </p:cNvPr>
          <p:cNvGrpSpPr/>
          <p:nvPr/>
        </p:nvGrpSpPr>
        <p:grpSpPr>
          <a:xfrm>
            <a:off x="12659808" y="1634322"/>
            <a:ext cx="688941" cy="687005"/>
            <a:chOff x="8138470" y="4165713"/>
            <a:chExt cx="517612" cy="516157"/>
          </a:xfrm>
        </p:grpSpPr>
        <p:sp>
          <p:nvSpPr>
            <p:cNvPr id="28" name="Ovale 9">
              <a:extLst>
                <a:ext uri="{FF2B5EF4-FFF2-40B4-BE49-F238E27FC236}">
                  <a16:creationId xmlns:a16="http://schemas.microsoft.com/office/drawing/2014/main" id="{B1DBF054-1007-42DA-59E0-AE0FEFF48361}"/>
                </a:ext>
              </a:extLst>
            </p:cNvPr>
            <p:cNvSpPr/>
            <p:nvPr/>
          </p:nvSpPr>
          <p:spPr>
            <a:xfrm>
              <a:off x="8213856" y="4246814"/>
              <a:ext cx="255034" cy="255275"/>
            </a:xfrm>
            <a:prstGeom prst="ellipse">
              <a:avLst/>
            </a:prstGeom>
            <a:solidFill>
              <a:srgbClr val="0070C0"/>
            </a:solidFill>
            <a:ln w="3175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4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29" name="Elemento grafico 26" descr="Lente di ingrandimento con riempimento a tinta unita">
              <a:extLst>
                <a:ext uri="{FF2B5EF4-FFF2-40B4-BE49-F238E27FC236}">
                  <a16:creationId xmlns:a16="http://schemas.microsoft.com/office/drawing/2014/main" id="{28196923-97F3-0350-8EC8-1C5DF2A86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138470" y="4165713"/>
              <a:ext cx="517612" cy="516157"/>
            </a:xfrm>
            <a:prstGeom prst="rect">
              <a:avLst/>
            </a:prstGeom>
          </p:spPr>
        </p:pic>
      </p:grpSp>
      <p:grpSp>
        <p:nvGrpSpPr>
          <p:cNvPr id="30" name="Gruppo 37">
            <a:extLst>
              <a:ext uri="{FF2B5EF4-FFF2-40B4-BE49-F238E27FC236}">
                <a16:creationId xmlns:a16="http://schemas.microsoft.com/office/drawing/2014/main" id="{39E7B6E6-2808-1E93-4B0F-C16DFC51529A}"/>
              </a:ext>
            </a:extLst>
          </p:cNvPr>
          <p:cNvGrpSpPr/>
          <p:nvPr/>
        </p:nvGrpSpPr>
        <p:grpSpPr>
          <a:xfrm>
            <a:off x="12663959" y="5618318"/>
            <a:ext cx="688941" cy="687005"/>
            <a:chOff x="8138470" y="4165713"/>
            <a:chExt cx="517612" cy="516157"/>
          </a:xfrm>
        </p:grpSpPr>
        <p:sp>
          <p:nvSpPr>
            <p:cNvPr id="31" name="Ovale 9">
              <a:extLst>
                <a:ext uri="{FF2B5EF4-FFF2-40B4-BE49-F238E27FC236}">
                  <a16:creationId xmlns:a16="http://schemas.microsoft.com/office/drawing/2014/main" id="{89A87602-6811-5E09-3814-1B75E3854A15}"/>
                </a:ext>
              </a:extLst>
            </p:cNvPr>
            <p:cNvSpPr/>
            <p:nvPr/>
          </p:nvSpPr>
          <p:spPr>
            <a:xfrm>
              <a:off x="8213856" y="4246814"/>
              <a:ext cx="255034" cy="255275"/>
            </a:xfrm>
            <a:prstGeom prst="ellipse">
              <a:avLst/>
            </a:prstGeom>
            <a:solidFill>
              <a:srgbClr val="0070C0"/>
            </a:solidFill>
            <a:ln w="3175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4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</a:t>
              </a:r>
            </a:p>
          </p:txBody>
        </p:sp>
        <p:pic>
          <p:nvPicPr>
            <p:cNvPr id="32" name="Elemento grafico 26" descr="Lente di ingrandimento con riempimento a tinta unita">
              <a:extLst>
                <a:ext uri="{FF2B5EF4-FFF2-40B4-BE49-F238E27FC236}">
                  <a16:creationId xmlns:a16="http://schemas.microsoft.com/office/drawing/2014/main" id="{78BCE592-640E-2D72-A837-C8E4D5FA0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138470" y="4165713"/>
              <a:ext cx="517612" cy="5161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5499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41A48-3D43-DD81-144C-A6EEC45BA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C53321-AD3B-1512-2F35-DDD84BF2224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34795865"/>
              </p:ext>
            </p:extLst>
          </p:nvPr>
        </p:nvGraphicFramePr>
        <p:xfrm>
          <a:off x="14351" y="8738"/>
          <a:ext cx="1747" cy="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6" name="Diapositiva think-cell" r:id="rId5" imgW="424" imgH="425" progId="TCLayout.ActiveDocument.1">
                  <p:embed/>
                </p:oleObj>
              </mc:Choice>
              <mc:Fallback>
                <p:oleObj name="Diapositiva think-cell" r:id="rId5" imgW="424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C53321-AD3B-1512-2F35-DDD84BF222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351" y="8738"/>
                        <a:ext cx="1747" cy="1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CasellaDiTesto 83">
            <a:extLst>
              <a:ext uri="{FF2B5EF4-FFF2-40B4-BE49-F238E27FC236}">
                <a16:creationId xmlns:a16="http://schemas.microsoft.com/office/drawing/2014/main" id="{6F0F023E-3DC3-FFD9-ED7A-83138C1B2758}"/>
              </a:ext>
            </a:extLst>
          </p:cNvPr>
          <p:cNvSpPr txBox="1"/>
          <p:nvPr/>
        </p:nvSpPr>
        <p:spPr>
          <a:xfrm>
            <a:off x="10581400" y="118599"/>
            <a:ext cx="2726045" cy="426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 defTabSz="836669">
              <a:spcAft>
                <a:spcPts val="400"/>
              </a:spcAft>
            </a:pPr>
            <a:r>
              <a:rPr lang="it-IT" sz="1400" i="1" u="sng">
                <a:solidFill>
                  <a:schemeClr val="bg1"/>
                </a:solidFill>
                <a:latin typeface="Calibri"/>
              </a:rPr>
              <a:t>NUMERICHE E PARAMETRI PRELIMINARI ED ESEMPLIFICATIVI</a:t>
            </a:r>
          </a:p>
        </p:txBody>
      </p: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8160C83B-92D4-04DE-6C9A-5344CDD1CEF6}"/>
              </a:ext>
            </a:extLst>
          </p:cNvPr>
          <p:cNvGrpSpPr/>
          <p:nvPr/>
        </p:nvGrpSpPr>
        <p:grpSpPr>
          <a:xfrm>
            <a:off x="250830" y="1408384"/>
            <a:ext cx="3178055" cy="656128"/>
            <a:chOff x="284290" y="2200068"/>
            <a:chExt cx="2799330" cy="430922"/>
          </a:xfrm>
        </p:grpSpPr>
        <p:sp>
          <p:nvSpPr>
            <p:cNvPr id="29" name="Rettangolo 28">
              <a:extLst>
                <a:ext uri="{FF2B5EF4-FFF2-40B4-BE49-F238E27FC236}">
                  <a16:creationId xmlns:a16="http://schemas.microsoft.com/office/drawing/2014/main" id="{E106D427-1EF2-57C5-A7FD-4BF5E78D5AE3}"/>
                </a:ext>
              </a:extLst>
            </p:cNvPr>
            <p:cNvSpPr/>
            <p:nvPr/>
          </p:nvSpPr>
          <p:spPr>
            <a:xfrm>
              <a:off x="284910" y="2200068"/>
              <a:ext cx="2798710" cy="4266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defTabSz="1007029"/>
              <a:r>
                <a:rPr lang="it-IT" sz="1998" b="1" i="1" cap="all">
                  <a:solidFill>
                    <a:srgbClr val="0F3250"/>
                  </a:solidFill>
                  <a:latin typeface="Calibri"/>
                </a:rPr>
                <a:t>Componente algoritmo</a:t>
              </a:r>
            </a:p>
          </p:txBody>
        </p:sp>
        <p:cxnSp>
          <p:nvCxnSpPr>
            <p:cNvPr id="31" name="Connettore diritto 30">
              <a:extLst>
                <a:ext uri="{FF2B5EF4-FFF2-40B4-BE49-F238E27FC236}">
                  <a16:creationId xmlns:a16="http://schemas.microsoft.com/office/drawing/2014/main" id="{05BD195E-FDA7-363C-6135-51F9593B4C2E}"/>
                </a:ext>
              </a:extLst>
            </p:cNvPr>
            <p:cNvCxnSpPr>
              <a:cxnSpLocks/>
            </p:cNvCxnSpPr>
            <p:nvPr/>
          </p:nvCxnSpPr>
          <p:spPr>
            <a:xfrm>
              <a:off x="284290" y="2627506"/>
              <a:ext cx="2799223" cy="34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po 75">
            <a:extLst>
              <a:ext uri="{FF2B5EF4-FFF2-40B4-BE49-F238E27FC236}">
                <a16:creationId xmlns:a16="http://schemas.microsoft.com/office/drawing/2014/main" id="{280B8335-50A2-0936-3D5D-A03238ACC7F0}"/>
              </a:ext>
            </a:extLst>
          </p:cNvPr>
          <p:cNvGrpSpPr/>
          <p:nvPr/>
        </p:nvGrpSpPr>
        <p:grpSpPr>
          <a:xfrm>
            <a:off x="3578319" y="1354006"/>
            <a:ext cx="3102143" cy="710505"/>
            <a:chOff x="4369899" y="1874271"/>
            <a:chExt cx="2959051" cy="644717"/>
          </a:xfrm>
        </p:grpSpPr>
        <p:sp>
          <p:nvSpPr>
            <p:cNvPr id="36" name="Rettangolo 35">
              <a:extLst>
                <a:ext uri="{FF2B5EF4-FFF2-40B4-BE49-F238E27FC236}">
                  <a16:creationId xmlns:a16="http://schemas.microsoft.com/office/drawing/2014/main" id="{356DBD45-9567-C04C-C753-B2A72A64F49E}"/>
                </a:ext>
              </a:extLst>
            </p:cNvPr>
            <p:cNvSpPr/>
            <p:nvPr/>
          </p:nvSpPr>
          <p:spPr>
            <a:xfrm>
              <a:off x="4370082" y="1923616"/>
              <a:ext cx="2958396" cy="5895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defTabSz="1007029"/>
              <a:r>
                <a:rPr lang="it-IT" sz="1998" b="1" i="1" cap="all">
                  <a:solidFill>
                    <a:srgbClr val="0F3250"/>
                  </a:solidFill>
                  <a:latin typeface="Calibri"/>
                </a:rPr>
                <a:t>KPI</a:t>
              </a:r>
            </a:p>
          </p:txBody>
        </p:sp>
        <p:sp>
          <p:nvSpPr>
            <p:cNvPr id="37" name="Rettangolo 36">
              <a:extLst>
                <a:ext uri="{FF2B5EF4-FFF2-40B4-BE49-F238E27FC236}">
                  <a16:creationId xmlns:a16="http://schemas.microsoft.com/office/drawing/2014/main" id="{15B0C326-85F7-E2AF-920F-FF1AF33CA4CE}"/>
                </a:ext>
              </a:extLst>
            </p:cNvPr>
            <p:cNvSpPr/>
            <p:nvPr/>
          </p:nvSpPr>
          <p:spPr>
            <a:xfrm>
              <a:off x="4370554" y="1874271"/>
              <a:ext cx="2958396" cy="5895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defTabSz="1007029"/>
              <a:endParaRPr lang="it-IT" sz="1998" b="1" i="1" cap="all">
                <a:solidFill>
                  <a:srgbClr val="0F3250"/>
                </a:solidFill>
                <a:latin typeface="Calibri"/>
              </a:endParaRPr>
            </a:p>
          </p:txBody>
        </p:sp>
        <p:cxnSp>
          <p:nvCxnSpPr>
            <p:cNvPr id="38" name="Connettore diritto 37">
              <a:extLst>
                <a:ext uri="{FF2B5EF4-FFF2-40B4-BE49-F238E27FC236}">
                  <a16:creationId xmlns:a16="http://schemas.microsoft.com/office/drawing/2014/main" id="{72697485-6143-D531-BA46-7F68FB819361}"/>
                </a:ext>
              </a:extLst>
            </p:cNvPr>
            <p:cNvCxnSpPr>
              <a:cxnSpLocks/>
            </p:cNvCxnSpPr>
            <p:nvPr/>
          </p:nvCxnSpPr>
          <p:spPr>
            <a:xfrm>
              <a:off x="4369899" y="2514175"/>
              <a:ext cx="2958938" cy="48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ttangolo 32">
            <a:extLst>
              <a:ext uri="{FF2B5EF4-FFF2-40B4-BE49-F238E27FC236}">
                <a16:creationId xmlns:a16="http://schemas.microsoft.com/office/drawing/2014/main" id="{6571B4C7-296C-BBCF-30CA-81348CBFBCA7}"/>
              </a:ext>
            </a:extLst>
          </p:cNvPr>
          <p:cNvSpPr/>
          <p:nvPr/>
        </p:nvSpPr>
        <p:spPr>
          <a:xfrm>
            <a:off x="250830" y="2300889"/>
            <a:ext cx="3156202" cy="200345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0" rtlCol="0" anchor="ctr"/>
          <a:lstStyle/>
          <a:p>
            <a:pPr defTabSz="1007029"/>
            <a:r>
              <a:rPr lang="it-IT" sz="1982" b="1" cap="all">
                <a:solidFill>
                  <a:srgbClr val="FFFFFF"/>
                </a:solidFill>
                <a:latin typeface="Calibri"/>
              </a:rPr>
              <a:t>"PERFORMANCE"</a:t>
            </a:r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EFA035F7-D5C9-D6E0-1C3E-A145FF5548AA}"/>
              </a:ext>
            </a:extLst>
          </p:cNvPr>
          <p:cNvSpPr/>
          <p:nvPr/>
        </p:nvSpPr>
        <p:spPr>
          <a:xfrm>
            <a:off x="3586885" y="2292958"/>
            <a:ext cx="3102143" cy="921861"/>
          </a:xfrm>
          <a:prstGeom prst="roundRect">
            <a:avLst>
              <a:gd name="adj" fmla="val 1141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defTabSz="1007029"/>
            <a:r>
              <a:rPr lang="it-IT" sz="1542" b="1" dirty="0">
                <a:solidFill>
                  <a:srgbClr val="0F3250"/>
                </a:solidFill>
                <a:latin typeface="Calibri"/>
              </a:rPr>
              <a:t>% Conversion Trattative da digitale</a:t>
            </a:r>
          </a:p>
        </p:txBody>
      </p:sp>
      <p:grpSp>
        <p:nvGrpSpPr>
          <p:cNvPr id="81" name="Gruppo 80">
            <a:extLst>
              <a:ext uri="{FF2B5EF4-FFF2-40B4-BE49-F238E27FC236}">
                <a16:creationId xmlns:a16="http://schemas.microsoft.com/office/drawing/2014/main" id="{C23E38B7-5D5D-BD24-93B4-852DB5A920F2}"/>
              </a:ext>
            </a:extLst>
          </p:cNvPr>
          <p:cNvGrpSpPr/>
          <p:nvPr/>
        </p:nvGrpSpPr>
        <p:grpSpPr>
          <a:xfrm>
            <a:off x="6820474" y="1350186"/>
            <a:ext cx="3688188" cy="714324"/>
            <a:chOff x="9449249" y="1870805"/>
            <a:chExt cx="3636951" cy="648183"/>
          </a:xfrm>
        </p:grpSpPr>
        <p:sp>
          <p:nvSpPr>
            <p:cNvPr id="39" name="Rettangolo 38">
              <a:extLst>
                <a:ext uri="{FF2B5EF4-FFF2-40B4-BE49-F238E27FC236}">
                  <a16:creationId xmlns:a16="http://schemas.microsoft.com/office/drawing/2014/main" id="{C9638863-B696-2999-FDEF-355711AE86DD}"/>
                </a:ext>
              </a:extLst>
            </p:cNvPr>
            <p:cNvSpPr/>
            <p:nvPr/>
          </p:nvSpPr>
          <p:spPr>
            <a:xfrm>
              <a:off x="9449389" y="1923616"/>
              <a:ext cx="2289060" cy="5895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defTabSz="1007029"/>
              <a:r>
                <a:rPr lang="it-IT" sz="1998" b="1" i="1" cap="all">
                  <a:solidFill>
                    <a:srgbClr val="0F3250"/>
                  </a:solidFill>
                  <a:latin typeface="Calibri"/>
                </a:rPr>
                <a:t>Metrica</a:t>
              </a:r>
            </a:p>
          </p:txBody>
        </p:sp>
        <p:sp>
          <p:nvSpPr>
            <p:cNvPr id="40" name="Rettangolo 39">
              <a:extLst>
                <a:ext uri="{FF2B5EF4-FFF2-40B4-BE49-F238E27FC236}">
                  <a16:creationId xmlns:a16="http://schemas.microsoft.com/office/drawing/2014/main" id="{A7A66925-E98F-D465-7BDC-55264168544C}"/>
                </a:ext>
              </a:extLst>
            </p:cNvPr>
            <p:cNvSpPr/>
            <p:nvPr/>
          </p:nvSpPr>
          <p:spPr>
            <a:xfrm>
              <a:off x="9450054" y="1870805"/>
              <a:ext cx="3636146" cy="5895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defTabSz="1007029"/>
              <a:endParaRPr lang="it-IT" sz="1998" b="1" i="1" cap="all">
                <a:solidFill>
                  <a:srgbClr val="0F3250"/>
                </a:solidFill>
                <a:latin typeface="Calibri"/>
              </a:endParaRPr>
            </a:p>
          </p:txBody>
        </p:sp>
        <p:cxnSp>
          <p:nvCxnSpPr>
            <p:cNvPr id="41" name="Connettore diritto 40">
              <a:extLst>
                <a:ext uri="{FF2B5EF4-FFF2-40B4-BE49-F238E27FC236}">
                  <a16:creationId xmlns:a16="http://schemas.microsoft.com/office/drawing/2014/main" id="{1F6977E6-A749-E8AC-FCC0-35BF829F00B7}"/>
                </a:ext>
              </a:extLst>
            </p:cNvPr>
            <p:cNvCxnSpPr>
              <a:cxnSpLocks/>
            </p:cNvCxnSpPr>
            <p:nvPr/>
          </p:nvCxnSpPr>
          <p:spPr>
            <a:xfrm>
              <a:off x="9449249" y="2514175"/>
              <a:ext cx="3636811" cy="48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C83A5B76-5586-749E-7F71-29FB340CF236}"/>
              </a:ext>
            </a:extLst>
          </p:cNvPr>
          <p:cNvSpPr/>
          <p:nvPr/>
        </p:nvSpPr>
        <p:spPr>
          <a:xfrm>
            <a:off x="6820475" y="2292958"/>
            <a:ext cx="3688189" cy="921861"/>
          </a:xfrm>
          <a:prstGeom prst="roundRect">
            <a:avLst>
              <a:gd name="adj" fmla="val 1141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algn="ctr" defTabSz="1007029"/>
            <a:endParaRPr lang="it-IT" sz="1542" dirty="0">
              <a:solidFill>
                <a:srgbClr val="0F3250"/>
              </a:solidFill>
              <a:latin typeface="Calibri"/>
            </a:endParaRP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7F3C6A66-8EA3-99B4-FBB9-E777A870A015}"/>
              </a:ext>
            </a:extLst>
          </p:cNvPr>
          <p:cNvSpPr/>
          <p:nvPr/>
        </p:nvSpPr>
        <p:spPr>
          <a:xfrm>
            <a:off x="6820475" y="3382479"/>
            <a:ext cx="3688189" cy="921861"/>
          </a:xfrm>
          <a:prstGeom prst="roundRect">
            <a:avLst>
              <a:gd name="adj" fmla="val 11411"/>
            </a:avLst>
          </a:prstGeom>
          <a:solidFill>
            <a:schemeClr val="bg1">
              <a:lumMod val="85000"/>
            </a:schemeClr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defTabSz="1007029"/>
            <a:endParaRPr lang="it-IT" sz="1542">
              <a:solidFill>
                <a:srgbClr val="0F3250"/>
              </a:solidFill>
              <a:highlight>
                <a:srgbClr val="FFFF00"/>
              </a:highlight>
              <a:latin typeface="Calibri"/>
            </a:endParaRPr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0D461722-F609-7C08-775F-AD18A00D25D1}"/>
              </a:ext>
            </a:extLst>
          </p:cNvPr>
          <p:cNvSpPr/>
          <p:nvPr/>
        </p:nvSpPr>
        <p:spPr>
          <a:xfrm>
            <a:off x="6929819" y="3528591"/>
            <a:ext cx="3469500" cy="62964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pPr algn="ctr" defTabSz="1007029">
              <a:spcAft>
                <a:spcPts val="220"/>
              </a:spcAft>
            </a:pPr>
            <a:r>
              <a:rPr lang="it-IT" sz="1322">
                <a:solidFill>
                  <a:schemeClr val="bg1">
                    <a:lumMod val="50000"/>
                  </a:schemeClr>
                </a:solidFill>
                <a:latin typeface="Calibri"/>
              </a:rPr>
              <a:t>Media giorni tra assegnazione trattativa e chiusura</a:t>
            </a:r>
            <a:br>
              <a:rPr lang="it-IT" sz="1322">
                <a:solidFill>
                  <a:schemeClr val="bg1">
                    <a:lumMod val="50000"/>
                  </a:schemeClr>
                </a:solidFill>
                <a:latin typeface="Calibri"/>
              </a:rPr>
            </a:br>
            <a:r>
              <a:rPr lang="it-IT" sz="1322" i="1">
                <a:solidFill>
                  <a:schemeClr val="bg1">
                    <a:lumMod val="50000"/>
                  </a:schemeClr>
                </a:solidFill>
                <a:latin typeface="Calibri"/>
              </a:rPr>
              <a:t>(manuale o automatica)</a:t>
            </a:r>
            <a:endParaRPr lang="it-IT" sz="1322" i="1" baseline="30000">
              <a:solidFill>
                <a:schemeClr val="bg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A4C2EA17-32C7-D19A-6A75-C9C09F35EAD0}"/>
              </a:ext>
            </a:extLst>
          </p:cNvPr>
          <p:cNvSpPr/>
          <p:nvPr/>
        </p:nvSpPr>
        <p:spPr>
          <a:xfrm>
            <a:off x="3586885" y="3393508"/>
            <a:ext cx="3102143" cy="921861"/>
          </a:xfrm>
          <a:prstGeom prst="roundRect">
            <a:avLst>
              <a:gd name="adj" fmla="val 11411"/>
            </a:avLst>
          </a:prstGeom>
          <a:solidFill>
            <a:schemeClr val="bg1">
              <a:lumMod val="85000"/>
            </a:schemeClr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defTabSz="1007029"/>
            <a:r>
              <a:rPr lang="it-IT" sz="1542" b="1">
                <a:solidFill>
                  <a:schemeClr val="bg1">
                    <a:lumMod val="50000"/>
                  </a:schemeClr>
                </a:solidFill>
                <a:latin typeface="Calibri"/>
              </a:rPr>
              <a:t>Tempi medi lavorazione</a:t>
            </a:r>
          </a:p>
          <a:p>
            <a:pPr defTabSz="1007029"/>
            <a:endParaRPr lang="it-IT" sz="1542" b="1">
              <a:solidFill>
                <a:schemeClr val="bg1">
                  <a:lumMod val="50000"/>
                </a:schemeClr>
              </a:solidFill>
              <a:latin typeface="Calibri"/>
            </a:endParaRPr>
          </a:p>
        </p:txBody>
      </p:sp>
      <p:cxnSp>
        <p:nvCxnSpPr>
          <p:cNvPr id="87" name="Connettore diritto 86">
            <a:extLst>
              <a:ext uri="{FF2B5EF4-FFF2-40B4-BE49-F238E27FC236}">
                <a16:creationId xmlns:a16="http://schemas.microsoft.com/office/drawing/2014/main" id="{8CA50DC7-B2FC-D344-5B05-6FE9AF12149F}"/>
              </a:ext>
            </a:extLst>
          </p:cNvPr>
          <p:cNvCxnSpPr/>
          <p:nvPr/>
        </p:nvCxnSpPr>
        <p:spPr>
          <a:xfrm flipV="1">
            <a:off x="3669807" y="3454018"/>
            <a:ext cx="2957052" cy="85032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ttore diritto 87">
            <a:extLst>
              <a:ext uri="{FF2B5EF4-FFF2-40B4-BE49-F238E27FC236}">
                <a16:creationId xmlns:a16="http://schemas.microsoft.com/office/drawing/2014/main" id="{6C8052DE-1306-198B-0C09-626AD0130830}"/>
              </a:ext>
            </a:extLst>
          </p:cNvPr>
          <p:cNvCxnSpPr>
            <a:cxnSpLocks/>
          </p:cNvCxnSpPr>
          <p:nvPr/>
        </p:nvCxnSpPr>
        <p:spPr>
          <a:xfrm flipV="1">
            <a:off x="6868881" y="3421780"/>
            <a:ext cx="3591377" cy="88255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ttangolo 84">
            <a:extLst>
              <a:ext uri="{FF2B5EF4-FFF2-40B4-BE49-F238E27FC236}">
                <a16:creationId xmlns:a16="http://schemas.microsoft.com/office/drawing/2014/main" id="{512D69F9-9238-A520-43F6-581D63409676}"/>
              </a:ext>
            </a:extLst>
          </p:cNvPr>
          <p:cNvSpPr/>
          <p:nvPr/>
        </p:nvSpPr>
        <p:spPr>
          <a:xfrm>
            <a:off x="3761852" y="3925879"/>
            <a:ext cx="2728436" cy="2523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36000" bIns="0" rtlCol="0" anchor="ctr"/>
          <a:lstStyle/>
          <a:p>
            <a:pPr algn="ctr"/>
            <a:r>
              <a:rPr lang="it-IT" sz="1200" i="1">
                <a:solidFill>
                  <a:schemeClr val="tx1"/>
                </a:solidFill>
              </a:rPr>
              <a:t>KPI eliminato post confronto con Agenti</a:t>
            </a:r>
          </a:p>
        </p:txBody>
      </p:sp>
      <p:grpSp>
        <p:nvGrpSpPr>
          <p:cNvPr id="91" name="Gruppo 90">
            <a:extLst>
              <a:ext uri="{FF2B5EF4-FFF2-40B4-BE49-F238E27FC236}">
                <a16:creationId xmlns:a16="http://schemas.microsoft.com/office/drawing/2014/main" id="{FB6BA579-5DA0-7440-2A48-EB304169B7A0}"/>
              </a:ext>
            </a:extLst>
          </p:cNvPr>
          <p:cNvGrpSpPr/>
          <p:nvPr/>
        </p:nvGrpSpPr>
        <p:grpSpPr>
          <a:xfrm>
            <a:off x="10653646" y="1354006"/>
            <a:ext cx="759470" cy="710505"/>
            <a:chOff x="4369899" y="1874271"/>
            <a:chExt cx="2959051" cy="644717"/>
          </a:xfrm>
        </p:grpSpPr>
        <p:sp>
          <p:nvSpPr>
            <p:cNvPr id="92" name="Rettangolo 91">
              <a:extLst>
                <a:ext uri="{FF2B5EF4-FFF2-40B4-BE49-F238E27FC236}">
                  <a16:creationId xmlns:a16="http://schemas.microsoft.com/office/drawing/2014/main" id="{CE6C36C5-E9DB-CA78-AF6F-5A740175A741}"/>
                </a:ext>
              </a:extLst>
            </p:cNvPr>
            <p:cNvSpPr/>
            <p:nvPr/>
          </p:nvSpPr>
          <p:spPr>
            <a:xfrm>
              <a:off x="4370082" y="1923616"/>
              <a:ext cx="2958396" cy="5895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defTabSz="1007029"/>
              <a:r>
                <a:rPr lang="it-IT" sz="1998" b="1" i="1" cap="all">
                  <a:solidFill>
                    <a:srgbClr val="0F3250"/>
                  </a:solidFill>
                  <a:latin typeface="Calibri"/>
                </a:rPr>
                <a:t>PESO</a:t>
              </a:r>
            </a:p>
          </p:txBody>
        </p:sp>
        <p:sp>
          <p:nvSpPr>
            <p:cNvPr id="93" name="Rettangolo 92">
              <a:extLst>
                <a:ext uri="{FF2B5EF4-FFF2-40B4-BE49-F238E27FC236}">
                  <a16:creationId xmlns:a16="http://schemas.microsoft.com/office/drawing/2014/main" id="{EE3D7330-30E0-46D2-B87C-9370F8B17E32}"/>
                </a:ext>
              </a:extLst>
            </p:cNvPr>
            <p:cNvSpPr/>
            <p:nvPr/>
          </p:nvSpPr>
          <p:spPr>
            <a:xfrm>
              <a:off x="4370554" y="1874271"/>
              <a:ext cx="2958396" cy="5895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defTabSz="1007029"/>
              <a:endParaRPr lang="it-IT" sz="1998" b="1" i="1" cap="all">
                <a:solidFill>
                  <a:srgbClr val="0F3250"/>
                </a:solidFill>
                <a:latin typeface="Calibri"/>
              </a:endParaRPr>
            </a:p>
          </p:txBody>
        </p:sp>
        <p:cxnSp>
          <p:nvCxnSpPr>
            <p:cNvPr id="94" name="Connettore diritto 93">
              <a:extLst>
                <a:ext uri="{FF2B5EF4-FFF2-40B4-BE49-F238E27FC236}">
                  <a16:creationId xmlns:a16="http://schemas.microsoft.com/office/drawing/2014/main" id="{1C1C4290-5CC3-E08F-598F-0C6C4E322646}"/>
                </a:ext>
              </a:extLst>
            </p:cNvPr>
            <p:cNvCxnSpPr>
              <a:cxnSpLocks/>
            </p:cNvCxnSpPr>
            <p:nvPr/>
          </p:nvCxnSpPr>
          <p:spPr>
            <a:xfrm>
              <a:off x="4369899" y="2514175"/>
              <a:ext cx="2958938" cy="48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Rettangolo con angoli arrotondati 94">
            <a:extLst>
              <a:ext uri="{FF2B5EF4-FFF2-40B4-BE49-F238E27FC236}">
                <a16:creationId xmlns:a16="http://schemas.microsoft.com/office/drawing/2014/main" id="{5B023FFD-B225-42AA-3562-143370C30832}"/>
              </a:ext>
            </a:extLst>
          </p:cNvPr>
          <p:cNvSpPr/>
          <p:nvPr/>
        </p:nvSpPr>
        <p:spPr>
          <a:xfrm>
            <a:off x="10653599" y="2292958"/>
            <a:ext cx="759350" cy="921861"/>
          </a:xfrm>
          <a:prstGeom prst="roundRect">
            <a:avLst>
              <a:gd name="adj" fmla="val 11411"/>
            </a:avLst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algn="ctr" defTabSz="1007029"/>
            <a:r>
              <a:rPr lang="it-IT" sz="2000" b="1" i="1">
                <a:solidFill>
                  <a:srgbClr val="0F3250"/>
                </a:solidFill>
                <a:latin typeface="Calibri"/>
              </a:rPr>
              <a:t>90%</a:t>
            </a:r>
          </a:p>
        </p:txBody>
      </p:sp>
      <p:grpSp>
        <p:nvGrpSpPr>
          <p:cNvPr id="97" name="Gruppo 96">
            <a:extLst>
              <a:ext uri="{FF2B5EF4-FFF2-40B4-BE49-F238E27FC236}">
                <a16:creationId xmlns:a16="http://schemas.microsoft.com/office/drawing/2014/main" id="{58D31ACF-5C40-684A-B51F-FA622454B681}"/>
              </a:ext>
            </a:extLst>
          </p:cNvPr>
          <p:cNvGrpSpPr/>
          <p:nvPr/>
        </p:nvGrpSpPr>
        <p:grpSpPr>
          <a:xfrm>
            <a:off x="11557931" y="1354006"/>
            <a:ext cx="1646280" cy="710505"/>
            <a:chOff x="4369899" y="1874271"/>
            <a:chExt cx="2959051" cy="644717"/>
          </a:xfrm>
        </p:grpSpPr>
        <p:sp>
          <p:nvSpPr>
            <p:cNvPr id="98" name="Rettangolo 97">
              <a:extLst>
                <a:ext uri="{FF2B5EF4-FFF2-40B4-BE49-F238E27FC236}">
                  <a16:creationId xmlns:a16="http://schemas.microsoft.com/office/drawing/2014/main" id="{7B9C2D81-1DCD-34E2-B535-976241A07E04}"/>
                </a:ext>
              </a:extLst>
            </p:cNvPr>
            <p:cNvSpPr/>
            <p:nvPr/>
          </p:nvSpPr>
          <p:spPr>
            <a:xfrm>
              <a:off x="4370082" y="1923616"/>
              <a:ext cx="2958396" cy="5895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defTabSz="1007029"/>
              <a:r>
                <a:rPr lang="it-IT" sz="1998" b="1" i="1" cap="all">
                  <a:solidFill>
                    <a:srgbClr val="0F3250"/>
                  </a:solidFill>
                  <a:latin typeface="Calibri"/>
                </a:rPr>
                <a:t>MISURAZIONE</a:t>
              </a:r>
            </a:p>
          </p:txBody>
        </p:sp>
        <p:sp>
          <p:nvSpPr>
            <p:cNvPr id="99" name="Rettangolo 98">
              <a:extLst>
                <a:ext uri="{FF2B5EF4-FFF2-40B4-BE49-F238E27FC236}">
                  <a16:creationId xmlns:a16="http://schemas.microsoft.com/office/drawing/2014/main" id="{2B22D05C-B559-72F9-CA66-6D2D40DC2E06}"/>
                </a:ext>
              </a:extLst>
            </p:cNvPr>
            <p:cNvSpPr/>
            <p:nvPr/>
          </p:nvSpPr>
          <p:spPr>
            <a:xfrm>
              <a:off x="4370554" y="1874271"/>
              <a:ext cx="2958396" cy="5895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defTabSz="1007029"/>
              <a:endParaRPr lang="it-IT" sz="1998" b="1" i="1" cap="all">
                <a:solidFill>
                  <a:srgbClr val="0F3250"/>
                </a:solidFill>
                <a:latin typeface="Calibri"/>
              </a:endParaRPr>
            </a:p>
          </p:txBody>
        </p:sp>
        <p:cxnSp>
          <p:nvCxnSpPr>
            <p:cNvPr id="100" name="Connettore diritto 99">
              <a:extLst>
                <a:ext uri="{FF2B5EF4-FFF2-40B4-BE49-F238E27FC236}">
                  <a16:creationId xmlns:a16="http://schemas.microsoft.com/office/drawing/2014/main" id="{7EF2DEAE-FEFC-FDB1-C279-D07D090FE01B}"/>
                </a:ext>
              </a:extLst>
            </p:cNvPr>
            <p:cNvCxnSpPr>
              <a:cxnSpLocks/>
            </p:cNvCxnSpPr>
            <p:nvPr/>
          </p:nvCxnSpPr>
          <p:spPr>
            <a:xfrm>
              <a:off x="4369899" y="2514175"/>
              <a:ext cx="2958938" cy="48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Rettangolo con angoli arrotondati 100">
            <a:extLst>
              <a:ext uri="{FF2B5EF4-FFF2-40B4-BE49-F238E27FC236}">
                <a16:creationId xmlns:a16="http://schemas.microsoft.com/office/drawing/2014/main" id="{33CE2E60-C7FF-0DFB-144C-02B0168B8AD3}"/>
              </a:ext>
            </a:extLst>
          </p:cNvPr>
          <p:cNvSpPr/>
          <p:nvPr/>
        </p:nvSpPr>
        <p:spPr>
          <a:xfrm>
            <a:off x="11557884" y="2292958"/>
            <a:ext cx="1646020" cy="921861"/>
          </a:xfrm>
          <a:prstGeom prst="roundRect">
            <a:avLst>
              <a:gd name="adj" fmla="val 1141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algn="ctr" defTabSz="1007029"/>
            <a:r>
              <a:rPr lang="it-IT" b="1" i="1" dirty="0">
                <a:solidFill>
                  <a:srgbClr val="0F3250"/>
                </a:solidFill>
                <a:latin typeface="Calibri"/>
              </a:rPr>
              <a:t>A 60gg dal trimestre di osservazione</a:t>
            </a:r>
            <a:endParaRPr lang="it-IT" i="1" dirty="0">
              <a:solidFill>
                <a:srgbClr val="0F3250"/>
              </a:solidFill>
              <a:latin typeface="Calibri"/>
            </a:endParaRP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C8904989-0011-D08D-031C-301BFE8D619E}"/>
              </a:ext>
            </a:extLst>
          </p:cNvPr>
          <p:cNvSpPr/>
          <p:nvPr/>
        </p:nvSpPr>
        <p:spPr>
          <a:xfrm>
            <a:off x="337739" y="723351"/>
            <a:ext cx="12785765" cy="7453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15" rIns="32658" rtlCol="0" anchor="ctr"/>
          <a:lstStyle/>
          <a:p>
            <a:pPr algn="ctr"/>
            <a:r>
              <a:rPr lang="it-IT" sz="2400" b="1">
                <a:solidFill>
                  <a:schemeClr val="tx1"/>
                </a:solidFill>
              </a:rPr>
              <a:t>Previste </a:t>
            </a:r>
            <a:r>
              <a:rPr lang="it-IT" sz="3200" b="1">
                <a:solidFill>
                  <a:schemeClr val="tx1"/>
                </a:solidFill>
              </a:rPr>
              <a:t>2 </a:t>
            </a:r>
            <a:r>
              <a:rPr lang="it-IT" sz="2400" b="1">
                <a:solidFill>
                  <a:schemeClr val="tx1"/>
                </a:solidFill>
              </a:rPr>
              <a:t>tipologie di componenti </a:t>
            </a:r>
            <a:r>
              <a:rPr lang="it-IT" sz="2400">
                <a:solidFill>
                  <a:schemeClr val="tx1"/>
                </a:solidFill>
              </a:rPr>
              <a:t>dell'algoritmo </a:t>
            </a:r>
            <a:r>
              <a:rPr lang="it-IT" sz="2400" i="1">
                <a:solidFill>
                  <a:schemeClr val="tx1"/>
                </a:solidFill>
              </a:rPr>
              <a:t>(KPI)</a:t>
            </a:r>
            <a:r>
              <a:rPr lang="it-IT" sz="2400">
                <a:solidFill>
                  <a:schemeClr val="tx1"/>
                </a:solidFill>
              </a:rPr>
              <a:t>, </a:t>
            </a:r>
            <a:r>
              <a:rPr lang="it-IT" sz="2400" b="1">
                <a:solidFill>
                  <a:schemeClr val="tx1"/>
                </a:solidFill>
              </a:rPr>
              <a:t>con specifici pesi sul calcolo del merito:</a:t>
            </a:r>
            <a:r>
              <a:rPr lang="it-IT" sz="20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5" name="Fumetto: rettangolo con angoli arrotondati 104">
            <a:extLst>
              <a:ext uri="{FF2B5EF4-FFF2-40B4-BE49-F238E27FC236}">
                <a16:creationId xmlns:a16="http://schemas.microsoft.com/office/drawing/2014/main" id="{5607348B-5B51-8000-6952-49E5ABB254CC}"/>
              </a:ext>
            </a:extLst>
          </p:cNvPr>
          <p:cNvSpPr/>
          <p:nvPr/>
        </p:nvSpPr>
        <p:spPr>
          <a:xfrm>
            <a:off x="10680970" y="3322300"/>
            <a:ext cx="2115730" cy="785676"/>
          </a:xfrm>
          <a:prstGeom prst="wedgeRoundRectCallout">
            <a:avLst>
              <a:gd name="adj1" fmla="val -28969"/>
              <a:gd name="adj2" fmla="val -69367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72000" bIns="0" rtlCol="0" anchor="ctr"/>
          <a:lstStyle/>
          <a:p>
            <a:pPr algn="l"/>
            <a:r>
              <a:rPr lang="it-IT" sz="1400" i="1">
                <a:solidFill>
                  <a:schemeClr val="tx1"/>
                </a:solidFill>
              </a:rPr>
              <a:t>Valori parametrici da calibrare in funzione delle performance osservate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D5E3B969-7417-E638-75F5-547D79F8F1F4}"/>
              </a:ext>
            </a:extLst>
          </p:cNvPr>
          <p:cNvSpPr txBox="1"/>
          <p:nvPr/>
        </p:nvSpPr>
        <p:spPr>
          <a:xfrm>
            <a:off x="250830" y="7168902"/>
            <a:ext cx="623945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1100" i="1">
                <a:solidFill>
                  <a:schemeClr val="bg1"/>
                </a:solidFill>
              </a:rPr>
              <a:t>Nota: 1) Movimenti digitali (#) / Movimenti digitalizzabili (#) </a:t>
            </a:r>
            <a:r>
              <a:rPr lang="it-IT" sz="1100" i="1">
                <a:solidFill>
                  <a:schemeClr val="bg1"/>
                </a:solidFill>
                <a:sym typeface="Wingdings" panose="05000000000000000000" pitchFamily="2" charset="2"/>
              </a:rPr>
              <a:t> es. </a:t>
            </a:r>
            <a:r>
              <a:rPr lang="it-IT" sz="1100" i="1">
                <a:solidFill>
                  <a:schemeClr val="bg1"/>
                </a:solidFill>
              </a:rPr>
              <a:t>Qt da remoto , pagamenti digitali, etc.</a:t>
            </a:r>
          </a:p>
        </p:txBody>
      </p:sp>
      <p:sp>
        <p:nvSpPr>
          <p:cNvPr id="42" name="Titolo 4">
            <a:extLst>
              <a:ext uri="{FF2B5EF4-FFF2-40B4-BE49-F238E27FC236}">
                <a16:creationId xmlns:a16="http://schemas.microsoft.com/office/drawing/2014/main" id="{D674EF25-2B28-BF74-6FE8-115504916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7" y="87404"/>
            <a:ext cx="12345233" cy="520054"/>
          </a:xfrm>
        </p:spPr>
        <p:txBody>
          <a:bodyPr vert="horz"/>
          <a:lstStyle/>
          <a:p>
            <a:pPr indent="539750"/>
            <a:r>
              <a:rPr lang="it-IT" sz="2800" dirty="0"/>
              <a:t>Score complessivo: </a:t>
            </a:r>
            <a:r>
              <a:rPr lang="it-IT" sz="2800" b="0" dirty="0"/>
              <a:t>Sintesi KPI</a:t>
            </a:r>
          </a:p>
        </p:txBody>
      </p:sp>
      <p:grpSp>
        <p:nvGrpSpPr>
          <p:cNvPr id="43" name="Gruppo 37">
            <a:extLst>
              <a:ext uri="{FF2B5EF4-FFF2-40B4-BE49-F238E27FC236}">
                <a16:creationId xmlns:a16="http://schemas.microsoft.com/office/drawing/2014/main" id="{CE4896F9-AD0D-C779-6314-693C7A6DA226}"/>
              </a:ext>
            </a:extLst>
          </p:cNvPr>
          <p:cNvGrpSpPr/>
          <p:nvPr/>
        </p:nvGrpSpPr>
        <p:grpSpPr>
          <a:xfrm>
            <a:off x="29224" y="11552"/>
            <a:ext cx="688941" cy="687005"/>
            <a:chOff x="8138470" y="4165713"/>
            <a:chExt cx="517612" cy="516157"/>
          </a:xfrm>
        </p:grpSpPr>
        <p:sp>
          <p:nvSpPr>
            <p:cNvPr id="44" name="Ovale 9">
              <a:extLst>
                <a:ext uri="{FF2B5EF4-FFF2-40B4-BE49-F238E27FC236}">
                  <a16:creationId xmlns:a16="http://schemas.microsoft.com/office/drawing/2014/main" id="{67E080A9-4F2A-2940-367D-9ECA187EBA3C}"/>
                </a:ext>
              </a:extLst>
            </p:cNvPr>
            <p:cNvSpPr/>
            <p:nvPr/>
          </p:nvSpPr>
          <p:spPr>
            <a:xfrm>
              <a:off x="8213856" y="4246814"/>
              <a:ext cx="255034" cy="255275"/>
            </a:xfrm>
            <a:prstGeom prst="ellipse">
              <a:avLst/>
            </a:prstGeom>
            <a:solidFill>
              <a:srgbClr val="0070C0"/>
            </a:solidFill>
            <a:ln w="3175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2400" b="1" kern="0">
                  <a:solidFill>
                    <a:schemeClr val="bg1"/>
                  </a:solidFill>
                  <a:latin typeface="Calibri"/>
                </a:rPr>
                <a:t>A</a:t>
              </a:r>
              <a:endParaRPr kumimoji="0" lang="it-IT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45" name="Elemento grafico 26" descr="Lente di ingrandimento con riempimento a tinta unita">
              <a:extLst>
                <a:ext uri="{FF2B5EF4-FFF2-40B4-BE49-F238E27FC236}">
                  <a16:creationId xmlns:a16="http://schemas.microsoft.com/office/drawing/2014/main" id="{FBEC50E8-7322-0710-BD53-14D09411D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138470" y="4165713"/>
              <a:ext cx="517612" cy="516157"/>
            </a:xfrm>
            <a:prstGeom prst="rect">
              <a:avLst/>
            </a:prstGeom>
          </p:spPr>
        </p:pic>
      </p:grpSp>
      <p:sp>
        <p:nvSpPr>
          <p:cNvPr id="35" name="Rettangolo 34">
            <a:extLst>
              <a:ext uri="{FF2B5EF4-FFF2-40B4-BE49-F238E27FC236}">
                <a16:creationId xmlns:a16="http://schemas.microsoft.com/office/drawing/2014/main" id="{8EE3EFF7-B5D7-FD69-6806-D37DF91F6451}"/>
              </a:ext>
            </a:extLst>
          </p:cNvPr>
          <p:cNvSpPr/>
          <p:nvPr/>
        </p:nvSpPr>
        <p:spPr>
          <a:xfrm>
            <a:off x="251349" y="4556685"/>
            <a:ext cx="3136510" cy="2142512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0" rtlCol="0" anchor="ctr"/>
          <a:lstStyle/>
          <a:p>
            <a:pPr defTabSz="1007029"/>
            <a:r>
              <a:rPr lang="it-IT" sz="1982" b="1" cap="all">
                <a:solidFill>
                  <a:srgbClr val="FFFFFF"/>
                </a:solidFill>
                <a:latin typeface="Calibri"/>
              </a:rPr>
              <a:t>"LIVELLO DI DIGITALIZZAZIONE"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EB9ADA8B-48FE-A6D7-9F91-D1F1E3C6799C}"/>
              </a:ext>
            </a:extLst>
          </p:cNvPr>
          <p:cNvSpPr/>
          <p:nvPr/>
        </p:nvSpPr>
        <p:spPr>
          <a:xfrm>
            <a:off x="3577824" y="5728180"/>
            <a:ext cx="3102143" cy="495795"/>
          </a:xfrm>
          <a:prstGeom prst="roundRect">
            <a:avLst>
              <a:gd name="adj" fmla="val 1141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defTabSz="1007029"/>
            <a:r>
              <a:rPr lang="it-IT" sz="1542" b="1">
                <a:solidFill>
                  <a:srgbClr val="0F3250"/>
                </a:solidFill>
                <a:latin typeface="Calibri"/>
              </a:rPr>
              <a:t>% Penetrazione digitale</a:t>
            </a:r>
            <a:r>
              <a:rPr lang="it-IT" sz="1542" b="1" baseline="30000">
                <a:solidFill>
                  <a:srgbClr val="0F3250"/>
                </a:solidFill>
                <a:latin typeface="Calibri"/>
              </a:rPr>
              <a:t>1</a:t>
            </a:r>
            <a:endParaRPr lang="it-IT" sz="1542" b="1" baseline="30000">
              <a:solidFill>
                <a:srgbClr val="0F3250"/>
              </a:solidFill>
              <a:highlight>
                <a:srgbClr val="FFFF00"/>
              </a:highlight>
              <a:latin typeface="Calibri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39FA6642-852E-EDC7-AA65-7579F3C3A1D1}"/>
              </a:ext>
            </a:extLst>
          </p:cNvPr>
          <p:cNvSpPr/>
          <p:nvPr/>
        </p:nvSpPr>
        <p:spPr>
          <a:xfrm>
            <a:off x="3578321" y="5141927"/>
            <a:ext cx="3102143" cy="495795"/>
          </a:xfrm>
          <a:prstGeom prst="roundRect">
            <a:avLst>
              <a:gd name="adj" fmla="val 1141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defTabSz="1007029"/>
            <a:r>
              <a:rPr lang="it-IT" sz="1542" b="1">
                <a:solidFill>
                  <a:srgbClr val="0F3250"/>
                </a:solidFill>
                <a:latin typeface="Calibri"/>
              </a:rPr>
              <a:t>% Registrazioni in Area Riservata </a:t>
            </a:r>
            <a:r>
              <a:rPr lang="it-IT" sz="1542" i="1">
                <a:solidFill>
                  <a:srgbClr val="0F3250"/>
                </a:solidFill>
                <a:latin typeface="Calibri"/>
              </a:rPr>
              <a:t>(con movimentazione)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8B2CE78D-097C-AA02-3A27-768189E63D54}"/>
              </a:ext>
            </a:extLst>
          </p:cNvPr>
          <p:cNvSpPr/>
          <p:nvPr/>
        </p:nvSpPr>
        <p:spPr>
          <a:xfrm>
            <a:off x="3576277" y="4556685"/>
            <a:ext cx="3103690" cy="496804"/>
          </a:xfrm>
          <a:prstGeom prst="roundRect">
            <a:avLst>
              <a:gd name="adj" fmla="val 1141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defTabSz="1007029"/>
            <a:r>
              <a:rPr lang="it-IT" sz="1542" b="1">
                <a:solidFill>
                  <a:srgbClr val="0F3250"/>
                </a:solidFill>
                <a:latin typeface="Calibri"/>
              </a:rPr>
              <a:t>% Preventivi Agenzia </a:t>
            </a:r>
            <a:r>
              <a:rPr lang="it-IT" sz="1542" b="1" err="1">
                <a:solidFill>
                  <a:srgbClr val="0F3250"/>
                </a:solidFill>
                <a:latin typeface="Calibri"/>
              </a:rPr>
              <a:t>omnicanali</a:t>
            </a:r>
            <a:endParaRPr lang="it-IT" sz="1542" b="1">
              <a:solidFill>
                <a:srgbClr val="0F3250"/>
              </a:solidFill>
              <a:latin typeface="Calibri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6F02B55A-0CEF-0CDC-FB3C-DE9CE6743E0C}"/>
              </a:ext>
            </a:extLst>
          </p:cNvPr>
          <p:cNvSpPr/>
          <p:nvPr/>
        </p:nvSpPr>
        <p:spPr>
          <a:xfrm>
            <a:off x="6798417" y="5728180"/>
            <a:ext cx="3688189" cy="495795"/>
          </a:xfrm>
          <a:prstGeom prst="roundRect">
            <a:avLst>
              <a:gd name="adj" fmla="val 1141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defTabSz="1007029"/>
            <a:endParaRPr lang="it-IT" sz="1542">
              <a:solidFill>
                <a:srgbClr val="0F3250"/>
              </a:solidFill>
              <a:highlight>
                <a:srgbClr val="FFFF00"/>
              </a:highlight>
              <a:latin typeface="Calibri"/>
            </a:endParaRP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2203FA2D-B3FA-56C1-1350-DCECF1EEAB02}"/>
              </a:ext>
            </a:extLst>
          </p:cNvPr>
          <p:cNvSpPr/>
          <p:nvPr/>
        </p:nvSpPr>
        <p:spPr>
          <a:xfrm>
            <a:off x="6820475" y="5141927"/>
            <a:ext cx="3688189" cy="495795"/>
          </a:xfrm>
          <a:prstGeom prst="roundRect">
            <a:avLst>
              <a:gd name="adj" fmla="val 1141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defTabSz="1007029"/>
            <a:endParaRPr lang="it-IT" sz="1542">
              <a:solidFill>
                <a:srgbClr val="0F3250"/>
              </a:solidFill>
              <a:highlight>
                <a:srgbClr val="FFFF00"/>
              </a:highlight>
              <a:latin typeface="Calibri"/>
            </a:endParaRP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05BF1BFC-F42B-52D7-3B80-F1E27891FC35}"/>
              </a:ext>
            </a:extLst>
          </p:cNvPr>
          <p:cNvGrpSpPr/>
          <p:nvPr/>
        </p:nvGrpSpPr>
        <p:grpSpPr>
          <a:xfrm>
            <a:off x="6868881" y="5220507"/>
            <a:ext cx="3591377" cy="338632"/>
            <a:chOff x="6648815" y="3614757"/>
            <a:chExt cx="2199270" cy="471468"/>
          </a:xfrm>
        </p:grpSpPr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8181ECFB-38FA-EAD3-5956-F5449EA88261}"/>
                </a:ext>
              </a:extLst>
            </p:cNvPr>
            <p:cNvSpPr/>
            <p:nvPr/>
          </p:nvSpPr>
          <p:spPr>
            <a:xfrm>
              <a:off x="6648815" y="3614757"/>
              <a:ext cx="2199270" cy="471468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algn="ctr" defTabSz="1007029">
                <a:spcAft>
                  <a:spcPts val="220"/>
                </a:spcAft>
              </a:pPr>
              <a:r>
                <a:rPr lang="it-IT" sz="1322">
                  <a:solidFill>
                    <a:srgbClr val="0F3250"/>
                  </a:solidFill>
                  <a:latin typeface="Calibri"/>
                </a:rPr>
                <a:t># Clienti con registrazioni AR</a:t>
              </a:r>
            </a:p>
            <a:p>
              <a:pPr algn="ctr" defTabSz="1007029">
                <a:spcAft>
                  <a:spcPts val="220"/>
                </a:spcAft>
              </a:pPr>
              <a:r>
                <a:rPr lang="it-IT" sz="1322">
                  <a:solidFill>
                    <a:srgbClr val="0F3250"/>
                  </a:solidFill>
                  <a:latin typeface="Calibri"/>
                </a:rPr>
                <a:t># Totale Clienti </a:t>
              </a:r>
              <a:r>
                <a:rPr lang="it-IT" sz="1322" i="1">
                  <a:solidFill>
                    <a:srgbClr val="0F3250"/>
                  </a:solidFill>
                  <a:latin typeface="Calibri"/>
                </a:rPr>
                <a:t>(Privati) </a:t>
              </a:r>
              <a:r>
                <a:rPr lang="it-IT" sz="1322">
                  <a:solidFill>
                    <a:srgbClr val="0F3250"/>
                  </a:solidFill>
                  <a:latin typeface="Calibri"/>
                </a:rPr>
                <a:t>Agenzia</a:t>
              </a:r>
            </a:p>
          </p:txBody>
        </p:sp>
        <p:cxnSp>
          <p:nvCxnSpPr>
            <p:cNvPr id="16" name="Connettore diritto 15">
              <a:extLst>
                <a:ext uri="{FF2B5EF4-FFF2-40B4-BE49-F238E27FC236}">
                  <a16:creationId xmlns:a16="http://schemas.microsoft.com/office/drawing/2014/main" id="{6F0F38F8-DE7F-BC02-4BCD-869BEADA0563}"/>
                </a:ext>
              </a:extLst>
            </p:cNvPr>
            <p:cNvCxnSpPr>
              <a:cxnSpLocks/>
            </p:cNvCxnSpPr>
            <p:nvPr/>
          </p:nvCxnSpPr>
          <p:spPr>
            <a:xfrm>
              <a:off x="6761868" y="3855396"/>
              <a:ext cx="1972158" cy="1847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890350E5-2111-CE93-78DB-2BDABFA5215B}"/>
              </a:ext>
            </a:extLst>
          </p:cNvPr>
          <p:cNvSpPr/>
          <p:nvPr/>
        </p:nvSpPr>
        <p:spPr>
          <a:xfrm>
            <a:off x="6847645" y="4556685"/>
            <a:ext cx="3612613" cy="510919"/>
          </a:xfrm>
          <a:prstGeom prst="roundRect">
            <a:avLst>
              <a:gd name="adj" fmla="val 1141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defTabSz="1007029"/>
            <a:endParaRPr lang="it-IT" sz="1542">
              <a:solidFill>
                <a:srgbClr val="0F3250"/>
              </a:solidFill>
              <a:highlight>
                <a:srgbClr val="FFFF00"/>
              </a:highlight>
              <a:latin typeface="Calibri"/>
            </a:endParaRPr>
          </a:p>
        </p:txBody>
      </p: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82A96BC3-9058-5FFB-7678-9CF67B7587C1}"/>
              </a:ext>
            </a:extLst>
          </p:cNvPr>
          <p:cNvGrpSpPr/>
          <p:nvPr/>
        </p:nvGrpSpPr>
        <p:grpSpPr>
          <a:xfrm>
            <a:off x="6847645" y="4625307"/>
            <a:ext cx="3591377" cy="338632"/>
            <a:chOff x="6648815" y="3614757"/>
            <a:chExt cx="2199270" cy="471468"/>
          </a:xfrm>
        </p:grpSpPr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DD464C5C-BB31-F08E-E34C-6794A35C92DD}"/>
                </a:ext>
              </a:extLst>
            </p:cNvPr>
            <p:cNvSpPr/>
            <p:nvPr/>
          </p:nvSpPr>
          <p:spPr>
            <a:xfrm>
              <a:off x="6648815" y="3614757"/>
              <a:ext cx="2199270" cy="471468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rIns="0" rtlCol="0" anchor="ctr"/>
            <a:lstStyle/>
            <a:p>
              <a:pPr algn="ctr" defTabSz="1007029">
                <a:spcAft>
                  <a:spcPts val="220"/>
                </a:spcAft>
              </a:pPr>
              <a:r>
                <a:rPr lang="it-IT" sz="1322" dirty="0">
                  <a:solidFill>
                    <a:srgbClr val="0F3250"/>
                  </a:solidFill>
                  <a:latin typeface="Calibri"/>
                </a:rPr>
                <a:t># Preventivi Agenzia </a:t>
              </a:r>
              <a:r>
                <a:rPr lang="it-IT" sz="1322" i="1" dirty="0">
                  <a:solidFill>
                    <a:srgbClr val="0F3250"/>
                  </a:solidFill>
                  <a:latin typeface="Calibri"/>
                </a:rPr>
                <a:t>(</a:t>
              </a:r>
              <a:r>
                <a:rPr lang="it-IT" sz="1322" i="1" dirty="0" err="1">
                  <a:solidFill>
                    <a:srgbClr val="0F3250"/>
                  </a:solidFill>
                  <a:latin typeface="Calibri"/>
                </a:rPr>
                <a:t>prod</a:t>
              </a:r>
              <a:r>
                <a:rPr lang="it-IT" sz="1322" i="1" dirty="0">
                  <a:solidFill>
                    <a:srgbClr val="0F3250"/>
                  </a:solidFill>
                  <a:latin typeface="Calibri"/>
                </a:rPr>
                <a:t>. Unica)</a:t>
              </a:r>
              <a:r>
                <a:rPr lang="it-IT" sz="1322" dirty="0">
                  <a:solidFill>
                    <a:srgbClr val="0F3250"/>
                  </a:solidFill>
                  <a:latin typeface="Calibri"/>
                </a:rPr>
                <a:t> con flag </a:t>
              </a:r>
              <a:r>
                <a:rPr lang="it-IT" sz="1322" dirty="0" err="1">
                  <a:solidFill>
                    <a:srgbClr val="0F3250"/>
                  </a:solidFill>
                  <a:latin typeface="Calibri"/>
                </a:rPr>
                <a:t>omnic</a:t>
              </a:r>
              <a:r>
                <a:rPr lang="it-IT" sz="1322" dirty="0">
                  <a:solidFill>
                    <a:srgbClr val="0F3250"/>
                  </a:solidFill>
                  <a:latin typeface="Calibri"/>
                </a:rPr>
                <a:t>.</a:t>
              </a:r>
            </a:p>
            <a:p>
              <a:pPr algn="ctr" defTabSz="1007029">
                <a:spcAft>
                  <a:spcPts val="220"/>
                </a:spcAft>
              </a:pPr>
              <a:r>
                <a:rPr lang="it-IT" sz="1322" dirty="0">
                  <a:solidFill>
                    <a:srgbClr val="0F3250"/>
                  </a:solidFill>
                  <a:latin typeface="Calibri"/>
                </a:rPr>
                <a:t># Totale Clienti </a:t>
              </a:r>
              <a:r>
                <a:rPr lang="it-IT" sz="1322" i="1" dirty="0">
                  <a:solidFill>
                    <a:srgbClr val="0F3250"/>
                  </a:solidFill>
                  <a:latin typeface="Calibri"/>
                </a:rPr>
                <a:t>(Privati) </a:t>
              </a:r>
              <a:r>
                <a:rPr lang="it-IT" sz="1322" dirty="0">
                  <a:solidFill>
                    <a:srgbClr val="0F3250"/>
                  </a:solidFill>
                  <a:latin typeface="Calibri"/>
                </a:rPr>
                <a:t>Agenzia</a:t>
              </a:r>
            </a:p>
          </p:txBody>
        </p:sp>
        <p:cxnSp>
          <p:nvCxnSpPr>
            <p:cNvPr id="20" name="Connettore diritto 19">
              <a:extLst>
                <a:ext uri="{FF2B5EF4-FFF2-40B4-BE49-F238E27FC236}">
                  <a16:creationId xmlns:a16="http://schemas.microsoft.com/office/drawing/2014/main" id="{AEF7474B-68E3-3339-5320-BD29F5372ED2}"/>
                </a:ext>
              </a:extLst>
            </p:cNvPr>
            <p:cNvCxnSpPr>
              <a:cxnSpLocks/>
            </p:cNvCxnSpPr>
            <p:nvPr/>
          </p:nvCxnSpPr>
          <p:spPr>
            <a:xfrm>
              <a:off x="6761868" y="3855396"/>
              <a:ext cx="1972158" cy="1847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3F9AACB-4CC9-5425-0015-086EF6171AA4}"/>
              </a:ext>
            </a:extLst>
          </p:cNvPr>
          <p:cNvSpPr/>
          <p:nvPr/>
        </p:nvSpPr>
        <p:spPr>
          <a:xfrm>
            <a:off x="10653599" y="4555961"/>
            <a:ext cx="759350" cy="2142512"/>
          </a:xfrm>
          <a:prstGeom prst="roundRect">
            <a:avLst>
              <a:gd name="adj" fmla="val 11411"/>
            </a:avLst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algn="ctr" defTabSz="1007029"/>
            <a:r>
              <a:rPr lang="it-IT" sz="2000" b="1" i="1">
                <a:solidFill>
                  <a:srgbClr val="0F3250"/>
                </a:solidFill>
                <a:latin typeface="Calibri"/>
              </a:rPr>
              <a:t>10%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4A3D97FC-84BA-EE92-D26A-2B82751ECD83}"/>
              </a:ext>
            </a:extLst>
          </p:cNvPr>
          <p:cNvSpPr/>
          <p:nvPr/>
        </p:nvSpPr>
        <p:spPr>
          <a:xfrm>
            <a:off x="11557884" y="4555961"/>
            <a:ext cx="1646020" cy="2142512"/>
          </a:xfrm>
          <a:prstGeom prst="roundRect">
            <a:avLst>
              <a:gd name="adj" fmla="val 1141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algn="ctr" defTabSz="1007029"/>
            <a:r>
              <a:rPr lang="it-IT" sz="2000" b="1" i="1">
                <a:solidFill>
                  <a:srgbClr val="0F3250"/>
                </a:solidFill>
                <a:latin typeface="Calibri"/>
              </a:rPr>
              <a:t>Alla data</a:t>
            </a:r>
          </a:p>
        </p:txBody>
      </p: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3F672669-990E-356A-CEE2-612FE4273C05}"/>
              </a:ext>
            </a:extLst>
          </p:cNvPr>
          <p:cNvCxnSpPr>
            <a:cxnSpLocks/>
          </p:cNvCxnSpPr>
          <p:nvPr/>
        </p:nvCxnSpPr>
        <p:spPr>
          <a:xfrm>
            <a:off x="7129600" y="5978139"/>
            <a:ext cx="3220506" cy="132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ttangolo 27">
            <a:extLst>
              <a:ext uri="{FF2B5EF4-FFF2-40B4-BE49-F238E27FC236}">
                <a16:creationId xmlns:a16="http://schemas.microsoft.com/office/drawing/2014/main" id="{74B2EF2B-E390-ACBB-22F7-A9306776B2DA}"/>
              </a:ext>
            </a:extLst>
          </p:cNvPr>
          <p:cNvSpPr/>
          <p:nvPr/>
        </p:nvSpPr>
        <p:spPr>
          <a:xfrm>
            <a:off x="6809682" y="5798190"/>
            <a:ext cx="3642622" cy="37249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pPr algn="ctr" defTabSz="1007029">
              <a:spcAft>
                <a:spcPts val="220"/>
              </a:spcAft>
            </a:pPr>
            <a:r>
              <a:rPr lang="it-IT" sz="1322" dirty="0">
                <a:solidFill>
                  <a:srgbClr val="0F3250"/>
                </a:solidFill>
                <a:latin typeface="Calibri"/>
              </a:rPr>
              <a:t># Movimenti digitali</a:t>
            </a:r>
          </a:p>
          <a:p>
            <a:pPr algn="ctr" defTabSz="1007029">
              <a:spcAft>
                <a:spcPts val="220"/>
              </a:spcAft>
            </a:pPr>
            <a:r>
              <a:rPr lang="it-IT" sz="1322" dirty="0">
                <a:solidFill>
                  <a:srgbClr val="0F3250"/>
                </a:solidFill>
                <a:latin typeface="Calibri"/>
              </a:rPr>
              <a:t># Movimenti digitalizzabili</a:t>
            </a:r>
          </a:p>
        </p:txBody>
      </p:sp>
      <p:sp>
        <p:nvSpPr>
          <p:cNvPr id="59" name="Rettangolo con angoli arrotondati 58">
            <a:extLst>
              <a:ext uri="{FF2B5EF4-FFF2-40B4-BE49-F238E27FC236}">
                <a16:creationId xmlns:a16="http://schemas.microsoft.com/office/drawing/2014/main" id="{ABD4C3BF-0CA8-0772-5944-C04310259918}"/>
              </a:ext>
            </a:extLst>
          </p:cNvPr>
          <p:cNvSpPr/>
          <p:nvPr/>
        </p:nvSpPr>
        <p:spPr>
          <a:xfrm>
            <a:off x="3590821" y="6280016"/>
            <a:ext cx="3102143" cy="419181"/>
          </a:xfrm>
          <a:prstGeom prst="roundRect">
            <a:avLst>
              <a:gd name="adj" fmla="val 1141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marL="0" marR="0" lvl="0" indent="0" algn="l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42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Tasso di contattabilità</a:t>
            </a:r>
            <a:endParaRPr kumimoji="0" lang="it-IT" sz="1542" b="1" i="0" u="none" strike="noStrike" kern="1200" cap="none" spc="0" normalizeH="0" baseline="30000" noProof="0">
              <a:ln>
                <a:noFill/>
              </a:ln>
              <a:solidFill>
                <a:srgbClr val="0F3250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9C0D34E4-1332-3B3E-CB0E-204ECD213FCE}"/>
              </a:ext>
            </a:extLst>
          </p:cNvPr>
          <p:cNvSpPr/>
          <p:nvPr/>
        </p:nvSpPr>
        <p:spPr>
          <a:xfrm>
            <a:off x="6811414" y="6280016"/>
            <a:ext cx="3688189" cy="419181"/>
          </a:xfrm>
          <a:prstGeom prst="roundRect">
            <a:avLst>
              <a:gd name="adj" fmla="val 1141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marL="0" marR="0" lvl="0" indent="0" algn="l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542" b="0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1" name="Connettore diritto 60">
            <a:extLst>
              <a:ext uri="{FF2B5EF4-FFF2-40B4-BE49-F238E27FC236}">
                <a16:creationId xmlns:a16="http://schemas.microsoft.com/office/drawing/2014/main" id="{B6B4C5DB-7531-769C-A060-71CEFEDF3FE9}"/>
              </a:ext>
            </a:extLst>
          </p:cNvPr>
          <p:cNvCxnSpPr>
            <a:cxnSpLocks/>
          </p:cNvCxnSpPr>
          <p:nvPr/>
        </p:nvCxnSpPr>
        <p:spPr>
          <a:xfrm>
            <a:off x="7033737" y="6491349"/>
            <a:ext cx="3220506" cy="112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ttangolo 61">
            <a:extLst>
              <a:ext uri="{FF2B5EF4-FFF2-40B4-BE49-F238E27FC236}">
                <a16:creationId xmlns:a16="http://schemas.microsoft.com/office/drawing/2014/main" id="{01B785C9-2865-D06F-0E2B-C8CEC10B4E1C}"/>
              </a:ext>
            </a:extLst>
          </p:cNvPr>
          <p:cNvSpPr/>
          <p:nvPr/>
        </p:nvSpPr>
        <p:spPr>
          <a:xfrm>
            <a:off x="6822679" y="6339207"/>
            <a:ext cx="3642622" cy="314937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pPr algn="ctr" defTabSz="1007029">
              <a:spcAft>
                <a:spcPts val="220"/>
              </a:spcAft>
              <a:defRPr/>
            </a:pPr>
            <a:r>
              <a:rPr lang="it-IT" sz="1322" i="1">
                <a:solidFill>
                  <a:srgbClr val="0F3250"/>
                </a:solidFill>
              </a:rPr>
              <a:t># Clienti contattabili</a:t>
            </a:r>
            <a:endParaRPr kumimoji="0" lang="it-IT" sz="1322" b="0" i="1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algn="ctr" defTabSz="1007029">
              <a:spcAft>
                <a:spcPts val="220"/>
              </a:spcAft>
              <a:defRPr/>
            </a:pPr>
            <a:r>
              <a:rPr lang="it-IT" sz="1322" i="1">
                <a:solidFill>
                  <a:srgbClr val="0F3250"/>
                </a:solidFill>
              </a:rPr>
              <a:t># Clienti totali</a:t>
            </a:r>
            <a:endParaRPr lang="it-IT" sz="1322" i="1">
              <a:solidFill>
                <a:srgbClr val="FF0000"/>
              </a:solidFill>
            </a:endParaRPr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1228A277-86AE-F4F0-6CA0-A2C0DE161FFC}"/>
              </a:ext>
            </a:extLst>
          </p:cNvPr>
          <p:cNvSpPr txBox="1"/>
          <p:nvPr/>
        </p:nvSpPr>
        <p:spPr>
          <a:xfrm>
            <a:off x="7104669" y="2382330"/>
            <a:ext cx="3075684" cy="8324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20" b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Trattative chiuse "con vendita" da Agenzia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20" b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Trattative in prima assegnazione ad Agenzia</a:t>
            </a: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573A299E-A7B6-D327-FE4F-3145E5726528}"/>
              </a:ext>
            </a:extLst>
          </p:cNvPr>
          <p:cNvCxnSpPr>
            <a:cxnSpLocks/>
          </p:cNvCxnSpPr>
          <p:nvPr/>
        </p:nvCxnSpPr>
        <p:spPr>
          <a:xfrm>
            <a:off x="7033737" y="2681265"/>
            <a:ext cx="3220506" cy="1122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980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3B51D-F652-C4E7-A79C-FA5B5F85D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F10C303-3113-D5EB-4944-FDC264064F1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69998702"/>
              </p:ext>
            </p:extLst>
          </p:nvPr>
        </p:nvGraphicFramePr>
        <p:xfrm>
          <a:off x="14351" y="8738"/>
          <a:ext cx="1747" cy="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0" name="Diapositiva think-cell" r:id="rId5" imgW="424" imgH="425" progId="TCLayout.ActiveDocument.1">
                  <p:embed/>
                </p:oleObj>
              </mc:Choice>
              <mc:Fallback>
                <p:oleObj name="Diapositiva think-cell" r:id="rId5" imgW="424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10C303-3113-D5EB-4944-FDC264064F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351" y="8738"/>
                        <a:ext cx="1747" cy="1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9">
            <a:extLst>
              <a:ext uri="{FF2B5EF4-FFF2-40B4-BE49-F238E27FC236}">
                <a16:creationId xmlns:a16="http://schemas.microsoft.com/office/drawing/2014/main" id="{B31D6E3D-F239-4DEA-7DBA-55CDCBE03EF0}"/>
              </a:ext>
            </a:extLst>
          </p:cNvPr>
          <p:cNvSpPr/>
          <p:nvPr/>
        </p:nvSpPr>
        <p:spPr>
          <a:xfrm>
            <a:off x="293884" y="1216945"/>
            <a:ext cx="2111404" cy="13376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2000" b="1" dirty="0"/>
              <a:t>LOGICHE DI CALCOLO</a:t>
            </a:r>
          </a:p>
        </p:txBody>
      </p:sp>
      <p:sp>
        <p:nvSpPr>
          <p:cNvPr id="25" name="Rectangle 19">
            <a:extLst>
              <a:ext uri="{FF2B5EF4-FFF2-40B4-BE49-F238E27FC236}">
                <a16:creationId xmlns:a16="http://schemas.microsoft.com/office/drawing/2014/main" id="{A3E953E1-13F7-AC90-DEB4-6E7AB74D443D}"/>
              </a:ext>
            </a:extLst>
          </p:cNvPr>
          <p:cNvSpPr/>
          <p:nvPr/>
        </p:nvSpPr>
        <p:spPr>
          <a:xfrm>
            <a:off x="293884" y="3201333"/>
            <a:ext cx="2111404" cy="13376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2000" b="1" dirty="0"/>
              <a:t>PERIMETRO TRATTATIVE</a:t>
            </a:r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68CCC21E-EDB7-AD54-37BF-BAEBF1D3BE82}"/>
              </a:ext>
            </a:extLst>
          </p:cNvPr>
          <p:cNvSpPr txBox="1"/>
          <p:nvPr/>
        </p:nvSpPr>
        <p:spPr>
          <a:xfrm>
            <a:off x="2592540" y="1450626"/>
            <a:ext cx="4389037" cy="8527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spcAft>
                <a:spcPts val="1200"/>
              </a:spcAft>
            </a:pPr>
            <a:r>
              <a:rPr lang="it-IT" b="1" dirty="0"/>
              <a:t>T</a:t>
            </a:r>
            <a:r>
              <a:rPr lang="it-IT" b="1" dirty="0">
                <a:solidFill>
                  <a:schemeClr val="tx1"/>
                </a:solidFill>
              </a:rPr>
              <a:t>rattative chiuse con vendita da Agenzia</a:t>
            </a:r>
            <a:endParaRPr lang="it-IT" b="1" dirty="0"/>
          </a:p>
          <a:p>
            <a:pPr algn="ctr">
              <a:spcAft>
                <a:spcPts val="1200"/>
              </a:spcAft>
            </a:pPr>
            <a:r>
              <a:rPr lang="it-IT" b="1" dirty="0"/>
              <a:t>T</a:t>
            </a:r>
            <a:r>
              <a:rPr lang="it-IT" b="1" dirty="0">
                <a:solidFill>
                  <a:schemeClr val="tx1"/>
                </a:solidFill>
              </a:rPr>
              <a:t>rattative in prima assegnazione ad Agenzia</a:t>
            </a:r>
          </a:p>
        </p:txBody>
      </p:sp>
      <p:sp>
        <p:nvSpPr>
          <p:cNvPr id="30" name="TextBox 24">
            <a:extLst>
              <a:ext uri="{FF2B5EF4-FFF2-40B4-BE49-F238E27FC236}">
                <a16:creationId xmlns:a16="http://schemas.microsoft.com/office/drawing/2014/main" id="{AB9C46C4-B93E-4C0C-94A7-8346C3D9FB04}"/>
              </a:ext>
            </a:extLst>
          </p:cNvPr>
          <p:cNvSpPr txBox="1"/>
          <p:nvPr/>
        </p:nvSpPr>
        <p:spPr>
          <a:xfrm>
            <a:off x="2699654" y="2909608"/>
            <a:ext cx="4175456" cy="11955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spcAft>
                <a:spcPts val="300"/>
              </a:spcAft>
            </a:pPr>
            <a:r>
              <a:rPr lang="it-IT" b="1" dirty="0"/>
              <a:t>T</a:t>
            </a:r>
            <a:r>
              <a:rPr lang="it-IT" b="1" dirty="0">
                <a:solidFill>
                  <a:schemeClr val="tx1"/>
                </a:solidFill>
              </a:rPr>
              <a:t>utte le trattative con origine digitale </a:t>
            </a:r>
            <a:r>
              <a:rPr lang="it-IT" b="1" dirty="0"/>
              <a:t>originate da Prospect e </a:t>
            </a:r>
            <a:r>
              <a:rPr lang="it-IT" b="1" dirty="0">
                <a:solidFill>
                  <a:schemeClr val="tx1"/>
                </a:solidFill>
              </a:rPr>
              <a:t>assegnate in prima istanza ad Agenzia</a:t>
            </a:r>
            <a:br>
              <a:rPr lang="it-IT" b="1" dirty="0">
                <a:solidFill>
                  <a:schemeClr val="tx1"/>
                </a:solidFill>
              </a:rPr>
            </a:br>
            <a:endParaRPr lang="it-IT" b="1" dirty="0"/>
          </a:p>
          <a:p>
            <a:pPr algn="ctr">
              <a:spcAft>
                <a:spcPts val="300"/>
              </a:spcAft>
            </a:pPr>
            <a:endParaRPr lang="it-IT" b="1" dirty="0"/>
          </a:p>
          <a:p>
            <a:pPr algn="ctr">
              <a:spcAft>
                <a:spcPts val="300"/>
              </a:spcAft>
            </a:pPr>
            <a:endParaRPr lang="it-IT" b="1" dirty="0"/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38687952-D473-9E2E-AD73-7B62E38BD95E}"/>
              </a:ext>
            </a:extLst>
          </p:cNvPr>
          <p:cNvSpPr txBox="1"/>
          <p:nvPr/>
        </p:nvSpPr>
        <p:spPr>
          <a:xfrm>
            <a:off x="7518725" y="759745"/>
            <a:ext cx="5627166" cy="11756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it-IT" sz="1700" b="1" dirty="0"/>
              <a:t>Penalizzazione</a:t>
            </a:r>
            <a:r>
              <a:rPr lang="it-IT" sz="1700" dirty="0"/>
              <a:t> Agenzie per </a:t>
            </a:r>
            <a:r>
              <a:rPr lang="it-IT" sz="1700" b="1" dirty="0"/>
              <a:t>mancata lavorazione</a:t>
            </a:r>
            <a:br>
              <a:rPr lang="it-IT" sz="1700" b="1" dirty="0"/>
            </a:br>
            <a:r>
              <a:rPr lang="it-IT" sz="1700" dirty="0"/>
              <a:t>dei Lead assegnati dal motore</a:t>
            </a: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it-IT" sz="1700" b="1" dirty="0"/>
              <a:t>Valorizzazione vendite da Agenzia anche se su </a:t>
            </a:r>
            <a:r>
              <a:rPr lang="it-IT" sz="1700" b="1" dirty="0" err="1"/>
              <a:t>pdt</a:t>
            </a:r>
            <a:r>
              <a:rPr lang="it-IT" sz="1700" b="1" dirty="0"/>
              <a:t> diverso</a:t>
            </a:r>
            <a:r>
              <a:rPr lang="it-IT" sz="1700" dirty="0"/>
              <a:t> da quello che ha generato Trattativa </a:t>
            </a:r>
            <a:r>
              <a:rPr lang="it-IT" sz="1700" i="1" dirty="0"/>
              <a:t>(logica cross-selling)</a:t>
            </a: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it-IT" sz="1700" b="1" dirty="0"/>
              <a:t>Performance "neutralizzate" da eventuali </a:t>
            </a:r>
            <a:r>
              <a:rPr lang="it-IT" sz="1700" b="1" dirty="0" err="1"/>
              <a:t>ri</a:t>
            </a:r>
            <a:r>
              <a:rPr lang="it-IT" sz="1700" b="1" dirty="0"/>
              <a:t>-assegnazioni </a:t>
            </a:r>
            <a:r>
              <a:rPr lang="it-IT" sz="1700" dirty="0"/>
              <a:t>da altra Agenzia o che hanno subito precedente lavorazione da parte del CC </a:t>
            </a:r>
            <a:endParaRPr lang="it-IT" sz="1700" dirty="0">
              <a:solidFill>
                <a:schemeClr val="tx1"/>
              </a:solidFill>
            </a:endParaRPr>
          </a:p>
        </p:txBody>
      </p:sp>
      <p:sp>
        <p:nvSpPr>
          <p:cNvPr id="72" name="TextBox 24">
            <a:extLst>
              <a:ext uri="{FF2B5EF4-FFF2-40B4-BE49-F238E27FC236}">
                <a16:creationId xmlns:a16="http://schemas.microsoft.com/office/drawing/2014/main" id="{B86F0912-2969-9246-415B-E2A088904BF0}"/>
              </a:ext>
            </a:extLst>
          </p:cNvPr>
          <p:cNvSpPr txBox="1"/>
          <p:nvPr/>
        </p:nvSpPr>
        <p:spPr>
          <a:xfrm>
            <a:off x="7518725" y="2822507"/>
            <a:ext cx="5794504" cy="20299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</a:pPr>
            <a:r>
              <a:rPr lang="it-IT" sz="1700" dirty="0">
                <a:solidFill>
                  <a:schemeClr val="tx1"/>
                </a:solidFill>
                <a:sym typeface="Wingdings" panose="05000000000000000000" pitchFamily="2" charset="2"/>
              </a:rPr>
              <a:t>Da </a:t>
            </a:r>
            <a:r>
              <a:rPr lang="it-IT" sz="1700" dirty="0">
                <a:sym typeface="Wingdings" panose="05000000000000000000" pitchFamily="2" charset="2"/>
              </a:rPr>
              <a:t>prevedere</a:t>
            </a:r>
            <a:r>
              <a:rPr lang="it-IT" sz="17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it-IT" sz="1700" b="1" dirty="0">
                <a:solidFill>
                  <a:schemeClr val="tx1"/>
                </a:solidFill>
                <a:sym typeface="Wingdings" panose="05000000000000000000" pitchFamily="2" charset="2"/>
              </a:rPr>
              <a:t>correttivi per Trattative originate da Unica Auto</a:t>
            </a:r>
            <a:r>
              <a:rPr lang="it-IT" sz="1700" dirty="0">
                <a:solidFill>
                  <a:schemeClr val="tx1"/>
                </a:solidFill>
                <a:sym typeface="Wingdings" panose="05000000000000000000" pitchFamily="2" charset="2"/>
              </a:rPr>
              <a:t>: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it-IT" sz="1700" b="1" dirty="0">
                <a:solidFill>
                  <a:schemeClr val="tx1"/>
                </a:solidFill>
                <a:sym typeface="Wingdings" panose="05000000000000000000" pitchFamily="2" charset="2"/>
              </a:rPr>
              <a:t>Esclusione da KPI </a:t>
            </a:r>
            <a:r>
              <a:rPr lang="it-IT" sz="1700" b="1" dirty="0">
                <a:sym typeface="Wingdings" panose="05000000000000000000" pitchFamily="2" charset="2"/>
              </a:rPr>
              <a:t>dei lead generati con preventivo non acquistabile</a:t>
            </a:r>
            <a:r>
              <a:rPr lang="it-IT" sz="17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it-IT" sz="1700" i="1" dirty="0">
                <a:sym typeface="Wingdings" panose="05000000000000000000" pitchFamily="2" charset="2"/>
              </a:rPr>
              <a:t>(es. data di scadenza della polizza in essere successiva alla scadenza del preventivo, auto senza targa, …)</a:t>
            </a: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§"/>
            </a:pPr>
            <a:endParaRPr lang="it-IT" sz="1700" b="1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it-IT" sz="1700" b="1" dirty="0">
                <a:solidFill>
                  <a:schemeClr val="tx1"/>
                </a:solidFill>
                <a:sym typeface="Wingdings" panose="05000000000000000000" pitchFamily="2" charset="2"/>
              </a:rPr>
              <a:t>Correzione esito negativo </a:t>
            </a:r>
            <a:r>
              <a:rPr lang="it-IT" sz="1700" dirty="0">
                <a:solidFill>
                  <a:schemeClr val="tx1"/>
                </a:solidFill>
                <a:sym typeface="Wingdings" panose="05000000000000000000" pitchFamily="2" charset="2"/>
              </a:rPr>
              <a:t>se completata </a:t>
            </a:r>
            <a:r>
              <a:rPr lang="it-IT" sz="1700" b="1" dirty="0">
                <a:solidFill>
                  <a:schemeClr val="tx1"/>
                </a:solidFill>
                <a:sym typeface="Wingdings" panose="05000000000000000000" pitchFamily="2" charset="2"/>
              </a:rPr>
              <a:t>vendita polizza con </a:t>
            </a:r>
            <a:r>
              <a:rPr lang="it-IT" sz="1700" b="1" dirty="0" err="1">
                <a:solidFill>
                  <a:schemeClr val="tx1"/>
                </a:solidFill>
                <a:sym typeface="Wingdings" panose="05000000000000000000" pitchFamily="2" charset="2"/>
              </a:rPr>
              <a:t>pdt</a:t>
            </a:r>
            <a:r>
              <a:rPr lang="it-IT" sz="1700" b="1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it-IT" sz="1700" b="1" dirty="0" err="1">
                <a:solidFill>
                  <a:schemeClr val="tx1"/>
                </a:solidFill>
                <a:sym typeface="Wingdings" panose="05000000000000000000" pitchFamily="2" charset="2"/>
              </a:rPr>
              <a:t>Essig</a:t>
            </a:r>
            <a:r>
              <a:rPr lang="it-IT" sz="1700" b="1" dirty="0">
                <a:solidFill>
                  <a:schemeClr val="tx1"/>
                </a:solidFill>
                <a:sym typeface="Wingdings" panose="05000000000000000000" pitchFamily="2" charset="2"/>
              </a:rPr>
              <a:t> Auto </a:t>
            </a:r>
            <a:r>
              <a:rPr lang="it-IT" sz="1700" i="1" dirty="0">
                <a:solidFill>
                  <a:schemeClr val="tx1"/>
                </a:solidFill>
                <a:sym typeface="Wingdings" panose="05000000000000000000" pitchFamily="2" charset="2"/>
              </a:rPr>
              <a:t>(stesso bene assicurato) </a:t>
            </a:r>
            <a:r>
              <a:rPr lang="it-IT" sz="1700" b="1" dirty="0">
                <a:solidFill>
                  <a:schemeClr val="tx1"/>
                </a:solidFill>
                <a:sym typeface="Wingdings" panose="05000000000000000000" pitchFamily="2" charset="2"/>
              </a:rPr>
              <a:t>in altra Trattativa</a:t>
            </a:r>
            <a:endParaRPr lang="it-IT" sz="1700" b="1" dirty="0">
              <a:solidFill>
                <a:schemeClr val="tx1"/>
              </a:solidFill>
            </a:endParaRPr>
          </a:p>
        </p:txBody>
      </p:sp>
      <p:cxnSp>
        <p:nvCxnSpPr>
          <p:cNvPr id="75" name="Connettore diritto 74">
            <a:extLst>
              <a:ext uri="{FF2B5EF4-FFF2-40B4-BE49-F238E27FC236}">
                <a16:creationId xmlns:a16="http://schemas.microsoft.com/office/drawing/2014/main" id="{E3CF708E-0E8E-40D0-AFB3-9B025CEFE450}"/>
              </a:ext>
            </a:extLst>
          </p:cNvPr>
          <p:cNvCxnSpPr>
            <a:cxnSpLocks/>
          </p:cNvCxnSpPr>
          <p:nvPr/>
        </p:nvCxnSpPr>
        <p:spPr>
          <a:xfrm>
            <a:off x="365342" y="2790069"/>
            <a:ext cx="12772041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ttore diritto 76">
            <a:extLst>
              <a:ext uri="{FF2B5EF4-FFF2-40B4-BE49-F238E27FC236}">
                <a16:creationId xmlns:a16="http://schemas.microsoft.com/office/drawing/2014/main" id="{98F61D9F-BEB4-123A-ED13-2FBCE5912531}"/>
              </a:ext>
            </a:extLst>
          </p:cNvPr>
          <p:cNvCxnSpPr>
            <a:cxnSpLocks/>
          </p:cNvCxnSpPr>
          <p:nvPr/>
        </p:nvCxnSpPr>
        <p:spPr>
          <a:xfrm>
            <a:off x="365342" y="4977124"/>
            <a:ext cx="12772041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igura a mano libera 38">
            <a:extLst>
              <a:ext uri="{FF2B5EF4-FFF2-40B4-BE49-F238E27FC236}">
                <a16:creationId xmlns:a16="http://schemas.microsoft.com/office/drawing/2014/main" id="{AD4D0573-105B-3FA1-303A-B0EFFEEE70F8}"/>
              </a:ext>
            </a:extLst>
          </p:cNvPr>
          <p:cNvSpPr/>
          <p:nvPr/>
        </p:nvSpPr>
        <p:spPr bwMode="auto">
          <a:xfrm rot="5400000">
            <a:off x="6907538" y="1811360"/>
            <a:ext cx="651059" cy="148797"/>
          </a:xfrm>
          <a:custGeom>
            <a:avLst/>
            <a:gdLst>
              <a:gd name="connsiteX0" fmla="*/ 0 w 1086523"/>
              <a:gd name="connsiteY0" fmla="*/ 548640 h 548640"/>
              <a:gd name="connsiteX1" fmla="*/ 548640 w 1086523"/>
              <a:gd name="connsiteY1" fmla="*/ 0 h 548640"/>
              <a:gd name="connsiteX2" fmla="*/ 1086523 w 1086523"/>
              <a:gd name="connsiteY2" fmla="*/ 537883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6523" h="548640">
                <a:moveTo>
                  <a:pt x="0" y="548640"/>
                </a:moveTo>
                <a:lnTo>
                  <a:pt x="548640" y="0"/>
                </a:lnTo>
                <a:lnTo>
                  <a:pt x="1086523" y="537883"/>
                </a:lnTo>
              </a:path>
            </a:pathLst>
          </a:custGeom>
          <a:solidFill>
            <a:srgbClr val="F2F2F2"/>
          </a:solidFill>
          <a:ln w="57150" cap="rnd" cmpd="sng" algn="ctr">
            <a:solidFill>
              <a:srgbClr val="0F32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100">
              <a:solidFill>
                <a:srgbClr val="0F3250"/>
              </a:solidFill>
              <a:latin typeface="Calibri Light"/>
            </a:endParaRPr>
          </a:p>
        </p:txBody>
      </p:sp>
      <p:sp>
        <p:nvSpPr>
          <p:cNvPr id="79" name="Figura a mano libera 38">
            <a:extLst>
              <a:ext uri="{FF2B5EF4-FFF2-40B4-BE49-F238E27FC236}">
                <a16:creationId xmlns:a16="http://schemas.microsoft.com/office/drawing/2014/main" id="{B2A5CFCA-7F5D-0B29-F7CC-1672EEBE673E}"/>
              </a:ext>
            </a:extLst>
          </p:cNvPr>
          <p:cNvSpPr/>
          <p:nvPr/>
        </p:nvSpPr>
        <p:spPr bwMode="auto">
          <a:xfrm rot="5400000">
            <a:off x="6907538" y="3773977"/>
            <a:ext cx="651059" cy="148797"/>
          </a:xfrm>
          <a:custGeom>
            <a:avLst/>
            <a:gdLst>
              <a:gd name="connsiteX0" fmla="*/ 0 w 1086523"/>
              <a:gd name="connsiteY0" fmla="*/ 548640 h 548640"/>
              <a:gd name="connsiteX1" fmla="*/ 548640 w 1086523"/>
              <a:gd name="connsiteY1" fmla="*/ 0 h 548640"/>
              <a:gd name="connsiteX2" fmla="*/ 1086523 w 1086523"/>
              <a:gd name="connsiteY2" fmla="*/ 537883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6523" h="548640">
                <a:moveTo>
                  <a:pt x="0" y="548640"/>
                </a:moveTo>
                <a:lnTo>
                  <a:pt x="548640" y="0"/>
                </a:lnTo>
                <a:lnTo>
                  <a:pt x="1086523" y="537883"/>
                </a:lnTo>
              </a:path>
            </a:pathLst>
          </a:custGeom>
          <a:solidFill>
            <a:srgbClr val="F2F2F2"/>
          </a:solidFill>
          <a:ln w="57150" cap="rnd" cmpd="sng" algn="ctr">
            <a:solidFill>
              <a:srgbClr val="0F32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100">
              <a:solidFill>
                <a:srgbClr val="0F3250"/>
              </a:solidFill>
              <a:latin typeface="Calibri Light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5B05014D-454F-184B-C4AD-B8172502AC51}"/>
              </a:ext>
            </a:extLst>
          </p:cNvPr>
          <p:cNvSpPr/>
          <p:nvPr/>
        </p:nvSpPr>
        <p:spPr>
          <a:xfrm>
            <a:off x="7532373" y="6245478"/>
            <a:ext cx="266565" cy="216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l"/>
            <a:endParaRPr lang="it-IT" sz="1400" b="1" dirty="0">
              <a:solidFill>
                <a:schemeClr val="tx1"/>
              </a:solidFill>
            </a:endParaRP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A6030BD0-2434-9FDF-B0EF-7ED5A4BCE64D}"/>
              </a:ext>
            </a:extLst>
          </p:cNvPr>
          <p:cNvCxnSpPr>
            <a:cxnSpLocks/>
          </p:cNvCxnSpPr>
          <p:nvPr/>
        </p:nvCxnSpPr>
        <p:spPr>
          <a:xfrm>
            <a:off x="2592540" y="1856701"/>
            <a:ext cx="43890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umetto: rettangolo con angoli arrotondati 20">
            <a:extLst>
              <a:ext uri="{FF2B5EF4-FFF2-40B4-BE49-F238E27FC236}">
                <a16:creationId xmlns:a16="http://schemas.microsoft.com/office/drawing/2014/main" id="{45794895-871C-1317-7273-E176A5EB6A1C}"/>
              </a:ext>
            </a:extLst>
          </p:cNvPr>
          <p:cNvSpPr/>
          <p:nvPr/>
        </p:nvSpPr>
        <p:spPr>
          <a:xfrm>
            <a:off x="4418160" y="1029206"/>
            <a:ext cx="2590679" cy="366152"/>
          </a:xfrm>
          <a:prstGeom prst="wedgeRoundRectCallout">
            <a:avLst>
              <a:gd name="adj1" fmla="val -22264"/>
              <a:gd name="adj2" fmla="val 80675"/>
              <a:gd name="adj3" fmla="val 16667"/>
            </a:avLst>
          </a:prstGeom>
          <a:solidFill>
            <a:srgbClr val="FFF6D9"/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lvl="0" algn="ctr" defTabSz="1342673">
              <a:defRPr/>
            </a:pPr>
            <a:r>
              <a:rPr lang="it-IT" sz="1200" i="1" dirty="0">
                <a:solidFill>
                  <a:schemeClr val="tx1"/>
                </a:solidFill>
              </a:rPr>
              <a:t>Almeno una polizza venduta tra le linee di prodotto presenti in Trattativa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E183693E-29A1-51C0-43AB-DFD87EBEB49E}"/>
              </a:ext>
            </a:extLst>
          </p:cNvPr>
          <p:cNvSpPr/>
          <p:nvPr/>
        </p:nvSpPr>
        <p:spPr>
          <a:xfrm>
            <a:off x="3375825" y="3868217"/>
            <a:ext cx="750841" cy="41242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l"/>
            <a:endParaRPr lang="it-IT" sz="1400" b="1">
              <a:solidFill>
                <a:schemeClr val="tx1"/>
              </a:solidFill>
            </a:endParaRPr>
          </a:p>
        </p:txBody>
      </p:sp>
      <p:pic>
        <p:nvPicPr>
          <p:cNvPr id="26" name="Immagine 25" descr="Schermata 2023-11-11 alle 07.29.07.png">
            <a:extLst>
              <a:ext uri="{FF2B5EF4-FFF2-40B4-BE49-F238E27FC236}">
                <a16:creationId xmlns:a16="http://schemas.microsoft.com/office/drawing/2014/main" id="{F1C2D125-B6D4-E4DB-2B0D-15D4C351FF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626" y="3937387"/>
            <a:ext cx="662535" cy="310380"/>
          </a:xfrm>
          <a:prstGeom prst="roundRect">
            <a:avLst>
              <a:gd name="adj" fmla="val 0"/>
            </a:avLst>
          </a:prstGeom>
        </p:spPr>
      </p:pic>
      <p:sp>
        <p:nvSpPr>
          <p:cNvPr id="27" name="Rettangolo 26">
            <a:extLst>
              <a:ext uri="{FF2B5EF4-FFF2-40B4-BE49-F238E27FC236}">
                <a16:creationId xmlns:a16="http://schemas.microsoft.com/office/drawing/2014/main" id="{2E2E482D-8BD0-DBC6-443E-0FA53CEA4B46}"/>
              </a:ext>
            </a:extLst>
          </p:cNvPr>
          <p:cNvSpPr/>
          <p:nvPr/>
        </p:nvSpPr>
        <p:spPr>
          <a:xfrm>
            <a:off x="4204481" y="3869793"/>
            <a:ext cx="825925" cy="41242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l"/>
            <a:endParaRPr lang="it-IT" sz="1400" b="1">
              <a:solidFill>
                <a:schemeClr val="tx1"/>
              </a:solidFill>
            </a:endParaRPr>
          </a:p>
        </p:txBody>
      </p:sp>
      <p:pic>
        <p:nvPicPr>
          <p:cNvPr id="29" name="Picture 2" descr="logo-unisalute - Pluriass Scuola">
            <a:extLst>
              <a:ext uri="{FF2B5EF4-FFF2-40B4-BE49-F238E27FC236}">
                <a16:creationId xmlns:a16="http://schemas.microsoft.com/office/drawing/2014/main" id="{47E034DC-3631-D30F-3529-31B9D31CD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521" y="3799044"/>
            <a:ext cx="962762" cy="58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ttangolo 30">
            <a:extLst>
              <a:ext uri="{FF2B5EF4-FFF2-40B4-BE49-F238E27FC236}">
                <a16:creationId xmlns:a16="http://schemas.microsoft.com/office/drawing/2014/main" id="{0B4EF8BA-CB7C-210A-D142-A75DF4F48ED5}"/>
              </a:ext>
            </a:extLst>
          </p:cNvPr>
          <p:cNvSpPr/>
          <p:nvPr/>
        </p:nvSpPr>
        <p:spPr>
          <a:xfrm>
            <a:off x="5102437" y="3868217"/>
            <a:ext cx="1037955" cy="41242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l"/>
            <a:r>
              <a:rPr lang="it-IT" sz="1600" b="1" i="1">
                <a:solidFill>
                  <a:schemeClr val="tx1"/>
                </a:solidFill>
              </a:rPr>
              <a:t>            </a:t>
            </a:r>
            <a:r>
              <a:rPr lang="it-IT" sz="1400" b="1" i="1" err="1">
                <a:solidFill>
                  <a:schemeClr val="tx1"/>
                </a:solidFill>
              </a:rPr>
              <a:t>Prev</a:t>
            </a:r>
            <a:r>
              <a:rPr lang="it-IT" sz="1400" b="1" i="1">
                <a:solidFill>
                  <a:schemeClr val="tx1"/>
                </a:solidFill>
              </a:rPr>
              <a:t>.</a:t>
            </a:r>
            <a:endParaRPr lang="it-IT" sz="1600" b="1" i="1">
              <a:solidFill>
                <a:schemeClr val="tx1"/>
              </a:solidFill>
            </a:endParaRPr>
          </a:p>
        </p:txBody>
      </p:sp>
      <p:pic>
        <p:nvPicPr>
          <p:cNvPr id="32" name="Picture 4" descr="I nostri Partners - Finanza e Previdenza">
            <a:extLst>
              <a:ext uri="{FF2B5EF4-FFF2-40B4-BE49-F238E27FC236}">
                <a16:creationId xmlns:a16="http://schemas.microsoft.com/office/drawing/2014/main" id="{D2C49630-4CB2-F378-2F85-8BA7BAC31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224" y="3889206"/>
            <a:ext cx="655828" cy="40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8D383A76-2C72-86F5-9D03-BCEC43BA5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7" y="87404"/>
            <a:ext cx="12345233" cy="520054"/>
          </a:xfrm>
        </p:spPr>
        <p:txBody>
          <a:bodyPr vert="horz"/>
          <a:lstStyle/>
          <a:p>
            <a:pPr indent="539750"/>
            <a:r>
              <a:rPr lang="it-IT" sz="2800" dirty="0"/>
              <a:t>Focus Conversion: </a:t>
            </a:r>
            <a:r>
              <a:rPr lang="it-IT" sz="2800" b="0" dirty="0"/>
              <a:t>specifiche di calcolo</a:t>
            </a:r>
          </a:p>
        </p:txBody>
      </p:sp>
      <p:grpSp>
        <p:nvGrpSpPr>
          <p:cNvPr id="9" name="Gruppo 37">
            <a:extLst>
              <a:ext uri="{FF2B5EF4-FFF2-40B4-BE49-F238E27FC236}">
                <a16:creationId xmlns:a16="http://schemas.microsoft.com/office/drawing/2014/main" id="{550374C1-000E-03E8-2494-1A49710E432D}"/>
              </a:ext>
            </a:extLst>
          </p:cNvPr>
          <p:cNvGrpSpPr/>
          <p:nvPr/>
        </p:nvGrpSpPr>
        <p:grpSpPr>
          <a:xfrm>
            <a:off x="29224" y="11552"/>
            <a:ext cx="688941" cy="687005"/>
            <a:chOff x="8138470" y="4165713"/>
            <a:chExt cx="517612" cy="516157"/>
          </a:xfrm>
        </p:grpSpPr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85C8A72C-603A-CBFD-692C-EC8999671365}"/>
                </a:ext>
              </a:extLst>
            </p:cNvPr>
            <p:cNvSpPr/>
            <p:nvPr/>
          </p:nvSpPr>
          <p:spPr>
            <a:xfrm>
              <a:off x="8213856" y="4246814"/>
              <a:ext cx="255034" cy="255275"/>
            </a:xfrm>
            <a:prstGeom prst="ellipse">
              <a:avLst/>
            </a:prstGeom>
            <a:solidFill>
              <a:srgbClr val="0070C0"/>
            </a:solidFill>
            <a:ln w="3175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</a:t>
              </a:r>
            </a:p>
          </p:txBody>
        </p:sp>
        <p:pic>
          <p:nvPicPr>
            <p:cNvPr id="11" name="Elemento grafico 26" descr="Lente di ingrandimento con riempimento a tinta unita">
              <a:extLst>
                <a:ext uri="{FF2B5EF4-FFF2-40B4-BE49-F238E27FC236}">
                  <a16:creationId xmlns:a16="http://schemas.microsoft.com/office/drawing/2014/main" id="{9B0D791C-EF82-11A4-9FFB-016750468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138470" y="4165713"/>
              <a:ext cx="517612" cy="516157"/>
            </a:xfrm>
            <a:prstGeom prst="rect">
              <a:avLst/>
            </a:prstGeom>
          </p:spPr>
        </p:pic>
      </p:grpSp>
      <p:sp>
        <p:nvSpPr>
          <p:cNvPr id="37" name="Rectangle 19">
            <a:extLst>
              <a:ext uri="{FF2B5EF4-FFF2-40B4-BE49-F238E27FC236}">
                <a16:creationId xmlns:a16="http://schemas.microsoft.com/office/drawing/2014/main" id="{26B5B172-155B-551E-EE71-BACBCD1C22C4}"/>
              </a:ext>
            </a:extLst>
          </p:cNvPr>
          <p:cNvSpPr/>
          <p:nvPr/>
        </p:nvSpPr>
        <p:spPr>
          <a:xfrm>
            <a:off x="293884" y="5276739"/>
            <a:ext cx="2111404" cy="13376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2000" b="1" dirty="0"/>
              <a:t>ORIZZONTE TEMPORALE</a:t>
            </a:r>
          </a:p>
        </p:txBody>
      </p:sp>
      <p:sp>
        <p:nvSpPr>
          <p:cNvPr id="39" name="TextBox 24">
            <a:extLst>
              <a:ext uri="{FF2B5EF4-FFF2-40B4-BE49-F238E27FC236}">
                <a16:creationId xmlns:a16="http://schemas.microsoft.com/office/drawing/2014/main" id="{6FF64802-DAEF-DAFD-A20C-8CE0263E41F2}"/>
              </a:ext>
            </a:extLst>
          </p:cNvPr>
          <p:cNvSpPr txBox="1"/>
          <p:nvPr/>
        </p:nvSpPr>
        <p:spPr>
          <a:xfrm>
            <a:off x="7518725" y="5000341"/>
            <a:ext cx="5794504" cy="189042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marL="285750" indent="-285750">
              <a:spcAft>
                <a:spcPts val="300"/>
              </a:spcAft>
              <a:buFont typeface="Wingdings" panose="05000000000000000000" pitchFamily="2" charset="2"/>
              <a:buChar char="§"/>
              <a:defRPr/>
            </a:lvl1pPr>
          </a:lstStyle>
          <a:p>
            <a:r>
              <a:rPr lang="it-IT" sz="1700" b="1" dirty="0"/>
              <a:t>Trimestre di osservazione "</a:t>
            </a:r>
            <a:r>
              <a:rPr lang="it-IT" sz="1700" b="1" dirty="0" err="1"/>
              <a:t>rolling</a:t>
            </a:r>
            <a:r>
              <a:rPr lang="it-IT" sz="1700" b="1" dirty="0"/>
              <a:t>" </a:t>
            </a:r>
            <a:r>
              <a:rPr lang="it-IT" sz="1700" dirty="0"/>
              <a:t>per una maggior consistenza nel calcolo delle performance</a:t>
            </a:r>
          </a:p>
          <a:p>
            <a:r>
              <a:rPr lang="it-IT" sz="1700" b="1" dirty="0"/>
              <a:t>Calcolo score alla fine del mese indicato/ inizio mese successivo </a:t>
            </a:r>
            <a:r>
              <a:rPr lang="it-IT" sz="1700" dirty="0"/>
              <a:t>per determinare il nuovo contatore da applicare nel periodo successivo</a:t>
            </a:r>
          </a:p>
          <a:p>
            <a:r>
              <a:rPr lang="it-IT" sz="1700" b="1" dirty="0"/>
              <a:t>Da definire frequenza aggiornamento score </a:t>
            </a:r>
            <a:r>
              <a:rPr lang="it-IT" sz="1700" i="1" dirty="0"/>
              <a:t>(mensile vs trimestrale); </a:t>
            </a:r>
            <a:r>
              <a:rPr lang="it-IT" sz="1700" dirty="0"/>
              <a:t>confermato "</a:t>
            </a:r>
            <a:r>
              <a:rPr lang="it-IT" sz="1700" b="1" dirty="0"/>
              <a:t>refresh" mensile contatori </a:t>
            </a:r>
          </a:p>
        </p:txBody>
      </p:sp>
      <p:sp>
        <p:nvSpPr>
          <p:cNvPr id="40" name="Figura a mano libera 38">
            <a:extLst>
              <a:ext uri="{FF2B5EF4-FFF2-40B4-BE49-F238E27FC236}">
                <a16:creationId xmlns:a16="http://schemas.microsoft.com/office/drawing/2014/main" id="{42939FCA-E7F9-0E71-5D63-A044B288250A}"/>
              </a:ext>
            </a:extLst>
          </p:cNvPr>
          <p:cNvSpPr/>
          <p:nvPr/>
        </p:nvSpPr>
        <p:spPr bwMode="auto">
          <a:xfrm rot="5400000">
            <a:off x="6907538" y="5871155"/>
            <a:ext cx="651059" cy="148797"/>
          </a:xfrm>
          <a:custGeom>
            <a:avLst/>
            <a:gdLst>
              <a:gd name="connsiteX0" fmla="*/ 0 w 1086523"/>
              <a:gd name="connsiteY0" fmla="*/ 548640 h 548640"/>
              <a:gd name="connsiteX1" fmla="*/ 548640 w 1086523"/>
              <a:gd name="connsiteY1" fmla="*/ 0 h 548640"/>
              <a:gd name="connsiteX2" fmla="*/ 1086523 w 1086523"/>
              <a:gd name="connsiteY2" fmla="*/ 537883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6523" h="548640">
                <a:moveTo>
                  <a:pt x="0" y="548640"/>
                </a:moveTo>
                <a:lnTo>
                  <a:pt x="548640" y="0"/>
                </a:lnTo>
                <a:lnTo>
                  <a:pt x="1086523" y="537883"/>
                </a:lnTo>
              </a:path>
            </a:pathLst>
          </a:custGeom>
          <a:solidFill>
            <a:srgbClr val="F2F2F2"/>
          </a:solidFill>
          <a:ln w="57150" cap="rnd" cmpd="sng" algn="ctr">
            <a:solidFill>
              <a:srgbClr val="0F32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100">
              <a:solidFill>
                <a:srgbClr val="0F3250"/>
              </a:solidFill>
              <a:latin typeface="Calibri Light"/>
            </a:endParaRP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C77EC9F9-18CF-8B09-476E-6732EE557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251275"/>
              </p:ext>
            </p:extLst>
          </p:nvPr>
        </p:nvGraphicFramePr>
        <p:xfrm>
          <a:off x="2716939" y="5114749"/>
          <a:ext cx="4103337" cy="1560476"/>
        </p:xfrm>
        <a:graphic>
          <a:graphicData uri="http://schemas.openxmlformats.org/drawingml/2006/table">
            <a:tbl>
              <a:tblPr/>
              <a:tblGrid>
                <a:gridCol w="1750169">
                  <a:extLst>
                    <a:ext uri="{9D8B030D-6E8A-4147-A177-3AD203B41FA5}">
                      <a16:colId xmlns:a16="http://schemas.microsoft.com/office/drawing/2014/main" val="3225415694"/>
                    </a:ext>
                  </a:extLst>
                </a:gridCol>
                <a:gridCol w="294146">
                  <a:extLst>
                    <a:ext uri="{9D8B030D-6E8A-4147-A177-3AD203B41FA5}">
                      <a16:colId xmlns:a16="http://schemas.microsoft.com/office/drawing/2014/main" val="3231058078"/>
                    </a:ext>
                  </a:extLst>
                </a:gridCol>
                <a:gridCol w="294146">
                  <a:extLst>
                    <a:ext uri="{9D8B030D-6E8A-4147-A177-3AD203B41FA5}">
                      <a16:colId xmlns:a16="http://schemas.microsoft.com/office/drawing/2014/main" val="1251892868"/>
                    </a:ext>
                  </a:extLst>
                </a:gridCol>
                <a:gridCol w="294146">
                  <a:extLst>
                    <a:ext uri="{9D8B030D-6E8A-4147-A177-3AD203B41FA5}">
                      <a16:colId xmlns:a16="http://schemas.microsoft.com/office/drawing/2014/main" val="195948676"/>
                    </a:ext>
                  </a:extLst>
                </a:gridCol>
                <a:gridCol w="294146">
                  <a:extLst>
                    <a:ext uri="{9D8B030D-6E8A-4147-A177-3AD203B41FA5}">
                      <a16:colId xmlns:a16="http://schemas.microsoft.com/office/drawing/2014/main" val="3338828845"/>
                    </a:ext>
                  </a:extLst>
                </a:gridCol>
                <a:gridCol w="294146">
                  <a:extLst>
                    <a:ext uri="{9D8B030D-6E8A-4147-A177-3AD203B41FA5}">
                      <a16:colId xmlns:a16="http://schemas.microsoft.com/office/drawing/2014/main" val="3919220760"/>
                    </a:ext>
                  </a:extLst>
                </a:gridCol>
                <a:gridCol w="294146">
                  <a:extLst>
                    <a:ext uri="{9D8B030D-6E8A-4147-A177-3AD203B41FA5}">
                      <a16:colId xmlns:a16="http://schemas.microsoft.com/office/drawing/2014/main" val="1317582350"/>
                    </a:ext>
                  </a:extLst>
                </a:gridCol>
                <a:gridCol w="294146">
                  <a:extLst>
                    <a:ext uri="{9D8B030D-6E8A-4147-A177-3AD203B41FA5}">
                      <a16:colId xmlns:a16="http://schemas.microsoft.com/office/drawing/2014/main" val="2358001490"/>
                    </a:ext>
                  </a:extLst>
                </a:gridCol>
                <a:gridCol w="294146">
                  <a:extLst>
                    <a:ext uri="{9D8B030D-6E8A-4147-A177-3AD203B41FA5}">
                      <a16:colId xmlns:a16="http://schemas.microsoft.com/office/drawing/2014/main" val="3863306845"/>
                    </a:ext>
                  </a:extLst>
                </a:gridCol>
              </a:tblGrid>
              <a:tr h="2216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it-IT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044550"/>
                  </a:ext>
                </a:extLst>
              </a:tr>
              <a:tr h="2216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Trimestre di osservazione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219686"/>
                  </a:ext>
                </a:extLst>
              </a:tr>
              <a:tr h="2216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Momento di calcolo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944081"/>
                  </a:ext>
                </a:extLst>
              </a:tr>
              <a:tr h="23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Mese di applicazione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662395"/>
                  </a:ext>
                </a:extLst>
              </a:tr>
              <a:tr h="2216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Trimestre di osservazione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743012"/>
                  </a:ext>
                </a:extLst>
              </a:tr>
              <a:tr h="2216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Momento di calcolo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769051"/>
                  </a:ext>
                </a:extLst>
              </a:tr>
              <a:tr h="2216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Mese di applicazione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474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946252"/>
                  </a:ext>
                </a:extLst>
              </a:tr>
            </a:tbl>
          </a:graphicData>
        </a:graphic>
      </p:graphicFrame>
      <p:sp>
        <p:nvSpPr>
          <p:cNvPr id="12" name="Rombo 11">
            <a:extLst>
              <a:ext uri="{FF2B5EF4-FFF2-40B4-BE49-F238E27FC236}">
                <a16:creationId xmlns:a16="http://schemas.microsoft.com/office/drawing/2014/main" id="{FB8AE855-032F-908A-3F8C-38644E4C812F}"/>
              </a:ext>
            </a:extLst>
          </p:cNvPr>
          <p:cNvSpPr/>
          <p:nvPr/>
        </p:nvSpPr>
        <p:spPr>
          <a:xfrm>
            <a:off x="6141377" y="5570547"/>
            <a:ext cx="151988" cy="187243"/>
          </a:xfrm>
          <a:prstGeom prst="diamond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l"/>
            <a:endParaRPr lang="it-IT" sz="1400" b="1">
              <a:solidFill>
                <a:schemeClr val="tx1"/>
              </a:solidFill>
            </a:endParaRPr>
          </a:p>
        </p:txBody>
      </p:sp>
      <p:sp>
        <p:nvSpPr>
          <p:cNvPr id="13" name="Rombo 12">
            <a:extLst>
              <a:ext uri="{FF2B5EF4-FFF2-40B4-BE49-F238E27FC236}">
                <a16:creationId xmlns:a16="http://schemas.microsoft.com/office/drawing/2014/main" id="{20282D60-46AC-5C1E-E343-61350EFB8856}"/>
              </a:ext>
            </a:extLst>
          </p:cNvPr>
          <p:cNvSpPr/>
          <p:nvPr/>
        </p:nvSpPr>
        <p:spPr>
          <a:xfrm>
            <a:off x="6430272" y="6248889"/>
            <a:ext cx="151988" cy="187243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l"/>
            <a:endParaRPr lang="it-IT" sz="1400" b="1">
              <a:solidFill>
                <a:schemeClr val="tx1"/>
              </a:solidFill>
            </a:endParaRPr>
          </a:p>
        </p:txBody>
      </p:sp>
      <p:sp>
        <p:nvSpPr>
          <p:cNvPr id="41" name="Fumetto: rettangolo con angoli arrotondati 40">
            <a:extLst>
              <a:ext uri="{FF2B5EF4-FFF2-40B4-BE49-F238E27FC236}">
                <a16:creationId xmlns:a16="http://schemas.microsoft.com/office/drawing/2014/main" id="{6ACDE3B4-EF97-9A34-13A5-1EF5E16E4576}"/>
              </a:ext>
            </a:extLst>
          </p:cNvPr>
          <p:cNvSpPr/>
          <p:nvPr/>
        </p:nvSpPr>
        <p:spPr>
          <a:xfrm>
            <a:off x="2926163" y="4413396"/>
            <a:ext cx="3793724" cy="366152"/>
          </a:xfrm>
          <a:prstGeom prst="wedgeRoundRectCallout">
            <a:avLst>
              <a:gd name="adj1" fmla="val -22551"/>
              <a:gd name="adj2" fmla="val 36080"/>
              <a:gd name="adj3" fmla="val 16667"/>
            </a:avLst>
          </a:prstGeom>
          <a:solidFill>
            <a:srgbClr val="FFF6D9"/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lvl="0" algn="ctr" defTabSz="1342673">
              <a:defRPr/>
            </a:pPr>
            <a:r>
              <a:rPr lang="it-IT" sz="1200" i="1" dirty="0">
                <a:solidFill>
                  <a:schemeClr val="tx1"/>
                </a:solidFill>
              </a:rPr>
              <a:t>Escluse Trattative con origine digitale non comprese nel motore di assegnazione (es. </a:t>
            </a:r>
            <a:r>
              <a:rPr lang="it-IT" sz="1200" i="1" dirty="0" err="1">
                <a:solidFill>
                  <a:schemeClr val="tx1"/>
                </a:solidFill>
              </a:rPr>
              <a:t>UnipolRental</a:t>
            </a:r>
            <a:r>
              <a:rPr lang="it-IT" sz="1200" i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3" name="Fumetto: rettangolo con angoli arrotondati 42">
            <a:extLst>
              <a:ext uri="{FF2B5EF4-FFF2-40B4-BE49-F238E27FC236}">
                <a16:creationId xmlns:a16="http://schemas.microsoft.com/office/drawing/2014/main" id="{A3F4C113-BDB6-3FC0-D705-0A11DE0BA9EA}"/>
              </a:ext>
            </a:extLst>
          </p:cNvPr>
          <p:cNvSpPr/>
          <p:nvPr/>
        </p:nvSpPr>
        <p:spPr>
          <a:xfrm>
            <a:off x="7893387" y="3997378"/>
            <a:ext cx="5243996" cy="366152"/>
          </a:xfrm>
          <a:prstGeom prst="wedgeRoundRectCallout">
            <a:avLst>
              <a:gd name="adj1" fmla="val -16739"/>
              <a:gd name="adj2" fmla="val -70948"/>
              <a:gd name="adj3" fmla="val 16667"/>
            </a:avLst>
          </a:prstGeom>
          <a:solidFill>
            <a:srgbClr val="FFF6D9"/>
          </a:solidFill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defTabSz="1342673"/>
            <a:r>
              <a:rPr lang="it-IT" sz="1200" i="1" dirty="0">
                <a:solidFill>
                  <a:schemeClr val="tx1"/>
                </a:solidFill>
              </a:rPr>
              <a:t>Da valutare esclusione di tali Trattative anche dalle logiche di impatto sui contatori per "normalizzare" i volumi assegnati tramite modello </a:t>
            </a:r>
          </a:p>
        </p:txBody>
      </p:sp>
    </p:spTree>
    <p:extLst>
      <p:ext uri="{BB962C8B-B14F-4D97-AF65-F5344CB8AC3E}">
        <p14:creationId xmlns:p14="http://schemas.microsoft.com/office/powerpoint/2010/main" val="1635581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F88E4-CBAB-AF20-4125-B358B8BD4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F19DB6D-2D07-AA41-E862-EAFA382C820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40855198"/>
              </p:ext>
            </p:extLst>
          </p:nvPr>
        </p:nvGraphicFramePr>
        <p:xfrm>
          <a:off x="14351" y="8738"/>
          <a:ext cx="1747" cy="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4" name="Diapositiva think-cell" r:id="rId5" imgW="424" imgH="425" progId="TCLayout.ActiveDocument.1">
                  <p:embed/>
                </p:oleObj>
              </mc:Choice>
              <mc:Fallback>
                <p:oleObj name="Diapositiva think-cell" r:id="rId5" imgW="424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19DB6D-2D07-AA41-E862-EAFA382C82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351" y="8738"/>
                        <a:ext cx="1747" cy="1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D842466-522A-7D3F-435F-83D6377C57D9}"/>
              </a:ext>
            </a:extLst>
          </p:cNvPr>
          <p:cNvSpPr txBox="1"/>
          <p:nvPr/>
        </p:nvSpPr>
        <p:spPr>
          <a:xfrm>
            <a:off x="10581400" y="118599"/>
            <a:ext cx="2726045" cy="426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 defTabSz="836669">
              <a:spcAft>
                <a:spcPts val="400"/>
              </a:spcAft>
            </a:pPr>
            <a:r>
              <a:rPr lang="it-IT" sz="1400" i="1" u="sng">
                <a:solidFill>
                  <a:schemeClr val="bg1"/>
                </a:solidFill>
                <a:latin typeface="Calibri"/>
              </a:rPr>
              <a:t>NUMERICHE E PARAMETRI PRELIMINARI ED ESEMPLIFICATIVI</a:t>
            </a:r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23651DD8-1055-9FEC-4C03-7C79948E0449}"/>
              </a:ext>
            </a:extLst>
          </p:cNvPr>
          <p:cNvGraphicFramePr>
            <a:graphicFrameLocks noGrp="1"/>
          </p:cNvGraphicFramePr>
          <p:nvPr/>
        </p:nvGraphicFramePr>
        <p:xfrm>
          <a:off x="10240439" y="1063396"/>
          <a:ext cx="2652794" cy="328074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845116">
                  <a:extLst>
                    <a:ext uri="{9D8B030D-6E8A-4147-A177-3AD203B41FA5}">
                      <a16:colId xmlns:a16="http://schemas.microsoft.com/office/drawing/2014/main" val="4071046451"/>
                    </a:ext>
                  </a:extLst>
                </a:gridCol>
                <a:gridCol w="923414">
                  <a:extLst>
                    <a:ext uri="{9D8B030D-6E8A-4147-A177-3AD203B41FA5}">
                      <a16:colId xmlns:a16="http://schemas.microsoft.com/office/drawing/2014/main" val="3443830689"/>
                    </a:ext>
                  </a:extLst>
                </a:gridCol>
                <a:gridCol w="884264">
                  <a:extLst>
                    <a:ext uri="{9D8B030D-6E8A-4147-A177-3AD203B41FA5}">
                      <a16:colId xmlns:a16="http://schemas.microsoft.com/office/drawing/2014/main" val="683528233"/>
                    </a:ext>
                  </a:extLst>
                </a:gridCol>
              </a:tblGrid>
              <a:tr h="481930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DA</a:t>
                      </a:r>
                      <a:endParaRPr lang="it-IT" sz="11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A (escl.)</a:t>
                      </a:r>
                      <a:endParaRPr lang="it-IT" sz="11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u="none" strike="noStrike">
                          <a:solidFill>
                            <a:schemeClr val="bg1"/>
                          </a:solidFill>
                          <a:effectLst/>
                        </a:rPr>
                        <a:t>SCORE</a:t>
                      </a:r>
                      <a:endParaRPr lang="it-IT" sz="11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19647"/>
                  </a:ext>
                </a:extLst>
              </a:tr>
              <a:tr h="2544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5%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8800927"/>
                  </a:ext>
                </a:extLst>
              </a:tr>
              <a:tr h="2544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5%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605032"/>
                  </a:ext>
                </a:extLst>
              </a:tr>
              <a:tr h="2544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15%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549974"/>
                  </a:ext>
                </a:extLst>
              </a:tr>
              <a:tr h="2544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15%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22595"/>
                  </a:ext>
                </a:extLst>
              </a:tr>
              <a:tr h="2544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25%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5288722"/>
                  </a:ext>
                </a:extLst>
              </a:tr>
              <a:tr h="2544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25%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30%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72277"/>
                  </a:ext>
                </a:extLst>
              </a:tr>
              <a:tr h="2544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30%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35%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7130955"/>
                  </a:ext>
                </a:extLst>
              </a:tr>
              <a:tr h="2544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35%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40%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33358"/>
                  </a:ext>
                </a:extLst>
              </a:tr>
              <a:tr h="2544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40%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45%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24265660"/>
                  </a:ext>
                </a:extLst>
              </a:tr>
              <a:tr h="2544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45%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50%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220696"/>
                  </a:ext>
                </a:extLst>
              </a:tr>
              <a:tr h="254438"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50%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it-IT" sz="1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98891991"/>
                  </a:ext>
                </a:extLst>
              </a:tr>
            </a:tbl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9E9313E-67CC-E8A8-A484-A66BAE8CA264}"/>
              </a:ext>
            </a:extLst>
          </p:cNvPr>
          <p:cNvSpPr txBox="1"/>
          <p:nvPr/>
        </p:nvSpPr>
        <p:spPr>
          <a:xfrm>
            <a:off x="2855063" y="2306736"/>
            <a:ext cx="7132638" cy="221066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t-IT" b="1" dirty="0"/>
              <a:t>La Performance Agenziale</a:t>
            </a:r>
            <a:r>
              <a:rPr lang="it-IT" dirty="0"/>
              <a:t> </a:t>
            </a:r>
            <a:r>
              <a:rPr lang="it-IT" i="1" dirty="0"/>
              <a:t>(es. Conversion) </a:t>
            </a:r>
            <a:r>
              <a:rPr lang="it-IT" b="1" dirty="0"/>
              <a:t>viene distribuita in classi di score discrete </a:t>
            </a:r>
            <a:endParaRPr lang="it-IT" dirty="0">
              <a:solidFill>
                <a:srgbClr val="0F3250"/>
              </a:solidFill>
              <a:latin typeface="Calibri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it-IT" dirty="0">
                <a:solidFill>
                  <a:srgbClr val="0F3250"/>
                </a:solidFill>
                <a:latin typeface="Calibri"/>
              </a:rPr>
              <a:t>Da prevedere un </a:t>
            </a:r>
            <a:r>
              <a:rPr lang="it-IT" b="1" dirty="0">
                <a:solidFill>
                  <a:srgbClr val="0F3250"/>
                </a:solidFill>
                <a:latin typeface="Calibri"/>
              </a:rPr>
              <a:t>adeguato livello di granularità</a:t>
            </a:r>
            <a:r>
              <a:rPr lang="it-IT" dirty="0">
                <a:solidFill>
                  <a:srgbClr val="0F3250"/>
                </a:solidFill>
                <a:latin typeface="Calibri"/>
              </a:rPr>
              <a:t>, anche in funzione dei risultati del periodo di osservazione, per produrre un </a:t>
            </a:r>
            <a:r>
              <a:rPr lang="it-IT" b="1" dirty="0">
                <a:solidFill>
                  <a:srgbClr val="0F3250"/>
                </a:solidFill>
                <a:latin typeface="Calibri"/>
              </a:rPr>
              <a:t>ranking sufficientemente differenziato</a:t>
            </a:r>
          </a:p>
          <a:p>
            <a:pPr>
              <a:spcAft>
                <a:spcPts val="600"/>
              </a:spcAft>
            </a:pPr>
            <a:r>
              <a:rPr lang="it-IT" sz="2000" b="1" dirty="0">
                <a:solidFill>
                  <a:srgbClr val="0F3250"/>
                </a:solidFill>
                <a:latin typeface="Calibri"/>
              </a:rPr>
              <a:t>La somma degli score calcolati per ogni KPI, moltiplicato per il rispettivo "peso",  determinerà lo score complessivo di Agenzia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3DAE56-FCDC-C612-478C-6E8FCD506A94}"/>
              </a:ext>
            </a:extLst>
          </p:cNvPr>
          <p:cNvSpPr txBox="1"/>
          <p:nvPr/>
        </p:nvSpPr>
        <p:spPr>
          <a:xfrm>
            <a:off x="2854987" y="973881"/>
            <a:ext cx="71334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/>
              <a:t>Per ogni indicatore, viene </a:t>
            </a:r>
            <a:r>
              <a:rPr lang="it-IT" sz="2000" b="1"/>
              <a:t>determinato uno score di Agenzia </a:t>
            </a:r>
            <a:r>
              <a:rPr lang="it-IT" sz="2000" i="1"/>
              <a:t>(alimentato dalle performance registrate dall'Agenzia di riferimento e di tutti i Punti Vendita collegati) </a:t>
            </a:r>
            <a:r>
              <a:rPr lang="it-IT" sz="2000" b="1"/>
              <a:t> tramite tabella di transcodifica parametrica: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5A61A0-B897-5698-D39C-1FA9AABA1BF8}"/>
              </a:ext>
            </a:extLst>
          </p:cNvPr>
          <p:cNvSpPr/>
          <p:nvPr/>
        </p:nvSpPr>
        <p:spPr>
          <a:xfrm>
            <a:off x="511644" y="973880"/>
            <a:ext cx="2111404" cy="3543525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2000" b="1"/>
              <a:t>TABELLA DI TRANSCODIFICA E CALCOLO SCORE</a:t>
            </a:r>
          </a:p>
        </p:txBody>
      </p:sp>
      <p:sp>
        <p:nvSpPr>
          <p:cNvPr id="2" name="Rectangle 19">
            <a:extLst>
              <a:ext uri="{FF2B5EF4-FFF2-40B4-BE49-F238E27FC236}">
                <a16:creationId xmlns:a16="http://schemas.microsoft.com/office/drawing/2014/main" id="{F465A866-CD4B-DD9B-D917-5BD71A8BB839}"/>
              </a:ext>
            </a:extLst>
          </p:cNvPr>
          <p:cNvSpPr/>
          <p:nvPr/>
        </p:nvSpPr>
        <p:spPr>
          <a:xfrm>
            <a:off x="511644" y="4908157"/>
            <a:ext cx="2111404" cy="16129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it-IT" sz="2000" b="1"/>
              <a:t>"CONTATORE" NUMERO DI LEAD ASSEGNABILI</a:t>
            </a:r>
          </a:p>
        </p:txBody>
      </p:sp>
      <p:sp>
        <p:nvSpPr>
          <p:cNvPr id="3" name="CasellaDiTesto 12">
            <a:extLst>
              <a:ext uri="{FF2B5EF4-FFF2-40B4-BE49-F238E27FC236}">
                <a16:creationId xmlns:a16="http://schemas.microsoft.com/office/drawing/2014/main" id="{BE9EEB10-4EB0-1EC6-D896-7269A07C9BEE}"/>
              </a:ext>
            </a:extLst>
          </p:cNvPr>
          <p:cNvSpPr txBox="1"/>
          <p:nvPr/>
        </p:nvSpPr>
        <p:spPr>
          <a:xfrm>
            <a:off x="2903469" y="4935453"/>
            <a:ext cx="7084231" cy="16129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66700" indent="-2667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it-IT" sz="2000" b="1"/>
              <a:t>Ad ogni Agenzia </a:t>
            </a:r>
            <a:r>
              <a:rPr lang="it-IT" sz="2000"/>
              <a:t>viene assegnato un </a:t>
            </a:r>
            <a:r>
              <a:rPr lang="it-IT" sz="2000" b="1"/>
              <a:t>numero massimo di lead in base alla classe di score complessivo, </a:t>
            </a:r>
            <a:r>
              <a:rPr lang="it-IT" sz="2000"/>
              <a:t>tramite valori parametrici</a:t>
            </a:r>
          </a:p>
          <a:p>
            <a:pPr marL="266700" indent="-2667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it-IT" sz="2000" b="1" u="sng"/>
              <a:t>N.B.</a:t>
            </a:r>
            <a:r>
              <a:rPr lang="it-IT" sz="2000"/>
              <a:t> Possibilità di modificare </a:t>
            </a:r>
            <a:r>
              <a:rPr lang="it-IT" sz="2000" b="1"/>
              <a:t>granularità delle classi come leva per agire sul </a:t>
            </a:r>
            <a:r>
              <a:rPr lang="it-IT" sz="2000" b="1" u="sng"/>
              <a:t>grado di meritocrazia del modello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C274E974-31D7-1B99-FFD5-4E5E7CB3FE4E}"/>
              </a:ext>
            </a:extLst>
          </p:cNvPr>
          <p:cNvCxnSpPr>
            <a:cxnSpLocks/>
          </p:cNvCxnSpPr>
          <p:nvPr/>
        </p:nvCxnSpPr>
        <p:spPr>
          <a:xfrm>
            <a:off x="566754" y="4712781"/>
            <a:ext cx="1227368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62">
            <a:extLst>
              <a:ext uri="{FF2B5EF4-FFF2-40B4-BE49-F238E27FC236}">
                <a16:creationId xmlns:a16="http://schemas.microsoft.com/office/drawing/2014/main" id="{2EA4DB51-6C0F-585B-0061-D90712613B7B}"/>
              </a:ext>
            </a:extLst>
          </p:cNvPr>
          <p:cNvSpPr txBox="1"/>
          <p:nvPr/>
        </p:nvSpPr>
        <p:spPr>
          <a:xfrm>
            <a:off x="11233899" y="4908157"/>
            <a:ext cx="1668255" cy="3231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it-IT" sz="1500" b="1" u="sng"/>
              <a:t>LEAD ASSEGNABILI</a:t>
            </a:r>
          </a:p>
        </p:txBody>
      </p:sp>
      <p:sp>
        <p:nvSpPr>
          <p:cNvPr id="14" name="Rectangle 63">
            <a:extLst>
              <a:ext uri="{FF2B5EF4-FFF2-40B4-BE49-F238E27FC236}">
                <a16:creationId xmlns:a16="http://schemas.microsoft.com/office/drawing/2014/main" id="{A43A2198-59C0-405A-4D86-D478732F2F03}"/>
              </a:ext>
            </a:extLst>
          </p:cNvPr>
          <p:cNvSpPr/>
          <p:nvPr/>
        </p:nvSpPr>
        <p:spPr>
          <a:xfrm>
            <a:off x="10310486" y="5254932"/>
            <a:ext cx="2553941" cy="308959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l"/>
            <a:endParaRPr lang="it-IT" sz="1400" b="1">
              <a:solidFill>
                <a:schemeClr val="tx1"/>
              </a:solidFill>
            </a:endParaRPr>
          </a:p>
        </p:txBody>
      </p:sp>
      <p:sp>
        <p:nvSpPr>
          <p:cNvPr id="15" name="Rectangle 83">
            <a:extLst>
              <a:ext uri="{FF2B5EF4-FFF2-40B4-BE49-F238E27FC236}">
                <a16:creationId xmlns:a16="http://schemas.microsoft.com/office/drawing/2014/main" id="{E3C47A11-531E-4689-A68C-A0D64BD00319}"/>
              </a:ext>
            </a:extLst>
          </p:cNvPr>
          <p:cNvSpPr/>
          <p:nvPr/>
        </p:nvSpPr>
        <p:spPr>
          <a:xfrm>
            <a:off x="10310486" y="5888649"/>
            <a:ext cx="2553989" cy="309087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l"/>
            <a:endParaRPr lang="it-IT" sz="1400" b="1">
              <a:solidFill>
                <a:schemeClr val="tx1"/>
              </a:solidFill>
            </a:endParaRPr>
          </a:p>
        </p:txBody>
      </p:sp>
      <p:sp>
        <p:nvSpPr>
          <p:cNvPr id="25" name="TextBox 110">
            <a:extLst>
              <a:ext uri="{FF2B5EF4-FFF2-40B4-BE49-F238E27FC236}">
                <a16:creationId xmlns:a16="http://schemas.microsoft.com/office/drawing/2014/main" id="{F67A1929-AF86-4608-63F6-768EC965EBDB}"/>
              </a:ext>
            </a:extLst>
          </p:cNvPr>
          <p:cNvSpPr txBox="1"/>
          <p:nvPr/>
        </p:nvSpPr>
        <p:spPr>
          <a:xfrm>
            <a:off x="11655663" y="5255959"/>
            <a:ext cx="824728" cy="3090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it-IT" sz="1400" b="1"/>
              <a:t>4</a:t>
            </a:r>
          </a:p>
        </p:txBody>
      </p:sp>
      <p:sp>
        <p:nvSpPr>
          <p:cNvPr id="31" name="TextBox 112">
            <a:extLst>
              <a:ext uri="{FF2B5EF4-FFF2-40B4-BE49-F238E27FC236}">
                <a16:creationId xmlns:a16="http://schemas.microsoft.com/office/drawing/2014/main" id="{B9AD5119-64E7-1984-41AE-80C8ACA3E345}"/>
              </a:ext>
            </a:extLst>
          </p:cNvPr>
          <p:cNvSpPr txBox="1"/>
          <p:nvPr/>
        </p:nvSpPr>
        <p:spPr>
          <a:xfrm>
            <a:off x="11655658" y="5571727"/>
            <a:ext cx="824721" cy="3090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it-IT" sz="1400" b="1"/>
              <a:t>3</a:t>
            </a:r>
          </a:p>
        </p:txBody>
      </p:sp>
      <p:sp>
        <p:nvSpPr>
          <p:cNvPr id="36" name="TextBox 113">
            <a:extLst>
              <a:ext uri="{FF2B5EF4-FFF2-40B4-BE49-F238E27FC236}">
                <a16:creationId xmlns:a16="http://schemas.microsoft.com/office/drawing/2014/main" id="{829235BB-60B7-E517-03CD-AFE3A818EB1C}"/>
              </a:ext>
            </a:extLst>
          </p:cNvPr>
          <p:cNvSpPr txBox="1"/>
          <p:nvPr/>
        </p:nvSpPr>
        <p:spPr>
          <a:xfrm>
            <a:off x="11655658" y="5888102"/>
            <a:ext cx="824721" cy="3090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it-IT" sz="1400" b="1"/>
              <a:t>2</a:t>
            </a:r>
          </a:p>
        </p:txBody>
      </p:sp>
      <p:sp>
        <p:nvSpPr>
          <p:cNvPr id="37" name="TextBox 114">
            <a:extLst>
              <a:ext uri="{FF2B5EF4-FFF2-40B4-BE49-F238E27FC236}">
                <a16:creationId xmlns:a16="http://schemas.microsoft.com/office/drawing/2014/main" id="{EE7B8B3B-6B45-1059-F299-11DCD943C845}"/>
              </a:ext>
            </a:extLst>
          </p:cNvPr>
          <p:cNvSpPr txBox="1"/>
          <p:nvPr/>
        </p:nvSpPr>
        <p:spPr>
          <a:xfrm>
            <a:off x="11655658" y="6205571"/>
            <a:ext cx="824721" cy="3090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it-IT" sz="1400" b="1"/>
              <a:t>1</a:t>
            </a:r>
          </a:p>
        </p:txBody>
      </p:sp>
      <p:sp>
        <p:nvSpPr>
          <p:cNvPr id="38" name="Rectangle 119">
            <a:extLst>
              <a:ext uri="{FF2B5EF4-FFF2-40B4-BE49-F238E27FC236}">
                <a16:creationId xmlns:a16="http://schemas.microsoft.com/office/drawing/2014/main" id="{A24C7243-4256-93F8-BACF-BE3B5257DD61}"/>
              </a:ext>
            </a:extLst>
          </p:cNvPr>
          <p:cNvSpPr/>
          <p:nvPr/>
        </p:nvSpPr>
        <p:spPr>
          <a:xfrm>
            <a:off x="10310486" y="4911422"/>
            <a:ext cx="2553941" cy="16097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l"/>
            <a:endParaRPr lang="it-IT" sz="1400" b="1">
              <a:solidFill>
                <a:schemeClr val="tx1"/>
              </a:solidFill>
            </a:endParaRPr>
          </a:p>
        </p:txBody>
      </p:sp>
      <p:sp>
        <p:nvSpPr>
          <p:cNvPr id="39" name="TextBox 61">
            <a:extLst>
              <a:ext uri="{FF2B5EF4-FFF2-40B4-BE49-F238E27FC236}">
                <a16:creationId xmlns:a16="http://schemas.microsoft.com/office/drawing/2014/main" id="{30E174EA-D409-70C0-C616-FD656B88964B}"/>
              </a:ext>
            </a:extLst>
          </p:cNvPr>
          <p:cNvSpPr txBox="1"/>
          <p:nvPr/>
        </p:nvSpPr>
        <p:spPr>
          <a:xfrm>
            <a:off x="10268121" y="4908157"/>
            <a:ext cx="11056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500" b="1" u="sng"/>
              <a:t>CLASSE</a:t>
            </a:r>
          </a:p>
        </p:txBody>
      </p:sp>
      <p:sp>
        <p:nvSpPr>
          <p:cNvPr id="40" name="TextBox 101">
            <a:extLst>
              <a:ext uri="{FF2B5EF4-FFF2-40B4-BE49-F238E27FC236}">
                <a16:creationId xmlns:a16="http://schemas.microsoft.com/office/drawing/2014/main" id="{D3019253-2488-5AD0-D752-FDF494F95789}"/>
              </a:ext>
            </a:extLst>
          </p:cNvPr>
          <p:cNvSpPr txBox="1"/>
          <p:nvPr/>
        </p:nvSpPr>
        <p:spPr>
          <a:xfrm>
            <a:off x="10321329" y="5254804"/>
            <a:ext cx="997921" cy="3090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it-IT" sz="1400"/>
              <a:t>&gt;7,5</a:t>
            </a:r>
          </a:p>
        </p:txBody>
      </p:sp>
      <p:sp>
        <p:nvSpPr>
          <p:cNvPr id="41" name="TextBox 103">
            <a:extLst>
              <a:ext uri="{FF2B5EF4-FFF2-40B4-BE49-F238E27FC236}">
                <a16:creationId xmlns:a16="http://schemas.microsoft.com/office/drawing/2014/main" id="{4437A519-83AF-85EF-4CC2-186C583DE6BE}"/>
              </a:ext>
            </a:extLst>
          </p:cNvPr>
          <p:cNvSpPr txBox="1"/>
          <p:nvPr/>
        </p:nvSpPr>
        <p:spPr>
          <a:xfrm>
            <a:off x="10271433" y="5571727"/>
            <a:ext cx="1097713" cy="3090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it-IT" sz="1400"/>
              <a:t>Da 5 a 7,5</a:t>
            </a:r>
          </a:p>
        </p:txBody>
      </p:sp>
      <p:sp>
        <p:nvSpPr>
          <p:cNvPr id="44" name="TextBox 104">
            <a:extLst>
              <a:ext uri="{FF2B5EF4-FFF2-40B4-BE49-F238E27FC236}">
                <a16:creationId xmlns:a16="http://schemas.microsoft.com/office/drawing/2014/main" id="{6E319DB3-1E2B-5A8D-3D7D-93603E555851}"/>
              </a:ext>
            </a:extLst>
          </p:cNvPr>
          <p:cNvSpPr txBox="1"/>
          <p:nvPr/>
        </p:nvSpPr>
        <p:spPr>
          <a:xfrm>
            <a:off x="10321329" y="5888649"/>
            <a:ext cx="997921" cy="3090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it-IT" sz="1400"/>
              <a:t>Da 2,5 a 5</a:t>
            </a:r>
          </a:p>
        </p:txBody>
      </p:sp>
      <p:sp>
        <p:nvSpPr>
          <p:cNvPr id="45" name="TextBox 105">
            <a:extLst>
              <a:ext uri="{FF2B5EF4-FFF2-40B4-BE49-F238E27FC236}">
                <a16:creationId xmlns:a16="http://schemas.microsoft.com/office/drawing/2014/main" id="{987A6443-08CA-7FDD-11CC-4941EA9720FB}"/>
              </a:ext>
            </a:extLst>
          </p:cNvPr>
          <p:cNvSpPr txBox="1"/>
          <p:nvPr/>
        </p:nvSpPr>
        <p:spPr>
          <a:xfrm>
            <a:off x="10321329" y="6205571"/>
            <a:ext cx="997921" cy="3090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it-IT" sz="1400"/>
              <a:t>&lt;2,5</a:t>
            </a:r>
          </a:p>
        </p:txBody>
      </p:sp>
      <p:sp>
        <p:nvSpPr>
          <p:cNvPr id="8" name="Titolo 4">
            <a:extLst>
              <a:ext uri="{FF2B5EF4-FFF2-40B4-BE49-F238E27FC236}">
                <a16:creationId xmlns:a16="http://schemas.microsoft.com/office/drawing/2014/main" id="{E1D8E445-E0A3-6716-46D5-56A6FCBDD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7" y="87404"/>
            <a:ext cx="12345233" cy="520054"/>
          </a:xfrm>
        </p:spPr>
        <p:txBody>
          <a:bodyPr vert="horz"/>
          <a:lstStyle/>
          <a:p>
            <a:pPr indent="539750"/>
            <a:r>
              <a:rPr lang="it-IT" sz="2800" dirty="0"/>
              <a:t>Score complessivo: </a:t>
            </a:r>
            <a:r>
              <a:rPr lang="it-IT" sz="2800" b="0" dirty="0"/>
              <a:t>Calcolo N. lead assegnabili</a:t>
            </a:r>
          </a:p>
        </p:txBody>
      </p:sp>
      <p:grpSp>
        <p:nvGrpSpPr>
          <p:cNvPr id="10" name="Gruppo 37">
            <a:extLst>
              <a:ext uri="{FF2B5EF4-FFF2-40B4-BE49-F238E27FC236}">
                <a16:creationId xmlns:a16="http://schemas.microsoft.com/office/drawing/2014/main" id="{56908B8F-F865-07A1-CBC7-4342101BE672}"/>
              </a:ext>
            </a:extLst>
          </p:cNvPr>
          <p:cNvGrpSpPr/>
          <p:nvPr/>
        </p:nvGrpSpPr>
        <p:grpSpPr>
          <a:xfrm>
            <a:off x="29224" y="11552"/>
            <a:ext cx="688941" cy="687005"/>
            <a:chOff x="8138470" y="4165713"/>
            <a:chExt cx="517612" cy="516157"/>
          </a:xfrm>
        </p:grpSpPr>
        <p:sp>
          <p:nvSpPr>
            <p:cNvPr id="16" name="Ovale 9">
              <a:extLst>
                <a:ext uri="{FF2B5EF4-FFF2-40B4-BE49-F238E27FC236}">
                  <a16:creationId xmlns:a16="http://schemas.microsoft.com/office/drawing/2014/main" id="{DA38B79C-DEFE-AF4A-6D9D-38DD17D86412}"/>
                </a:ext>
              </a:extLst>
            </p:cNvPr>
            <p:cNvSpPr/>
            <p:nvPr/>
          </p:nvSpPr>
          <p:spPr>
            <a:xfrm>
              <a:off x="8213856" y="4246814"/>
              <a:ext cx="255034" cy="255275"/>
            </a:xfrm>
            <a:prstGeom prst="ellipse">
              <a:avLst/>
            </a:prstGeom>
            <a:solidFill>
              <a:srgbClr val="0070C0"/>
            </a:solidFill>
            <a:ln w="3175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2400" b="1" kern="0">
                  <a:solidFill>
                    <a:schemeClr val="bg1"/>
                  </a:solidFill>
                  <a:latin typeface="Calibri"/>
                </a:rPr>
                <a:t>C</a:t>
              </a:r>
              <a:endParaRPr kumimoji="0" lang="it-IT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7" name="Elemento grafico 26" descr="Lente di ingrandimento con riempimento a tinta unita">
              <a:extLst>
                <a:ext uri="{FF2B5EF4-FFF2-40B4-BE49-F238E27FC236}">
                  <a16:creationId xmlns:a16="http://schemas.microsoft.com/office/drawing/2014/main" id="{858875A1-BD7A-4427-E706-FC80D9C61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138470" y="4165713"/>
              <a:ext cx="517612" cy="5161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2944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C4BB5-7870-7969-71BE-F0DA053A9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7760C9B-AC11-9355-6C4B-ED6994E8E3B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88233406"/>
              </p:ext>
            </p:extLst>
          </p:nvPr>
        </p:nvGraphicFramePr>
        <p:xfrm>
          <a:off x="14351" y="8738"/>
          <a:ext cx="1747" cy="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18" name="Diapositiva think-cell" r:id="rId6" imgW="424" imgH="425" progId="TCLayout.ActiveDocument.1">
                  <p:embed/>
                </p:oleObj>
              </mc:Choice>
              <mc:Fallback>
                <p:oleObj name="Diapositiva think-cell" r:id="rId6" imgW="424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7760C9B-AC11-9355-6C4B-ED6994E8E3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351" y="8738"/>
                        <a:ext cx="1747" cy="1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Rettangolo 89">
            <a:extLst>
              <a:ext uri="{FF2B5EF4-FFF2-40B4-BE49-F238E27FC236}">
                <a16:creationId xmlns:a16="http://schemas.microsoft.com/office/drawing/2014/main" id="{DF6240F1-29AF-C4BF-5F5A-1C39A291669D}"/>
              </a:ext>
            </a:extLst>
          </p:cNvPr>
          <p:cNvSpPr/>
          <p:nvPr/>
        </p:nvSpPr>
        <p:spPr>
          <a:xfrm>
            <a:off x="9276544" y="1499831"/>
            <a:ext cx="3745358" cy="5205540"/>
          </a:xfrm>
          <a:prstGeom prst="rect">
            <a:avLst/>
          </a:prstGeom>
          <a:solidFill>
            <a:srgbClr val="EEF5F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08000" rtlCol="0" anchor="ctr"/>
          <a:lstStyle/>
          <a:p>
            <a:pPr marL="88900" marR="0" lvl="0" indent="0" algn="l" defTabSz="8366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it-IT" sz="2800" b="0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365114E-193B-0840-CC28-78C3F3BC8DDE}"/>
              </a:ext>
            </a:extLst>
          </p:cNvPr>
          <p:cNvSpPr txBox="1"/>
          <p:nvPr/>
        </p:nvSpPr>
        <p:spPr>
          <a:xfrm>
            <a:off x="10581400" y="118599"/>
            <a:ext cx="2726045" cy="426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marL="0" marR="0" lvl="0" indent="0" algn="ctr" defTabSz="8366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1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NUMERICHE E PARAMETRI PRELIMINARI ED ESEMPLIFICATIVI</a:t>
            </a:r>
          </a:p>
        </p:txBody>
      </p:sp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29AB8597-E348-DD0D-6F5B-D402B26C8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822788"/>
              </p:ext>
            </p:extLst>
          </p:nvPr>
        </p:nvGraphicFramePr>
        <p:xfrm>
          <a:off x="4598029" y="1499831"/>
          <a:ext cx="1647176" cy="176105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24750">
                  <a:extLst>
                    <a:ext uri="{9D8B030D-6E8A-4147-A177-3AD203B41FA5}">
                      <a16:colId xmlns:a16="http://schemas.microsoft.com/office/drawing/2014/main" val="4071046451"/>
                    </a:ext>
                  </a:extLst>
                </a:gridCol>
                <a:gridCol w="573368">
                  <a:extLst>
                    <a:ext uri="{9D8B030D-6E8A-4147-A177-3AD203B41FA5}">
                      <a16:colId xmlns:a16="http://schemas.microsoft.com/office/drawing/2014/main" val="3443830689"/>
                    </a:ext>
                  </a:extLst>
                </a:gridCol>
                <a:gridCol w="549058">
                  <a:extLst>
                    <a:ext uri="{9D8B030D-6E8A-4147-A177-3AD203B41FA5}">
                      <a16:colId xmlns:a16="http://schemas.microsoft.com/office/drawing/2014/main" val="683528233"/>
                    </a:ext>
                  </a:extLst>
                </a:gridCol>
              </a:tblGrid>
              <a:tr h="181194"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DA</a:t>
                      </a:r>
                      <a:endParaRPr lang="it-IT" sz="9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A (escl.)</a:t>
                      </a:r>
                      <a:endParaRPr lang="it-IT" sz="9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SCORE</a:t>
                      </a:r>
                      <a:endParaRPr lang="it-IT" sz="9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19647"/>
                  </a:ext>
                </a:extLst>
              </a:tr>
              <a:tr h="143624"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5%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it-IT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8800927"/>
                  </a:ext>
                </a:extLst>
              </a:tr>
              <a:tr h="143624"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5%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it-IT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605032"/>
                  </a:ext>
                </a:extLst>
              </a:tr>
              <a:tr h="143624"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15%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it-IT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549974"/>
                  </a:ext>
                </a:extLst>
              </a:tr>
              <a:tr h="143624"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15%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20%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it-IT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22595"/>
                  </a:ext>
                </a:extLst>
              </a:tr>
              <a:tr h="143624"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20%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25%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it-IT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5288722"/>
                  </a:ext>
                </a:extLst>
              </a:tr>
              <a:tr h="143624"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25%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30%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it-IT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72277"/>
                  </a:ext>
                </a:extLst>
              </a:tr>
              <a:tr h="143624"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30%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35%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it-IT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7130955"/>
                  </a:ext>
                </a:extLst>
              </a:tr>
              <a:tr h="143624"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35%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40%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it-IT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33358"/>
                  </a:ext>
                </a:extLst>
              </a:tr>
              <a:tr h="143624"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40%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45%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it-IT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24265660"/>
                  </a:ext>
                </a:extLst>
              </a:tr>
              <a:tr h="143624"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45%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50%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it-IT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220696"/>
                  </a:ext>
                </a:extLst>
              </a:tr>
              <a:tr h="143624"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50%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0" u="none" strike="noStrike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  <a:endParaRPr lang="it-IT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it-IT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98891991"/>
                  </a:ext>
                </a:extLst>
              </a:tr>
            </a:tbl>
          </a:graphicData>
        </a:graphic>
      </p:graphicFrame>
      <p:sp>
        <p:nvSpPr>
          <p:cNvPr id="14" name="Rectangle 63">
            <a:extLst>
              <a:ext uri="{FF2B5EF4-FFF2-40B4-BE49-F238E27FC236}">
                <a16:creationId xmlns:a16="http://schemas.microsoft.com/office/drawing/2014/main" id="{6C2C8066-295F-B7E3-5C59-19AD93937B44}"/>
              </a:ext>
            </a:extLst>
          </p:cNvPr>
          <p:cNvSpPr/>
          <p:nvPr/>
        </p:nvSpPr>
        <p:spPr>
          <a:xfrm>
            <a:off x="9993168" y="4134747"/>
            <a:ext cx="2553941" cy="308959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83">
            <a:extLst>
              <a:ext uri="{FF2B5EF4-FFF2-40B4-BE49-F238E27FC236}">
                <a16:creationId xmlns:a16="http://schemas.microsoft.com/office/drawing/2014/main" id="{8864EC3F-28B9-E592-1349-17B94329234C}"/>
              </a:ext>
            </a:extLst>
          </p:cNvPr>
          <p:cNvSpPr/>
          <p:nvPr/>
        </p:nvSpPr>
        <p:spPr>
          <a:xfrm>
            <a:off x="9993168" y="4768464"/>
            <a:ext cx="2553989" cy="309087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119">
            <a:extLst>
              <a:ext uri="{FF2B5EF4-FFF2-40B4-BE49-F238E27FC236}">
                <a16:creationId xmlns:a16="http://schemas.microsoft.com/office/drawing/2014/main" id="{1A45E431-3E21-526A-5EBD-31413D0ABBD6}"/>
              </a:ext>
            </a:extLst>
          </p:cNvPr>
          <p:cNvSpPr/>
          <p:nvPr/>
        </p:nvSpPr>
        <p:spPr>
          <a:xfrm>
            <a:off x="9993168" y="3791237"/>
            <a:ext cx="2553941" cy="1609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61">
            <a:extLst>
              <a:ext uri="{FF2B5EF4-FFF2-40B4-BE49-F238E27FC236}">
                <a16:creationId xmlns:a16="http://schemas.microsoft.com/office/drawing/2014/main" id="{2C7543E5-D6C3-F701-0F49-B312F0A0C99B}"/>
              </a:ext>
            </a:extLst>
          </p:cNvPr>
          <p:cNvSpPr txBox="1"/>
          <p:nvPr/>
        </p:nvSpPr>
        <p:spPr>
          <a:xfrm>
            <a:off x="9993120" y="3786817"/>
            <a:ext cx="1105695" cy="323165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CLASSE</a:t>
            </a:r>
          </a:p>
        </p:txBody>
      </p:sp>
      <p:sp>
        <p:nvSpPr>
          <p:cNvPr id="40" name="TextBox 101">
            <a:extLst>
              <a:ext uri="{FF2B5EF4-FFF2-40B4-BE49-F238E27FC236}">
                <a16:creationId xmlns:a16="http://schemas.microsoft.com/office/drawing/2014/main" id="{DC1F694A-9130-63CF-1047-645B75FF5FAB}"/>
              </a:ext>
            </a:extLst>
          </p:cNvPr>
          <p:cNvSpPr txBox="1"/>
          <p:nvPr/>
        </p:nvSpPr>
        <p:spPr>
          <a:xfrm>
            <a:off x="9954115" y="4134619"/>
            <a:ext cx="1097713" cy="3090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&gt;7,5</a:t>
            </a:r>
          </a:p>
        </p:txBody>
      </p:sp>
      <p:sp>
        <p:nvSpPr>
          <p:cNvPr id="41" name="TextBox 103">
            <a:extLst>
              <a:ext uri="{FF2B5EF4-FFF2-40B4-BE49-F238E27FC236}">
                <a16:creationId xmlns:a16="http://schemas.microsoft.com/office/drawing/2014/main" id="{ECD0CFF4-78D0-9D09-2689-ADE47BE8B00A}"/>
              </a:ext>
            </a:extLst>
          </p:cNvPr>
          <p:cNvSpPr txBox="1"/>
          <p:nvPr/>
        </p:nvSpPr>
        <p:spPr>
          <a:xfrm>
            <a:off x="9899229" y="4451542"/>
            <a:ext cx="1207484" cy="3090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5 a 7,5</a:t>
            </a:r>
          </a:p>
        </p:txBody>
      </p:sp>
      <p:sp>
        <p:nvSpPr>
          <p:cNvPr id="44" name="TextBox 104">
            <a:extLst>
              <a:ext uri="{FF2B5EF4-FFF2-40B4-BE49-F238E27FC236}">
                <a16:creationId xmlns:a16="http://schemas.microsoft.com/office/drawing/2014/main" id="{AD1FABBB-D5B5-A6B0-FE3E-E1613FE19838}"/>
              </a:ext>
            </a:extLst>
          </p:cNvPr>
          <p:cNvSpPr txBox="1"/>
          <p:nvPr/>
        </p:nvSpPr>
        <p:spPr>
          <a:xfrm>
            <a:off x="9954115" y="4768464"/>
            <a:ext cx="1097713" cy="3090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2,5 a 5</a:t>
            </a:r>
          </a:p>
        </p:txBody>
      </p:sp>
      <p:sp>
        <p:nvSpPr>
          <p:cNvPr id="45" name="TextBox 105">
            <a:extLst>
              <a:ext uri="{FF2B5EF4-FFF2-40B4-BE49-F238E27FC236}">
                <a16:creationId xmlns:a16="http://schemas.microsoft.com/office/drawing/2014/main" id="{0BBC3702-A34B-8F01-930F-D21F6535A0FD}"/>
              </a:ext>
            </a:extLst>
          </p:cNvPr>
          <p:cNvSpPr txBox="1"/>
          <p:nvPr/>
        </p:nvSpPr>
        <p:spPr>
          <a:xfrm>
            <a:off x="9954115" y="5085386"/>
            <a:ext cx="1097713" cy="3090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&lt;2,5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C13B209-3EAA-AA13-BC47-4247321EEA6D}"/>
              </a:ext>
            </a:extLst>
          </p:cNvPr>
          <p:cNvSpPr/>
          <p:nvPr/>
        </p:nvSpPr>
        <p:spPr>
          <a:xfrm>
            <a:off x="309321" y="1767492"/>
            <a:ext cx="3413597" cy="112811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0" rtlCol="0" anchor="ctr"/>
          <a:lstStyle/>
          <a:p>
            <a:pPr marL="0" marR="0" lvl="0" indent="0" algn="l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982" b="1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CONVERSION TRATTATIVE DIGITALE UNICA: </a:t>
            </a:r>
            <a:r>
              <a:rPr kumimoji="0" lang="it-IT" sz="2800" b="1" i="0" u="none" strike="noStrike" kern="1200" cap="all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highlight>
                  <a:srgbClr val="EBF3FB"/>
                </a:highlight>
                <a:uLnTx/>
                <a:uFillTx/>
                <a:latin typeface="Calibri"/>
                <a:ea typeface="+mn-ea"/>
                <a:cs typeface="+mn-cs"/>
              </a:rPr>
              <a:t>43%</a:t>
            </a:r>
            <a:endParaRPr kumimoji="0" lang="it-IT" sz="1982" b="1" i="0" u="none" strike="noStrike" kern="1200" cap="all" spc="0" normalizeH="0" baseline="0" noProof="0" dirty="0">
              <a:ln>
                <a:noFill/>
              </a:ln>
              <a:solidFill>
                <a:srgbClr val="0F3250"/>
              </a:solidFill>
              <a:effectLst/>
              <a:highlight>
                <a:srgbClr val="EBF3FB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DB2A0028-E14E-2525-C3E3-857C0283C6CD}"/>
              </a:ext>
            </a:extLst>
          </p:cNvPr>
          <p:cNvSpPr/>
          <p:nvPr/>
        </p:nvSpPr>
        <p:spPr>
          <a:xfrm rot="16200000">
            <a:off x="-888941" y="4738568"/>
            <a:ext cx="3219642" cy="778943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0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982" b="1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LIVELLO DIGITALIZZAZIONE</a:t>
            </a:r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EA4CA5B2-4CD9-40BD-F38C-8261EB3E3C3E}"/>
              </a:ext>
            </a:extLst>
          </p:cNvPr>
          <p:cNvGrpSpPr/>
          <p:nvPr/>
        </p:nvGrpSpPr>
        <p:grpSpPr>
          <a:xfrm>
            <a:off x="1055922" y="3556095"/>
            <a:ext cx="2612566" cy="3127338"/>
            <a:chOff x="1088574" y="3556093"/>
            <a:chExt cx="2612566" cy="3246577"/>
          </a:xfrm>
        </p:grpSpPr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44DB171C-7386-8D2B-AEC5-A08DA4018AEF}"/>
                </a:ext>
              </a:extLst>
            </p:cNvPr>
            <p:cNvSpPr/>
            <p:nvPr/>
          </p:nvSpPr>
          <p:spPr>
            <a:xfrm>
              <a:off x="1088574" y="3556093"/>
              <a:ext cx="2612566" cy="6772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0" rtlCol="0" anchor="ctr"/>
            <a:lstStyle/>
            <a:p>
              <a:pPr marL="0" marR="0" lvl="0" indent="0" algn="l" defTabSz="1007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982" b="1" i="0" u="none" strike="noStrike" kern="1200" cap="all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% Preventivi OMNICANALE: </a:t>
              </a:r>
              <a:r>
                <a:rPr kumimoji="0" lang="it-IT" sz="2400" b="1" i="0" u="none" strike="noStrike" kern="1200" cap="all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highlight>
                    <a:srgbClr val="EBF3FB"/>
                  </a:highlight>
                  <a:uLnTx/>
                  <a:uFillTx/>
                  <a:latin typeface="Calibri"/>
                  <a:ea typeface="+mn-ea"/>
                  <a:cs typeface="+mn-cs"/>
                </a:rPr>
                <a:t>62%</a:t>
              </a:r>
              <a:endParaRPr kumimoji="0" lang="it-IT" sz="1982" b="1" i="0" u="none" strike="noStrike" kern="1200" cap="all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highlight>
                  <a:srgbClr val="EBF3FB"/>
                </a:highligh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B7B4558D-C634-834B-1A25-F190C7E3828E}"/>
                </a:ext>
              </a:extLst>
            </p:cNvPr>
            <p:cNvSpPr/>
            <p:nvPr/>
          </p:nvSpPr>
          <p:spPr>
            <a:xfrm>
              <a:off x="1088574" y="4391723"/>
              <a:ext cx="2612566" cy="6772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0" rtlCol="0" anchor="ctr"/>
            <a:lstStyle/>
            <a:p>
              <a:pPr marL="0" marR="0" lvl="0" indent="0" algn="l" defTabSz="1007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982" b="1" i="0" u="none" strike="noStrike" kern="1200" cap="all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% registrazione area riservata: </a:t>
              </a:r>
              <a:r>
                <a:rPr kumimoji="0" lang="it-IT" sz="2400" b="1" i="0" u="none" strike="noStrike" kern="1200" cap="all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highlight>
                    <a:srgbClr val="EBF3FB"/>
                  </a:highlight>
                  <a:uLnTx/>
                  <a:uFillTx/>
                  <a:latin typeface="Calibri"/>
                  <a:ea typeface="+mn-ea"/>
                  <a:cs typeface="+mn-cs"/>
                </a:rPr>
                <a:t>71%</a:t>
              </a:r>
              <a:endParaRPr kumimoji="0" lang="it-IT" sz="1982" b="1" i="0" u="none" strike="noStrike" kern="1200" cap="all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highlight>
                  <a:srgbClr val="EBF3FB"/>
                </a:highligh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9E1FE104-B101-CEA8-1A9B-0B68FEBB9971}"/>
                </a:ext>
              </a:extLst>
            </p:cNvPr>
            <p:cNvSpPr/>
            <p:nvPr/>
          </p:nvSpPr>
          <p:spPr>
            <a:xfrm>
              <a:off x="1088574" y="5265185"/>
              <a:ext cx="2612566" cy="6772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0" rtlCol="0" anchor="ctr"/>
            <a:lstStyle/>
            <a:p>
              <a:pPr marL="0" marR="0" lvl="0" indent="0" algn="l" defTabSz="1007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982" b="1" i="0" u="none" strike="noStrike" kern="1200" cap="all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% penetrazione digitale: </a:t>
              </a:r>
              <a:r>
                <a:rPr kumimoji="0" lang="it-IT" sz="2400" b="1" i="0" u="none" strike="noStrike" kern="1200" cap="all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highlight>
                    <a:srgbClr val="EBF3FB"/>
                  </a:highlight>
                  <a:uLnTx/>
                  <a:uFillTx/>
                  <a:latin typeface="Calibri"/>
                  <a:ea typeface="+mn-ea"/>
                  <a:cs typeface="+mn-cs"/>
                </a:rPr>
                <a:t>58%</a:t>
              </a:r>
              <a:endParaRPr kumimoji="0" lang="it-IT" sz="1982" b="1" i="0" u="none" strike="noStrike" kern="1200" cap="all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highlight>
                  <a:srgbClr val="EBF3FB"/>
                </a:highligh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E0E76EE9-44FF-B4E5-6219-9007E79AD436}"/>
                </a:ext>
              </a:extLst>
            </p:cNvPr>
            <p:cNvSpPr/>
            <p:nvPr/>
          </p:nvSpPr>
          <p:spPr>
            <a:xfrm>
              <a:off x="1088574" y="6125425"/>
              <a:ext cx="2612566" cy="67724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0" rtlCol="0" anchor="ctr"/>
            <a:lstStyle/>
            <a:p>
              <a:pPr marL="0" marR="0" lvl="0" indent="0" algn="l" defTabSz="100702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982" b="1" i="0" u="none" strike="noStrike" kern="120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Tasso</a:t>
              </a:r>
              <a:r>
                <a:rPr lang="it-IT" sz="1982" b="1" cap="all" dirty="0">
                  <a:solidFill>
                    <a:srgbClr val="FFFFFF"/>
                  </a:solidFill>
                  <a:latin typeface="Calibri"/>
                </a:rPr>
                <a:t> DI</a:t>
              </a:r>
              <a:r>
                <a:rPr kumimoji="0" lang="it-IT" sz="1982" b="1" i="0" u="none" strike="noStrike" kern="1200" cap="all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contattabilità: </a:t>
              </a:r>
              <a:r>
                <a:rPr kumimoji="0" lang="it-IT" sz="2400" b="1" i="0" u="none" strike="noStrike" kern="1200" cap="all" spc="0" normalizeH="0" baseline="0" noProof="0" dirty="0">
                  <a:ln>
                    <a:noFill/>
                  </a:ln>
                  <a:solidFill>
                    <a:srgbClr val="0F3250"/>
                  </a:solidFill>
                  <a:effectLst/>
                  <a:highlight>
                    <a:srgbClr val="EBF3FB"/>
                  </a:highlight>
                  <a:uLnTx/>
                  <a:uFillTx/>
                  <a:latin typeface="Calibri"/>
                  <a:ea typeface="+mn-ea"/>
                  <a:cs typeface="+mn-cs"/>
                </a:rPr>
                <a:t>84%</a:t>
              </a:r>
              <a:endParaRPr kumimoji="0" lang="it-IT" sz="1982" b="1" i="0" u="none" strike="noStrike" kern="1200" cap="all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highlight>
                  <a:srgbClr val="EBF3FB"/>
                </a:highlight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Rettangolo 25">
            <a:extLst>
              <a:ext uri="{FF2B5EF4-FFF2-40B4-BE49-F238E27FC236}">
                <a16:creationId xmlns:a16="http://schemas.microsoft.com/office/drawing/2014/main" id="{5212471E-FD33-BA44-F107-E721B6F081FA}"/>
              </a:ext>
            </a:extLst>
          </p:cNvPr>
          <p:cNvSpPr/>
          <p:nvPr/>
        </p:nvSpPr>
        <p:spPr>
          <a:xfrm>
            <a:off x="4598029" y="2826824"/>
            <a:ext cx="1647176" cy="14844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7" name="Tabella 26">
            <a:extLst>
              <a:ext uri="{FF2B5EF4-FFF2-40B4-BE49-F238E27FC236}">
                <a16:creationId xmlns:a16="http://schemas.microsoft.com/office/drawing/2014/main" id="{D9D505AE-F990-156A-75C3-FCD41DDE1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491395"/>
              </p:ext>
            </p:extLst>
          </p:nvPr>
        </p:nvGraphicFramePr>
        <p:xfrm>
          <a:off x="4596312" y="3498470"/>
          <a:ext cx="1647176" cy="74775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24750">
                  <a:extLst>
                    <a:ext uri="{9D8B030D-6E8A-4147-A177-3AD203B41FA5}">
                      <a16:colId xmlns:a16="http://schemas.microsoft.com/office/drawing/2014/main" val="4071046451"/>
                    </a:ext>
                  </a:extLst>
                </a:gridCol>
                <a:gridCol w="573368">
                  <a:extLst>
                    <a:ext uri="{9D8B030D-6E8A-4147-A177-3AD203B41FA5}">
                      <a16:colId xmlns:a16="http://schemas.microsoft.com/office/drawing/2014/main" val="3443830689"/>
                    </a:ext>
                  </a:extLst>
                </a:gridCol>
                <a:gridCol w="549058">
                  <a:extLst>
                    <a:ext uri="{9D8B030D-6E8A-4147-A177-3AD203B41FA5}">
                      <a16:colId xmlns:a16="http://schemas.microsoft.com/office/drawing/2014/main" val="683528233"/>
                    </a:ext>
                  </a:extLst>
                </a:gridCol>
              </a:tblGrid>
              <a:tr h="107672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DA</a:t>
                      </a:r>
                      <a:endParaRPr lang="it-IT" sz="7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A (escl.)</a:t>
                      </a:r>
                      <a:endParaRPr lang="it-IT" sz="7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SCORE</a:t>
                      </a:r>
                      <a:endParaRPr lang="it-IT" sz="7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19647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it-I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8800927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30955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65%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33358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65%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75%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it-I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265660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75%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it-I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220696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it-I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91991"/>
                  </a:ext>
                </a:extLst>
              </a:tr>
            </a:tbl>
          </a:graphicData>
        </a:graphic>
      </p:graphicFrame>
      <p:graphicFrame>
        <p:nvGraphicFramePr>
          <p:cNvPr id="28" name="Tabella 27">
            <a:extLst>
              <a:ext uri="{FF2B5EF4-FFF2-40B4-BE49-F238E27FC236}">
                <a16:creationId xmlns:a16="http://schemas.microsoft.com/office/drawing/2014/main" id="{E920E888-4904-272A-D02F-6BF91E451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666620"/>
              </p:ext>
            </p:extLst>
          </p:nvPr>
        </p:nvGraphicFramePr>
        <p:xfrm>
          <a:off x="4596312" y="4303922"/>
          <a:ext cx="1647176" cy="74775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24750">
                  <a:extLst>
                    <a:ext uri="{9D8B030D-6E8A-4147-A177-3AD203B41FA5}">
                      <a16:colId xmlns:a16="http://schemas.microsoft.com/office/drawing/2014/main" val="4071046451"/>
                    </a:ext>
                  </a:extLst>
                </a:gridCol>
                <a:gridCol w="573368">
                  <a:extLst>
                    <a:ext uri="{9D8B030D-6E8A-4147-A177-3AD203B41FA5}">
                      <a16:colId xmlns:a16="http://schemas.microsoft.com/office/drawing/2014/main" val="3443830689"/>
                    </a:ext>
                  </a:extLst>
                </a:gridCol>
                <a:gridCol w="549058">
                  <a:extLst>
                    <a:ext uri="{9D8B030D-6E8A-4147-A177-3AD203B41FA5}">
                      <a16:colId xmlns:a16="http://schemas.microsoft.com/office/drawing/2014/main" val="683528233"/>
                    </a:ext>
                  </a:extLst>
                </a:gridCol>
              </a:tblGrid>
              <a:tr h="107672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DA</a:t>
                      </a:r>
                      <a:endParaRPr lang="it-IT" sz="7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A (escl.)</a:t>
                      </a:r>
                      <a:endParaRPr lang="it-IT" sz="7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SCORE</a:t>
                      </a:r>
                      <a:endParaRPr lang="it-IT" sz="7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19647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it-I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8800927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30955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65%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33358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65%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75%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it-I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265660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75%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it-I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220696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it-I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91991"/>
                  </a:ext>
                </a:extLst>
              </a:tr>
            </a:tbl>
          </a:graphicData>
        </a:graphic>
      </p:graphicFrame>
      <p:graphicFrame>
        <p:nvGraphicFramePr>
          <p:cNvPr id="30" name="Tabella 29">
            <a:extLst>
              <a:ext uri="{FF2B5EF4-FFF2-40B4-BE49-F238E27FC236}">
                <a16:creationId xmlns:a16="http://schemas.microsoft.com/office/drawing/2014/main" id="{6EB571B6-2A94-F18D-3068-8F74FCD38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15889"/>
              </p:ext>
            </p:extLst>
          </p:nvPr>
        </p:nvGraphicFramePr>
        <p:xfrm>
          <a:off x="4596312" y="5158139"/>
          <a:ext cx="1647176" cy="74775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24750">
                  <a:extLst>
                    <a:ext uri="{9D8B030D-6E8A-4147-A177-3AD203B41FA5}">
                      <a16:colId xmlns:a16="http://schemas.microsoft.com/office/drawing/2014/main" val="4071046451"/>
                    </a:ext>
                  </a:extLst>
                </a:gridCol>
                <a:gridCol w="573368">
                  <a:extLst>
                    <a:ext uri="{9D8B030D-6E8A-4147-A177-3AD203B41FA5}">
                      <a16:colId xmlns:a16="http://schemas.microsoft.com/office/drawing/2014/main" val="3443830689"/>
                    </a:ext>
                  </a:extLst>
                </a:gridCol>
                <a:gridCol w="549058">
                  <a:extLst>
                    <a:ext uri="{9D8B030D-6E8A-4147-A177-3AD203B41FA5}">
                      <a16:colId xmlns:a16="http://schemas.microsoft.com/office/drawing/2014/main" val="683528233"/>
                    </a:ext>
                  </a:extLst>
                </a:gridCol>
              </a:tblGrid>
              <a:tr h="107672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DA</a:t>
                      </a:r>
                      <a:endParaRPr lang="it-IT" sz="7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A (escl.)</a:t>
                      </a:r>
                      <a:endParaRPr lang="it-IT" sz="7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SCORE</a:t>
                      </a:r>
                      <a:endParaRPr lang="it-IT" sz="7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19647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it-I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8800927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30955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65%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33358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65%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75%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it-I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265660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75%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it-I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220696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it-I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91991"/>
                  </a:ext>
                </a:extLst>
              </a:tr>
            </a:tbl>
          </a:graphicData>
        </a:graphic>
      </p:graphicFrame>
      <p:graphicFrame>
        <p:nvGraphicFramePr>
          <p:cNvPr id="32" name="Tabella 31">
            <a:extLst>
              <a:ext uri="{FF2B5EF4-FFF2-40B4-BE49-F238E27FC236}">
                <a16:creationId xmlns:a16="http://schemas.microsoft.com/office/drawing/2014/main" id="{31AB65C8-D803-41DE-F2A4-0F230775A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18930"/>
              </p:ext>
            </p:extLst>
          </p:nvPr>
        </p:nvGraphicFramePr>
        <p:xfrm>
          <a:off x="4596312" y="5968089"/>
          <a:ext cx="1647176" cy="74775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24750">
                  <a:extLst>
                    <a:ext uri="{9D8B030D-6E8A-4147-A177-3AD203B41FA5}">
                      <a16:colId xmlns:a16="http://schemas.microsoft.com/office/drawing/2014/main" val="4071046451"/>
                    </a:ext>
                  </a:extLst>
                </a:gridCol>
                <a:gridCol w="573368">
                  <a:extLst>
                    <a:ext uri="{9D8B030D-6E8A-4147-A177-3AD203B41FA5}">
                      <a16:colId xmlns:a16="http://schemas.microsoft.com/office/drawing/2014/main" val="3443830689"/>
                    </a:ext>
                  </a:extLst>
                </a:gridCol>
                <a:gridCol w="549058">
                  <a:extLst>
                    <a:ext uri="{9D8B030D-6E8A-4147-A177-3AD203B41FA5}">
                      <a16:colId xmlns:a16="http://schemas.microsoft.com/office/drawing/2014/main" val="683528233"/>
                    </a:ext>
                  </a:extLst>
                </a:gridCol>
              </a:tblGrid>
              <a:tr h="107672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DA</a:t>
                      </a:r>
                      <a:endParaRPr lang="it-IT" sz="7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A (escl.)</a:t>
                      </a:r>
                      <a:endParaRPr lang="it-IT" sz="7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SCORE</a:t>
                      </a:r>
                      <a:endParaRPr lang="it-IT" sz="7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19647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it-I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8800927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30955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55%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65%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33358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65%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75%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it-I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265660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75%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it-I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220696"/>
                  </a:ext>
                </a:extLst>
              </a:tr>
              <a:tr h="98096"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90%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0" u="none" strike="noStrike">
                          <a:solidFill>
                            <a:srgbClr val="000000"/>
                          </a:solidFill>
                          <a:effectLst/>
                        </a:rPr>
                        <a:t>100%</a:t>
                      </a:r>
                      <a:endParaRPr lang="it-IT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700" b="1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it-IT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891991"/>
                  </a:ext>
                </a:extLst>
              </a:tr>
            </a:tbl>
          </a:graphicData>
        </a:graphic>
      </p:graphicFrame>
      <p:sp>
        <p:nvSpPr>
          <p:cNvPr id="33" name="Rettangolo 32">
            <a:extLst>
              <a:ext uri="{FF2B5EF4-FFF2-40B4-BE49-F238E27FC236}">
                <a16:creationId xmlns:a16="http://schemas.microsoft.com/office/drawing/2014/main" id="{AFE26260-4ECF-8F2C-5693-9D4414A12656}"/>
              </a:ext>
            </a:extLst>
          </p:cNvPr>
          <p:cNvSpPr/>
          <p:nvPr/>
        </p:nvSpPr>
        <p:spPr>
          <a:xfrm>
            <a:off x="4598029" y="3810045"/>
            <a:ext cx="1647176" cy="10445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36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7A22EC57-2C04-D0B1-ACAB-4B64EB47646C}"/>
              </a:ext>
            </a:extLst>
          </p:cNvPr>
          <p:cNvSpPr/>
          <p:nvPr/>
        </p:nvSpPr>
        <p:spPr>
          <a:xfrm>
            <a:off x="4598029" y="4725302"/>
            <a:ext cx="1647176" cy="10550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36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A1C1F0F3-DB57-C766-BEF9-07AA59D68EFD}"/>
              </a:ext>
            </a:extLst>
          </p:cNvPr>
          <p:cNvSpPr/>
          <p:nvPr/>
        </p:nvSpPr>
        <p:spPr>
          <a:xfrm>
            <a:off x="4598029" y="5477554"/>
            <a:ext cx="1647176" cy="9591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36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0F684CB7-3468-7F6A-195A-FE9117317DBF}"/>
              </a:ext>
            </a:extLst>
          </p:cNvPr>
          <p:cNvSpPr/>
          <p:nvPr/>
        </p:nvSpPr>
        <p:spPr>
          <a:xfrm>
            <a:off x="4598029" y="6507705"/>
            <a:ext cx="1647176" cy="9216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36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3" name="Freccia a destra 42">
            <a:extLst>
              <a:ext uri="{FF2B5EF4-FFF2-40B4-BE49-F238E27FC236}">
                <a16:creationId xmlns:a16="http://schemas.microsoft.com/office/drawing/2014/main" id="{C19B2518-05B6-99C9-E4DB-8554545DAC45}"/>
              </a:ext>
            </a:extLst>
          </p:cNvPr>
          <p:cNvSpPr/>
          <p:nvPr/>
        </p:nvSpPr>
        <p:spPr>
          <a:xfrm>
            <a:off x="3755575" y="2220687"/>
            <a:ext cx="797193" cy="323014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Freccia a destra 45">
            <a:extLst>
              <a:ext uri="{FF2B5EF4-FFF2-40B4-BE49-F238E27FC236}">
                <a16:creationId xmlns:a16="http://schemas.microsoft.com/office/drawing/2014/main" id="{5BC7AA67-607F-F302-01C2-E398DDB80027}"/>
              </a:ext>
            </a:extLst>
          </p:cNvPr>
          <p:cNvSpPr/>
          <p:nvPr/>
        </p:nvSpPr>
        <p:spPr>
          <a:xfrm>
            <a:off x="3755575" y="3726121"/>
            <a:ext cx="797193" cy="323014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Freccia a destra 46">
            <a:extLst>
              <a:ext uri="{FF2B5EF4-FFF2-40B4-BE49-F238E27FC236}">
                <a16:creationId xmlns:a16="http://schemas.microsoft.com/office/drawing/2014/main" id="{8486981D-183A-C94F-F387-67CB604DA32A}"/>
              </a:ext>
            </a:extLst>
          </p:cNvPr>
          <p:cNvSpPr/>
          <p:nvPr/>
        </p:nvSpPr>
        <p:spPr>
          <a:xfrm>
            <a:off x="3755575" y="4567767"/>
            <a:ext cx="797193" cy="323014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Freccia a destra 47">
            <a:extLst>
              <a:ext uri="{FF2B5EF4-FFF2-40B4-BE49-F238E27FC236}">
                <a16:creationId xmlns:a16="http://schemas.microsoft.com/office/drawing/2014/main" id="{3069776F-5525-0B7F-70CC-71BD8183F75B}"/>
              </a:ext>
            </a:extLst>
          </p:cNvPr>
          <p:cNvSpPr/>
          <p:nvPr/>
        </p:nvSpPr>
        <p:spPr>
          <a:xfrm>
            <a:off x="3755575" y="5317919"/>
            <a:ext cx="797193" cy="323014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Freccia a destra 48">
            <a:extLst>
              <a:ext uri="{FF2B5EF4-FFF2-40B4-BE49-F238E27FC236}">
                <a16:creationId xmlns:a16="http://schemas.microsoft.com/office/drawing/2014/main" id="{6DA59962-9DB5-AE84-5B32-98ABF0E23ABE}"/>
              </a:ext>
            </a:extLst>
          </p:cNvPr>
          <p:cNvSpPr/>
          <p:nvPr/>
        </p:nvSpPr>
        <p:spPr>
          <a:xfrm>
            <a:off x="3755575" y="6195740"/>
            <a:ext cx="797193" cy="323014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0" name="Gruppo 203">
            <a:extLst>
              <a:ext uri="{FF2B5EF4-FFF2-40B4-BE49-F238E27FC236}">
                <a16:creationId xmlns:a16="http://schemas.microsoft.com/office/drawing/2014/main" id="{9F9F60B6-5054-F2D8-85EA-FC43932F32FE}"/>
              </a:ext>
            </a:extLst>
          </p:cNvPr>
          <p:cNvGrpSpPr/>
          <p:nvPr/>
        </p:nvGrpSpPr>
        <p:grpSpPr>
          <a:xfrm>
            <a:off x="331408" y="1045033"/>
            <a:ext cx="3391510" cy="328613"/>
            <a:chOff x="1643063" y="1504137"/>
            <a:chExt cx="2462213" cy="364028"/>
          </a:xfrm>
          <a:noFill/>
        </p:grpSpPr>
        <p:sp>
          <p:nvSpPr>
            <p:cNvPr id="51" name="Rettangolo 204">
              <a:extLst>
                <a:ext uri="{FF2B5EF4-FFF2-40B4-BE49-F238E27FC236}">
                  <a16:creationId xmlns:a16="http://schemas.microsoft.com/office/drawing/2014/main" id="{C1955402-7BEC-AFC4-9466-D853B855DD05}"/>
                </a:ext>
              </a:extLst>
            </p:cNvPr>
            <p:cNvSpPr/>
            <p:nvPr/>
          </p:nvSpPr>
          <p:spPr>
            <a:xfrm>
              <a:off x="1643066" y="1504137"/>
              <a:ext cx="2462210" cy="3289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600" b="1" i="0" u="none" strike="noStrike" kern="1200" cap="none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KPI e performance registrata</a:t>
              </a:r>
            </a:p>
          </p:txBody>
        </p:sp>
        <p:cxnSp>
          <p:nvCxnSpPr>
            <p:cNvPr id="52" name="Connettore 1 12">
              <a:extLst>
                <a:ext uri="{FF2B5EF4-FFF2-40B4-BE49-F238E27FC236}">
                  <a16:creationId xmlns:a16="http://schemas.microsoft.com/office/drawing/2014/main" id="{B3F0C651-C594-8665-8B4B-D51E49206E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3063" y="1868165"/>
              <a:ext cx="2462213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uppo 203">
            <a:extLst>
              <a:ext uri="{FF2B5EF4-FFF2-40B4-BE49-F238E27FC236}">
                <a16:creationId xmlns:a16="http://schemas.microsoft.com/office/drawing/2014/main" id="{DB6FFBC1-A6D9-7E91-A5CB-512389BED063}"/>
              </a:ext>
            </a:extLst>
          </p:cNvPr>
          <p:cNvGrpSpPr/>
          <p:nvPr/>
        </p:nvGrpSpPr>
        <p:grpSpPr>
          <a:xfrm>
            <a:off x="4596312" y="1044954"/>
            <a:ext cx="1647176" cy="328692"/>
            <a:chOff x="1643063" y="1504137"/>
            <a:chExt cx="2462213" cy="364028"/>
          </a:xfrm>
          <a:noFill/>
        </p:grpSpPr>
        <p:sp>
          <p:nvSpPr>
            <p:cNvPr id="57" name="Rettangolo 204">
              <a:extLst>
                <a:ext uri="{FF2B5EF4-FFF2-40B4-BE49-F238E27FC236}">
                  <a16:creationId xmlns:a16="http://schemas.microsoft.com/office/drawing/2014/main" id="{5D35E9E6-C549-CB12-5FB0-CA44E0DF815D}"/>
                </a:ext>
              </a:extLst>
            </p:cNvPr>
            <p:cNvSpPr/>
            <p:nvPr/>
          </p:nvSpPr>
          <p:spPr>
            <a:xfrm>
              <a:off x="1643066" y="1504137"/>
              <a:ext cx="2462210" cy="3289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600" b="1" i="0" u="none" strike="noStrike" kern="1200" cap="none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Tab. transcodifica</a:t>
              </a:r>
            </a:p>
          </p:txBody>
        </p:sp>
        <p:cxnSp>
          <p:nvCxnSpPr>
            <p:cNvPr id="58" name="Connettore 1 12">
              <a:extLst>
                <a:ext uri="{FF2B5EF4-FFF2-40B4-BE49-F238E27FC236}">
                  <a16:creationId xmlns:a16="http://schemas.microsoft.com/office/drawing/2014/main" id="{E0C912AD-73B5-51B4-C645-08405E1308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3063" y="1868165"/>
              <a:ext cx="2462213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uppo 203">
            <a:extLst>
              <a:ext uri="{FF2B5EF4-FFF2-40B4-BE49-F238E27FC236}">
                <a16:creationId xmlns:a16="http://schemas.microsoft.com/office/drawing/2014/main" id="{51258AFF-CE4E-28AD-F8D2-A074FC26CE5F}"/>
              </a:ext>
            </a:extLst>
          </p:cNvPr>
          <p:cNvGrpSpPr/>
          <p:nvPr/>
        </p:nvGrpSpPr>
        <p:grpSpPr>
          <a:xfrm>
            <a:off x="6779673" y="1044954"/>
            <a:ext cx="1979615" cy="323162"/>
            <a:chOff x="1643063" y="1504137"/>
            <a:chExt cx="2462213" cy="364028"/>
          </a:xfrm>
          <a:noFill/>
        </p:grpSpPr>
        <p:sp>
          <p:nvSpPr>
            <p:cNvPr id="60" name="Rettangolo 204">
              <a:extLst>
                <a:ext uri="{FF2B5EF4-FFF2-40B4-BE49-F238E27FC236}">
                  <a16:creationId xmlns:a16="http://schemas.microsoft.com/office/drawing/2014/main" id="{D4C068F0-97EA-072B-454B-126D9982A6E8}"/>
                </a:ext>
              </a:extLst>
            </p:cNvPr>
            <p:cNvSpPr/>
            <p:nvPr/>
          </p:nvSpPr>
          <p:spPr>
            <a:xfrm>
              <a:off x="1643066" y="1504137"/>
              <a:ext cx="2462210" cy="3289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600" b="1" i="0" u="none" strike="noStrike" kern="1200" cap="none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Peso e score KPI</a:t>
              </a:r>
            </a:p>
          </p:txBody>
        </p:sp>
        <p:cxnSp>
          <p:nvCxnSpPr>
            <p:cNvPr id="61" name="Connettore 1 12">
              <a:extLst>
                <a:ext uri="{FF2B5EF4-FFF2-40B4-BE49-F238E27FC236}">
                  <a16:creationId xmlns:a16="http://schemas.microsoft.com/office/drawing/2014/main" id="{56947F5F-EE6C-D498-B388-7D9EF8482F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3063" y="1868165"/>
              <a:ext cx="2462213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uppo 203">
            <a:extLst>
              <a:ext uri="{FF2B5EF4-FFF2-40B4-BE49-F238E27FC236}">
                <a16:creationId xmlns:a16="http://schemas.microsoft.com/office/drawing/2014/main" id="{F720AB04-1C3A-93E3-610A-816B74547DCC}"/>
              </a:ext>
            </a:extLst>
          </p:cNvPr>
          <p:cNvGrpSpPr/>
          <p:nvPr/>
        </p:nvGrpSpPr>
        <p:grpSpPr>
          <a:xfrm>
            <a:off x="9295474" y="1044954"/>
            <a:ext cx="3726428" cy="323162"/>
            <a:chOff x="1643063" y="1504137"/>
            <a:chExt cx="2462213" cy="364028"/>
          </a:xfrm>
          <a:noFill/>
        </p:grpSpPr>
        <p:sp>
          <p:nvSpPr>
            <p:cNvPr id="63" name="Rettangolo 204">
              <a:extLst>
                <a:ext uri="{FF2B5EF4-FFF2-40B4-BE49-F238E27FC236}">
                  <a16:creationId xmlns:a16="http://schemas.microsoft.com/office/drawing/2014/main" id="{F461D521-86AC-00CB-7389-E0681F24E59E}"/>
                </a:ext>
              </a:extLst>
            </p:cNvPr>
            <p:cNvSpPr/>
            <p:nvPr/>
          </p:nvSpPr>
          <p:spPr>
            <a:xfrm>
              <a:off x="1643066" y="1504137"/>
              <a:ext cx="2462210" cy="32894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600" b="1" i="0" u="none" strike="noStrike" kern="1200" cap="none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Score complessivo e n. lead assegnabili</a:t>
              </a:r>
            </a:p>
          </p:txBody>
        </p:sp>
        <p:cxnSp>
          <p:nvCxnSpPr>
            <p:cNvPr id="64" name="Connettore 1 12">
              <a:extLst>
                <a:ext uri="{FF2B5EF4-FFF2-40B4-BE49-F238E27FC236}">
                  <a16:creationId xmlns:a16="http://schemas.microsoft.com/office/drawing/2014/main" id="{6C1DAAB9-83E4-A6C2-8924-6C62A35C20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3063" y="1868165"/>
              <a:ext cx="2462213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9D0FE588-012F-E149-D9A8-3358791F7972}"/>
              </a:ext>
            </a:extLst>
          </p:cNvPr>
          <p:cNvSpPr/>
          <p:nvPr/>
        </p:nvSpPr>
        <p:spPr>
          <a:xfrm>
            <a:off x="6779673" y="1985243"/>
            <a:ext cx="759350" cy="692607"/>
          </a:xfrm>
          <a:prstGeom prst="roundRect">
            <a:avLst>
              <a:gd name="adj" fmla="val 11411"/>
            </a:avLst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90%</a:t>
            </a: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268B86BB-D8EF-BC96-A4D7-A171377BDCAC}"/>
              </a:ext>
            </a:extLst>
          </p:cNvPr>
          <p:cNvSpPr/>
          <p:nvPr/>
        </p:nvSpPr>
        <p:spPr>
          <a:xfrm>
            <a:off x="7999938" y="1985243"/>
            <a:ext cx="759350" cy="692607"/>
          </a:xfrm>
          <a:prstGeom prst="roundRect">
            <a:avLst>
              <a:gd name="adj" fmla="val 1141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7,2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A42467C6-D9C0-CF03-9900-D64E4C365116}"/>
              </a:ext>
            </a:extLst>
          </p:cNvPr>
          <p:cNvSpPr txBox="1"/>
          <p:nvPr/>
        </p:nvSpPr>
        <p:spPr>
          <a:xfrm>
            <a:off x="6213082" y="2100714"/>
            <a:ext cx="598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A01B5454-4557-B507-9248-2389E0EC16C9}"/>
              </a:ext>
            </a:extLst>
          </p:cNvPr>
          <p:cNvSpPr txBox="1"/>
          <p:nvPr/>
        </p:nvSpPr>
        <p:spPr>
          <a:xfrm>
            <a:off x="7470122" y="2039159"/>
            <a:ext cx="598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</a:p>
        </p:txBody>
      </p:sp>
      <p:sp>
        <p:nvSpPr>
          <p:cNvPr id="72" name="Rettangolo con angoli arrotondati 71">
            <a:extLst>
              <a:ext uri="{FF2B5EF4-FFF2-40B4-BE49-F238E27FC236}">
                <a16:creationId xmlns:a16="http://schemas.microsoft.com/office/drawing/2014/main" id="{A19F3AAB-2621-C32A-795C-72F828FCDC52}"/>
              </a:ext>
            </a:extLst>
          </p:cNvPr>
          <p:cNvSpPr/>
          <p:nvPr/>
        </p:nvSpPr>
        <p:spPr>
          <a:xfrm>
            <a:off x="6779673" y="3543069"/>
            <a:ext cx="759350" cy="692607"/>
          </a:xfrm>
          <a:prstGeom prst="roundRect">
            <a:avLst>
              <a:gd name="adj" fmla="val 11411"/>
            </a:avLst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2,5%</a:t>
            </a:r>
          </a:p>
        </p:txBody>
      </p:sp>
      <p:sp>
        <p:nvSpPr>
          <p:cNvPr id="73" name="Rettangolo con angoli arrotondati 72">
            <a:extLst>
              <a:ext uri="{FF2B5EF4-FFF2-40B4-BE49-F238E27FC236}">
                <a16:creationId xmlns:a16="http://schemas.microsoft.com/office/drawing/2014/main" id="{29D5B4ED-B164-FF6D-73DF-CF5FE4528B24}"/>
              </a:ext>
            </a:extLst>
          </p:cNvPr>
          <p:cNvSpPr/>
          <p:nvPr/>
        </p:nvSpPr>
        <p:spPr>
          <a:xfrm>
            <a:off x="7999938" y="3543069"/>
            <a:ext cx="759350" cy="692607"/>
          </a:xfrm>
          <a:prstGeom prst="roundRect">
            <a:avLst>
              <a:gd name="adj" fmla="val 1141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0,175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2973BC69-7F99-C981-4E09-B59D469BB7AE}"/>
              </a:ext>
            </a:extLst>
          </p:cNvPr>
          <p:cNvSpPr txBox="1"/>
          <p:nvPr/>
        </p:nvSpPr>
        <p:spPr>
          <a:xfrm>
            <a:off x="6213082" y="3658540"/>
            <a:ext cx="598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04F37109-B3C1-219C-1383-4C82384D327D}"/>
              </a:ext>
            </a:extLst>
          </p:cNvPr>
          <p:cNvSpPr txBox="1"/>
          <p:nvPr/>
        </p:nvSpPr>
        <p:spPr>
          <a:xfrm>
            <a:off x="7470122" y="3596985"/>
            <a:ext cx="598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</a:p>
        </p:txBody>
      </p:sp>
      <p:sp>
        <p:nvSpPr>
          <p:cNvPr id="76" name="Rettangolo con angoli arrotondati 75">
            <a:extLst>
              <a:ext uri="{FF2B5EF4-FFF2-40B4-BE49-F238E27FC236}">
                <a16:creationId xmlns:a16="http://schemas.microsoft.com/office/drawing/2014/main" id="{C84F7691-E61F-EC33-5AC1-2BA401F9749E}"/>
              </a:ext>
            </a:extLst>
          </p:cNvPr>
          <p:cNvSpPr/>
          <p:nvPr/>
        </p:nvSpPr>
        <p:spPr>
          <a:xfrm>
            <a:off x="6779673" y="4359534"/>
            <a:ext cx="759350" cy="692607"/>
          </a:xfrm>
          <a:prstGeom prst="roundRect">
            <a:avLst>
              <a:gd name="adj" fmla="val 11411"/>
            </a:avLst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2,5%</a:t>
            </a:r>
          </a:p>
        </p:txBody>
      </p: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D8184DC5-4151-3897-15F0-405A2458E223}"/>
              </a:ext>
            </a:extLst>
          </p:cNvPr>
          <p:cNvSpPr/>
          <p:nvPr/>
        </p:nvSpPr>
        <p:spPr>
          <a:xfrm>
            <a:off x="7999938" y="4359534"/>
            <a:ext cx="759350" cy="692607"/>
          </a:xfrm>
          <a:prstGeom prst="roundRect">
            <a:avLst>
              <a:gd name="adj" fmla="val 1141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0,2</a:t>
            </a:r>
          </a:p>
        </p:txBody>
      </p:sp>
      <p:sp>
        <p:nvSpPr>
          <p:cNvPr id="78" name="CasellaDiTesto 77">
            <a:extLst>
              <a:ext uri="{FF2B5EF4-FFF2-40B4-BE49-F238E27FC236}">
                <a16:creationId xmlns:a16="http://schemas.microsoft.com/office/drawing/2014/main" id="{898A4A89-629A-957E-3466-B3BF5472B5F3}"/>
              </a:ext>
            </a:extLst>
          </p:cNvPr>
          <p:cNvSpPr txBox="1"/>
          <p:nvPr/>
        </p:nvSpPr>
        <p:spPr>
          <a:xfrm>
            <a:off x="6213082" y="4475005"/>
            <a:ext cx="598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DDF67B41-3356-C822-B11A-5411D257EC36}"/>
              </a:ext>
            </a:extLst>
          </p:cNvPr>
          <p:cNvSpPr txBox="1"/>
          <p:nvPr/>
        </p:nvSpPr>
        <p:spPr>
          <a:xfrm>
            <a:off x="7470122" y="4413450"/>
            <a:ext cx="598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</a:p>
        </p:txBody>
      </p:sp>
      <p:sp>
        <p:nvSpPr>
          <p:cNvPr id="80" name="Rettangolo con angoli arrotondati 79">
            <a:extLst>
              <a:ext uri="{FF2B5EF4-FFF2-40B4-BE49-F238E27FC236}">
                <a16:creationId xmlns:a16="http://schemas.microsoft.com/office/drawing/2014/main" id="{66157769-6310-A82B-EBF1-0C5C64F8B057}"/>
              </a:ext>
            </a:extLst>
          </p:cNvPr>
          <p:cNvSpPr/>
          <p:nvPr/>
        </p:nvSpPr>
        <p:spPr>
          <a:xfrm>
            <a:off x="6779673" y="5176389"/>
            <a:ext cx="759350" cy="692607"/>
          </a:xfrm>
          <a:prstGeom prst="roundRect">
            <a:avLst>
              <a:gd name="adj" fmla="val 11411"/>
            </a:avLst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2,5%</a:t>
            </a:r>
          </a:p>
        </p:txBody>
      </p:sp>
      <p:sp>
        <p:nvSpPr>
          <p:cNvPr id="81" name="Rettangolo con angoli arrotondati 80">
            <a:extLst>
              <a:ext uri="{FF2B5EF4-FFF2-40B4-BE49-F238E27FC236}">
                <a16:creationId xmlns:a16="http://schemas.microsoft.com/office/drawing/2014/main" id="{0D5431E2-E3EC-D515-EAAC-DD878E5D051B}"/>
              </a:ext>
            </a:extLst>
          </p:cNvPr>
          <p:cNvSpPr/>
          <p:nvPr/>
        </p:nvSpPr>
        <p:spPr>
          <a:xfrm>
            <a:off x="7999938" y="5176389"/>
            <a:ext cx="759350" cy="692607"/>
          </a:xfrm>
          <a:prstGeom prst="roundRect">
            <a:avLst>
              <a:gd name="adj" fmla="val 1141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0,175</a:t>
            </a:r>
          </a:p>
        </p:txBody>
      </p:sp>
      <p:sp>
        <p:nvSpPr>
          <p:cNvPr id="82" name="CasellaDiTesto 81">
            <a:extLst>
              <a:ext uri="{FF2B5EF4-FFF2-40B4-BE49-F238E27FC236}">
                <a16:creationId xmlns:a16="http://schemas.microsoft.com/office/drawing/2014/main" id="{196AACCE-3D3D-CC05-F491-7495E64E5C9C}"/>
              </a:ext>
            </a:extLst>
          </p:cNvPr>
          <p:cNvSpPr txBox="1"/>
          <p:nvPr/>
        </p:nvSpPr>
        <p:spPr>
          <a:xfrm>
            <a:off x="6213082" y="5291860"/>
            <a:ext cx="598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83" name="CasellaDiTesto 82">
            <a:extLst>
              <a:ext uri="{FF2B5EF4-FFF2-40B4-BE49-F238E27FC236}">
                <a16:creationId xmlns:a16="http://schemas.microsoft.com/office/drawing/2014/main" id="{2BE1F5CC-2DAA-A5C2-6C7F-476DADD818F6}"/>
              </a:ext>
            </a:extLst>
          </p:cNvPr>
          <p:cNvSpPr txBox="1"/>
          <p:nvPr/>
        </p:nvSpPr>
        <p:spPr>
          <a:xfrm>
            <a:off x="7470122" y="5230305"/>
            <a:ext cx="598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</a:p>
        </p:txBody>
      </p:sp>
      <p:sp>
        <p:nvSpPr>
          <p:cNvPr id="84" name="Rettangolo con angoli arrotondati 83">
            <a:extLst>
              <a:ext uri="{FF2B5EF4-FFF2-40B4-BE49-F238E27FC236}">
                <a16:creationId xmlns:a16="http://schemas.microsoft.com/office/drawing/2014/main" id="{EA651DF5-0D53-5677-EAE5-AC576012440E}"/>
              </a:ext>
            </a:extLst>
          </p:cNvPr>
          <p:cNvSpPr/>
          <p:nvPr/>
        </p:nvSpPr>
        <p:spPr>
          <a:xfrm>
            <a:off x="6779673" y="6013613"/>
            <a:ext cx="759350" cy="692607"/>
          </a:xfrm>
          <a:prstGeom prst="roundRect">
            <a:avLst>
              <a:gd name="adj" fmla="val 11411"/>
            </a:avLst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2,5%</a:t>
            </a:r>
          </a:p>
        </p:txBody>
      </p:sp>
      <p:sp>
        <p:nvSpPr>
          <p:cNvPr id="85" name="Rettangolo con angoli arrotondati 84">
            <a:extLst>
              <a:ext uri="{FF2B5EF4-FFF2-40B4-BE49-F238E27FC236}">
                <a16:creationId xmlns:a16="http://schemas.microsoft.com/office/drawing/2014/main" id="{12E9ABCD-AC22-CBE5-DE9C-28BD5C4700C7}"/>
              </a:ext>
            </a:extLst>
          </p:cNvPr>
          <p:cNvSpPr/>
          <p:nvPr/>
        </p:nvSpPr>
        <p:spPr>
          <a:xfrm>
            <a:off x="7999938" y="6013613"/>
            <a:ext cx="759350" cy="692607"/>
          </a:xfrm>
          <a:prstGeom prst="roundRect">
            <a:avLst>
              <a:gd name="adj" fmla="val 11411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1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0,225</a:t>
            </a:r>
          </a:p>
        </p:txBody>
      </p:sp>
      <p:sp>
        <p:nvSpPr>
          <p:cNvPr id="86" name="CasellaDiTesto 85">
            <a:extLst>
              <a:ext uri="{FF2B5EF4-FFF2-40B4-BE49-F238E27FC236}">
                <a16:creationId xmlns:a16="http://schemas.microsoft.com/office/drawing/2014/main" id="{87BA9327-E1FC-45E6-6A9C-E6E04DE3254A}"/>
              </a:ext>
            </a:extLst>
          </p:cNvPr>
          <p:cNvSpPr txBox="1"/>
          <p:nvPr/>
        </p:nvSpPr>
        <p:spPr>
          <a:xfrm>
            <a:off x="6213082" y="6129084"/>
            <a:ext cx="598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</a:t>
            </a:r>
          </a:p>
        </p:txBody>
      </p:sp>
      <p:sp>
        <p:nvSpPr>
          <p:cNvPr id="87" name="CasellaDiTesto 86">
            <a:extLst>
              <a:ext uri="{FF2B5EF4-FFF2-40B4-BE49-F238E27FC236}">
                <a16:creationId xmlns:a16="http://schemas.microsoft.com/office/drawing/2014/main" id="{198D95C8-1CD3-9806-6F53-00D48E8B706C}"/>
              </a:ext>
            </a:extLst>
          </p:cNvPr>
          <p:cNvSpPr txBox="1"/>
          <p:nvPr/>
        </p:nvSpPr>
        <p:spPr>
          <a:xfrm>
            <a:off x="7470122" y="6067529"/>
            <a:ext cx="598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</a:p>
        </p:txBody>
      </p:sp>
      <p:sp>
        <p:nvSpPr>
          <p:cNvPr id="88" name="CasellaDiTesto 87">
            <a:extLst>
              <a:ext uri="{FF2B5EF4-FFF2-40B4-BE49-F238E27FC236}">
                <a16:creationId xmlns:a16="http://schemas.microsoft.com/office/drawing/2014/main" id="{6411D83D-E3E5-86FB-B89E-6DDAB7360B79}"/>
              </a:ext>
            </a:extLst>
          </p:cNvPr>
          <p:cNvSpPr txBox="1"/>
          <p:nvPr/>
        </p:nvSpPr>
        <p:spPr>
          <a:xfrm>
            <a:off x="8080255" y="2789860"/>
            <a:ext cx="598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</a:p>
        </p:txBody>
      </p:sp>
      <p:sp>
        <p:nvSpPr>
          <p:cNvPr id="89" name="Triangolo isoscele 88">
            <a:extLst>
              <a:ext uri="{FF2B5EF4-FFF2-40B4-BE49-F238E27FC236}">
                <a16:creationId xmlns:a16="http://schemas.microsoft.com/office/drawing/2014/main" id="{5980FCF7-8B6F-CBCB-BD45-09490B215834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 rot="5400000">
            <a:off x="6779270" y="3988043"/>
            <a:ext cx="4752617" cy="747022"/>
          </a:xfrm>
          <a:prstGeom prst="triangle">
            <a:avLst>
              <a:gd name="adj" fmla="val 8055"/>
            </a:avLst>
          </a:prstGeom>
          <a:gradFill>
            <a:gsLst>
              <a:gs pos="0">
                <a:srgbClr val="BFBFBF"/>
              </a:gs>
              <a:gs pos="60000">
                <a:srgbClr val="EAEAEA"/>
              </a:gs>
              <a:gs pos="89000">
                <a:srgbClr val="B2B2B2">
                  <a:lumMod val="20000"/>
                  <a:lumOff val="80000"/>
                </a:srgbClr>
              </a:gs>
              <a:gs pos="40000">
                <a:srgbClr val="D5D5D5"/>
              </a:gs>
              <a:gs pos="100000">
                <a:srgbClr val="FFFFFF"/>
              </a:gs>
            </a:gsLst>
            <a:lin ang="5400000" scaled="1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" charset="0"/>
            </a:endParaRPr>
          </a:p>
        </p:txBody>
      </p:sp>
      <p:sp>
        <p:nvSpPr>
          <p:cNvPr id="11" name="TextBox 62">
            <a:extLst>
              <a:ext uri="{FF2B5EF4-FFF2-40B4-BE49-F238E27FC236}">
                <a16:creationId xmlns:a16="http://schemas.microsoft.com/office/drawing/2014/main" id="{F1A5E1B2-214C-DB00-0F70-00036E0BC2AF}"/>
              </a:ext>
            </a:extLst>
          </p:cNvPr>
          <p:cNvSpPr txBox="1"/>
          <p:nvPr/>
        </p:nvSpPr>
        <p:spPr>
          <a:xfrm>
            <a:off x="10916581" y="3787972"/>
            <a:ext cx="1668255" cy="323165"/>
          </a:xfrm>
          <a:prstGeom prst="rect">
            <a:avLst/>
          </a:prstGeom>
          <a:solidFill>
            <a:schemeClr val="tx2"/>
          </a:solidFill>
        </p:spPr>
        <p:txBody>
          <a:bodyPr wrap="square" lIns="0" r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LEAD ASSEGNABILI</a:t>
            </a:r>
          </a:p>
        </p:txBody>
      </p:sp>
      <p:sp>
        <p:nvSpPr>
          <p:cNvPr id="25" name="TextBox 110">
            <a:extLst>
              <a:ext uri="{FF2B5EF4-FFF2-40B4-BE49-F238E27FC236}">
                <a16:creationId xmlns:a16="http://schemas.microsoft.com/office/drawing/2014/main" id="{CB286F2C-0E7D-1780-A3AF-1F5CF2EA0350}"/>
              </a:ext>
            </a:extLst>
          </p:cNvPr>
          <p:cNvSpPr txBox="1"/>
          <p:nvPr/>
        </p:nvSpPr>
        <p:spPr>
          <a:xfrm>
            <a:off x="11338345" y="4135774"/>
            <a:ext cx="824728" cy="3090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31" name="TextBox 112">
            <a:extLst>
              <a:ext uri="{FF2B5EF4-FFF2-40B4-BE49-F238E27FC236}">
                <a16:creationId xmlns:a16="http://schemas.microsoft.com/office/drawing/2014/main" id="{8F40B50E-9401-C5D0-61F7-1F6236F06E87}"/>
              </a:ext>
            </a:extLst>
          </p:cNvPr>
          <p:cNvSpPr txBox="1"/>
          <p:nvPr/>
        </p:nvSpPr>
        <p:spPr>
          <a:xfrm>
            <a:off x="11338340" y="4451542"/>
            <a:ext cx="824721" cy="3090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36" name="TextBox 113">
            <a:extLst>
              <a:ext uri="{FF2B5EF4-FFF2-40B4-BE49-F238E27FC236}">
                <a16:creationId xmlns:a16="http://schemas.microsoft.com/office/drawing/2014/main" id="{92966999-61E0-44CD-D231-F38A6ACAA414}"/>
              </a:ext>
            </a:extLst>
          </p:cNvPr>
          <p:cNvSpPr txBox="1"/>
          <p:nvPr/>
        </p:nvSpPr>
        <p:spPr>
          <a:xfrm>
            <a:off x="11338340" y="4767917"/>
            <a:ext cx="824721" cy="3090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37" name="TextBox 114">
            <a:extLst>
              <a:ext uri="{FF2B5EF4-FFF2-40B4-BE49-F238E27FC236}">
                <a16:creationId xmlns:a16="http://schemas.microsoft.com/office/drawing/2014/main" id="{3BDF5146-6CAE-AA9C-0AD1-F43AD62436B3}"/>
              </a:ext>
            </a:extLst>
          </p:cNvPr>
          <p:cNvSpPr txBox="1"/>
          <p:nvPr/>
        </p:nvSpPr>
        <p:spPr>
          <a:xfrm>
            <a:off x="11338340" y="5085386"/>
            <a:ext cx="824721" cy="3090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91" name="Rettangolo 90">
            <a:extLst>
              <a:ext uri="{FF2B5EF4-FFF2-40B4-BE49-F238E27FC236}">
                <a16:creationId xmlns:a16="http://schemas.microsoft.com/office/drawing/2014/main" id="{A6DCD4FA-D54E-F0D9-FFB9-B3CC48248897}"/>
              </a:ext>
            </a:extLst>
          </p:cNvPr>
          <p:cNvSpPr/>
          <p:nvPr/>
        </p:nvSpPr>
        <p:spPr>
          <a:xfrm>
            <a:off x="9993119" y="4154659"/>
            <a:ext cx="2553941" cy="25879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0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875A031B-8890-97C7-585F-1EED61A59147}"/>
              </a:ext>
            </a:extLst>
          </p:cNvPr>
          <p:cNvSpPr/>
          <p:nvPr/>
        </p:nvSpPr>
        <p:spPr>
          <a:xfrm>
            <a:off x="9898603" y="1985243"/>
            <a:ext cx="759350" cy="692607"/>
          </a:xfrm>
          <a:prstGeom prst="roundRect">
            <a:avLst>
              <a:gd name="adj" fmla="val 1141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7" rIns="39647" rtlCol="0" anchor="ctr"/>
          <a:lstStyle/>
          <a:p>
            <a:pPr marL="0" marR="0" lvl="0" indent="0" algn="ctr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7,98</a:t>
            </a:r>
          </a:p>
        </p:txBody>
      </p:sp>
      <p:sp>
        <p:nvSpPr>
          <p:cNvPr id="94" name="CasellaDiTesto 93">
            <a:extLst>
              <a:ext uri="{FF2B5EF4-FFF2-40B4-BE49-F238E27FC236}">
                <a16:creationId xmlns:a16="http://schemas.microsoft.com/office/drawing/2014/main" id="{782DD49E-F338-084E-C17B-14C6C05124C0}"/>
              </a:ext>
            </a:extLst>
          </p:cNvPr>
          <p:cNvSpPr txBox="1"/>
          <p:nvPr/>
        </p:nvSpPr>
        <p:spPr>
          <a:xfrm>
            <a:off x="9394751" y="2039159"/>
            <a:ext cx="598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23E502D6-F014-AB36-5A63-F9C89326B74C}"/>
              </a:ext>
            </a:extLst>
          </p:cNvPr>
          <p:cNvSpPr txBox="1"/>
          <p:nvPr/>
        </p:nvSpPr>
        <p:spPr>
          <a:xfrm>
            <a:off x="10658072" y="1982420"/>
            <a:ext cx="23290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SCORE DI AGENZIA </a:t>
            </a:r>
            <a:r>
              <a:rPr kumimoji="0" lang="it-IT" sz="2000" b="1" i="0" u="sng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OTTOBRE '26</a:t>
            </a:r>
          </a:p>
        </p:txBody>
      </p:sp>
      <p:sp>
        <p:nvSpPr>
          <p:cNvPr id="96" name="Freccia a destra 95">
            <a:extLst>
              <a:ext uri="{FF2B5EF4-FFF2-40B4-BE49-F238E27FC236}">
                <a16:creationId xmlns:a16="http://schemas.microsoft.com/office/drawing/2014/main" id="{2A5867BC-A5DF-D751-9BB9-B2962B74802B}"/>
              </a:ext>
            </a:extLst>
          </p:cNvPr>
          <p:cNvSpPr/>
          <p:nvPr/>
        </p:nvSpPr>
        <p:spPr>
          <a:xfrm rot="5400000">
            <a:off x="9879681" y="3060812"/>
            <a:ext cx="797193" cy="323014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CasellaDiTesto 96">
            <a:extLst>
              <a:ext uri="{FF2B5EF4-FFF2-40B4-BE49-F238E27FC236}">
                <a16:creationId xmlns:a16="http://schemas.microsoft.com/office/drawing/2014/main" id="{3DE802C2-8DB6-D6BF-8EF3-8E33AED33DEC}"/>
              </a:ext>
            </a:extLst>
          </p:cNvPr>
          <p:cNvSpPr txBox="1"/>
          <p:nvPr/>
        </p:nvSpPr>
        <p:spPr>
          <a:xfrm>
            <a:off x="9458227" y="5695900"/>
            <a:ext cx="340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CONTATORI AGENZIA E PV COLLEGATI </a:t>
            </a:r>
            <a:r>
              <a:rPr kumimoji="0" lang="it-IT" sz="2000" b="1" i="0" u="sng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NOVEMBRE '26</a:t>
            </a:r>
            <a:endParaRPr kumimoji="0" lang="it-IT" sz="20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olo 4">
            <a:extLst>
              <a:ext uri="{FF2B5EF4-FFF2-40B4-BE49-F238E27FC236}">
                <a16:creationId xmlns:a16="http://schemas.microsoft.com/office/drawing/2014/main" id="{2A6C8E9D-D903-D51D-B29D-DC77E66E9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7" y="87404"/>
            <a:ext cx="12345233" cy="520054"/>
          </a:xfrm>
        </p:spPr>
        <p:txBody>
          <a:bodyPr vert="horz"/>
          <a:lstStyle/>
          <a:p>
            <a:pPr indent="447675"/>
            <a:r>
              <a:rPr lang="it-IT" sz="2800" dirty="0"/>
              <a:t> Score di agenzia Unica: </a:t>
            </a:r>
            <a:r>
              <a:rPr lang="it-IT" sz="2800" b="0" dirty="0"/>
              <a:t>Esempio di calcolo</a:t>
            </a:r>
          </a:p>
        </p:txBody>
      </p:sp>
      <p:grpSp>
        <p:nvGrpSpPr>
          <p:cNvPr id="2" name="Gruppo 37">
            <a:extLst>
              <a:ext uri="{FF2B5EF4-FFF2-40B4-BE49-F238E27FC236}">
                <a16:creationId xmlns:a16="http://schemas.microsoft.com/office/drawing/2014/main" id="{97EDBC73-1187-E320-CC09-15DA1E5717C5}"/>
              </a:ext>
            </a:extLst>
          </p:cNvPr>
          <p:cNvGrpSpPr/>
          <p:nvPr/>
        </p:nvGrpSpPr>
        <p:grpSpPr>
          <a:xfrm>
            <a:off x="29224" y="11552"/>
            <a:ext cx="688941" cy="687005"/>
            <a:chOff x="8138470" y="4165713"/>
            <a:chExt cx="517612" cy="516157"/>
          </a:xfrm>
        </p:grpSpPr>
        <p:sp>
          <p:nvSpPr>
            <p:cNvPr id="3" name="Ovale 9">
              <a:extLst>
                <a:ext uri="{FF2B5EF4-FFF2-40B4-BE49-F238E27FC236}">
                  <a16:creationId xmlns:a16="http://schemas.microsoft.com/office/drawing/2014/main" id="{D6C0E9C6-DE34-88EB-6A5D-BF304489FB8D}"/>
                </a:ext>
              </a:extLst>
            </p:cNvPr>
            <p:cNvSpPr/>
            <p:nvPr/>
          </p:nvSpPr>
          <p:spPr>
            <a:xfrm>
              <a:off x="8213856" y="4246814"/>
              <a:ext cx="255034" cy="255275"/>
            </a:xfrm>
            <a:prstGeom prst="ellipse">
              <a:avLst/>
            </a:prstGeom>
            <a:solidFill>
              <a:srgbClr val="0070C0"/>
            </a:solidFill>
            <a:ln w="3175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2400" b="1" kern="0">
                  <a:solidFill>
                    <a:schemeClr val="bg1"/>
                  </a:solidFill>
                  <a:latin typeface="Calibri"/>
                </a:rPr>
                <a:t>C</a:t>
              </a:r>
              <a:endParaRPr kumimoji="0" lang="it-IT" sz="24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Elemento grafico 26" descr="Lente di ingrandimento con riempimento a tinta unita">
              <a:extLst>
                <a:ext uri="{FF2B5EF4-FFF2-40B4-BE49-F238E27FC236}">
                  <a16:creationId xmlns:a16="http://schemas.microsoft.com/office/drawing/2014/main" id="{7B2950CA-AFC0-BCC6-DF0F-1F0BF096F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138470" y="4165713"/>
              <a:ext cx="517612" cy="5161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8889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D8D82-B1AF-7E69-F732-61709A40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110CEDA-E92E-4272-7C6D-6F0C2168C48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9158057"/>
              </p:ext>
            </p:extLst>
          </p:nvPr>
        </p:nvGraphicFramePr>
        <p:xfrm>
          <a:off x="14351" y="8738"/>
          <a:ext cx="1747" cy="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42" name="Diapositiva think-cell" r:id="rId5" imgW="424" imgH="425" progId="TCLayout.ActiveDocument.1">
                  <p:embed/>
                </p:oleObj>
              </mc:Choice>
              <mc:Fallback>
                <p:oleObj name="Diapositiva think-cell" r:id="rId5" imgW="424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110CEDA-E92E-4272-7C6D-6F0C2168C4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351" y="8738"/>
                        <a:ext cx="1747" cy="1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olo 4">
            <a:extLst>
              <a:ext uri="{FF2B5EF4-FFF2-40B4-BE49-F238E27FC236}">
                <a16:creationId xmlns:a16="http://schemas.microsoft.com/office/drawing/2014/main" id="{C8B4A39C-C2F3-F7AB-45CB-CB8ABDB6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8" y="87404"/>
            <a:ext cx="11345605" cy="520054"/>
          </a:xfrm>
        </p:spPr>
        <p:txBody>
          <a:bodyPr vert="horz"/>
          <a:lstStyle/>
          <a:p>
            <a:r>
              <a:rPr lang="it-IT" sz="2800"/>
              <a:t>ASSEGNAZIONE LEAD DIGITALI | Prossimi passi</a:t>
            </a:r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A7AA625A-CC71-1009-BBD1-4BD2BEFC1F28}"/>
              </a:ext>
            </a:extLst>
          </p:cNvPr>
          <p:cNvGrpSpPr/>
          <p:nvPr/>
        </p:nvGrpSpPr>
        <p:grpSpPr>
          <a:xfrm>
            <a:off x="966997" y="1419969"/>
            <a:ext cx="11505779" cy="4719736"/>
            <a:chOff x="1062368" y="1575047"/>
            <a:chExt cx="11505779" cy="4719736"/>
          </a:xfrm>
        </p:grpSpPr>
        <p:sp>
          <p:nvSpPr>
            <p:cNvPr id="2" name="Rettangolo 1">
              <a:extLst>
                <a:ext uri="{FF2B5EF4-FFF2-40B4-BE49-F238E27FC236}">
                  <a16:creationId xmlns:a16="http://schemas.microsoft.com/office/drawing/2014/main" id="{43243EC3-69D5-38F2-E820-60642AB25C0B}"/>
                </a:ext>
              </a:extLst>
            </p:cNvPr>
            <p:cNvSpPr/>
            <p:nvPr/>
          </p:nvSpPr>
          <p:spPr>
            <a:xfrm>
              <a:off x="1699949" y="1580979"/>
              <a:ext cx="10868198" cy="1280835"/>
            </a:xfrm>
            <a:prstGeom prst="rect">
              <a:avLst/>
            </a:prstGeom>
            <a:solidFill>
              <a:srgbClr val="EEF5F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08000" rtlCol="0" anchor="ctr"/>
            <a:lstStyle/>
            <a:p>
              <a:pPr marL="88900" defTabSz="836669">
                <a:spcAft>
                  <a:spcPts val="600"/>
                </a:spcAft>
              </a:pPr>
              <a:r>
                <a:rPr lang="it-IT" sz="2800" b="1" dirty="0">
                  <a:solidFill>
                    <a:srgbClr val="0F3250"/>
                  </a:solidFill>
                </a:rPr>
                <a:t>Feedback DSI per recepimento modello e ripresa confronti BSN-DSI</a:t>
              </a:r>
              <a:br>
                <a:rPr lang="it-IT" sz="2800" b="1" dirty="0">
                  <a:solidFill>
                    <a:srgbClr val="0F3250"/>
                  </a:solidFill>
                </a:rPr>
              </a:br>
              <a:r>
                <a:rPr lang="it-IT" sz="2800" b="1" dirty="0">
                  <a:solidFill>
                    <a:srgbClr val="0F3250"/>
                  </a:solidFill>
                </a:rPr>
                <a:t>per finalizzazione requisiti</a:t>
              </a:r>
              <a:endParaRPr lang="it-IT" sz="2800" dirty="0">
                <a:solidFill>
                  <a:srgbClr val="0F3250"/>
                </a:solidFill>
              </a:endParaRPr>
            </a:p>
          </p:txBody>
        </p:sp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77DA2F6F-9320-17AD-4DB5-1A13770FEC70}"/>
                </a:ext>
              </a:extLst>
            </p:cNvPr>
            <p:cNvSpPr/>
            <p:nvPr/>
          </p:nvSpPr>
          <p:spPr>
            <a:xfrm>
              <a:off x="1699949" y="3295190"/>
              <a:ext cx="10868198" cy="1280363"/>
            </a:xfrm>
            <a:prstGeom prst="rect">
              <a:avLst/>
            </a:prstGeom>
            <a:solidFill>
              <a:srgbClr val="EEF5F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08000" rtlCol="0" anchor="ctr"/>
            <a:lstStyle/>
            <a:p>
              <a:pPr marL="88900" defTabSz="836669">
                <a:spcAft>
                  <a:spcPts val="600"/>
                </a:spcAft>
              </a:pPr>
              <a:r>
                <a:rPr lang="it-IT" sz="2800" b="1" dirty="0">
                  <a:solidFill>
                    <a:srgbClr val="0F3250"/>
                  </a:solidFill>
                </a:rPr>
                <a:t>Approfondimento su KPI e monitoraggio performance</a:t>
              </a:r>
              <a:endParaRPr lang="it-IT" sz="2800" i="1" dirty="0">
                <a:solidFill>
                  <a:srgbClr val="0F3250"/>
                </a:solidFill>
              </a:endParaRPr>
            </a:p>
          </p:txBody>
        </p:sp>
        <p:cxnSp>
          <p:nvCxnSpPr>
            <p:cNvPr id="13" name="Connettore diritto 12">
              <a:extLst>
                <a:ext uri="{FF2B5EF4-FFF2-40B4-BE49-F238E27FC236}">
                  <a16:creationId xmlns:a16="http://schemas.microsoft.com/office/drawing/2014/main" id="{F5C3196D-4702-C99C-0754-616444AE9080}"/>
                </a:ext>
              </a:extLst>
            </p:cNvPr>
            <p:cNvCxnSpPr/>
            <p:nvPr/>
          </p:nvCxnSpPr>
          <p:spPr>
            <a:xfrm>
              <a:off x="1264900" y="1575047"/>
              <a:ext cx="0" cy="471973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D7BE4A21-42B9-12D2-04BB-E2F8B8E617EE}"/>
                </a:ext>
              </a:extLst>
            </p:cNvPr>
            <p:cNvSpPr/>
            <p:nvPr/>
          </p:nvSpPr>
          <p:spPr>
            <a:xfrm>
              <a:off x="1062368" y="2018991"/>
              <a:ext cx="405063" cy="40494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l"/>
              <a:endParaRPr lang="it-IT" sz="1400" b="1">
                <a:solidFill>
                  <a:schemeClr val="tx1"/>
                </a:solidFill>
              </a:endParaRPr>
            </a:p>
          </p:txBody>
        </p:sp>
        <p:sp>
          <p:nvSpPr>
            <p:cNvPr id="15" name="Ovale 14">
              <a:extLst>
                <a:ext uri="{FF2B5EF4-FFF2-40B4-BE49-F238E27FC236}">
                  <a16:creationId xmlns:a16="http://schemas.microsoft.com/office/drawing/2014/main" id="{70354A75-8B4B-BDB8-7792-22C9E1BF3833}"/>
                </a:ext>
              </a:extLst>
            </p:cNvPr>
            <p:cNvSpPr/>
            <p:nvPr/>
          </p:nvSpPr>
          <p:spPr>
            <a:xfrm>
              <a:off x="1062368" y="3732806"/>
              <a:ext cx="405063" cy="40494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l"/>
              <a:endParaRPr lang="it-IT" sz="1400" b="1">
                <a:solidFill>
                  <a:schemeClr val="tx1"/>
                </a:solidFill>
              </a:endParaRPr>
            </a:p>
          </p:txBody>
        </p:sp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4D8A4813-1086-7EDA-EA63-396B253C744E}"/>
                </a:ext>
              </a:extLst>
            </p:cNvPr>
            <p:cNvSpPr/>
            <p:nvPr/>
          </p:nvSpPr>
          <p:spPr>
            <a:xfrm>
              <a:off x="1699949" y="5008914"/>
              <a:ext cx="10868198" cy="1280363"/>
            </a:xfrm>
            <a:prstGeom prst="rect">
              <a:avLst/>
            </a:prstGeom>
            <a:solidFill>
              <a:srgbClr val="EEF5F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08000" rtlCol="0" anchor="ctr"/>
            <a:lstStyle/>
            <a:p>
              <a:pPr marL="88900" defTabSz="836669">
                <a:spcAft>
                  <a:spcPts val="600"/>
                </a:spcAft>
              </a:pPr>
              <a:r>
                <a:rPr lang="it-IT" sz="2800" b="1" dirty="0">
                  <a:solidFill>
                    <a:srgbClr val="0F3250"/>
                  </a:solidFill>
                </a:rPr>
                <a:t>Aggiornamento User Stories e approvazione requisiti BSN</a:t>
              </a:r>
              <a:endParaRPr lang="it-IT" sz="2800" i="1" dirty="0">
                <a:solidFill>
                  <a:srgbClr val="0F3250"/>
                </a:solidFill>
              </a:endParaRPr>
            </a:p>
          </p:txBody>
        </p:sp>
        <p:sp>
          <p:nvSpPr>
            <p:cNvPr id="7" name="Ovale 6">
              <a:extLst>
                <a:ext uri="{FF2B5EF4-FFF2-40B4-BE49-F238E27FC236}">
                  <a16:creationId xmlns:a16="http://schemas.microsoft.com/office/drawing/2014/main" id="{D4492665-4DF9-4E61-6DB7-E756018E95C8}"/>
                </a:ext>
              </a:extLst>
            </p:cNvPr>
            <p:cNvSpPr/>
            <p:nvPr/>
          </p:nvSpPr>
          <p:spPr>
            <a:xfrm>
              <a:off x="1062368" y="5446621"/>
              <a:ext cx="405063" cy="40494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l"/>
              <a:endParaRPr lang="it-IT" sz="1400" b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2060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20407-9069-02E0-F1C8-47DC8D1F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9EDE9F4-B08B-108B-0D21-CABEB2DC56E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3212936"/>
              </p:ext>
            </p:extLst>
          </p:nvPr>
        </p:nvGraphicFramePr>
        <p:xfrm>
          <a:off x="8142" y="5246"/>
          <a:ext cx="1749" cy="1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6" name="Diapositiva think-cell" r:id="rId4" imgW="384" imgH="385" progId="TCLayout.ActiveDocument.1">
                  <p:embed/>
                </p:oleObj>
              </mc:Choice>
              <mc:Fallback>
                <p:oleObj name="Diapositiva think-cell" r:id="rId4" imgW="384" imgH="38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9C8A836-F380-5FAF-1285-CF264D98C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142" y="5246"/>
                        <a:ext cx="1749" cy="17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59B5B2F-CC77-AFA7-686D-09B79956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713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98DEE5-5424-45CB-8336-3215AFBD0173}" type="slidenum">
              <a:rPr kumimoji="0" lang="it-IT" sz="117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713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it-IT" sz="117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4D8ABEF0-9B9E-CE5A-25D5-36CDEA574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298972"/>
              </p:ext>
            </p:extLst>
          </p:nvPr>
        </p:nvGraphicFramePr>
        <p:xfrm>
          <a:off x="413255" y="2016131"/>
          <a:ext cx="9378909" cy="42074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4997">
                  <a:extLst>
                    <a:ext uri="{9D8B030D-6E8A-4147-A177-3AD203B41FA5}">
                      <a16:colId xmlns:a16="http://schemas.microsoft.com/office/drawing/2014/main" val="4118237471"/>
                    </a:ext>
                  </a:extLst>
                </a:gridCol>
                <a:gridCol w="2038478">
                  <a:extLst>
                    <a:ext uri="{9D8B030D-6E8A-4147-A177-3AD203B41FA5}">
                      <a16:colId xmlns:a16="http://schemas.microsoft.com/office/drawing/2014/main" val="1862613121"/>
                    </a:ext>
                  </a:extLst>
                </a:gridCol>
                <a:gridCol w="2038478">
                  <a:extLst>
                    <a:ext uri="{9D8B030D-6E8A-4147-A177-3AD203B41FA5}">
                      <a16:colId xmlns:a16="http://schemas.microsoft.com/office/drawing/2014/main" val="3659539895"/>
                    </a:ext>
                  </a:extLst>
                </a:gridCol>
                <a:gridCol w="2038478">
                  <a:extLst>
                    <a:ext uri="{9D8B030D-6E8A-4147-A177-3AD203B41FA5}">
                      <a16:colId xmlns:a16="http://schemas.microsoft.com/office/drawing/2014/main" val="2035775131"/>
                    </a:ext>
                  </a:extLst>
                </a:gridCol>
                <a:gridCol w="2038478">
                  <a:extLst>
                    <a:ext uri="{9D8B030D-6E8A-4147-A177-3AD203B41FA5}">
                      <a16:colId xmlns:a16="http://schemas.microsoft.com/office/drawing/2014/main" val="870303890"/>
                    </a:ext>
                  </a:extLst>
                </a:gridCol>
              </a:tblGrid>
              <a:tr h="597676">
                <a:tc>
                  <a:txBody>
                    <a:bodyPr/>
                    <a:lstStyle/>
                    <a:p>
                      <a:endParaRPr lang="it-IT" sz="1600"/>
                    </a:p>
                  </a:txBody>
                  <a:tcPr marL="134145" marR="134145" marT="67073" marB="67073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CONVENZIONI NAZIONALI</a:t>
                      </a:r>
                    </a:p>
                  </a:txBody>
                  <a:tcPr marL="134145" marR="134145" marT="67073" marB="67073" anchor="ctr">
                    <a:solidFill>
                      <a:schemeClr val="accent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400" dirty="0"/>
                    </a:p>
                  </a:txBody>
                  <a:tcPr marL="91355" marR="91355" marT="45678" marB="45678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/>
                        <a:t>CONVENZIONI LOCALI</a:t>
                      </a:r>
                    </a:p>
                  </a:txBody>
                  <a:tcPr marL="134145" marR="134145" marT="67073" marB="67073" anchor="ctr">
                    <a:solidFill>
                      <a:schemeClr val="accent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400" dirty="0"/>
                    </a:p>
                  </a:txBody>
                  <a:tcPr marL="91355" marR="91355" marT="45678" marB="45678" anchor="ctr"/>
                </a:tc>
                <a:extLst>
                  <a:ext uri="{0D108BD9-81ED-4DB2-BD59-A6C34878D82A}">
                    <a16:rowId xmlns:a16="http://schemas.microsoft.com/office/drawing/2014/main" val="2267066948"/>
                  </a:ext>
                </a:extLst>
              </a:tr>
              <a:tr h="872631">
                <a:tc>
                  <a:txBody>
                    <a:bodyPr/>
                    <a:lstStyle/>
                    <a:p>
                      <a:endParaRPr lang="it-IT" sz="1600" b="1"/>
                    </a:p>
                  </a:txBody>
                  <a:tcPr marL="134145" marR="134145" marT="67073" marB="67073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 dirty="0">
                          <a:solidFill>
                            <a:schemeClr val="bg1"/>
                          </a:solidFill>
                        </a:rPr>
                        <a:t>AGENZIA ABILITATA ALLA VENDITA FISICA</a:t>
                      </a:r>
                    </a:p>
                  </a:txBody>
                  <a:tcPr marL="134145" marR="134145" marT="67073" marB="67073" anchor="ctr">
                    <a:solidFill>
                      <a:srgbClr val="0C32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 dirty="0">
                          <a:solidFill>
                            <a:schemeClr val="bg1"/>
                          </a:solidFill>
                        </a:rPr>
                        <a:t>AGENZIA ASSEGNATA DAI CANALI DIGITALI</a:t>
                      </a:r>
                    </a:p>
                  </a:txBody>
                  <a:tcPr marL="134145" marR="134145" marT="67073" marB="67073" anchor="ctr">
                    <a:solidFill>
                      <a:srgbClr val="0C32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 dirty="0">
                          <a:solidFill>
                            <a:schemeClr val="bg1"/>
                          </a:solidFill>
                        </a:rPr>
                        <a:t>AGENZIA ABILITATA ALLA VENDITA FISICA</a:t>
                      </a:r>
                    </a:p>
                  </a:txBody>
                  <a:tcPr marL="134145" marR="134145" marT="67073" marB="67073" anchor="ctr">
                    <a:solidFill>
                      <a:srgbClr val="0C325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b="1" dirty="0">
                          <a:solidFill>
                            <a:schemeClr val="bg1"/>
                          </a:solidFill>
                        </a:rPr>
                        <a:t>AGENZIA ASSEGNATA DAI CANALI DIGITALI</a:t>
                      </a:r>
                    </a:p>
                  </a:txBody>
                  <a:tcPr marL="134145" marR="134145" marT="67073" marB="67073" anchor="ctr">
                    <a:solidFill>
                      <a:srgbClr val="0C3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498139"/>
                  </a:ext>
                </a:extLst>
              </a:tr>
              <a:tr h="93976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>
                          <a:solidFill>
                            <a:schemeClr val="bg1"/>
                          </a:solidFill>
                        </a:rPr>
                        <a:t>Già cliente</a:t>
                      </a:r>
                    </a:p>
                  </a:txBody>
                  <a:tcPr marL="134145" marR="134145" marT="67073" marB="67073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Tutte le Agenzie</a:t>
                      </a:r>
                    </a:p>
                  </a:txBody>
                  <a:tcPr marL="134145" marR="134145" marT="67073" marB="67073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134145" marR="134145" marT="67073" marB="67073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dirty="0">
                          <a:solidFill>
                            <a:schemeClr val="tx1"/>
                          </a:solidFill>
                        </a:rPr>
                        <a:t>Agenzia di riferimento del Cliente</a:t>
                      </a:r>
                    </a:p>
                  </a:txBody>
                  <a:tcPr marL="134145" marR="134145" marT="67073" marB="67073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dirty="0">
                          <a:solidFill>
                            <a:schemeClr val="tx1"/>
                          </a:solidFill>
                        </a:rPr>
                        <a:t>Agenzia di riferimento del Cliente</a:t>
                      </a:r>
                    </a:p>
                  </a:txBody>
                  <a:tcPr marL="134145" marR="134145" marT="67073" marB="67073" anchor="ctr"/>
                </a:tc>
                <a:extLst>
                  <a:ext uri="{0D108BD9-81ED-4DB2-BD59-A6C34878D82A}">
                    <a16:rowId xmlns:a16="http://schemas.microsoft.com/office/drawing/2014/main" val="2430316840"/>
                  </a:ext>
                </a:extLst>
              </a:tr>
              <a:tr h="1745385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>
                          <a:solidFill>
                            <a:schemeClr val="bg1"/>
                          </a:solidFill>
                        </a:rPr>
                        <a:t>Prospect</a:t>
                      </a:r>
                    </a:p>
                  </a:txBody>
                  <a:tcPr marL="134145" marR="134145" marT="67073" marB="67073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/>
                        <a:t>Tutte le Agenzie</a:t>
                      </a:r>
                    </a:p>
                  </a:txBody>
                  <a:tcPr marL="134145" marR="134145" marT="67073" marB="67073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dirty="0"/>
                        <a:t>Proposta agenzia secondo modello di assegnazione</a:t>
                      </a:r>
                      <a:r>
                        <a:rPr lang="it-IT" sz="1800" dirty="0"/>
                        <a:t>, con possibilità del cliente di modificarla</a:t>
                      </a:r>
                    </a:p>
                  </a:txBody>
                  <a:tcPr marL="134145" marR="134145" marT="67073" marB="670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1" dirty="0"/>
                        <a:t>Agenzia «titolare della Convenzione»</a:t>
                      </a:r>
                      <a:endParaRPr lang="it-IT" sz="1800" dirty="0"/>
                    </a:p>
                  </a:txBody>
                  <a:tcPr marL="134145" marR="134145" marT="67073" marB="6707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b="1" dirty="0"/>
                        <a:t>Proposta agenzia «titolare della Convenzione»</a:t>
                      </a:r>
                      <a:r>
                        <a:rPr lang="it-IT" sz="1800" dirty="0"/>
                        <a:t>, con possibilità del cliente di modificarla</a:t>
                      </a:r>
                    </a:p>
                  </a:txBody>
                  <a:tcPr marL="134145" marR="134145" marT="67073" marB="67073" anchor="ctr"/>
                </a:tc>
                <a:extLst>
                  <a:ext uri="{0D108BD9-81ED-4DB2-BD59-A6C34878D82A}">
                    <a16:rowId xmlns:a16="http://schemas.microsoft.com/office/drawing/2014/main" val="2425282126"/>
                  </a:ext>
                </a:extLst>
              </a:tr>
            </a:tbl>
          </a:graphicData>
        </a:graphic>
      </p:graphicFrame>
      <p:sp>
        <p:nvSpPr>
          <p:cNvPr id="18" name="Rettangolo 17">
            <a:extLst>
              <a:ext uri="{FF2B5EF4-FFF2-40B4-BE49-F238E27FC236}">
                <a16:creationId xmlns:a16="http://schemas.microsoft.com/office/drawing/2014/main" id="{CE6AA38F-CAEA-242F-0A2F-4BD96DED0E2D}"/>
              </a:ext>
            </a:extLst>
          </p:cNvPr>
          <p:cNvSpPr/>
          <p:nvPr/>
        </p:nvSpPr>
        <p:spPr>
          <a:xfrm>
            <a:off x="7738290" y="4494628"/>
            <a:ext cx="2053874" cy="1672685"/>
          </a:xfrm>
          <a:prstGeom prst="rect">
            <a:avLst/>
          </a:prstGeom>
          <a:noFill/>
          <a:ln w="571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713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64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igura a mano libera: forma 19">
            <a:extLst>
              <a:ext uri="{FF2B5EF4-FFF2-40B4-BE49-F238E27FC236}">
                <a16:creationId xmlns:a16="http://schemas.microsoft.com/office/drawing/2014/main" id="{47CF05DF-D8F7-2A0A-5450-609B591F2B95}"/>
              </a:ext>
            </a:extLst>
          </p:cNvPr>
          <p:cNvSpPr/>
          <p:nvPr/>
        </p:nvSpPr>
        <p:spPr>
          <a:xfrm>
            <a:off x="5684416" y="2601471"/>
            <a:ext cx="4107748" cy="3565842"/>
          </a:xfrm>
          <a:custGeom>
            <a:avLst/>
            <a:gdLst>
              <a:gd name="connsiteX0" fmla="*/ 1356102 w 2797444"/>
              <a:gd name="connsiteY0" fmla="*/ 0 h 2428397"/>
              <a:gd name="connsiteX1" fmla="*/ 2797444 w 2797444"/>
              <a:gd name="connsiteY1" fmla="*/ 0 h 2428397"/>
              <a:gd name="connsiteX2" fmla="*/ 2797444 w 2797444"/>
              <a:gd name="connsiteY2" fmla="*/ 1255363 h 2428397"/>
              <a:gd name="connsiteX3" fmla="*/ 1356102 w 2797444"/>
              <a:gd name="connsiteY3" fmla="*/ 1255363 h 2428397"/>
              <a:gd name="connsiteX4" fmla="*/ 1356102 w 2797444"/>
              <a:gd name="connsiteY4" fmla="*/ 2428397 h 2428397"/>
              <a:gd name="connsiteX5" fmla="*/ 0 w 2797444"/>
              <a:gd name="connsiteY5" fmla="*/ 2428397 h 2428397"/>
              <a:gd name="connsiteX6" fmla="*/ 0 w 2797444"/>
              <a:gd name="connsiteY6" fmla="*/ 2912 h 2428397"/>
              <a:gd name="connsiteX7" fmla="*/ 1356102 w 2797444"/>
              <a:gd name="connsiteY7" fmla="*/ 2912 h 2428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97444" h="2428397">
                <a:moveTo>
                  <a:pt x="1356102" y="0"/>
                </a:moveTo>
                <a:lnTo>
                  <a:pt x="2797444" y="0"/>
                </a:lnTo>
                <a:lnTo>
                  <a:pt x="2797444" y="1255363"/>
                </a:lnTo>
                <a:lnTo>
                  <a:pt x="1356102" y="1255363"/>
                </a:lnTo>
                <a:lnTo>
                  <a:pt x="1356102" y="2428397"/>
                </a:lnTo>
                <a:lnTo>
                  <a:pt x="0" y="2428397"/>
                </a:lnTo>
                <a:lnTo>
                  <a:pt x="0" y="2912"/>
                </a:lnTo>
                <a:lnTo>
                  <a:pt x="1356102" y="2912"/>
                </a:lnTo>
                <a:close/>
              </a:path>
            </a:pathLst>
          </a:custGeom>
          <a:noFill/>
          <a:ln w="571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713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264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946BBB4-F708-8A55-4D66-2537AACB61BD}"/>
              </a:ext>
            </a:extLst>
          </p:cNvPr>
          <p:cNvSpPr txBox="1"/>
          <p:nvPr/>
        </p:nvSpPr>
        <p:spPr>
          <a:xfrm>
            <a:off x="5701486" y="6167313"/>
            <a:ext cx="1854745" cy="566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713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42" b="1" i="0" u="none" strike="noStrike" kern="1200" cap="none" spc="0" normalizeH="0" baseline="0" noProof="0" dirty="0">
                <a:ln>
                  <a:noFill/>
                </a:ln>
                <a:solidFill>
                  <a:srgbClr val="329646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Nessuna variazione di processo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0442A4B-CEEE-E780-781B-ECD0A6877E44}"/>
              </a:ext>
            </a:extLst>
          </p:cNvPr>
          <p:cNvSpPr txBox="1"/>
          <p:nvPr/>
        </p:nvSpPr>
        <p:spPr>
          <a:xfrm>
            <a:off x="7837854" y="6167313"/>
            <a:ext cx="1854745" cy="804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713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42" b="1" i="0" u="none" strike="noStrike" kern="1200" cap="none" spc="0" normalizeH="0" baseline="0" noProof="0" dirty="0">
                <a:ln>
                  <a:noFill/>
                </a:ln>
                <a:solidFill>
                  <a:srgbClr val="BE0F19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«Deroga» al processo di lead </a:t>
            </a:r>
            <a:r>
              <a:rPr kumimoji="0" lang="it-IT" sz="1542" b="1" i="0" u="none" strike="noStrike" kern="1200" cap="none" spc="0" normalizeH="0" baseline="0" noProof="0" dirty="0" err="1">
                <a:ln>
                  <a:noFill/>
                </a:ln>
                <a:solidFill>
                  <a:srgbClr val="BE0F19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distribution</a:t>
            </a:r>
            <a:endParaRPr kumimoji="0" lang="it-IT" sz="1542" b="1" i="0" u="none" strike="noStrike" kern="1200" cap="none" spc="0" normalizeH="0" baseline="0" noProof="0" dirty="0">
              <a:ln>
                <a:noFill/>
              </a:ln>
              <a:solidFill>
                <a:srgbClr val="BE0F19">
                  <a:lumMod val="60000"/>
                  <a:lumOff val="4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2C87166C-B83B-AA7C-1478-E8D7FCD06248}"/>
              </a:ext>
            </a:extLst>
          </p:cNvPr>
          <p:cNvSpPr/>
          <p:nvPr/>
        </p:nvSpPr>
        <p:spPr>
          <a:xfrm>
            <a:off x="261785" y="846846"/>
            <a:ext cx="12783290" cy="8766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145" tIns="67073" rIns="134145" bIns="67073" rtlCol="0" anchor="ctr"/>
          <a:lstStyle/>
          <a:p>
            <a:pPr marL="0" marR="0" lvl="0" indent="0" algn="l" defTabSz="10070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762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La Direzione presuppone la centralità dell’Agenzia «titolare della convenzione» per preservarne l’attivazione commerciale, pertanto da Canale Digitale il </a:t>
            </a:r>
            <a:r>
              <a:rPr kumimoji="0" lang="it-IT" sz="1762" b="1" i="0" u="none" strike="noStrike" kern="1200" cap="none" spc="0" normalizeH="0" baseline="0" noProof="0" dirty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siste</a:t>
            </a:r>
            <a:r>
              <a:rPr lang="it-IT" sz="1762" b="1" dirty="0">
                <a:solidFill>
                  <a:srgbClr val="0F3250"/>
                </a:solidFill>
                <a:latin typeface="Calibri"/>
                <a:ea typeface="Calibri"/>
                <a:cs typeface="Calibri"/>
              </a:rPr>
              <a:t>ma proporrà tali Agenzie </a:t>
            </a:r>
            <a:r>
              <a:rPr kumimoji="0" lang="it-IT" sz="1762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al Cliente che, comunque, potrà sceglierne una differente come nel modello standard di lead </a:t>
            </a:r>
            <a:r>
              <a:rPr kumimoji="0" lang="it-IT" sz="1762" b="1" i="0" u="none" strike="noStrike" kern="1200" cap="none" spc="0" normalizeH="0" baseline="0" noProof="0" dirty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distribution</a:t>
            </a:r>
            <a:endParaRPr kumimoji="0" lang="it-IT" sz="1762" b="1" i="0" u="none" strike="noStrike" kern="1200" cap="none" spc="0" normalizeH="0" baseline="0" noProof="0" dirty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BB4CAE2E-701C-6348-DAB7-211C555E1A29}"/>
              </a:ext>
            </a:extLst>
          </p:cNvPr>
          <p:cNvSpPr txBox="1"/>
          <p:nvPr/>
        </p:nvSpPr>
        <p:spPr>
          <a:xfrm>
            <a:off x="10115509" y="2263514"/>
            <a:ext cx="2756449" cy="3577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1757" marR="0" lvl="0" indent="-251757" algn="l" defTabSz="671352" rtl="0" eaLnBrk="1" fontAlgn="auto" latinLnBrk="0" hangingPunct="1">
              <a:lnSpc>
                <a:spcPct val="100000"/>
              </a:lnSpc>
              <a:spcBef>
                <a:spcPts val="1762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î"/>
              <a:tabLst/>
              <a:defRPr/>
            </a:pPr>
            <a:r>
              <a:rPr kumimoji="0" lang="it-IT" sz="1762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Nessun impatto sul modello provvigionale: </a:t>
            </a:r>
            <a:r>
              <a:rPr kumimoji="0" lang="it-IT" sz="1762" b="0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l’Agenzia «Titolare» beneficia in via prioritaria dei canali digitali traendone vantaggio economico</a:t>
            </a:r>
          </a:p>
          <a:p>
            <a:pPr marL="251757" marR="0" lvl="0" indent="-251757" algn="l" defTabSz="671352" rtl="0" eaLnBrk="1" fontAlgn="auto" latinLnBrk="0" hangingPunct="1">
              <a:lnSpc>
                <a:spcPct val="100000"/>
              </a:lnSpc>
              <a:spcBef>
                <a:spcPts val="1762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î"/>
              <a:tabLst/>
              <a:defRPr/>
            </a:pPr>
            <a:r>
              <a:rPr kumimoji="0" lang="it-IT" sz="1762" b="0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 sviluppare la </a:t>
            </a:r>
            <a:r>
              <a:rPr kumimoji="0" lang="it-IT" sz="1762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«deroga di galleggiamento» </a:t>
            </a:r>
            <a:r>
              <a:rPr kumimoji="0" lang="it-IT" sz="1762" b="0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rispetto al modello di distribuzione geografico o </a:t>
            </a:r>
            <a:r>
              <a:rPr kumimoji="0" lang="it-IT" sz="1762" b="0" i="0" u="none" strike="noStrike" kern="1200" cap="none" spc="0" normalizeH="0" baseline="0" noProof="0" dirty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geomeritocratico</a:t>
            </a:r>
            <a:endParaRPr kumimoji="0" lang="it-IT" sz="1762" b="0" i="0" u="none" strike="noStrike" kern="1200" cap="none" spc="0" normalizeH="0" baseline="0" noProof="0" dirty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olo 4">
            <a:extLst>
              <a:ext uri="{FF2B5EF4-FFF2-40B4-BE49-F238E27FC236}">
                <a16:creationId xmlns:a16="http://schemas.microsoft.com/office/drawing/2014/main" id="{EC31A199-9625-A9DC-0EE8-6FF56EB24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28" y="87404"/>
            <a:ext cx="12055941" cy="520054"/>
          </a:xfrm>
        </p:spPr>
        <p:txBody>
          <a:bodyPr vert="horz"/>
          <a:lstStyle/>
          <a:p>
            <a:pPr indent="450850"/>
            <a:r>
              <a:rPr lang="it-IT" sz="2800" dirty="0"/>
              <a:t>LOGICHE DI ASSEGNAZIONE | Deroghe al modello: </a:t>
            </a:r>
            <a:r>
              <a:rPr lang="it-IT" sz="2800" b="0" dirty="0"/>
              <a:t>Convenzioni locali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F507553-32FD-5AB0-F305-D947D3CBF2FD}"/>
              </a:ext>
            </a:extLst>
          </p:cNvPr>
          <p:cNvSpPr/>
          <p:nvPr/>
        </p:nvSpPr>
        <p:spPr>
          <a:xfrm>
            <a:off x="116539" y="127320"/>
            <a:ext cx="367807" cy="439410"/>
          </a:xfrm>
          <a:prstGeom prst="rect">
            <a:avLst/>
          </a:prstGeom>
          <a:solidFill>
            <a:srgbClr val="EBF3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48236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C53CE-B55F-D251-A6B0-D31ED4F6E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87623BE-78FC-16E2-BAD5-87BA20ADD9C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4351" y="8738"/>
          <a:ext cx="1747" cy="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0" name="Diapositiva think-cell" r:id="rId5" imgW="424" imgH="425" progId="TCLayout.ActiveDocument.1">
                  <p:embed/>
                </p:oleObj>
              </mc:Choice>
              <mc:Fallback>
                <p:oleObj name="Diapositiva think-cell" r:id="rId5" imgW="424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7623BE-78FC-16E2-BAD5-87BA20ADD9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351" y="8738"/>
                        <a:ext cx="1747" cy="1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DC97AF4E-8C13-619B-3434-CEE2074981B7}"/>
              </a:ext>
            </a:extLst>
          </p:cNvPr>
          <p:cNvSpPr txBox="1"/>
          <p:nvPr/>
        </p:nvSpPr>
        <p:spPr>
          <a:xfrm>
            <a:off x="500197" y="5046893"/>
            <a:ext cx="12520661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90170" lvl="0">
              <a:defRPr/>
            </a:pPr>
            <a:r>
              <a:rPr lang="it-IT" sz="2400" b="1" dirty="0">
                <a:solidFill>
                  <a:srgbClr val="0F32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PROCESSO TARGET SUPERVISIONATO DALLA RETE TERRITORIALE FUNZIONALE AD </a:t>
            </a:r>
            <a:r>
              <a:rPr lang="it-IT" sz="2400" b="1" u="sng" dirty="0">
                <a:solidFill>
                  <a:srgbClr val="0F32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AUMENTARE LA CAPILLARITÀ DELLA COMPAGNIA SUL TERRITORIO</a:t>
            </a:r>
            <a:r>
              <a:rPr lang="it-IT" sz="2400" b="1" dirty="0">
                <a:solidFill>
                  <a:srgbClr val="0F32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i="1" dirty="0">
                <a:solidFill>
                  <a:srgbClr val="0F32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(CA. 4.800 SUBAGENZIE ATTIVABILI)</a:t>
            </a:r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09A21743-3DA2-3CDD-9048-4C403495D048}"/>
              </a:ext>
            </a:extLst>
          </p:cNvPr>
          <p:cNvGrpSpPr/>
          <p:nvPr/>
        </p:nvGrpSpPr>
        <p:grpSpPr>
          <a:xfrm>
            <a:off x="603073" y="3491635"/>
            <a:ext cx="2745242" cy="664262"/>
            <a:chOff x="786165" y="3856477"/>
            <a:chExt cx="2460625" cy="677613"/>
          </a:xfrm>
        </p:grpSpPr>
        <p:pic>
          <p:nvPicPr>
            <p:cNvPr id="103" name="Immagine 102">
              <a:extLst>
                <a:ext uri="{FF2B5EF4-FFF2-40B4-BE49-F238E27FC236}">
                  <a16:creationId xmlns:a16="http://schemas.microsoft.com/office/drawing/2014/main" id="{14E610C6-0D20-1D1E-ED0B-519116EBB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46" t="15618" r="59745" b="81035"/>
            <a:stretch>
              <a:fillRect/>
            </a:stretch>
          </p:blipFill>
          <p:spPr bwMode="auto">
            <a:xfrm>
              <a:off x="786165" y="3856477"/>
              <a:ext cx="2460625" cy="3317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Immagine 103">
              <a:extLst>
                <a:ext uri="{FF2B5EF4-FFF2-40B4-BE49-F238E27FC236}">
                  <a16:creationId xmlns:a16="http://schemas.microsoft.com/office/drawing/2014/main" id="{12EC3D39-878D-9357-FB9E-31325D7F5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65" t="69268" r="63715" b="27334"/>
            <a:stretch>
              <a:fillRect/>
            </a:stretch>
          </p:blipFill>
          <p:spPr bwMode="auto">
            <a:xfrm>
              <a:off x="786165" y="4202768"/>
              <a:ext cx="2460422" cy="33132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6" name="Straight Connector 2">
            <a:extLst>
              <a:ext uri="{FF2B5EF4-FFF2-40B4-BE49-F238E27FC236}">
                <a16:creationId xmlns:a16="http://schemas.microsoft.com/office/drawing/2014/main" id="{6E2C0B38-2E38-8756-6EFC-D38F08C84132}"/>
              </a:ext>
            </a:extLst>
          </p:cNvPr>
          <p:cNvCxnSpPr>
            <a:cxnSpLocks/>
          </p:cNvCxnSpPr>
          <p:nvPr/>
        </p:nvCxnSpPr>
        <p:spPr>
          <a:xfrm flipV="1">
            <a:off x="4053201" y="3710681"/>
            <a:ext cx="7553823" cy="0"/>
          </a:xfrm>
          <a:prstGeom prst="line">
            <a:avLst/>
          </a:prstGeom>
          <a:ln w="292100">
            <a:solidFill>
              <a:srgbClr val="40404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130">
            <a:extLst>
              <a:ext uri="{FF2B5EF4-FFF2-40B4-BE49-F238E27FC236}">
                <a16:creationId xmlns:a16="http://schemas.microsoft.com/office/drawing/2014/main" id="{8A32C587-085F-1896-F13D-44406D6E8447}"/>
              </a:ext>
            </a:extLst>
          </p:cNvPr>
          <p:cNvCxnSpPr>
            <a:cxnSpLocks/>
          </p:cNvCxnSpPr>
          <p:nvPr/>
        </p:nvCxnSpPr>
        <p:spPr>
          <a:xfrm flipV="1">
            <a:off x="4088652" y="3710681"/>
            <a:ext cx="7479033" cy="13420"/>
          </a:xfrm>
          <a:prstGeom prst="line">
            <a:avLst/>
          </a:prstGeom>
          <a:ln w="25400">
            <a:solidFill>
              <a:srgbClr val="F2F2F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43">
            <a:extLst>
              <a:ext uri="{FF2B5EF4-FFF2-40B4-BE49-F238E27FC236}">
                <a16:creationId xmlns:a16="http://schemas.microsoft.com/office/drawing/2014/main" id="{F7137A22-C8A1-15DA-D388-67A7E722704B}"/>
              </a:ext>
            </a:extLst>
          </p:cNvPr>
          <p:cNvSpPr>
            <a:spLocks/>
          </p:cNvSpPr>
          <p:nvPr/>
        </p:nvSpPr>
        <p:spPr>
          <a:xfrm>
            <a:off x="4766495" y="3477415"/>
            <a:ext cx="475717" cy="475716"/>
          </a:xfrm>
          <a:prstGeom prst="ellipse">
            <a:avLst/>
          </a:prstGeom>
          <a:solidFill>
            <a:srgbClr val="CE295E"/>
          </a:solidFill>
          <a:ln w="317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it-IT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1</a:t>
            </a:r>
          </a:p>
        </p:txBody>
      </p:sp>
      <p:sp>
        <p:nvSpPr>
          <p:cNvPr id="100" name="Oval 43">
            <a:extLst>
              <a:ext uri="{FF2B5EF4-FFF2-40B4-BE49-F238E27FC236}">
                <a16:creationId xmlns:a16="http://schemas.microsoft.com/office/drawing/2014/main" id="{21DA7EBA-52F3-81D0-D88E-A553B69C997B}"/>
              </a:ext>
            </a:extLst>
          </p:cNvPr>
          <p:cNvSpPr>
            <a:spLocks/>
          </p:cNvSpPr>
          <p:nvPr/>
        </p:nvSpPr>
        <p:spPr>
          <a:xfrm>
            <a:off x="10134323" y="3477415"/>
            <a:ext cx="475717" cy="475716"/>
          </a:xfrm>
          <a:prstGeom prst="ellipse">
            <a:avLst/>
          </a:prstGeom>
          <a:solidFill>
            <a:srgbClr val="CE295E"/>
          </a:solidFill>
          <a:ln w="317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it-IT" sz="2400" b="1" kern="0">
                <a:solidFill>
                  <a:srgbClr val="FFFFFF"/>
                </a:solidFill>
                <a:latin typeface="Calibri"/>
                <a:sym typeface="Arial"/>
              </a:rPr>
              <a:t>2</a:t>
            </a:r>
            <a:endParaRPr kumimoji="0" lang="it-IT" sz="2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01" name="CasellaDiTesto 100">
            <a:extLst>
              <a:ext uri="{FF2B5EF4-FFF2-40B4-BE49-F238E27FC236}">
                <a16:creationId xmlns:a16="http://schemas.microsoft.com/office/drawing/2014/main" id="{AC3AFF4A-C9B5-961A-0480-32B4FB26E663}"/>
              </a:ext>
            </a:extLst>
          </p:cNvPr>
          <p:cNvSpPr txBox="1"/>
          <p:nvPr/>
        </p:nvSpPr>
        <p:spPr>
          <a:xfrm>
            <a:off x="1175768" y="1817509"/>
            <a:ext cx="7154098" cy="141219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anchor="ctr">
            <a:noAutofit/>
          </a:bodyPr>
          <a:lstStyle/>
          <a:p>
            <a:pPr marL="9017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000" b="1" dirty="0">
                <a:solidFill>
                  <a:srgbClr val="0F32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Seleziona e propone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000" b="1" dirty="0">
                <a:solidFill>
                  <a:srgbClr val="0F32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it-IT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ramite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Gestione Reti</a:t>
            </a:r>
            <a:r>
              <a:rPr lang="it-IT" sz="2000" b="1" dirty="0">
                <a:solidFill>
                  <a:srgbClr val="0F32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it-IT" sz="2000" b="1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 Punti Vendita abilitare all’omnicanalità</a:t>
            </a:r>
            <a:r>
              <a:rPr kumimoji="0" lang="it-IT" sz="2000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definendo il CIP di riferimento per la gestione dei lead digitali e relativi orari di apertura</a:t>
            </a:r>
          </a:p>
        </p:txBody>
      </p:sp>
      <p:sp>
        <p:nvSpPr>
          <p:cNvPr id="102" name="Triangolo isoscele 101">
            <a:extLst>
              <a:ext uri="{FF2B5EF4-FFF2-40B4-BE49-F238E27FC236}">
                <a16:creationId xmlns:a16="http://schemas.microsoft.com/office/drawing/2014/main" id="{9290BFD4-3C37-E02F-3057-200F6ACCF304}"/>
              </a:ext>
            </a:extLst>
          </p:cNvPr>
          <p:cNvSpPr/>
          <p:nvPr/>
        </p:nvSpPr>
        <p:spPr>
          <a:xfrm rot="10800000">
            <a:off x="4779856" y="3240276"/>
            <a:ext cx="448994" cy="251358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1" name="CasellaDiTesto 110">
            <a:extLst>
              <a:ext uri="{FF2B5EF4-FFF2-40B4-BE49-F238E27FC236}">
                <a16:creationId xmlns:a16="http://schemas.microsoft.com/office/drawing/2014/main" id="{DEF4B5E1-C45A-CEF6-F8EF-1AF6C1934998}"/>
              </a:ext>
            </a:extLst>
          </p:cNvPr>
          <p:cNvSpPr txBox="1"/>
          <p:nvPr/>
        </p:nvSpPr>
        <p:spPr>
          <a:xfrm>
            <a:off x="8480357" y="1817509"/>
            <a:ext cx="3783650" cy="141219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anchor="ctr">
            <a:noAutofit/>
          </a:bodyPr>
          <a:lstStyle/>
          <a:p>
            <a:pPr marL="9017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000" b="1" dirty="0">
                <a:solidFill>
                  <a:srgbClr val="0F325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Approva l'abilitazione</a:t>
            </a:r>
            <a:r>
              <a:rPr lang="it-IT" sz="2000" dirty="0">
                <a:solidFill>
                  <a:srgbClr val="0F325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all’omnicanalità de</a:t>
            </a:r>
            <a:r>
              <a:rPr kumimoji="0" lang="it-IT" sz="2000" i="0" u="none" strike="noStrike" kern="1200" cap="none" spc="0" normalizeH="0" baseline="0" noProof="0" dirty="0">
                <a:ln>
                  <a:noFill/>
                </a:ln>
                <a:solidFill>
                  <a:srgbClr val="0F325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l singolo Punto Vendita</a:t>
            </a:r>
          </a:p>
        </p:txBody>
      </p:sp>
      <p:sp>
        <p:nvSpPr>
          <p:cNvPr id="113" name="Triangolo isoscele 112">
            <a:extLst>
              <a:ext uri="{FF2B5EF4-FFF2-40B4-BE49-F238E27FC236}">
                <a16:creationId xmlns:a16="http://schemas.microsoft.com/office/drawing/2014/main" id="{88599B19-482B-3719-86F5-A781B86FAEEF}"/>
              </a:ext>
            </a:extLst>
          </p:cNvPr>
          <p:cNvSpPr/>
          <p:nvPr/>
        </p:nvSpPr>
        <p:spPr>
          <a:xfrm rot="10800000">
            <a:off x="10147684" y="3240277"/>
            <a:ext cx="448994" cy="251358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0F32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4464397E-A985-6BC4-921F-7A13D2C41A01}"/>
              </a:ext>
            </a:extLst>
          </p:cNvPr>
          <p:cNvGrpSpPr/>
          <p:nvPr/>
        </p:nvGrpSpPr>
        <p:grpSpPr>
          <a:xfrm>
            <a:off x="3396428" y="1158000"/>
            <a:ext cx="2606250" cy="514809"/>
            <a:chOff x="2238051" y="1412000"/>
            <a:chExt cx="2606250" cy="514809"/>
          </a:xfrm>
        </p:grpSpPr>
        <p:pic>
          <p:nvPicPr>
            <p:cNvPr id="107" name="Picture 81">
              <a:extLst>
                <a:ext uri="{FF2B5EF4-FFF2-40B4-BE49-F238E27FC236}">
                  <a16:creationId xmlns:a16="http://schemas.microsoft.com/office/drawing/2014/main" id="{B49FA46A-6C2B-0001-64BB-D7065E51E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8051" y="1412000"/>
              <a:ext cx="605155" cy="514809"/>
            </a:xfrm>
            <a:prstGeom prst="rect">
              <a:avLst/>
            </a:prstGeom>
          </p:spPr>
        </p:pic>
        <p:sp>
          <p:nvSpPr>
            <p:cNvPr id="109" name="CasellaDiTesto 108">
              <a:extLst>
                <a:ext uri="{FF2B5EF4-FFF2-40B4-BE49-F238E27FC236}">
                  <a16:creationId xmlns:a16="http://schemas.microsoft.com/office/drawing/2014/main" id="{0D2F9A4B-F7BE-F442-5714-2AFAD1D9812F}"/>
                </a:ext>
              </a:extLst>
            </p:cNvPr>
            <p:cNvSpPr txBox="1"/>
            <p:nvPr/>
          </p:nvSpPr>
          <p:spPr>
            <a:xfrm>
              <a:off x="2958061" y="1455557"/>
              <a:ext cx="1886240" cy="461665"/>
            </a:xfrm>
            <a:prstGeom prst="rect">
              <a:avLst/>
            </a:prstGeom>
            <a:solidFill>
              <a:schemeClr val="tx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400" b="1" i="1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AGENTE</a:t>
              </a:r>
            </a:p>
          </p:txBody>
        </p:sp>
      </p:grp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C8C122A3-F5A0-6C0F-678F-5C3B7DC7C6B8}"/>
              </a:ext>
            </a:extLst>
          </p:cNvPr>
          <p:cNvGrpSpPr/>
          <p:nvPr/>
        </p:nvGrpSpPr>
        <p:grpSpPr>
          <a:xfrm>
            <a:off x="9147121" y="1145632"/>
            <a:ext cx="2450123" cy="544074"/>
            <a:chOff x="8756279" y="1399632"/>
            <a:chExt cx="2450123" cy="544074"/>
          </a:xfrm>
        </p:grpSpPr>
        <p:sp>
          <p:nvSpPr>
            <p:cNvPr id="112" name="CasellaDiTesto 111">
              <a:extLst>
                <a:ext uri="{FF2B5EF4-FFF2-40B4-BE49-F238E27FC236}">
                  <a16:creationId xmlns:a16="http://schemas.microsoft.com/office/drawing/2014/main" id="{7F28CFEE-F74A-17EC-DD2D-B33378BE5DBF}"/>
                </a:ext>
              </a:extLst>
            </p:cNvPr>
            <p:cNvSpPr txBox="1"/>
            <p:nvPr/>
          </p:nvSpPr>
          <p:spPr>
            <a:xfrm>
              <a:off x="9485647" y="1430897"/>
              <a:ext cx="1720755" cy="461665"/>
            </a:xfrm>
            <a:prstGeom prst="rect">
              <a:avLst/>
            </a:prstGeom>
            <a:solidFill>
              <a:schemeClr val="tx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400" b="1" i="1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RSCA</a:t>
              </a:r>
            </a:p>
          </p:txBody>
        </p:sp>
        <p:pic>
          <p:nvPicPr>
            <p:cNvPr id="114" name="Immagine 113" descr="icona-dell-uomo-d-affari-18603234.jpg">
              <a:extLst>
                <a:ext uri="{FF2B5EF4-FFF2-40B4-BE49-F238E27FC236}">
                  <a16:creationId xmlns:a16="http://schemas.microsoft.com/office/drawing/2014/main" id="{26118A22-A7FC-82AC-AB17-47AE15669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6279" y="1399632"/>
              <a:ext cx="672327" cy="544074"/>
            </a:xfrm>
            <a:prstGeom prst="rect">
              <a:avLst/>
            </a:prstGeom>
          </p:spPr>
        </p:pic>
      </p:grpSp>
      <p:sp>
        <p:nvSpPr>
          <p:cNvPr id="13" name="Titolo 4">
            <a:extLst>
              <a:ext uri="{FF2B5EF4-FFF2-40B4-BE49-F238E27FC236}">
                <a16:creationId xmlns:a16="http://schemas.microsoft.com/office/drawing/2014/main" id="{ADED466D-960B-5DCE-DB7E-FAB2950A99AC}"/>
              </a:ext>
            </a:extLst>
          </p:cNvPr>
          <p:cNvSpPr txBox="1">
            <a:spLocks/>
          </p:cNvSpPr>
          <p:nvPr/>
        </p:nvSpPr>
        <p:spPr>
          <a:xfrm>
            <a:off x="65428" y="87404"/>
            <a:ext cx="12986979" cy="520054"/>
          </a:xfrm>
          <a:prstGeom prst="rect">
            <a:avLst/>
          </a:prstGeom>
        </p:spPr>
        <p:txBody>
          <a:bodyPr vert="horz" lIns="0" anchor="ctr">
            <a:noAutofit/>
          </a:bodyPr>
          <a:lstStyle>
            <a:lvl1pPr algn="l" defTabSz="100702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43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R="0" lvl="0" indent="715963" algn="l" defTabSz="100702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GESTIONE SUBAGENZIE</a:t>
            </a:r>
            <a:r>
              <a:rPr lang="it-IT" sz="2800" dirty="0">
                <a:solidFill>
                  <a:srgbClr val="FFFFFF"/>
                </a:solidFill>
                <a:latin typeface="Calibri"/>
              </a:rPr>
              <a:t> |</a:t>
            </a:r>
            <a:r>
              <a:rPr kumimoji="0" lang="it-IT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</a:t>
            </a:r>
            <a:r>
              <a:rPr lang="it-IT" sz="2800" dirty="0">
                <a:solidFill>
                  <a:srgbClr val="FFFFFF"/>
                </a:solidFill>
                <a:latin typeface="Calibri"/>
              </a:rPr>
              <a:t>Processo di a</a:t>
            </a:r>
            <a:r>
              <a:rPr kumimoji="0" lang="it-IT" sz="28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bilitazione</a:t>
            </a:r>
            <a:r>
              <a:rPr kumimoji="0" lang="it-IT" sz="28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a </a:t>
            </a:r>
            <a:r>
              <a:rPr lang="it-IT" sz="2800" dirty="0">
                <a:solidFill>
                  <a:srgbClr val="FFFFFF"/>
                </a:solidFill>
                <a:latin typeface="Calibri"/>
              </a:rPr>
              <a:t>sistema</a:t>
            </a:r>
            <a:endParaRPr kumimoji="0" lang="it-IT" sz="28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A1B98CD-AEE5-E883-4552-047C7016AA75}"/>
              </a:ext>
            </a:extLst>
          </p:cNvPr>
          <p:cNvSpPr/>
          <p:nvPr/>
        </p:nvSpPr>
        <p:spPr>
          <a:xfrm>
            <a:off x="116539" y="127320"/>
            <a:ext cx="561887" cy="439410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>
                <a:solidFill>
                  <a:schemeClr val="bg1"/>
                </a:solidFill>
              </a:rPr>
              <a:t>2a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7753B374-7CFB-7809-6EFC-9642E0CF1F82}"/>
              </a:ext>
            </a:extLst>
          </p:cNvPr>
          <p:cNvGrpSpPr/>
          <p:nvPr/>
        </p:nvGrpSpPr>
        <p:grpSpPr>
          <a:xfrm>
            <a:off x="781729" y="4573996"/>
            <a:ext cx="11876319" cy="310426"/>
            <a:chOff x="478823" y="4849860"/>
            <a:chExt cx="12482130" cy="310426"/>
          </a:xfrm>
        </p:grpSpPr>
        <p:cxnSp>
          <p:nvCxnSpPr>
            <p:cNvPr id="4" name="Connettore diritto 3">
              <a:extLst>
                <a:ext uri="{FF2B5EF4-FFF2-40B4-BE49-F238E27FC236}">
                  <a16:creationId xmlns:a16="http://schemas.microsoft.com/office/drawing/2014/main" id="{D18305DB-218D-3E9A-CC13-234595C0714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719888" y="-1236920"/>
              <a:ext cx="0" cy="12482130"/>
            </a:xfrm>
            <a:prstGeom prst="line">
              <a:avLst/>
            </a:prstGeom>
            <a:solidFill>
              <a:srgbClr val="FFFFFF"/>
            </a:solidFill>
            <a:ln w="28575" cap="flat" cmpd="sng" algn="ctr">
              <a:solidFill>
                <a:srgbClr val="0F3250"/>
              </a:solidFill>
              <a:prstDash val="solid"/>
              <a:miter lim="800000"/>
            </a:ln>
            <a:effectLst/>
          </p:spPr>
        </p:cxnSp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629B9AB1-BB97-F73C-70FC-96B4CFEFADAE}"/>
                </a:ext>
              </a:extLst>
            </p:cNvPr>
            <p:cNvGrpSpPr/>
            <p:nvPr/>
          </p:nvGrpSpPr>
          <p:grpSpPr>
            <a:xfrm>
              <a:off x="6235153" y="4849860"/>
              <a:ext cx="969470" cy="310426"/>
              <a:chOff x="6449274" y="4015025"/>
              <a:chExt cx="802469" cy="275488"/>
            </a:xfrm>
          </p:grpSpPr>
          <p:sp>
            <p:nvSpPr>
              <p:cNvPr id="7" name="Freccia a gallone 6">
                <a:extLst>
                  <a:ext uri="{FF2B5EF4-FFF2-40B4-BE49-F238E27FC236}">
                    <a16:creationId xmlns:a16="http://schemas.microsoft.com/office/drawing/2014/main" id="{C00B60C7-E4A0-7ECE-63B4-FB9225EDC9AF}"/>
                  </a:ext>
                </a:extLst>
              </p:cNvPr>
              <p:cNvSpPr/>
              <p:nvPr/>
            </p:nvSpPr>
            <p:spPr>
              <a:xfrm rot="5400000">
                <a:off x="6743616" y="3720683"/>
                <a:ext cx="213785" cy="802469"/>
              </a:xfrm>
              <a:prstGeom prst="chevron">
                <a:avLst>
                  <a:gd name="adj" fmla="val 76973"/>
                </a:avLst>
              </a:prstGeom>
              <a:solidFill>
                <a:srgbClr val="FFFFFF"/>
              </a:solidFill>
              <a:ln w="1270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399" b="0" i="0" u="none" strike="noStrike" kern="0" cap="none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" name="Freccia a gallone 7">
                <a:extLst>
                  <a:ext uri="{FF2B5EF4-FFF2-40B4-BE49-F238E27FC236}">
                    <a16:creationId xmlns:a16="http://schemas.microsoft.com/office/drawing/2014/main" id="{C839B437-A06D-B4AD-7B78-CC53B56CE972}"/>
                  </a:ext>
                </a:extLst>
              </p:cNvPr>
              <p:cNvSpPr/>
              <p:nvPr/>
            </p:nvSpPr>
            <p:spPr>
              <a:xfrm rot="5400000">
                <a:off x="6743616" y="3782386"/>
                <a:ext cx="213785" cy="802469"/>
              </a:xfrm>
              <a:prstGeom prst="chevron">
                <a:avLst>
                  <a:gd name="adj" fmla="val 76973"/>
                </a:avLst>
              </a:prstGeom>
              <a:solidFill>
                <a:srgbClr val="0F3250"/>
              </a:solidFill>
              <a:ln w="12700" cap="flat" cmpd="sng" algn="ctr">
                <a:solidFill>
                  <a:srgbClr val="0F325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it-IT" sz="1399" b="0" i="0" u="none" strike="noStrike" kern="0" cap="none" spc="0" normalizeH="0" baseline="0" noProof="0">
                  <a:ln>
                    <a:noFill/>
                  </a:ln>
                  <a:solidFill>
                    <a:srgbClr val="0F325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20E938F3-F793-E22E-92E1-3AFC1DC22C95}"/>
              </a:ext>
            </a:extLst>
          </p:cNvPr>
          <p:cNvSpPr txBox="1"/>
          <p:nvPr/>
        </p:nvSpPr>
        <p:spPr>
          <a:xfrm>
            <a:off x="1427859" y="6140911"/>
            <a:ext cx="11110416" cy="520200"/>
          </a:xfrm>
          <a:prstGeom prst="rect">
            <a:avLst/>
          </a:prstGeom>
          <a:solidFill>
            <a:srgbClr val="FFF7E1"/>
          </a:solidFill>
          <a:ln>
            <a:solidFill>
              <a:schemeClr val="tx1"/>
            </a:solidFill>
          </a:ln>
        </p:spPr>
        <p:txBody>
          <a:bodyPr wrap="square" rIns="36000" anchor="ctr">
            <a:noAutofit/>
          </a:bodyPr>
          <a:lstStyle/>
          <a:p>
            <a:pPr marL="88900" lvl="0" indent="93663">
              <a:lnSpc>
                <a:spcPct val="110000"/>
              </a:lnSpc>
              <a:spcAft>
                <a:spcPts val="300"/>
              </a:spcAft>
              <a:defRPr/>
            </a:pPr>
            <a:r>
              <a:rPr lang="it-IT" sz="2000" b="1" i="1" dirty="0">
                <a:solidFill>
                  <a:srgbClr val="0F32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Necessario sviluppo in Unica per corretta gestione PV in preventivi e polizze</a:t>
            </a:r>
            <a:r>
              <a:rPr lang="it-IT" b="1" i="1" dirty="0">
                <a:solidFill>
                  <a:srgbClr val="0F32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i="1" dirty="0">
                <a:solidFill>
                  <a:srgbClr val="0F32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(CR pianificata per giugno '26)</a:t>
            </a:r>
            <a:endParaRPr lang="it-IT" sz="2000" i="1" dirty="0">
              <a:solidFill>
                <a:srgbClr val="0F325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9F9FA72D-C548-0D59-D023-1B94A43683DA}"/>
              </a:ext>
            </a:extLst>
          </p:cNvPr>
          <p:cNvGrpSpPr/>
          <p:nvPr/>
        </p:nvGrpSpPr>
        <p:grpSpPr>
          <a:xfrm>
            <a:off x="901499" y="6101476"/>
            <a:ext cx="690824" cy="594713"/>
            <a:chOff x="1069847" y="6060836"/>
            <a:chExt cx="690824" cy="594713"/>
          </a:xfrm>
        </p:grpSpPr>
        <p:sp>
          <p:nvSpPr>
            <p:cNvPr id="31" name="Ovale 30">
              <a:extLst>
                <a:ext uri="{FF2B5EF4-FFF2-40B4-BE49-F238E27FC236}">
                  <a16:creationId xmlns:a16="http://schemas.microsoft.com/office/drawing/2014/main" id="{9592162D-D407-38E0-3FA7-4A887645511A}"/>
                </a:ext>
              </a:extLst>
            </p:cNvPr>
            <p:cNvSpPr/>
            <p:nvPr/>
          </p:nvSpPr>
          <p:spPr>
            <a:xfrm>
              <a:off x="1069847" y="6060836"/>
              <a:ext cx="690824" cy="594713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tIns="0" rIns="36000" bIns="0" rtlCol="0" anchor="ctr"/>
            <a:lstStyle/>
            <a:p>
              <a:pPr algn="l"/>
              <a:endParaRPr lang="it-IT" sz="1400" b="1">
                <a:solidFill>
                  <a:schemeClr val="tx1"/>
                </a:solidFill>
              </a:endParaRPr>
            </a:p>
          </p:txBody>
        </p:sp>
        <p:pic>
          <p:nvPicPr>
            <p:cNvPr id="32" name="Immagine 31" descr="Immagine che contiene giallo, clipart, cerchio&#10;&#10;Descrizione generata automaticamente">
              <a:extLst>
                <a:ext uri="{FF2B5EF4-FFF2-40B4-BE49-F238E27FC236}">
                  <a16:creationId xmlns:a16="http://schemas.microsoft.com/office/drawing/2014/main" id="{184998FA-12D2-0841-1CEC-272E997AB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4536" y="6101476"/>
              <a:ext cx="541124" cy="4780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59497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5060&quot;&gt;&lt;version val=&quot;28392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8&quot;&gt;&lt;elem m_fUsage=&quot;3.26171655959044537454E+00&quot;&gt;&lt;m_msothmcolidx val=&quot;0&quot;/&gt;&lt;m_rgb r=&quot;F2&quot; g=&quot;F2&quot; b=&quot;F2&quot;/&gt;&lt;m_nBrightness endver=&quot;26206&quot; val=&quot;0&quot;/&gt;&lt;/elem&gt;&lt;elem m_fUsage=&quot;2.57876585522683354768E+00&quot;&gt;&lt;m_msothmcolidx val=&quot;0&quot;/&gt;&lt;m_rgb r=&quot;A8&quot; g=&quot;CE&quot; b=&quot;EF&quot;/&gt;&lt;m_nBrightness endver=&quot;26206&quot; val=&quot;0&quot;/&gt;&lt;/elem&gt;&lt;elem m_fUsage=&quot;2.07404989520800286940E+00&quot;&gt;&lt;m_msothmcolidx val=&quot;0&quot;/&gt;&lt;m_rgb r=&quot;F8&quot; g=&quot;C5&quot; b=&quot;C5&quot;/&gt;&lt;m_nBrightness endver=&quot;26206&quot; val=&quot;0&quot;/&gt;&lt;/elem&gt;&lt;elem m_fUsage=&quot;1.97549336797595276316E+00&quot;&gt;&lt;m_msothmcolidx val=&quot;0&quot;/&gt;&lt;m_rgb r=&quot;E8&quot; g=&quot;F6&quot; b=&quot;CF&quot;/&gt;&lt;m_nBrightness endver=&quot;26206&quot; val=&quot;0&quot;/&gt;&lt;/elem&gt;&lt;elem m_fUsage=&quot;1.09635207210318455506E-01&quot;&gt;&lt;m_msothmcolidx val=&quot;0&quot;/&gt;&lt;m_rgb r=&quot;DC&quot; g=&quot;EB&quot; b=&quot;F8&quot;/&gt;&lt;m_nBrightness endver=&quot;26206&quot; val=&quot;0&quot;/&gt;&lt;/elem&gt;&lt;elem m_fUsage=&quot;1.51611730050275287512E-04&quot;&gt;&lt;m_msothmcolidx val=&quot;0&quot;/&gt;&lt;m_rgb r=&quot;35&quot; g=&quot;54&quot; b=&quot;7A&quot;/&gt;&lt;m_nBrightness endver=&quot;26206&quot; val=&quot;0&quot;/&gt;&lt;/elem&gt;&lt;elem m_fUsage=&quot;7.99793233170691228624E-05&quot;&gt;&lt;m_msothmcolidx val=&quot;0&quot;/&gt;&lt;m_rgb r=&quot;7F&quot; g=&quot;7F&quot; b=&quot;7F&quot;/&gt;&lt;m_nBrightness endver=&quot;26206&quot; val=&quot;0&quot;/&gt;&lt;/elem&gt;&lt;elem m_fUsage=&quot;5.83049266981433957167E-05&quot;&gt;&lt;m_msothmcolidx val=&quot;0&quot;/&gt;&lt;m_rgb r=&quot;74&quot; g=&quot;17&quot; b=&quot;09&quot;/&gt;&lt;m_nBrightness endver=&quot;26206&quot;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Kc7Hokb6.knkYDdL11Z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8MwTMRjJK8inHey_FzGF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Jle4Zh2zAc7z8KORwvRo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Jle4Zh2zAc7z8KORwvRo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Jle4Zh2zAc7z8KORwvRo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Jle4Zh2zAc7z8KORwvRo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UnipolSai A4 Tricolore">
  <a:themeElements>
    <a:clrScheme name="Unipol Sai">
      <a:dk1>
        <a:srgbClr val="0F3250"/>
      </a:dk1>
      <a:lt1>
        <a:srgbClr val="FFFFFF"/>
      </a:lt1>
      <a:dk2>
        <a:srgbClr val="35547A"/>
      </a:dk2>
      <a:lt2>
        <a:srgbClr val="969696"/>
      </a:lt2>
      <a:accent1>
        <a:srgbClr val="741709"/>
      </a:accent1>
      <a:accent2>
        <a:srgbClr val="A31515"/>
      </a:accent2>
      <a:accent3>
        <a:srgbClr val="C10E1A"/>
      </a:accent3>
      <a:accent4>
        <a:srgbClr val="C94F1C"/>
      </a:accent4>
      <a:accent5>
        <a:srgbClr val="C3C3C3"/>
      </a:accent5>
      <a:accent6>
        <a:srgbClr val="DCDCDC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F6FC"/>
        </a:solidFill>
        <a:ln>
          <a:noFill/>
        </a:ln>
      </a:spPr>
      <a:bodyPr lIns="36000" tIns="0" rIns="36000" bIns="0" rtlCol="0" anchor="ctr"/>
      <a:lstStyle>
        <a:defPPr algn="l">
          <a:defRPr sz="14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UnipolSai A4 Tricolore" id="{DA130C42-9BC2-4E45-9525-DFE7A353F331}" vid="{85608F4C-3672-47A2-A154-A34CA83441F4}"/>
    </a:ext>
  </a:extLst>
</a:theme>
</file>

<file path=ppt/theme/theme2.xml><?xml version="1.0" encoding="utf-8"?>
<a:theme xmlns:a="http://schemas.openxmlformats.org/drawingml/2006/main" name="Tema di Office">
  <a:themeElements>
    <a:clrScheme name="Personalizzati 4">
      <a:dk1>
        <a:srgbClr val="0F3250"/>
      </a:dk1>
      <a:lt1>
        <a:srgbClr val="FFFFFF"/>
      </a:lt1>
      <a:dk2>
        <a:srgbClr val="329646"/>
      </a:dk2>
      <a:lt2>
        <a:srgbClr val="BE0F19"/>
      </a:lt2>
      <a:accent1>
        <a:srgbClr val="0F3250"/>
      </a:accent1>
      <a:accent2>
        <a:srgbClr val="35547A"/>
      </a:accent2>
      <a:accent3>
        <a:srgbClr val="386DB1"/>
      </a:accent3>
      <a:accent4>
        <a:srgbClr val="83C3EF"/>
      </a:accent4>
      <a:accent5>
        <a:srgbClr val="969696"/>
      </a:accent5>
      <a:accent6>
        <a:srgbClr val="C3C3C3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i Office">
  <a:themeElements>
    <a:clrScheme name="Personalizzati 4">
      <a:dk1>
        <a:srgbClr val="0F3250"/>
      </a:dk1>
      <a:lt1>
        <a:srgbClr val="FFFFFF"/>
      </a:lt1>
      <a:dk2>
        <a:srgbClr val="329646"/>
      </a:dk2>
      <a:lt2>
        <a:srgbClr val="BE0F19"/>
      </a:lt2>
      <a:accent1>
        <a:srgbClr val="0F3250"/>
      </a:accent1>
      <a:accent2>
        <a:srgbClr val="35547A"/>
      </a:accent2>
      <a:accent3>
        <a:srgbClr val="386DB1"/>
      </a:accent3>
      <a:accent4>
        <a:srgbClr val="83C3EF"/>
      </a:accent4>
      <a:accent5>
        <a:srgbClr val="969696"/>
      </a:accent5>
      <a:accent6>
        <a:srgbClr val="C3C3C3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Tema di Office">
  <a:themeElements>
    <a:clrScheme name="Personalizzati 4">
      <a:dk1>
        <a:srgbClr val="0F3250"/>
      </a:dk1>
      <a:lt1>
        <a:srgbClr val="FFFFFF"/>
      </a:lt1>
      <a:dk2>
        <a:srgbClr val="329646"/>
      </a:dk2>
      <a:lt2>
        <a:srgbClr val="BE0F19"/>
      </a:lt2>
      <a:accent1>
        <a:srgbClr val="0F3250"/>
      </a:accent1>
      <a:accent2>
        <a:srgbClr val="35547A"/>
      </a:accent2>
      <a:accent3>
        <a:srgbClr val="386DB1"/>
      </a:accent3>
      <a:accent4>
        <a:srgbClr val="83C3EF"/>
      </a:accent4>
      <a:accent5>
        <a:srgbClr val="969696"/>
      </a:accent5>
      <a:accent6>
        <a:srgbClr val="C3C3C3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Tema di Office">
  <a:themeElements>
    <a:clrScheme name="Personalizzati 4">
      <a:dk1>
        <a:srgbClr val="0F3250"/>
      </a:dk1>
      <a:lt1>
        <a:srgbClr val="FFFFFF"/>
      </a:lt1>
      <a:dk2>
        <a:srgbClr val="329646"/>
      </a:dk2>
      <a:lt2>
        <a:srgbClr val="BE0F19"/>
      </a:lt2>
      <a:accent1>
        <a:srgbClr val="0F3250"/>
      </a:accent1>
      <a:accent2>
        <a:srgbClr val="35547A"/>
      </a:accent2>
      <a:accent3>
        <a:srgbClr val="386DB1"/>
      </a:accent3>
      <a:accent4>
        <a:srgbClr val="83C3EF"/>
      </a:accent4>
      <a:accent5>
        <a:srgbClr val="969696"/>
      </a:accent5>
      <a:accent6>
        <a:srgbClr val="C3C3C3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Tema di Office">
  <a:themeElements>
    <a:clrScheme name="Personalizzati 4">
      <a:dk1>
        <a:srgbClr val="0F3250"/>
      </a:dk1>
      <a:lt1>
        <a:srgbClr val="FFFFFF"/>
      </a:lt1>
      <a:dk2>
        <a:srgbClr val="329646"/>
      </a:dk2>
      <a:lt2>
        <a:srgbClr val="BE0F19"/>
      </a:lt2>
      <a:accent1>
        <a:srgbClr val="0F3250"/>
      </a:accent1>
      <a:accent2>
        <a:srgbClr val="35547A"/>
      </a:accent2>
      <a:accent3>
        <a:srgbClr val="386DB1"/>
      </a:accent3>
      <a:accent4>
        <a:srgbClr val="83C3EF"/>
      </a:accent4>
      <a:accent5>
        <a:srgbClr val="969696"/>
      </a:accent5>
      <a:accent6>
        <a:srgbClr val="C3C3C3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Tema di Office">
  <a:themeElements>
    <a:clrScheme name="Personalizzati 4">
      <a:dk1>
        <a:srgbClr val="0F3250"/>
      </a:dk1>
      <a:lt1>
        <a:srgbClr val="FFFFFF"/>
      </a:lt1>
      <a:dk2>
        <a:srgbClr val="329646"/>
      </a:dk2>
      <a:lt2>
        <a:srgbClr val="BE0F19"/>
      </a:lt2>
      <a:accent1>
        <a:srgbClr val="0F3250"/>
      </a:accent1>
      <a:accent2>
        <a:srgbClr val="35547A"/>
      </a:accent2>
      <a:accent3>
        <a:srgbClr val="386DB1"/>
      </a:accent3>
      <a:accent4>
        <a:srgbClr val="83C3EF"/>
      </a:accent4>
      <a:accent5>
        <a:srgbClr val="969696"/>
      </a:accent5>
      <a:accent6>
        <a:srgbClr val="C3C3C3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43500C5720F24A9FBD6DFAAC41043D" ma:contentTypeVersion="16" ma:contentTypeDescription="Creare un nuovo documento." ma:contentTypeScope="" ma:versionID="a39249c580bd6e0dc7f74a4281e48de5">
  <xsd:schema xmlns:xsd="http://www.w3.org/2001/XMLSchema" xmlns:xs="http://www.w3.org/2001/XMLSchema" xmlns:p="http://schemas.microsoft.com/office/2006/metadata/properties" xmlns:ns2="a72a4f1f-0b78-4e05-bea6-785a23cfd7a6" xmlns:ns3="f5363ded-fb12-489d-93a9-bf087affea6b" targetNamespace="http://schemas.microsoft.com/office/2006/metadata/properties" ma:root="true" ma:fieldsID="3b55c34406a75ef393170be95d7759f1" ns2:_="" ns3:_="">
    <xsd:import namespace="a72a4f1f-0b78-4e05-bea6-785a23cfd7a6"/>
    <xsd:import namespace="f5363ded-fb12-489d-93a9-bf087affea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2a4f1f-0b78-4e05-bea6-785a23cfd7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4478add5-f3e7-4565-aa0e-d2daa2dbbd8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63ded-fb12-489d-93a9-bf087affea6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973bb5a-0b72-4c26-89de-e4001da1b05d}" ma:internalName="TaxCatchAll" ma:readOnly="false" ma:showField="CatchAllData" ma:web="f5363ded-fb12-489d-93a9-bf087affea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5363ded-fb12-489d-93a9-bf087affea6b" xsi:nil="true"/>
    <lcf76f155ced4ddcb4097134ff3c332f xmlns="a72a4f1f-0b78-4e05-bea6-785a23cfd7a6">
      <Terms xmlns="http://schemas.microsoft.com/office/infopath/2007/PartnerControls"/>
    </lcf76f155ced4ddcb4097134ff3c332f>
    <MediaLengthInSeconds xmlns="a72a4f1f-0b78-4e05-bea6-785a23cfd7a6" xsi:nil="true"/>
  </documentManagement>
</p:properties>
</file>

<file path=customXml/itemProps1.xml><?xml version="1.0" encoding="utf-8"?>
<ds:datastoreItem xmlns:ds="http://schemas.openxmlformats.org/officeDocument/2006/customXml" ds:itemID="{82DFD92D-7E96-4F8D-A04F-715F4C52CF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2a4f1f-0b78-4e05-bea6-785a23cfd7a6"/>
    <ds:schemaRef ds:uri="f5363ded-fb12-489d-93a9-bf087affea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51EE73A-2386-4C82-83B2-219A3449E8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9F1EC5-A8E2-40A7-8C47-35881E2BDD6C}">
  <ds:schemaRefs>
    <ds:schemaRef ds:uri="a72a4f1f-0b78-4e05-bea6-785a23cfd7a6"/>
    <ds:schemaRef ds:uri="f5363ded-fb12-489d-93a9-bf087affea6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11835</TotalTime>
  <Words>3692</Words>
  <Application>Microsoft Office PowerPoint</Application>
  <PresentationFormat>Personalizzato</PresentationFormat>
  <Paragraphs>833</Paragraphs>
  <Slides>23</Slides>
  <Notes>21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7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40" baseType="lpstr">
      <vt:lpstr>Aptos</vt:lpstr>
      <vt:lpstr>Aptos Narrow</vt:lpstr>
      <vt:lpstr>Arial</vt:lpstr>
      <vt:lpstr>BNPP Sans </vt:lpstr>
      <vt:lpstr>BNPP Sans Light</vt:lpstr>
      <vt:lpstr>Calibri</vt:lpstr>
      <vt:lpstr>Calibri Light</vt:lpstr>
      <vt:lpstr>Courier New</vt:lpstr>
      <vt:lpstr>Wingdings</vt:lpstr>
      <vt:lpstr>UnipolSai A4 Tricolore</vt:lpstr>
      <vt:lpstr>Tema di Office</vt:lpstr>
      <vt:lpstr>2_Tema di Office</vt:lpstr>
      <vt:lpstr>1_Tema di Office</vt:lpstr>
      <vt:lpstr>3_Tema di Office</vt:lpstr>
      <vt:lpstr>4_Tema di Office</vt:lpstr>
      <vt:lpstr>5_Tema di Office</vt:lpstr>
      <vt:lpstr>Diapositiva think-cell</vt:lpstr>
      <vt:lpstr>Salesforce  Lead Management - Modello geo-meritocratico: Modello di business – Condivisione DSI</vt:lpstr>
      <vt:lpstr>ASSEGNAZIONE LEAD DIGITALI | Perimetro di applicazione del modello</vt:lpstr>
      <vt:lpstr>ASSEGNAZIONE LEAD DIGITALI | Principali feedback Agenti su modello iniziale</vt:lpstr>
      <vt:lpstr>ASSEGNAZIONE LEAD DIGITALI | Pianificazione rilasci</vt:lpstr>
      <vt:lpstr>ASSEGNAZIONE LEAD DIGITALI | Agenda</vt:lpstr>
      <vt:lpstr>ASSEGNAZIONE LEAD DIGITALI | Agenda</vt:lpstr>
      <vt:lpstr>LOGICHE DI ASSEGNAZIONE | Premessa: funnel Unica</vt:lpstr>
      <vt:lpstr>LOGICHE DI ASSEGNAZIONE | Modello Geografico</vt:lpstr>
      <vt:lpstr>LOGICHE DI ASSEGNAZIONE | Modello Geo-meritocratico</vt:lpstr>
      <vt:lpstr>LOGICHE DI RI-ASSEGNAZIONE | Requisiti</vt:lpstr>
      <vt:lpstr>ASSEGNAZIONE LEAD DIGITALI | Agenda</vt:lpstr>
      <vt:lpstr>Presentazione standard di PowerPoint</vt:lpstr>
      <vt:lpstr>GESTIONE SUBAGENZIE | Logiche di applicazione del modello</vt:lpstr>
      <vt:lpstr>GESTIONE BLACKLIST | Logiche di applicazione</vt:lpstr>
      <vt:lpstr>ASSEGNAZIONE LEAD DIGITALI | Agenda</vt:lpstr>
      <vt:lpstr>SCORE DI AGENZIA | Logiche e metodologia di calcolo</vt:lpstr>
      <vt:lpstr>Score complessivo: Sintesi KPI</vt:lpstr>
      <vt:lpstr>Focus Conversion: specifiche di calcolo</vt:lpstr>
      <vt:lpstr>Score complessivo: Calcolo N. lead assegnabili</vt:lpstr>
      <vt:lpstr> Score di agenzia Unica: Esempio di calcolo</vt:lpstr>
      <vt:lpstr>ASSEGNAZIONE LEAD DIGITALI | Prossimi passi</vt:lpstr>
      <vt:lpstr>LOGICHE DI ASSEGNAZIONE | Deroghe al modello: Convenzioni locali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Modello Power Point formato A4</dc:title>
  <dc:creator>PC</dc:creator>
  <cp:lastModifiedBy>Tommaso Leonetti</cp:lastModifiedBy>
  <cp:revision>3</cp:revision>
  <cp:lastPrinted>2020-10-01T08:25:50Z</cp:lastPrinted>
  <dcterms:created xsi:type="dcterms:W3CDTF">2017-11-09T13:35:32Z</dcterms:created>
  <dcterms:modified xsi:type="dcterms:W3CDTF">2026-03-17T11:03:02Z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0x0101000D43500C5720F24A9FBD6DFAAC41043D</vt:lpwstr>
  </property>
  <property fmtid="{D5CDD505-2E9C-101B-9397-08002B2CF9AE}" pid="3" name="_dlc_DocIdItemGuid">
    <vt:lpwstr>12dc99de-fc11-4fb0-bd2a-3ca075340b1f</vt:lpwstr>
  </property>
  <property fmtid="{D5CDD505-2E9C-101B-9397-08002B2CF9AE}" pid="4" name="Societa">
    <vt:lpwstr>7;#UnipolSai Assicurazioni|1156c533-8851-4ada-a629-45a821c51d47</vt:lpwstr>
  </property>
  <property fmtid="{D5CDD505-2E9C-101B-9397-08002B2CF9AE}" pid="5" name="Destinatari">
    <vt:lpwstr/>
  </property>
  <property fmtid="{D5CDD505-2E9C-101B-9397-08002B2CF9AE}" pid="6" name="TipoDocumento">
    <vt:lpwstr>286;#Modulistica|16bbc112-2b9e-4af7-9d34-25c72e804b92</vt:lpwstr>
  </property>
  <property fmtid="{D5CDD505-2E9C-101B-9397-08002B2CF9AE}" pid="7" name="AreaSocietaria">
    <vt:lpwstr>334;#UnipolSai Assicurazioni e sue divisioni|859cbd3e-4dd3-4014-8037-bd7461eedeb5</vt:lpwstr>
  </property>
  <property fmtid="{D5CDD505-2E9C-101B-9397-08002B2CF9AE}" pid="8" name="Sede">
    <vt:lpwstr/>
  </property>
  <property fmtid="{D5CDD505-2E9C-101B-9397-08002B2CF9AE}" pid="9" name="EnteEmittente">
    <vt:lpwstr/>
  </property>
  <property fmtid="{D5CDD505-2E9C-101B-9397-08002B2CF9AE}" pid="10" name="MSIP_Label_ea60d57e-af5b-4752-ac57-3e4f28ca11dc_Enabled">
    <vt:lpwstr>true</vt:lpwstr>
  </property>
  <property fmtid="{D5CDD505-2E9C-101B-9397-08002B2CF9AE}" pid="11" name="MSIP_Label_ea60d57e-af5b-4752-ac57-3e4f28ca11dc_SetDate">
    <vt:lpwstr>2021-11-29T10:28:24Z</vt:lpwstr>
  </property>
  <property fmtid="{D5CDD505-2E9C-101B-9397-08002B2CF9AE}" pid="12" name="MSIP_Label_ea60d57e-af5b-4752-ac57-3e4f28ca11dc_Method">
    <vt:lpwstr>Standard</vt:lpwstr>
  </property>
  <property fmtid="{D5CDD505-2E9C-101B-9397-08002B2CF9AE}" pid="13" name="MSIP_Label_ea60d57e-af5b-4752-ac57-3e4f28ca11dc_Name">
    <vt:lpwstr>ea60d57e-af5b-4752-ac57-3e4f28ca11dc</vt:lpwstr>
  </property>
  <property fmtid="{D5CDD505-2E9C-101B-9397-08002B2CF9AE}" pid="14" name="MSIP_Label_ea60d57e-af5b-4752-ac57-3e4f28ca11dc_SiteId">
    <vt:lpwstr>36da45f1-dd2c-4d1f-af13-5abe46b99921</vt:lpwstr>
  </property>
  <property fmtid="{D5CDD505-2E9C-101B-9397-08002B2CF9AE}" pid="15" name="MSIP_Label_ea60d57e-af5b-4752-ac57-3e4f28ca11dc_ActionId">
    <vt:lpwstr>392998aa-b485-447e-9b91-f2044d5aafff</vt:lpwstr>
  </property>
  <property fmtid="{D5CDD505-2E9C-101B-9397-08002B2CF9AE}" pid="16" name="MSIP_Label_ea60d57e-af5b-4752-ac57-3e4f28ca11dc_ContentBits">
    <vt:lpwstr>0</vt:lpwstr>
  </property>
  <property fmtid="{D5CDD505-2E9C-101B-9397-08002B2CF9AE}" pid="17" name="MediaServiceImageTags">
    <vt:lpwstr/>
  </property>
  <property fmtid="{D5CDD505-2E9C-101B-9397-08002B2CF9AE}" pid="18" name="Order">
    <vt:r8>105200</vt:r8>
  </property>
  <property fmtid="{D5CDD505-2E9C-101B-9397-08002B2CF9AE}" pid="19" name="_ExtendedDescription">
    <vt:lpwstr/>
  </property>
  <property fmtid="{D5CDD505-2E9C-101B-9397-08002B2CF9AE}" pid="20" name="xd_ProgID">
    <vt:lpwstr/>
  </property>
  <property fmtid="{D5CDD505-2E9C-101B-9397-08002B2CF9AE}" pid="21" name="ComplianceAssetId">
    <vt:lpwstr/>
  </property>
  <property fmtid="{D5CDD505-2E9C-101B-9397-08002B2CF9AE}" pid="22" name="TemplateUrl">
    <vt:lpwstr/>
  </property>
  <property fmtid="{D5CDD505-2E9C-101B-9397-08002B2CF9AE}" pid="23" name="TriggerFlowInfo">
    <vt:lpwstr/>
  </property>
  <property fmtid="{D5CDD505-2E9C-101B-9397-08002B2CF9AE}" pid="24" name="xd_Signature">
    <vt:bool>false</vt:bool>
  </property>
  <property fmtid="{D5CDD505-2E9C-101B-9397-08002B2CF9AE}" pid="25" name="GUID">
    <vt:lpwstr>721fb6d6-5bad-4f18-a144-194c8df5c2ea</vt:lpwstr>
  </property>
</Properties>
</file>